
<file path=[Content_Types].xml><?xml version="1.0" encoding="utf-8"?>
<Types xmlns="http://schemas.openxmlformats.org/package/2006/content-types">
  <Default Extension="emf" ContentType="image/x-emf"/>
  <Default Extension="fntdata" ContentType="application/x-fontdata"/>
  <Default Extension="jpeg" ContentType="image/jpeg"/>
  <Default Extension="mov" ContentType="video/quicktime"/>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1"/>
  </p:sldMasterIdLst>
  <p:notesMasterIdLst>
    <p:notesMasterId r:id="rId50"/>
  </p:notesMasterIdLst>
  <p:handoutMasterIdLst>
    <p:handoutMasterId r:id="rId51"/>
  </p:handoutMasterIdLst>
  <p:sldIdLst>
    <p:sldId id="303" r:id="rId2"/>
    <p:sldId id="487" r:id="rId3"/>
    <p:sldId id="565" r:id="rId4"/>
    <p:sldId id="265" r:id="rId5"/>
    <p:sldId id="551" r:id="rId6"/>
    <p:sldId id="269" r:id="rId7"/>
    <p:sldId id="270" r:id="rId8"/>
    <p:sldId id="291" r:id="rId9"/>
    <p:sldId id="571" r:id="rId10"/>
    <p:sldId id="566" r:id="rId11"/>
    <p:sldId id="340" r:id="rId12"/>
    <p:sldId id="281" r:id="rId13"/>
    <p:sldId id="426" r:id="rId14"/>
    <p:sldId id="295" r:id="rId15"/>
    <p:sldId id="297" r:id="rId16"/>
    <p:sldId id="387" r:id="rId17"/>
    <p:sldId id="285" r:id="rId18"/>
    <p:sldId id="578" r:id="rId19"/>
    <p:sldId id="570" r:id="rId20"/>
    <p:sldId id="311" r:id="rId21"/>
    <p:sldId id="312" r:id="rId22"/>
    <p:sldId id="313" r:id="rId23"/>
    <p:sldId id="575" r:id="rId24"/>
    <p:sldId id="567" r:id="rId25"/>
    <p:sldId id="336" r:id="rId26"/>
    <p:sldId id="324" r:id="rId27"/>
    <p:sldId id="331" r:id="rId28"/>
    <p:sldId id="572" r:id="rId29"/>
    <p:sldId id="335" r:id="rId30"/>
    <p:sldId id="579" r:id="rId31"/>
    <p:sldId id="337" r:id="rId32"/>
    <p:sldId id="338" r:id="rId33"/>
    <p:sldId id="350" r:id="rId34"/>
    <p:sldId id="264" r:id="rId35"/>
    <p:sldId id="328" r:id="rId36"/>
    <p:sldId id="329" r:id="rId37"/>
    <p:sldId id="330" r:id="rId38"/>
    <p:sldId id="592" r:id="rId39"/>
    <p:sldId id="341" r:id="rId40"/>
    <p:sldId id="351" r:id="rId41"/>
    <p:sldId id="352" r:id="rId42"/>
    <p:sldId id="595" r:id="rId43"/>
    <p:sldId id="561" r:id="rId44"/>
    <p:sldId id="594" r:id="rId45"/>
    <p:sldId id="541" r:id="rId46"/>
    <p:sldId id="577" r:id="rId47"/>
    <p:sldId id="492" r:id="rId48"/>
    <p:sldId id="576" r:id="rId49"/>
  </p:sldIdLst>
  <p:sldSz cx="12192000" cy="6858000"/>
  <p:notesSz cx="9144000" cy="6858000"/>
  <p:embeddedFontLst>
    <p:embeddedFont>
      <p:font typeface="Consolas" panose="020B0609020204030204" pitchFamily="49" charset="0"/>
      <p:regular r:id="rId52"/>
      <p:bold r:id="rId53"/>
      <p:italic r:id="rId54"/>
      <p:boldItalic r:id="rId55"/>
    </p:embeddedFont>
    <p:embeddedFont>
      <p:font typeface="Trebuchet MS" panose="020B0703020202090204" pitchFamily="34" charset="0"/>
      <p:regular r:id="rId56"/>
      <p:bold r:id="rId57"/>
      <p:italic r:id="rId58"/>
      <p:boldItalic r:id="rId59"/>
    </p:embeddedFont>
    <p:embeddedFont>
      <p:font typeface="Tw Cen MT" panose="020B0602020104020603" pitchFamily="34" charset="77"/>
      <p:regular r:id="rId60"/>
      <p:bold r:id="rId61"/>
      <p:italic r:id="rId62"/>
      <p:boldItalic r:id="rId63"/>
    </p:embeddedFont>
    <p:embeddedFont>
      <p:font typeface="Tw Cen MT Condensed" panose="020B0606020104020203" pitchFamily="34" charset="77"/>
      <p:regular r:id="rId64"/>
      <p:bold r:id="rId65"/>
    </p:embeddedFont>
    <p:embeddedFont>
      <p:font typeface="Verdana" panose="020B0604030504040204" pitchFamily="34" charset="0"/>
      <p:regular r:id="rId66"/>
      <p:bold r:id="rId67"/>
      <p:italic r:id="rId68"/>
      <p:boldItalic r:id="rId69"/>
    </p:embeddedFont>
    <p:embeddedFont>
      <p:font typeface="Wingdings 3" pitchFamily="2" charset="2"/>
      <p:regular r:id="rId7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6F2"/>
    <a:srgbClr val="A0C283"/>
    <a:srgbClr val="FF2600"/>
    <a:srgbClr val="FF2F92"/>
    <a:srgbClr val="AB7942"/>
    <a:srgbClr val="FFD579"/>
    <a:srgbClr val="7A81FF"/>
    <a:srgbClr val="D883FF"/>
    <a:srgbClr val="FF8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15"/>
    <p:restoredTop sz="77551" autoAdjust="0"/>
  </p:normalViewPr>
  <p:slideViewPr>
    <p:cSldViewPr snapToGrid="0" snapToObjects="1">
      <p:cViewPr varScale="1">
        <p:scale>
          <a:sx n="98" d="100"/>
          <a:sy n="98" d="100"/>
        </p:scale>
        <p:origin x="2096" y="184"/>
      </p:cViewPr>
      <p:guideLst>
        <p:guide orient="horz" pos="2160"/>
        <p:guide pos="3840"/>
      </p:guideLst>
    </p:cSldViewPr>
  </p:slideViewPr>
  <p:notesTextViewPr>
    <p:cViewPr>
      <p:scale>
        <a:sx n="150" d="100"/>
        <a:sy n="150" d="100"/>
      </p:scale>
      <p:origin x="0" y="0"/>
    </p:cViewPr>
  </p:notesTextViewPr>
  <p:notesViewPr>
    <p:cSldViewPr snapToGrid="0" snapToObjects="1">
      <p:cViewPr varScale="1">
        <p:scale>
          <a:sx n="99" d="100"/>
          <a:sy n="99" d="100"/>
        </p:scale>
        <p:origin x="3160"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2.fntdata"/><Relationship Id="rId68"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font" Target="fonts/font15.fntdata"/><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font" Target="fonts/font13.fntdata"/><Relationship Id="rId69"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handoutMaster" Target="handoutMasters/handoutMaster1.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67"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font" Target="fonts/font11.fntdata"/><Relationship Id="rId70"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notesMaster" Target="notesMasters/notesMaster1.xml"/><Relationship Id="rId55"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88389790-147C-7748-A8A1-65FAC8A20F72}" type="datetimeFigureOut">
              <a:rPr lang="en-US" smtClean="0"/>
              <a:t>3/20/26</a:t>
            </a:fld>
            <a:endParaRPr lang="en-US"/>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1187C3C-3B4A-A94C-9469-5678414FBFB8}" type="slidenum">
              <a:rPr lang="en-US" smtClean="0"/>
              <a:t>‹#›</a:t>
            </a:fld>
            <a:endParaRPr lang="en-US"/>
          </a:p>
        </p:txBody>
      </p:sp>
    </p:spTree>
    <p:extLst>
      <p:ext uri="{BB962C8B-B14F-4D97-AF65-F5344CB8AC3E}">
        <p14:creationId xmlns:p14="http://schemas.microsoft.com/office/powerpoint/2010/main" val="820989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48CB77B6-7185-9642-B594-FCD5D893C7A0}" type="datetimeFigureOut">
              <a:rPr lang="en-US" smtClean="0"/>
              <a:t>3/20/26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0A193586-FEB5-7C43-8F44-7EFAE4EECA28}" type="slidenum">
              <a:rPr lang="en-US" smtClean="0"/>
              <a:t>‹#›</a:t>
            </a:fld>
            <a:endParaRPr lang="en-US"/>
          </a:p>
        </p:txBody>
      </p:sp>
    </p:spTree>
    <p:extLst>
      <p:ext uri="{BB962C8B-B14F-4D97-AF65-F5344CB8AC3E}">
        <p14:creationId xmlns:p14="http://schemas.microsoft.com/office/powerpoint/2010/main" val="28110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ym typeface="Wingdings" pitchFamily="2" charset="2"/>
            </a:endParaRPr>
          </a:p>
        </p:txBody>
      </p:sp>
      <p:sp>
        <p:nvSpPr>
          <p:cNvPr id="4" name="Slide Number Placeholder 3"/>
          <p:cNvSpPr>
            <a:spLocks noGrp="1"/>
          </p:cNvSpPr>
          <p:nvPr>
            <p:ph type="sldNum" sz="quarter" idx="10"/>
          </p:nvPr>
        </p:nvSpPr>
        <p:spPr/>
        <p:txBody>
          <a:bodyPr/>
          <a:lstStyle/>
          <a:p>
            <a:fld id="{DD65BEC1-91A9-F040-80A2-A1EC33E8D6DB}"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442918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generalized data science pipeline</a:t>
            </a:r>
            <a:r>
              <a:rPr lang="en-US" baseline="0" dirty="0"/>
              <a:t> that was introduced to you earlier today. The functions we'll be learning about fit specifically in the "tidy" and "transform" portions of this workflow. </a:t>
            </a:r>
            <a:endParaRPr lang="en-US" dirty="0"/>
          </a:p>
          <a:p>
            <a:endParaRPr lang="en-US" dirty="0"/>
          </a:p>
        </p:txBody>
      </p:sp>
      <p:sp>
        <p:nvSpPr>
          <p:cNvPr id="4" name="Slide Number Placeholder 3"/>
          <p:cNvSpPr>
            <a:spLocks noGrp="1"/>
          </p:cNvSpPr>
          <p:nvPr>
            <p:ph type="sldNum" sz="quarter" idx="5"/>
          </p:nvPr>
        </p:nvSpPr>
        <p:spPr/>
        <p:txBody>
          <a:bodyPr/>
          <a:lstStyle/>
          <a:p>
            <a:fld id="{1FCC21F6-288D-5A4B-ACA3-285287681776}" type="slidenum">
              <a:rPr lang="en-US" smtClean="0"/>
              <a:t>2</a:t>
            </a:fld>
            <a:endParaRPr lang="en-US"/>
          </a:p>
        </p:txBody>
      </p:sp>
    </p:spTree>
    <p:extLst>
      <p:ext uri="{BB962C8B-B14F-4D97-AF65-F5344CB8AC3E}">
        <p14:creationId xmlns:p14="http://schemas.microsoft.com/office/powerpoint/2010/main" val="662996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a:t>
            </a:r>
            <a:r>
              <a:rPr lang="en-US" baseline="0" dirty="0"/>
              <a:t> this session we'll be using functions that are part of the </a:t>
            </a:r>
            <a:r>
              <a:rPr lang="en-US" baseline="0" dirty="0" err="1"/>
              <a:t>dplyr</a:t>
            </a:r>
            <a:r>
              <a:rPr lang="en-US" baseline="0" dirty="0"/>
              <a:t> package. The </a:t>
            </a:r>
            <a:r>
              <a:rPr lang="en-US" baseline="0" dirty="0" err="1"/>
              <a:t>dplyr</a:t>
            </a:r>
            <a:r>
              <a:rPr lang="en-US" baseline="0" dirty="0"/>
              <a:t> package is part of the </a:t>
            </a:r>
            <a:r>
              <a:rPr lang="en-US" baseline="0" dirty="0" err="1"/>
              <a:t>tidyverse</a:t>
            </a:r>
            <a:r>
              <a:rPr lang="en-US" baseline="0" dirty="0"/>
              <a:t> meta-package and a workhorse for data transformation.</a:t>
            </a:r>
            <a:endParaRPr lang="en-US" dirty="0"/>
          </a:p>
          <a:p>
            <a:pPr marL="0" indent="0">
              <a:buNone/>
            </a:pPr>
            <a:endParaRPr lang="en-US" dirty="0"/>
          </a:p>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3</a:t>
            </a:fld>
            <a:endParaRPr lang="en-US"/>
          </a:p>
        </p:txBody>
      </p:sp>
    </p:spTree>
    <p:extLst>
      <p:ext uri="{BB962C8B-B14F-4D97-AF65-F5344CB8AC3E}">
        <p14:creationId xmlns:p14="http://schemas.microsoft.com/office/powerpoint/2010/main" val="3145339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0: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600" dirty="0"/>
              <a:t>Now</a:t>
            </a:r>
            <a:r>
              <a:rPr lang="en-US" sz="600" baseline="0" dirty="0"/>
              <a:t> dplyr isn't just a haphazard collection of functions. It takes a holistic almost philosophical approach to the transformation of data and implements it in an organized lexicon or grammar for programmatically transforming data.</a:t>
            </a:r>
            <a:endParaRPr lang="en-US" sz="600" dirty="0"/>
          </a:p>
          <a:p>
            <a:pPr marL="0" indent="0">
              <a:buNone/>
            </a:pPr>
            <a:endParaRPr lang="en-US" sz="6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700" dirty="0"/>
              <a:t>What I mean when</a:t>
            </a:r>
            <a:r>
              <a:rPr lang="en-US" sz="700" baseline="0" dirty="0"/>
              <a:t> I say </a:t>
            </a:r>
            <a:r>
              <a:rPr lang="en-US" sz="700" dirty="0"/>
              <a:t>a grammar for transforming data really relates to 2 characteristics of the dplyr approach.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700" dirty="0"/>
              <a:t>#1</a:t>
            </a:r>
            <a:r>
              <a:rPr lang="en-US" sz="700" baseline="0" dirty="0"/>
              <a:t> </a:t>
            </a:r>
            <a:r>
              <a:rPr lang="en-US" sz="700" dirty="0"/>
              <a:t>In a similar way to how verbs operate on nouns, dplyr functions operate on a data frames.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700" dirty="0"/>
              <a:t>#2</a:t>
            </a:r>
            <a:r>
              <a:rPr lang="en-US" sz="700" baseline="0" dirty="0"/>
              <a:t> </a:t>
            </a:r>
            <a:r>
              <a:rPr lang="en-US" sz="700" dirty="0"/>
              <a:t>Dplyr</a:t>
            </a:r>
            <a:r>
              <a:rPr lang="en-US" sz="700" baseline="0" dirty="0"/>
              <a:t> functions </a:t>
            </a:r>
            <a:r>
              <a:rPr lang="en-US" sz="700" dirty="0"/>
              <a:t>use a consistent syntax which</a:t>
            </a:r>
            <a:r>
              <a:rPr lang="en-US" sz="700" baseline="0" dirty="0"/>
              <a:t> minimizes cognitive load so once you understand the dplyr approach with one function its easier to learn new functions</a:t>
            </a:r>
            <a:endParaRPr lang="en-US" sz="700" dirty="0"/>
          </a:p>
          <a:p>
            <a:pPr marL="0" indent="0">
              <a:buNone/>
            </a:pPr>
            <a:endParaRPr lang="en-US" sz="600" dirty="0"/>
          </a:p>
          <a:p>
            <a:pPr marL="0" indent="0">
              <a:buNone/>
            </a:pPr>
            <a:endParaRPr lang="en-US" sz="600" dirty="0"/>
          </a:p>
        </p:txBody>
      </p:sp>
      <p:sp>
        <p:nvSpPr>
          <p:cNvPr id="120" name="Google Shape;120;p10: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8628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a:t>
            </a:r>
            <a:r>
              <a:rPr lang="en-US" baseline="0" dirty="0"/>
              <a:t> function we'll talk about provides tools for narrowing down a </a:t>
            </a:r>
            <a:r>
              <a:rPr lang="en-US" baseline="0" dirty="0" err="1"/>
              <a:t>dataframe</a:t>
            </a:r>
            <a:r>
              <a:rPr lang="en-US" baseline="0" dirty="0"/>
              <a:t> to just the columns you need for an analysis</a:t>
            </a:r>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5</a:t>
            </a:fld>
            <a:endParaRPr lang="en-US"/>
          </a:p>
        </p:txBody>
      </p:sp>
    </p:spTree>
    <p:extLst>
      <p:ext uri="{BB962C8B-B14F-4D97-AF65-F5344CB8AC3E}">
        <p14:creationId xmlns:p14="http://schemas.microsoft.com/office/powerpoint/2010/main" val="1826282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1100" dirty="0">
                <a:solidFill>
                  <a:schemeClr val="dk1"/>
                </a:solidFill>
                <a:latin typeface="Calibri"/>
                <a:ea typeface="Calibri"/>
                <a:cs typeface="Calibri"/>
                <a:sym typeface="Calibri"/>
              </a:rPr>
              <a:t>This</a:t>
            </a:r>
            <a:r>
              <a:rPr lang="en-US" sz="1100" baseline="0" dirty="0">
                <a:solidFill>
                  <a:schemeClr val="dk1"/>
                </a:solidFill>
                <a:latin typeface="Calibri"/>
                <a:ea typeface="Calibri"/>
                <a:cs typeface="Calibri"/>
                <a:sym typeface="Calibri"/>
              </a:rPr>
              <a:t> is done with the select function</a:t>
            </a:r>
            <a:endParaRPr lang="en-US" sz="1100" dirty="0">
              <a:solidFill>
                <a:schemeClr val="dk1"/>
              </a:solidFill>
              <a:latin typeface="Calibri"/>
              <a:ea typeface="Calibri"/>
              <a:cs typeface="Calibri"/>
              <a:sym typeface="Calibri"/>
            </a:endParaRPr>
          </a:p>
          <a:p>
            <a:pPr marL="0" indent="0">
              <a:lnSpc>
                <a:spcPct val="115000"/>
              </a:lnSpc>
              <a:buClr>
                <a:schemeClr val="dk1"/>
              </a:buClr>
              <a:buNone/>
            </a:pPr>
            <a:r>
              <a:rPr lang="en-US" sz="1100" dirty="0">
                <a:solidFill>
                  <a:schemeClr val="dk1"/>
                </a:solidFill>
                <a:latin typeface="Calibri"/>
                <a:ea typeface="Calibri"/>
                <a:cs typeface="Calibri"/>
                <a:sym typeface="Calibri"/>
              </a:rPr>
              <a:t>Here you see the graphical framework for how select works. You provide</a:t>
            </a:r>
            <a:r>
              <a:rPr lang="en-US" sz="1100" baseline="0" dirty="0">
                <a:solidFill>
                  <a:schemeClr val="dk1"/>
                </a:solidFill>
                <a:latin typeface="Calibri"/>
                <a:ea typeface="Calibri"/>
                <a:cs typeface="Calibri"/>
                <a:sym typeface="Calibri"/>
              </a:rPr>
              <a:t> the raw data as the input in the form of a data frame.</a:t>
            </a:r>
            <a:endParaRPr lang="en-US" sz="1100" dirty="0">
              <a:solidFill>
                <a:schemeClr val="dk1"/>
              </a:solidFill>
              <a:latin typeface="Calibri"/>
              <a:ea typeface="Calibri"/>
              <a:cs typeface="Calibri"/>
              <a:sym typeface="Calibri"/>
            </a:endParaRPr>
          </a:p>
          <a:p>
            <a:pPr marL="0" indent="0">
              <a:lnSpc>
                <a:spcPct val="115000"/>
              </a:lnSpc>
              <a:buClr>
                <a:schemeClr val="dk1"/>
              </a:buClr>
              <a:buNone/>
            </a:pPr>
            <a:endParaRPr lang="en-US" sz="1100" dirty="0">
              <a:solidFill>
                <a:schemeClr val="dk1"/>
              </a:solidFill>
              <a:latin typeface="Calibri"/>
              <a:ea typeface="Calibri"/>
              <a:cs typeface="Calibri"/>
              <a:sym typeface="Calibri"/>
            </a:endParaRPr>
          </a:p>
          <a:p>
            <a:pPr marL="0" indent="0">
              <a:lnSpc>
                <a:spcPct val="115000"/>
              </a:lnSpc>
              <a:buClr>
                <a:schemeClr val="dk1"/>
              </a:buClr>
              <a:buNone/>
            </a:pPr>
            <a:r>
              <a:rPr lang="en-US" sz="1100" dirty="0">
                <a:solidFill>
                  <a:schemeClr val="dk1"/>
                </a:solidFill>
                <a:latin typeface="Calibri"/>
                <a:ea typeface="Calibri"/>
                <a:cs typeface="Calibri"/>
                <a:sym typeface="Calibri"/>
              </a:rPr>
              <a:t>It will extract the columns of your choosing and return these columns as a new data frame. </a:t>
            </a:r>
          </a:p>
          <a:p>
            <a:pPr marL="0" indent="0">
              <a:lnSpc>
                <a:spcPct val="115000"/>
              </a:lnSpc>
              <a:buClr>
                <a:schemeClr val="dk1"/>
              </a:buClr>
              <a:buNone/>
            </a:pPr>
            <a:endParaRPr lang="en-US" sz="1100" dirty="0">
              <a:solidFill>
                <a:schemeClr val="dk1"/>
              </a:solidFill>
              <a:latin typeface="Calibri"/>
              <a:ea typeface="Calibri"/>
              <a:cs typeface="Calibri"/>
              <a:sym typeface="Calibri"/>
            </a:endParaRPr>
          </a:p>
          <a:p>
            <a:pPr marL="0" indent="0">
              <a:lnSpc>
                <a:spcPct val="115000"/>
              </a:lnSpc>
              <a:buClr>
                <a:schemeClr val="dk1"/>
              </a:buClr>
              <a:buNone/>
            </a:pPr>
            <a:r>
              <a:rPr lang="en-US" sz="1100" dirty="0">
                <a:solidFill>
                  <a:schemeClr val="dk1"/>
                </a:solidFill>
                <a:latin typeface="Calibri"/>
                <a:ea typeface="Calibri"/>
                <a:cs typeface="Calibri"/>
                <a:sym typeface="Calibri"/>
              </a:rPr>
              <a:t>In the output, you will wind up with all the rows that you started with and the columns defined in the select function.</a:t>
            </a:r>
            <a:endParaRPr sz="1100" dirty="0"/>
          </a:p>
        </p:txBody>
      </p:sp>
      <p:sp>
        <p:nvSpPr>
          <p:cNvPr id="165" name="Google Shape;165;p1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7012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600" dirty="0">
                <a:solidFill>
                  <a:schemeClr val="dk1"/>
                </a:solidFill>
                <a:latin typeface="Calibri"/>
                <a:ea typeface="Calibri"/>
                <a:cs typeface="Calibri"/>
                <a:sym typeface="Calibri"/>
              </a:rPr>
              <a:t>You can see here that select() takes the starting data frame as its first argument. In this case it’s the "</a:t>
            </a:r>
            <a:r>
              <a:rPr lang="en-US" sz="600" dirty="0" err="1">
                <a:solidFill>
                  <a:schemeClr val="dk1"/>
                </a:solidFill>
                <a:latin typeface="Calibri"/>
                <a:ea typeface="Calibri"/>
                <a:cs typeface="Calibri"/>
                <a:sym typeface="Calibri"/>
              </a:rPr>
              <a:t>covid_testing</a:t>
            </a:r>
            <a:r>
              <a:rPr lang="en-US" sz="600" dirty="0">
                <a:solidFill>
                  <a:schemeClr val="dk1"/>
                </a:solidFill>
                <a:latin typeface="Calibri"/>
                <a:ea typeface="Calibri"/>
                <a:cs typeface="Calibri"/>
                <a:sym typeface="Calibri"/>
              </a:rPr>
              <a:t>" data frame.</a:t>
            </a:r>
          </a:p>
          <a:p>
            <a:pPr marL="0" indent="0">
              <a:lnSpc>
                <a:spcPct val="115000"/>
              </a:lnSpc>
              <a:buClr>
                <a:schemeClr val="dk1"/>
              </a:buClr>
              <a:buNone/>
            </a:pPr>
            <a:r>
              <a:rPr lang="en-US" sz="600" dirty="0">
                <a:solidFill>
                  <a:schemeClr val="dk1"/>
                </a:solidFill>
                <a:latin typeface="Calibri"/>
                <a:ea typeface="Calibri"/>
                <a:cs typeface="Calibri"/>
                <a:sym typeface="Calibri"/>
              </a:rPr>
              <a:t>After that it takes any number of additional arguments that specify the columns that you want to pick. </a:t>
            </a:r>
          </a:p>
          <a:p>
            <a:pPr marL="0" indent="0">
              <a:lnSpc>
                <a:spcPct val="115000"/>
              </a:lnSpc>
              <a:buClr>
                <a:schemeClr val="dk1"/>
              </a:buClr>
              <a:buNone/>
            </a:pPr>
            <a:r>
              <a:rPr lang="en-US" sz="600" dirty="0">
                <a:solidFill>
                  <a:schemeClr val="dk1"/>
                </a:solidFill>
                <a:latin typeface="Calibri"/>
                <a:ea typeface="Calibri"/>
                <a:cs typeface="Calibri"/>
                <a:sym typeface="Calibri"/>
              </a:rPr>
              <a:t>In it’s simplest form, those additional arguments will just be the names of the columns that you want to select. Like in this case we are indicating that we want to keep the </a:t>
            </a:r>
            <a:r>
              <a:rPr lang="en-US" sz="600" dirty="0" err="1">
                <a:solidFill>
                  <a:schemeClr val="dk1"/>
                </a:solidFill>
                <a:latin typeface="Calibri"/>
                <a:ea typeface="Calibri"/>
                <a:cs typeface="Calibri"/>
                <a:sym typeface="Calibri"/>
              </a:rPr>
              <a:t>mrn</a:t>
            </a:r>
            <a:r>
              <a:rPr lang="en-US" sz="600" dirty="0">
                <a:solidFill>
                  <a:schemeClr val="dk1"/>
                </a:solidFill>
                <a:latin typeface="Calibri"/>
                <a:ea typeface="Calibri"/>
                <a:cs typeface="Calibri"/>
                <a:sym typeface="Calibri"/>
              </a:rPr>
              <a:t> and </a:t>
            </a:r>
            <a:r>
              <a:rPr lang="en-US" sz="600" dirty="0" err="1">
                <a:solidFill>
                  <a:schemeClr val="dk1"/>
                </a:solidFill>
                <a:latin typeface="Calibri"/>
                <a:ea typeface="Calibri"/>
                <a:cs typeface="Calibri"/>
                <a:sym typeface="Calibri"/>
              </a:rPr>
              <a:t>last_name</a:t>
            </a:r>
            <a:r>
              <a:rPr lang="en-US" sz="600" dirty="0">
                <a:solidFill>
                  <a:schemeClr val="dk1"/>
                </a:solidFill>
                <a:latin typeface="Calibri"/>
                <a:ea typeface="Calibri"/>
                <a:cs typeface="Calibri"/>
                <a:sym typeface="Calibri"/>
              </a:rPr>
              <a:t> columns.</a:t>
            </a:r>
          </a:p>
          <a:p>
            <a:pPr marL="0" indent="0">
              <a:lnSpc>
                <a:spcPct val="115000"/>
              </a:lnSpc>
              <a:buClr>
                <a:schemeClr val="dk1"/>
              </a:buClr>
              <a:buNone/>
            </a:pPr>
            <a:r>
              <a:rPr lang="en-US" sz="600" dirty="0">
                <a:solidFill>
                  <a:schemeClr val="dk1"/>
                </a:solidFill>
                <a:latin typeface="Calibri"/>
                <a:ea typeface="Calibri"/>
                <a:cs typeface="Calibri"/>
                <a:sym typeface="Calibri"/>
              </a:rPr>
              <a:t> In very wide datasets, writing out the names of the columns you want just doesn’t scale so dplyr does have additional</a:t>
            </a:r>
            <a:r>
              <a:rPr lang="en-US" sz="600" baseline="0" dirty="0">
                <a:solidFill>
                  <a:schemeClr val="dk1"/>
                </a:solidFill>
                <a:latin typeface="Calibri"/>
                <a:ea typeface="Calibri"/>
                <a:cs typeface="Calibri"/>
                <a:sym typeface="Calibri"/>
              </a:rPr>
              <a:t> </a:t>
            </a:r>
            <a:r>
              <a:rPr lang="en-US" sz="600" dirty="0">
                <a:solidFill>
                  <a:schemeClr val="dk1"/>
                </a:solidFill>
                <a:latin typeface="Calibri"/>
                <a:ea typeface="Calibri"/>
                <a:cs typeface="Calibri"/>
                <a:sym typeface="Calibri"/>
              </a:rPr>
              <a:t>convenience functions that can help you succinctly identify the columns you want. We won't go over these together but they </a:t>
            </a:r>
            <a:r>
              <a:rPr lang="en-US" sz="600" baseline="0" dirty="0">
                <a:solidFill>
                  <a:schemeClr val="dk1"/>
                </a:solidFill>
                <a:latin typeface="Calibri"/>
                <a:ea typeface="Calibri"/>
                <a:cs typeface="Calibri"/>
                <a:sym typeface="Calibri"/>
              </a:rPr>
              <a:t>can be found in the data transformation cheat sheet in the appendix to your </a:t>
            </a:r>
            <a:r>
              <a:rPr lang="en-US" sz="600" baseline="0" dirty="0" err="1">
                <a:solidFill>
                  <a:schemeClr val="dk1"/>
                </a:solidFill>
                <a:latin typeface="Calibri"/>
                <a:ea typeface="Calibri"/>
                <a:cs typeface="Calibri"/>
                <a:sym typeface="Calibri"/>
              </a:rPr>
              <a:t>coursebook</a:t>
            </a:r>
            <a:r>
              <a:rPr lang="en-US" sz="600" baseline="0" dirty="0">
                <a:solidFill>
                  <a:schemeClr val="dk1"/>
                </a:solidFill>
                <a:latin typeface="Calibri"/>
                <a:ea typeface="Calibri"/>
                <a:cs typeface="Calibri"/>
                <a:sym typeface="Calibri"/>
              </a:rPr>
              <a:t>.</a:t>
            </a:r>
            <a:endParaRPr sz="600" dirty="0">
              <a:solidFill>
                <a:schemeClr val="dk1"/>
              </a:solidFill>
              <a:latin typeface="Calibri"/>
              <a:ea typeface="Calibri"/>
              <a:cs typeface="Calibri"/>
              <a:sym typeface="Calibri"/>
            </a:endParaRPr>
          </a:p>
          <a:p>
            <a:pPr marL="0" indent="0">
              <a:buNone/>
            </a:pPr>
            <a:endParaRPr dirty="0"/>
          </a:p>
        </p:txBody>
      </p:sp>
      <p:sp>
        <p:nvSpPr>
          <p:cNvPr id="178" name="Google Shape;178;p14: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219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sz="600" dirty="0">
                <a:solidFill>
                  <a:schemeClr val="dk1"/>
                </a:solidFill>
                <a:latin typeface="Calibri"/>
                <a:ea typeface="Calibri"/>
                <a:cs typeface="Calibri"/>
                <a:sym typeface="Calibri"/>
              </a:rPr>
              <a:t>So for example, if you were to run the code</a:t>
            </a:r>
            <a:r>
              <a:rPr lang="en-US" sz="600" baseline="0" dirty="0">
                <a:solidFill>
                  <a:schemeClr val="dk1"/>
                </a:solidFill>
                <a:latin typeface="Calibri"/>
                <a:ea typeface="Calibri"/>
                <a:cs typeface="Calibri"/>
                <a:sym typeface="Calibri"/>
              </a:rPr>
              <a:t> you see here</a:t>
            </a:r>
            <a:r>
              <a:rPr lang="en-US" sz="600" dirty="0">
                <a:solidFill>
                  <a:schemeClr val="dk1"/>
                </a:solidFill>
                <a:latin typeface="Calibri"/>
                <a:ea typeface="Calibri"/>
                <a:cs typeface="Calibri"/>
                <a:sym typeface="Calibri"/>
              </a:rPr>
              <a:t>, the snippet of the </a:t>
            </a:r>
            <a:r>
              <a:rPr lang="en-US" sz="600" dirty="0" err="1">
                <a:solidFill>
                  <a:schemeClr val="dk1"/>
                </a:solidFill>
                <a:latin typeface="Calibri"/>
                <a:ea typeface="Calibri"/>
                <a:cs typeface="Calibri"/>
                <a:sym typeface="Calibri"/>
              </a:rPr>
              <a:t>covid_testing</a:t>
            </a:r>
            <a:r>
              <a:rPr lang="en-US" sz="600" dirty="0">
                <a:solidFill>
                  <a:schemeClr val="dk1"/>
                </a:solidFill>
                <a:latin typeface="Calibri"/>
                <a:ea typeface="Calibri"/>
                <a:cs typeface="Calibri"/>
                <a:sym typeface="Calibri"/>
              </a:rPr>
              <a:t> data frame on the left would be accepted as input and a subset of it, the </a:t>
            </a:r>
            <a:r>
              <a:rPr lang="en-US" sz="600" dirty="0" err="1">
                <a:solidFill>
                  <a:schemeClr val="dk1"/>
                </a:solidFill>
                <a:latin typeface="Calibri"/>
                <a:ea typeface="Calibri"/>
                <a:cs typeface="Calibri"/>
                <a:sym typeface="Calibri"/>
              </a:rPr>
              <a:t>mrn</a:t>
            </a:r>
            <a:r>
              <a:rPr lang="en-US" sz="600" dirty="0">
                <a:solidFill>
                  <a:schemeClr val="dk1"/>
                </a:solidFill>
                <a:latin typeface="Calibri"/>
                <a:ea typeface="Calibri"/>
                <a:cs typeface="Calibri"/>
                <a:sym typeface="Calibri"/>
              </a:rPr>
              <a:t> and the </a:t>
            </a:r>
            <a:r>
              <a:rPr lang="en-US" sz="600" dirty="0" err="1">
                <a:solidFill>
                  <a:schemeClr val="dk1"/>
                </a:solidFill>
                <a:latin typeface="Calibri"/>
                <a:ea typeface="Calibri"/>
                <a:cs typeface="Calibri"/>
                <a:sym typeface="Calibri"/>
              </a:rPr>
              <a:t>last_name</a:t>
            </a:r>
            <a:r>
              <a:rPr lang="en-US" sz="600" dirty="0">
                <a:solidFill>
                  <a:schemeClr val="dk1"/>
                </a:solidFill>
                <a:latin typeface="Calibri"/>
                <a:ea typeface="Calibri"/>
                <a:cs typeface="Calibri"/>
                <a:sym typeface="Calibri"/>
              </a:rPr>
              <a:t> would be returned as output </a:t>
            </a:r>
            <a:endParaRPr lang="en-US" sz="600" dirty="0"/>
          </a:p>
        </p:txBody>
      </p:sp>
      <p:sp>
        <p:nvSpPr>
          <p:cNvPr id="178" name="Google Shape;178;p14: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7292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9</a:t>
            </a:fld>
            <a:endParaRPr lang="en-US"/>
          </a:p>
        </p:txBody>
      </p:sp>
    </p:spTree>
    <p:extLst>
      <p:ext uri="{BB962C8B-B14F-4D97-AF65-F5344CB8AC3E}">
        <p14:creationId xmlns:p14="http://schemas.microsoft.com/office/powerpoint/2010/main" val="3862090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10</a:t>
            </a:fld>
            <a:endParaRPr lang="en-US"/>
          </a:p>
        </p:txBody>
      </p:sp>
    </p:spTree>
    <p:extLst>
      <p:ext uri="{BB962C8B-B14F-4D97-AF65-F5344CB8AC3E}">
        <p14:creationId xmlns:p14="http://schemas.microsoft.com/office/powerpoint/2010/main" val="624967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1100" dirty="0">
                <a:solidFill>
                  <a:schemeClr val="dk1"/>
                </a:solidFill>
                <a:latin typeface="Calibri"/>
                <a:ea typeface="Calibri"/>
                <a:cs typeface="Calibri"/>
                <a:sym typeface="Calibri"/>
              </a:rPr>
              <a:t>Here you see the graphical framework for how filter works. You provide</a:t>
            </a:r>
            <a:r>
              <a:rPr lang="en-US" sz="1100" baseline="0" dirty="0">
                <a:solidFill>
                  <a:schemeClr val="dk1"/>
                </a:solidFill>
                <a:latin typeface="Calibri"/>
                <a:ea typeface="Calibri"/>
                <a:cs typeface="Calibri"/>
                <a:sym typeface="Calibri"/>
              </a:rPr>
              <a:t> the raw data as the input in the form of a data frame.</a:t>
            </a:r>
            <a:endParaRPr lang="en-US" sz="1100" dirty="0">
              <a:solidFill>
                <a:schemeClr val="dk1"/>
              </a:solidFill>
              <a:latin typeface="Calibri"/>
              <a:ea typeface="Calibri"/>
              <a:cs typeface="Calibri"/>
              <a:sym typeface="Calibri"/>
            </a:endParaRPr>
          </a:p>
          <a:p>
            <a:pPr marL="0" indent="0">
              <a:lnSpc>
                <a:spcPct val="115000"/>
              </a:lnSpc>
              <a:buClr>
                <a:schemeClr val="dk1"/>
              </a:buClr>
              <a:buNone/>
            </a:pPr>
            <a:endParaRPr lang="en-US" sz="1100" dirty="0">
              <a:solidFill>
                <a:schemeClr val="dk1"/>
              </a:solidFill>
              <a:latin typeface="Calibri"/>
              <a:ea typeface="Calibri"/>
              <a:cs typeface="Calibri"/>
              <a:sym typeface="Calibri"/>
            </a:endParaRPr>
          </a:p>
          <a:p>
            <a:pPr marL="0" indent="0">
              <a:lnSpc>
                <a:spcPct val="115000"/>
              </a:lnSpc>
              <a:buClr>
                <a:schemeClr val="dk1"/>
              </a:buClr>
              <a:buNone/>
            </a:pPr>
            <a:r>
              <a:rPr lang="en-US" sz="1100" dirty="0">
                <a:solidFill>
                  <a:schemeClr val="dk1"/>
                </a:solidFill>
                <a:latin typeface="Calibri"/>
                <a:ea typeface="Calibri"/>
                <a:cs typeface="Calibri"/>
                <a:sym typeface="Calibri"/>
              </a:rPr>
              <a:t>Filter will use logical</a:t>
            </a:r>
            <a:r>
              <a:rPr lang="en-US" sz="1100" baseline="0" dirty="0">
                <a:solidFill>
                  <a:schemeClr val="dk1"/>
                </a:solidFill>
                <a:latin typeface="Calibri"/>
                <a:ea typeface="Calibri"/>
                <a:cs typeface="Calibri"/>
                <a:sym typeface="Calibri"/>
              </a:rPr>
              <a:t> criteria you provide in the function to identify the rows </a:t>
            </a:r>
            <a:r>
              <a:rPr lang="en-US" sz="1100" dirty="0">
                <a:solidFill>
                  <a:schemeClr val="dk1"/>
                </a:solidFill>
                <a:latin typeface="Calibri"/>
                <a:ea typeface="Calibri"/>
                <a:cs typeface="Calibri"/>
                <a:sym typeface="Calibri"/>
              </a:rPr>
              <a:t>that are required </a:t>
            </a:r>
          </a:p>
          <a:p>
            <a:pPr marL="0" indent="0">
              <a:lnSpc>
                <a:spcPct val="115000"/>
              </a:lnSpc>
              <a:buClr>
                <a:schemeClr val="dk1"/>
              </a:buClr>
              <a:buNone/>
            </a:pPr>
            <a:endParaRPr lang="en-US" sz="1100" dirty="0">
              <a:solidFill>
                <a:schemeClr val="dk1"/>
              </a:solidFill>
              <a:latin typeface="Calibri"/>
              <a:ea typeface="Calibri"/>
              <a:cs typeface="Calibri"/>
              <a:sym typeface="Calibri"/>
            </a:endParaRPr>
          </a:p>
          <a:p>
            <a:pPr marL="0" indent="0">
              <a:lnSpc>
                <a:spcPct val="115000"/>
              </a:lnSpc>
              <a:buClr>
                <a:schemeClr val="dk1"/>
              </a:buClr>
              <a:buNone/>
            </a:pPr>
            <a:r>
              <a:rPr lang="en-US" sz="1100" dirty="0">
                <a:solidFill>
                  <a:schemeClr val="dk1"/>
                </a:solidFill>
                <a:latin typeface="Calibri"/>
                <a:ea typeface="Calibri"/>
                <a:cs typeface="Calibri"/>
                <a:sym typeface="Calibri"/>
              </a:rPr>
              <a:t>In the output, you will wind up with all the columns that you started with and just the rows defined in the filter function.</a:t>
            </a:r>
            <a:endParaRPr lang="en-US" sz="1100" dirty="0"/>
          </a:p>
          <a:p>
            <a:pPr marL="0" indent="0">
              <a:buNone/>
            </a:pPr>
            <a:endParaRPr dirty="0"/>
          </a:p>
        </p:txBody>
      </p:sp>
      <p:sp>
        <p:nvSpPr>
          <p:cNvPr id="143" name="Google Shape;143;p11: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59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In filter the first argument again is a data frame from which we will be extracting rows. </a:t>
            </a:r>
          </a:p>
          <a:p>
            <a:pPr marL="0" indent="0">
              <a:buNone/>
            </a:pPr>
            <a:r>
              <a:rPr lang="en-US" dirty="0"/>
              <a:t>Afterwards we can input one more logical tests. R then performs that logical test on each row of the dataset and returns all rows in which the logical test is TRUE. Rows for which the tests are TRUE are returned in the output as a data frame and the rest are removed.</a:t>
            </a:r>
          </a:p>
          <a:p>
            <a:pPr marL="0" indent="0">
              <a:buNone/>
            </a:pPr>
            <a:r>
              <a:rPr lang="en-US" dirty="0"/>
              <a:t>The key point here is that the logical tests are evaluated</a:t>
            </a:r>
            <a:r>
              <a:rPr lang="en-US" baseline="0" dirty="0"/>
              <a:t> row by row, one at a time, independently.</a:t>
            </a: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83537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Let's</a:t>
            </a:r>
            <a:r>
              <a:rPr lang="en-US" baseline="0" dirty="0"/>
              <a:t> zoom in for a second on those logical tests.</a:t>
            </a:r>
          </a:p>
          <a:p>
            <a:pPr marL="0" indent="0">
              <a:buNone/>
            </a:pPr>
            <a:endParaRPr lang="en-US" baseline="0" dirty="0"/>
          </a:p>
          <a:p>
            <a:pPr marL="0" indent="0">
              <a:buNone/>
            </a:pPr>
            <a:r>
              <a:rPr lang="en-US" baseline="0" dirty="0"/>
              <a:t>Generally speaking they will take this form. </a:t>
            </a:r>
          </a:p>
          <a:p>
            <a:pPr marL="0" indent="0">
              <a:buNone/>
            </a:pPr>
            <a:endParaRPr lang="en-US" baseline="0" dirty="0"/>
          </a:p>
          <a:p>
            <a:pPr marL="0" indent="0">
              <a:buNone/>
            </a:pPr>
            <a:r>
              <a:rPr lang="en-US" baseline="0" dirty="0"/>
              <a:t>There will be some column that contains the data you want to filter on, like the clinic name, or the patient MRN.</a:t>
            </a:r>
          </a:p>
          <a:p>
            <a:pPr marL="0" indent="0">
              <a:buNone/>
            </a:pPr>
            <a:endParaRPr lang="en-US" baseline="0" dirty="0"/>
          </a:p>
          <a:p>
            <a:pPr marL="0" indent="0">
              <a:buNone/>
            </a:pPr>
            <a:r>
              <a:rPr lang="en-US" baseline="0" dirty="0"/>
              <a:t>Then there will be a logical test, what you see here is equals, you can also have greater than, less than etc.</a:t>
            </a:r>
          </a:p>
          <a:p>
            <a:pPr marL="0" indent="0">
              <a:buNone/>
            </a:pPr>
            <a:endParaRPr lang="en-US" baseline="0" dirty="0"/>
          </a:p>
          <a:p>
            <a:pPr marL="0" indent="0">
              <a:buNone/>
            </a:pPr>
            <a:r>
              <a:rPr lang="en-US" baseline="0" dirty="0"/>
              <a:t>And then you have the criteria. Equal to what? Greater than what number?</a:t>
            </a:r>
          </a:p>
          <a:p>
            <a:pPr marL="0" indent="0">
              <a:buNone/>
            </a:pPr>
            <a:endParaRPr lang="en-US" baseline="0" dirty="0"/>
          </a:p>
          <a:p>
            <a:pPr marL="0" indent="0">
              <a:buNone/>
            </a:pPr>
            <a:r>
              <a:rPr lang="en-US" baseline="0" dirty="0"/>
              <a:t>OK let's see some real examples </a:t>
            </a:r>
            <a:r>
              <a:rPr lang="en-US" baseline="0" dirty="0">
                <a:sym typeface="Wingdings" panose="05000000000000000000" pitchFamily="2" charset="2"/>
              </a:rPr>
              <a:t></a:t>
            </a:r>
            <a:endParaRPr lang="en-US"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3605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Here's an example.  We supply the </a:t>
            </a:r>
            <a:r>
              <a:rPr lang="en-US" dirty="0" err="1"/>
              <a:t>covid_testing</a:t>
            </a:r>
            <a:r>
              <a:rPr lang="en-US" dirty="0"/>
              <a:t> data frame as the first argument. Afterwards we provide one logical test; we ask filter() to return</a:t>
            </a:r>
            <a:r>
              <a:rPr lang="en-US" baseline="0" dirty="0"/>
              <a:t> rows in which the </a:t>
            </a:r>
            <a:r>
              <a:rPr lang="en-US" baseline="0" dirty="0" err="1"/>
              <a:t>mrn</a:t>
            </a:r>
            <a:r>
              <a:rPr lang="en-US" baseline="0" dirty="0"/>
              <a:t> is </a:t>
            </a:r>
            <a:r>
              <a:rPr lang="en-US" sz="1100" b="0" i="0" u="none" strike="noStrike" cap="none" dirty="0">
                <a:solidFill>
                  <a:srgbClr val="000000"/>
                </a:solidFill>
                <a:effectLst/>
                <a:latin typeface="Arial"/>
                <a:ea typeface="Arial"/>
                <a:cs typeface="Arial"/>
                <a:sym typeface="Arial"/>
              </a:rPr>
              <a:t>5000083</a:t>
            </a:r>
            <a:r>
              <a:rPr lang="en-US" baseline="0" dirty="0"/>
              <a:t>.</a:t>
            </a:r>
          </a:p>
          <a:p>
            <a:pPr marL="0" indent="0">
              <a:buNone/>
            </a:pPr>
            <a:r>
              <a:rPr lang="en-US" baseline="0" dirty="0"/>
              <a:t>Filter will go row by row, starting from the very first row and ask is the value in the </a:t>
            </a:r>
            <a:r>
              <a:rPr lang="en-US" baseline="0" dirty="0" err="1"/>
              <a:t>mrn</a:t>
            </a:r>
            <a:r>
              <a:rPr lang="en-US" baseline="0" dirty="0"/>
              <a:t> column equal to 500083 for that row, as you can see it's not – so it gets an imaginary value of false. </a:t>
            </a:r>
            <a:r>
              <a:rPr lang="en-US" baseline="0" dirty="0">
                <a:sym typeface="Wingdings" panose="05000000000000000000" pitchFamily="2" charset="2"/>
              </a:rPr>
              <a:t></a:t>
            </a:r>
          </a:p>
          <a:p>
            <a:pPr marL="0" indent="0">
              <a:buNone/>
            </a:pPr>
            <a:r>
              <a:rPr lang="en-US" baseline="0" dirty="0">
                <a:sym typeface="Wingdings" panose="05000000000000000000" pitchFamily="2" charset="2"/>
              </a:rPr>
              <a:t>It then goes to the second row, again checks to see if the </a:t>
            </a:r>
            <a:r>
              <a:rPr lang="en-US" baseline="0" dirty="0" err="1">
                <a:sym typeface="Wingdings" panose="05000000000000000000" pitchFamily="2" charset="2"/>
              </a:rPr>
              <a:t>mrn</a:t>
            </a:r>
            <a:r>
              <a:rPr lang="en-US" baseline="0" dirty="0">
                <a:sym typeface="Wingdings" panose="05000000000000000000" pitchFamily="2" charset="2"/>
              </a:rPr>
              <a:t> is a match, it's not so it also get's a false.</a:t>
            </a:r>
          </a:p>
          <a:p>
            <a:pPr marL="0" indent="0">
              <a:buNone/>
            </a:pPr>
            <a:r>
              <a:rPr lang="en-US" baseline="0" dirty="0">
                <a:sym typeface="Wingdings" panose="05000000000000000000" pitchFamily="2" charset="2"/>
              </a:rPr>
              <a:t>And so on for the third </a:t>
            </a:r>
          </a:p>
          <a:p>
            <a:pPr marL="0" indent="0">
              <a:buNone/>
            </a:pPr>
            <a:r>
              <a:rPr lang="en-US" baseline="0" dirty="0">
                <a:sym typeface="Wingdings" panose="05000000000000000000" pitchFamily="2" charset="2"/>
              </a:rPr>
              <a:t>But in the fourth you can see we do have a match – so that gets a TRUE. </a:t>
            </a:r>
          </a:p>
          <a:p>
            <a:pPr marL="0" indent="0">
              <a:buNone/>
            </a:pPr>
            <a:r>
              <a:rPr lang="en-US" baseline="0" dirty="0">
                <a:sym typeface="Wingdings" panose="05000000000000000000" pitchFamily="2" charset="2"/>
              </a:rPr>
              <a:t>So the output of this function is a data frame with the same number of columns but only the rows that resulted in a TRUE based on the criteria in the function</a:t>
            </a:r>
          </a:p>
          <a:p>
            <a:pPr marL="0" indent="0">
              <a:buNone/>
            </a:pPr>
            <a:endParaRPr lang="en-US" baseline="0" dirty="0">
              <a:sym typeface="Wingdings" panose="05000000000000000000" pitchFamily="2" charset="2"/>
            </a:endParaRPr>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38877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defTabSz="492404">
              <a:buNone/>
              <a:defRPr/>
            </a:pPr>
            <a:r>
              <a:rPr lang="en-US" dirty="0"/>
              <a:t>Similarly we can ask filter to return just the rows that represent tests for a specific patient, like stark.</a:t>
            </a:r>
          </a:p>
          <a:p>
            <a:pPr marL="0" indent="0" defTabSz="492404">
              <a:buNone/>
              <a:defRPr/>
            </a:pPr>
            <a:r>
              <a:rPr lang="en-US" dirty="0"/>
              <a:t>In this case the first two rows result in TRUE and so are kept </a:t>
            </a:r>
          </a:p>
          <a:p>
            <a:pPr marL="0" indent="0" defTabSz="492404">
              <a:buNone/>
              <a:defRPr/>
            </a:pPr>
            <a:r>
              <a:rPr lang="en-US" dirty="0"/>
              <a:t> Note that when asking filter to return rows with specific text inside of it, we have to put that text in quotes and it's got to be an exact match, partial matches don't count. </a:t>
            </a:r>
          </a:p>
          <a:p>
            <a:pPr marL="0" indent="0">
              <a:buNone/>
            </a:pPr>
            <a:endParaRPr lang="en-US"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06830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So what we've seen is that the output of a filter() function is completely</a:t>
            </a:r>
            <a:r>
              <a:rPr lang="en-US" baseline="0" dirty="0"/>
              <a:t> dependent on the logical operators in this green square. Rows in which the logical statement results in a TRUE are returned and those that are FALSE will not be returned. So the next question of course is how do you construct logical statements in R.</a:t>
            </a:r>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06612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7: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600" dirty="0">
                <a:solidFill>
                  <a:schemeClr val="dk1"/>
                </a:solidFill>
                <a:latin typeface="Calibri"/>
                <a:ea typeface="Calibri"/>
                <a:cs typeface="Calibri"/>
                <a:sym typeface="Calibri"/>
              </a:rPr>
              <a:t>R provides logical operators for</a:t>
            </a:r>
            <a:r>
              <a:rPr lang="en-US" sz="600" baseline="0" dirty="0">
                <a:solidFill>
                  <a:schemeClr val="dk1"/>
                </a:solidFill>
                <a:latin typeface="Calibri"/>
                <a:ea typeface="Calibri"/>
                <a:cs typeface="Calibri"/>
                <a:sym typeface="Calibri"/>
              </a:rPr>
              <a:t> every occasion. </a:t>
            </a:r>
            <a:r>
              <a:rPr lang="en-US" sz="600" dirty="0">
                <a:solidFill>
                  <a:schemeClr val="dk1"/>
                </a:solidFill>
                <a:latin typeface="Calibri"/>
                <a:ea typeface="Calibri"/>
                <a:cs typeface="Calibri"/>
                <a:sym typeface="Calibri"/>
              </a:rPr>
              <a:t>Here are just some of the important logical operators to know about. </a:t>
            </a:r>
          </a:p>
          <a:p>
            <a:pPr marL="0" indent="0">
              <a:lnSpc>
                <a:spcPct val="115000"/>
              </a:lnSpc>
              <a:buClr>
                <a:schemeClr val="dk1"/>
              </a:buClr>
              <a:buNone/>
            </a:pPr>
            <a:endParaRPr sz="600" dirty="0">
              <a:solidFill>
                <a:schemeClr val="dk1"/>
              </a:solidFill>
              <a:latin typeface="Calibri"/>
              <a:ea typeface="Calibri"/>
              <a:cs typeface="Calibri"/>
              <a:sym typeface="Calibri"/>
            </a:endParaRPr>
          </a:p>
          <a:p>
            <a:pPr marL="0" indent="0">
              <a:lnSpc>
                <a:spcPct val="115000"/>
              </a:lnSpc>
              <a:buClr>
                <a:schemeClr val="dk1"/>
              </a:buClr>
              <a:buNone/>
            </a:pPr>
            <a:r>
              <a:rPr lang="en-US" sz="600" dirty="0">
                <a:solidFill>
                  <a:schemeClr val="dk1"/>
                </a:solidFill>
                <a:latin typeface="Calibri"/>
                <a:ea typeface="Calibri"/>
                <a:cs typeface="Calibri"/>
                <a:sym typeface="Calibri"/>
              </a:rPr>
              <a:t>We’ve already seen the double equals. </a:t>
            </a:r>
            <a:r>
              <a:rPr lang="en-US" sz="600" dirty="0" err="1">
                <a:solidFill>
                  <a:schemeClr val="dk1"/>
                </a:solidFill>
                <a:latin typeface="Calibri"/>
                <a:ea typeface="Calibri"/>
                <a:cs typeface="Calibri"/>
                <a:sym typeface="Calibri"/>
              </a:rPr>
              <a:t>Theres</a:t>
            </a:r>
            <a:r>
              <a:rPr lang="en-US" sz="600" dirty="0">
                <a:solidFill>
                  <a:schemeClr val="dk1"/>
                </a:solidFill>
                <a:latin typeface="Calibri"/>
                <a:ea typeface="Calibri"/>
                <a:cs typeface="Calibri"/>
                <a:sym typeface="Calibri"/>
              </a:rPr>
              <a:t> also the less than or and greater than operators. These each also come as “or equal to” versions.</a:t>
            </a:r>
            <a:endParaRPr sz="600" dirty="0">
              <a:solidFill>
                <a:schemeClr val="dk1"/>
              </a:solidFill>
              <a:latin typeface="Calibri"/>
              <a:ea typeface="Calibri"/>
              <a:cs typeface="Calibri"/>
              <a:sym typeface="Calibri"/>
            </a:endParaRPr>
          </a:p>
          <a:p>
            <a:pPr marL="0" indent="0">
              <a:lnSpc>
                <a:spcPct val="115000"/>
              </a:lnSpc>
              <a:buClr>
                <a:schemeClr val="dk1"/>
              </a:buClr>
              <a:buNone/>
            </a:pPr>
            <a:r>
              <a:rPr lang="en-US" sz="600" dirty="0">
                <a:solidFill>
                  <a:schemeClr val="dk1"/>
                </a:solidFill>
                <a:latin typeface="Calibri"/>
                <a:ea typeface="Calibri"/>
                <a:cs typeface="Calibri"/>
                <a:sym typeface="Calibri"/>
              </a:rPr>
              <a:t>Use exclamation point-equals</a:t>
            </a:r>
            <a:r>
              <a:rPr lang="en-US" sz="600" baseline="0" dirty="0">
                <a:solidFill>
                  <a:schemeClr val="dk1"/>
                </a:solidFill>
                <a:latin typeface="Calibri"/>
                <a:ea typeface="Calibri"/>
                <a:cs typeface="Calibri"/>
                <a:sym typeface="Calibri"/>
              </a:rPr>
              <a:t> (</a:t>
            </a:r>
            <a:r>
              <a:rPr lang="en-US" sz="600" dirty="0">
                <a:solidFill>
                  <a:schemeClr val="dk1"/>
                </a:solidFill>
                <a:latin typeface="Calibri"/>
                <a:ea typeface="Calibri"/>
                <a:cs typeface="Calibri"/>
                <a:sym typeface="Calibri"/>
              </a:rPr>
              <a:t>!=) if you want to select rows in which a value is not equal to something else.</a:t>
            </a:r>
            <a:endParaRPr sz="600" dirty="0">
              <a:solidFill>
                <a:schemeClr val="dk1"/>
              </a:solidFill>
              <a:latin typeface="Calibri"/>
              <a:ea typeface="Calibri"/>
              <a:cs typeface="Calibri"/>
              <a:sym typeface="Calibri"/>
            </a:endParaRPr>
          </a:p>
          <a:p>
            <a:pPr marL="0" indent="0">
              <a:buNone/>
            </a:pPr>
            <a:endParaRPr dirty="0"/>
          </a:p>
        </p:txBody>
      </p:sp>
      <p:sp>
        <p:nvSpPr>
          <p:cNvPr id="339" name="Google Shape;339;p27: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09017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18</a:t>
            </a:fld>
            <a:endParaRPr lang="en-US"/>
          </a:p>
        </p:txBody>
      </p:sp>
    </p:spTree>
    <p:extLst>
      <p:ext uri="{BB962C8B-B14F-4D97-AF65-F5344CB8AC3E}">
        <p14:creationId xmlns:p14="http://schemas.microsoft.com/office/powerpoint/2010/main" val="4108668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19</a:t>
            </a:fld>
            <a:endParaRPr lang="en-US"/>
          </a:p>
        </p:txBody>
      </p:sp>
    </p:spTree>
    <p:extLst>
      <p:ext uri="{BB962C8B-B14F-4D97-AF65-F5344CB8AC3E}">
        <p14:creationId xmlns:p14="http://schemas.microsoft.com/office/powerpoint/2010/main" val="37295985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5487" indent="0">
              <a:buNone/>
            </a:pPr>
            <a:r>
              <a:rPr lang="en-US" dirty="0"/>
              <a:t>This is exactly what the pipe operator</a:t>
            </a:r>
            <a:r>
              <a:rPr lang="en-US" baseline="0" dirty="0"/>
              <a:t> does. </a:t>
            </a:r>
          </a:p>
          <a:p>
            <a:pPr marL="85487" indent="0">
              <a:buNone/>
            </a:pPr>
            <a:endParaRPr lang="en-US" baseline="0" dirty="0"/>
          </a:p>
          <a:p>
            <a:pPr marL="85487" indent="0">
              <a:buNone/>
            </a:pPr>
            <a:r>
              <a:rPr lang="en-US" baseline="0" dirty="0"/>
              <a:t>The pipe operator is this percent, greater than, percent symbol. It's a tool that we use to glue the pieces of our analysis together into one pipeline.</a:t>
            </a:r>
          </a:p>
          <a:p>
            <a:pPr marL="85487" indent="0">
              <a:buNone/>
            </a:pPr>
            <a:endParaRPr lang="en-US" baseline="0" dirty="0"/>
          </a:p>
          <a:p>
            <a:pPr marL="85487" indent="0">
              <a:buNone/>
            </a:pPr>
            <a:r>
              <a:rPr lang="en-US" baseline="0" dirty="0"/>
              <a:t>The pipe operator does something very simple but at the same time incredible useful. It takes the product of whatever is on the left and puts it into the function on the right. </a:t>
            </a:r>
          </a:p>
          <a:p>
            <a:pPr marL="85487" indent="0">
              <a:buNone/>
            </a:pPr>
            <a:endParaRPr lang="en-US" baseline="0" dirty="0"/>
          </a:p>
          <a:p>
            <a:pPr marL="85487" indent="0">
              <a:buNone/>
            </a:pPr>
            <a:r>
              <a:rPr lang="en-US" baseline="0" dirty="0"/>
              <a:t>So for example, the two lines of code in the gray box do exactly the same thing. </a:t>
            </a:r>
          </a:p>
          <a:p>
            <a:pPr marL="85487" indent="0">
              <a:buNone/>
            </a:pPr>
            <a:endParaRPr lang="en-US" baseline="0" dirty="0"/>
          </a:p>
          <a:p>
            <a:pPr marL="85487" indent="0">
              <a:buNone/>
            </a:pPr>
            <a:r>
              <a:rPr lang="en-US" baseline="0" dirty="0"/>
              <a:t>There are a whole bunch of reasons as to why this is a useful thing but for me, one of the most important reasons is that it turns computer code into something that is almost legible as human language. </a:t>
            </a:r>
          </a:p>
          <a:p>
            <a:pPr marL="85487" indent="0">
              <a:buNone/>
            </a:pPr>
            <a:endParaRPr lang="en-US" baseline="0" dirty="0"/>
          </a:p>
          <a:p>
            <a:pPr marL="85487" indent="0">
              <a:buNone/>
            </a:pPr>
            <a:r>
              <a:rPr lang="en-US" baseline="0" dirty="0"/>
              <a:t>You could essentially read the second line of code as “Take the </a:t>
            </a:r>
            <a:r>
              <a:rPr lang="en-US" baseline="0" dirty="0" err="1"/>
              <a:t>covid_testing</a:t>
            </a:r>
            <a:r>
              <a:rPr lang="en-US" baseline="0" dirty="0"/>
              <a:t> data frame, and then filter the </a:t>
            </a:r>
            <a:r>
              <a:rPr lang="en-US" baseline="0" dirty="0" err="1"/>
              <a:t>pan_day</a:t>
            </a:r>
            <a:r>
              <a:rPr lang="en-US" baseline="0" dirty="0"/>
              <a:t> column to rows that are less than or equal to 10.”</a:t>
            </a:r>
            <a:endParaRPr lang="en-US" dirty="0"/>
          </a:p>
        </p:txBody>
      </p:sp>
    </p:spTree>
    <p:extLst>
      <p:ext uri="{BB962C8B-B14F-4D97-AF65-F5344CB8AC3E}">
        <p14:creationId xmlns:p14="http://schemas.microsoft.com/office/powerpoint/2010/main" val="8582771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The advantage of this is even more clear when performing</a:t>
            </a:r>
            <a:r>
              <a:rPr lang="en-US" baseline="0" dirty="0"/>
              <a:t> a more complicated analysis such as this one. You can take this code, which is essentially illegible, and transform it into the code on the following slide.</a:t>
            </a:r>
            <a:endParaRPr lang="en-US" dirty="0"/>
          </a:p>
        </p:txBody>
      </p:sp>
    </p:spTree>
    <p:extLst>
      <p:ext uri="{BB962C8B-B14F-4D97-AF65-F5344CB8AC3E}">
        <p14:creationId xmlns:p14="http://schemas.microsoft.com/office/powerpoint/2010/main" val="29100428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The code here is far more succinct. It's essentially self describing since it’s written in a sequential,</a:t>
            </a:r>
            <a:r>
              <a:rPr lang="en-US" baseline="0" dirty="0"/>
              <a:t> essentially human readable format. </a:t>
            </a:r>
          </a:p>
          <a:p>
            <a:pPr marL="0" indent="0">
              <a:buNone/>
            </a:pPr>
            <a:endParaRPr lang="en-US" baseline="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The pipe operator allows us to form chains that accomplish complicated data transformation operations but which are made up of very simple, self-contained, building blocks. So we're able to make something complex by joining together many simple elements that are easy to understand in isolation.</a:t>
            </a:r>
          </a:p>
          <a:p>
            <a:pPr marL="0" indent="0">
              <a:buNone/>
            </a:pPr>
            <a:endParaRPr lang="en-US" baseline="0" dirty="0"/>
          </a:p>
          <a:p>
            <a:pPr marL="0" indent="0">
              <a:buNone/>
            </a:pPr>
            <a:r>
              <a:rPr lang="en-US" baseline="0" dirty="0"/>
              <a:t>An additional benefit is that it makes it easier to actually write code because it's much easier to translate our thoughts into an analytical pipeline. </a:t>
            </a:r>
          </a:p>
        </p:txBody>
      </p:sp>
    </p:spTree>
    <p:extLst>
      <p:ext uri="{BB962C8B-B14F-4D97-AF65-F5344CB8AC3E}">
        <p14:creationId xmlns:p14="http://schemas.microsoft.com/office/powerpoint/2010/main" val="3716947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23</a:t>
            </a:fld>
            <a:endParaRPr lang="en-US"/>
          </a:p>
        </p:txBody>
      </p:sp>
    </p:spTree>
    <p:extLst>
      <p:ext uri="{BB962C8B-B14F-4D97-AF65-F5344CB8AC3E}">
        <p14:creationId xmlns:p14="http://schemas.microsoft.com/office/powerpoint/2010/main" val="2676543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24</a:t>
            </a:fld>
            <a:endParaRPr lang="en-US"/>
          </a:p>
        </p:txBody>
      </p:sp>
    </p:spTree>
    <p:extLst>
      <p:ext uri="{BB962C8B-B14F-4D97-AF65-F5344CB8AC3E}">
        <p14:creationId xmlns:p14="http://schemas.microsoft.com/office/powerpoint/2010/main" val="33323439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The</a:t>
            </a:r>
            <a:r>
              <a:rPr lang="en-US" baseline="0" dirty="0"/>
              <a:t> goal of mutate() is very simple. You’ll feed it your original data frame and it’s going to kick out the same data frame with one or more new columns tacked onto the end based on calculations that you specify.</a:t>
            </a: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36906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The syntax is going to look familiar to the functions we saw earlier but with a small change. As before,</a:t>
            </a:r>
            <a:r>
              <a:rPr lang="en-US" baseline="0" dirty="0"/>
              <a:t> the first argument is the original data frame, which gets piped into mutate. Then you specify the name of the new column you want to add, you type of an equals sign, and then you write a calculation. This calculation will be run on each row of your data frame and the result will populate each row of the new column.</a:t>
            </a: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00899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For instance, right now the TAT columns are coded in </a:t>
            </a:r>
            <a:r>
              <a:rPr lang="en-US" dirty="0" err="1"/>
              <a:t>hourse</a:t>
            </a:r>
            <a:r>
              <a:rPr lang="en-US" dirty="0"/>
              <a:t>. if we want to calculate the TAT in minutes we could use code</a:t>
            </a:r>
            <a:r>
              <a:rPr lang="en-US" baseline="0" dirty="0"/>
              <a:t> such as this. </a:t>
            </a:r>
          </a:p>
          <a:p>
            <a:pPr marL="0" indent="0">
              <a:buNone/>
            </a:pPr>
            <a:endParaRPr lang="en-US" baseline="0" dirty="0"/>
          </a:p>
          <a:p>
            <a:pPr marL="0" indent="0">
              <a:buNone/>
            </a:pPr>
            <a:r>
              <a:rPr lang="en-US" baseline="0" dirty="0"/>
              <a:t>We take the </a:t>
            </a:r>
            <a:r>
              <a:rPr lang="en-US" baseline="0" dirty="0" err="1"/>
              <a:t>covid_testing</a:t>
            </a:r>
            <a:r>
              <a:rPr lang="en-US" baseline="0" dirty="0"/>
              <a:t> data set and pass it to the mutate function. In the mutate function we will </a:t>
            </a:r>
          </a:p>
          <a:p>
            <a:pPr marL="228600" indent="-228600">
              <a:buAutoNum type="arabicPeriod"/>
            </a:pPr>
            <a:r>
              <a:rPr lang="en-US" baseline="0" dirty="0"/>
              <a:t>Make a name for our new column</a:t>
            </a:r>
          </a:p>
          <a:p>
            <a:pPr marL="228600" indent="-228600">
              <a:buAutoNum type="arabicPeriod"/>
            </a:pPr>
            <a:r>
              <a:rPr lang="en-US" baseline="0" dirty="0"/>
              <a:t>Put an equals sign</a:t>
            </a:r>
          </a:p>
          <a:p>
            <a:pPr marL="228600" indent="-228600">
              <a:buAutoNum type="arabicPeriod"/>
            </a:pPr>
            <a:r>
              <a:rPr lang="en-US" baseline="0" dirty="0"/>
              <a:t>Define the calculation whose result will populated the new column, in this case we can </a:t>
            </a:r>
            <a:r>
              <a:rPr lang="en-US" baseline="0" dirty="0" err="1"/>
              <a:t>directl</a:t>
            </a:r>
            <a:r>
              <a:rPr lang="en-US" baseline="0" dirty="0"/>
              <a:t> reference the </a:t>
            </a:r>
            <a:r>
              <a:rPr lang="en-US" baseline="0" dirty="0" err="1"/>
              <a:t>col_rec_tat</a:t>
            </a:r>
            <a:r>
              <a:rPr lang="en-US" baseline="0" dirty="0"/>
              <a:t> column and multiply by 60.</a:t>
            </a: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22757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28</a:t>
            </a:fld>
            <a:endParaRPr lang="en-US"/>
          </a:p>
        </p:txBody>
      </p:sp>
    </p:spTree>
    <p:extLst>
      <p:ext uri="{BB962C8B-B14F-4D97-AF65-F5344CB8AC3E}">
        <p14:creationId xmlns:p14="http://schemas.microsoft.com/office/powerpoint/2010/main" val="22279778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baseline="0" dirty="0"/>
              <a:t>To answer this question we need to be able to group data.</a:t>
            </a:r>
            <a:endParaRPr lang="en-US" dirty="0"/>
          </a:p>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29</a:t>
            </a:fld>
            <a:endParaRPr lang="en-US"/>
          </a:p>
        </p:txBody>
      </p:sp>
    </p:spTree>
    <p:extLst>
      <p:ext uri="{BB962C8B-B14F-4D97-AF65-F5344CB8AC3E}">
        <p14:creationId xmlns:p14="http://schemas.microsoft.com/office/powerpoint/2010/main" val="12346557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Group_by</a:t>
            </a:r>
            <a:r>
              <a:rPr lang="en-US" dirty="0"/>
              <a:t> is a challenging</a:t>
            </a:r>
            <a:r>
              <a:rPr lang="en-US" baseline="0" dirty="0"/>
              <a:t> function to master, but </a:t>
            </a:r>
            <a:r>
              <a:rPr lang="en-US" b="1" baseline="0" dirty="0"/>
              <a:t>extremely</a:t>
            </a:r>
            <a:r>
              <a:rPr lang="en-US" baseline="0" dirty="0"/>
              <a:t> powerful. It is one of those tools that once you understand how to use, you cannot possibly go back to live without it.</a:t>
            </a:r>
          </a:p>
          <a:p>
            <a:endParaRPr lang="en-US" baseline="0" dirty="0"/>
          </a:p>
          <a:p>
            <a:r>
              <a:rPr lang="en-US" baseline="0" dirty="0" err="1"/>
              <a:t>Group_by</a:t>
            </a:r>
            <a:r>
              <a:rPr lang="en-US" baseline="0" dirty="0"/>
              <a:t> allows us to take a data frame and break the observations up into several groups.</a:t>
            </a:r>
          </a:p>
          <a:p>
            <a:endParaRPr lang="en-US" baseline="0" dirty="0"/>
          </a:p>
          <a:p>
            <a:r>
              <a:rPr lang="en-US" baseline="0" dirty="0"/>
              <a:t>Then we can “look” at those groups separately.</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30</a:t>
            </a:fld>
            <a:endParaRPr lang="en-US"/>
          </a:p>
        </p:txBody>
      </p:sp>
    </p:spTree>
    <p:extLst>
      <p:ext uri="{BB962C8B-B14F-4D97-AF65-F5344CB8AC3E}">
        <p14:creationId xmlns:p14="http://schemas.microsoft.com/office/powerpoint/2010/main" val="10508839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code construct for grouping.</a:t>
            </a:r>
          </a:p>
          <a:p>
            <a:endParaRPr lang="en-US" dirty="0"/>
          </a:p>
          <a:p>
            <a:r>
              <a:rPr lang="en-US" dirty="0"/>
              <a:t>We pass a data set using pipes to the </a:t>
            </a:r>
            <a:r>
              <a:rPr lang="en-US" dirty="0" err="1"/>
              <a:t>group_by</a:t>
            </a:r>
            <a:r>
              <a:rPr lang="en-US" dirty="0"/>
              <a:t>() function.</a:t>
            </a:r>
          </a:p>
          <a:p>
            <a:endParaRPr lang="en-US" dirty="0"/>
          </a:p>
          <a:p>
            <a:r>
              <a:rPr lang="en-US" dirty="0"/>
              <a:t>Then we specify the variable that we want to define groups.</a:t>
            </a:r>
          </a:p>
        </p:txBody>
      </p:sp>
      <p:sp>
        <p:nvSpPr>
          <p:cNvPr id="4" name="Slide Number Placeholder 3"/>
          <p:cNvSpPr>
            <a:spLocks noGrp="1"/>
          </p:cNvSpPr>
          <p:nvPr>
            <p:ph type="sldNum" sz="quarter" idx="10"/>
          </p:nvPr>
        </p:nvSpPr>
        <p:spPr/>
        <p:txBody>
          <a:bodyPr/>
          <a:lstStyle/>
          <a:p>
            <a:fld id="{0A193586-FEB5-7C43-8F44-7EFAE4EECA28}" type="slidenum">
              <a:rPr lang="en-US" smtClean="0"/>
              <a:t>31</a:t>
            </a:fld>
            <a:endParaRPr lang="en-US"/>
          </a:p>
        </p:txBody>
      </p:sp>
    </p:spTree>
    <p:extLst>
      <p:ext uri="{BB962C8B-B14F-4D97-AF65-F5344CB8AC3E}">
        <p14:creationId xmlns:p14="http://schemas.microsoft.com/office/powerpoint/2010/main" val="35250431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a example of grouping by </a:t>
            </a:r>
            <a:r>
              <a:rPr lang="en-US" dirty="0" err="1"/>
              <a:t>pan_day</a:t>
            </a:r>
            <a:r>
              <a:rPr lang="en-US" dirty="0"/>
              <a:t>.</a:t>
            </a:r>
          </a:p>
          <a:p>
            <a:endParaRPr lang="en-US" dirty="0"/>
          </a:p>
          <a:p>
            <a:r>
              <a:rPr lang="en-US" dirty="0"/>
              <a:t>We can see that the resulting object</a:t>
            </a:r>
            <a:r>
              <a:rPr lang="en-US" baseline="0" dirty="0"/>
              <a:t> has 15,524 rows that are broken up into 102 groups. </a:t>
            </a:r>
          </a:p>
          <a:p>
            <a:endParaRPr lang="en-US" baseline="0" dirty="0"/>
          </a:p>
          <a:p>
            <a:r>
              <a:rPr lang="en-US" baseline="0" dirty="0"/>
              <a:t>This means there are 102 distinct `</a:t>
            </a:r>
            <a:r>
              <a:rPr lang="en-US" baseline="0" dirty="0" err="1"/>
              <a:t>pan_day`’s</a:t>
            </a:r>
            <a:r>
              <a:rPr lang="en-US" baseline="0" dirty="0"/>
              <a:t>. </a:t>
            </a:r>
          </a:p>
          <a:p>
            <a:endParaRPr lang="en-US" baseline="0" dirty="0"/>
          </a:p>
          <a:p>
            <a:r>
              <a:rPr lang="en-US" baseline="0" dirty="0"/>
              <a:t>Some of these groups will have a single observation. Many of these groups will have more than one observation.</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32</a:t>
            </a:fld>
            <a:endParaRPr lang="en-US"/>
          </a:p>
        </p:txBody>
      </p:sp>
    </p:spTree>
    <p:extLst>
      <p:ext uri="{BB962C8B-B14F-4D97-AF65-F5344CB8AC3E}">
        <p14:creationId xmlns:p14="http://schemas.microsoft.com/office/powerpoint/2010/main" val="37614081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also group by more than one variable.</a:t>
            </a:r>
          </a:p>
          <a:p>
            <a:endParaRPr lang="en-US" dirty="0"/>
          </a:p>
          <a:p>
            <a:r>
              <a:rPr lang="en-US" dirty="0"/>
              <a:t>We can see that the resulting object</a:t>
            </a:r>
            <a:r>
              <a:rPr lang="en-US" baseline="0" dirty="0"/>
              <a:t> has 15,524 rows that are broken up into 2,526 groups. </a:t>
            </a:r>
          </a:p>
          <a:p>
            <a:endParaRPr lang="en-US" baseline="0" dirty="0"/>
          </a:p>
          <a:p>
            <a:r>
              <a:rPr lang="en-US" baseline="0" dirty="0"/>
              <a:t>This means there are 2,526 distinct combinations of `</a:t>
            </a:r>
            <a:r>
              <a:rPr lang="en-US" baseline="0" dirty="0" err="1"/>
              <a:t>pan_day</a:t>
            </a:r>
            <a:r>
              <a:rPr lang="en-US" baseline="0" dirty="0"/>
              <a:t>` and `</a:t>
            </a:r>
            <a:r>
              <a:rPr lang="en-US" baseline="0" dirty="0" err="1"/>
              <a:t>clinic_name</a:t>
            </a:r>
            <a:r>
              <a:rPr lang="en-US" baseline="0" dirty="0"/>
              <a:t>`. </a:t>
            </a:r>
          </a:p>
          <a:p>
            <a:endParaRPr lang="en-US" baseline="0" dirty="0"/>
          </a:p>
          <a:p>
            <a:r>
              <a:rPr lang="en-US" baseline="0" dirty="0"/>
              <a:t>Some of these groups will have a single observation. Many of these groups will have more than one observation. </a:t>
            </a:r>
          </a:p>
          <a:p>
            <a:endParaRPr lang="en-US" baseline="0" dirty="0"/>
          </a:p>
          <a:p>
            <a:r>
              <a:rPr lang="en-US" baseline="0" dirty="0"/>
              <a:t>Also, not all theoretical combinations of `</a:t>
            </a:r>
            <a:r>
              <a:rPr lang="en-US" baseline="0" dirty="0" err="1"/>
              <a:t>pan_day</a:t>
            </a:r>
            <a:r>
              <a:rPr lang="en-US" baseline="0" dirty="0"/>
              <a:t>` and `</a:t>
            </a:r>
            <a:r>
              <a:rPr lang="en-US" baseline="0" dirty="0" err="1"/>
              <a:t>clinic_name</a:t>
            </a:r>
            <a:r>
              <a:rPr lang="en-US" baseline="0" dirty="0"/>
              <a:t>` exist; only 2,526 such combinations exist.</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33</a:t>
            </a:fld>
            <a:endParaRPr lang="en-US"/>
          </a:p>
        </p:txBody>
      </p:sp>
    </p:spTree>
    <p:extLst>
      <p:ext uri="{BB962C8B-B14F-4D97-AF65-F5344CB8AC3E}">
        <p14:creationId xmlns:p14="http://schemas.microsoft.com/office/powerpoint/2010/main" val="11284735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Summarize allows us to take a variable (column) of data and apply a function</a:t>
            </a:r>
            <a:r>
              <a:rPr lang="en-US" baseline="0" dirty="0"/>
              <a:t> (or functions)</a:t>
            </a:r>
            <a:r>
              <a:rPr lang="en-US" dirty="0"/>
              <a:t> to all observations.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Using summarize we can return a single value, or summary.</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23948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make summaries of our data we use the following code construct.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pass a data set using pipes to the summarize function.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Within the summarize function we provide a variable name and set it to a calculation or value that we define.</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70901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Let’s look at a simple example using summarize() to count the number of orders in a data 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Note, that to simplify the data frame, we first will select 2 variables and include the first 4 observations.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a:t>
            </a:r>
            <a:r>
              <a:rPr lang="en-US" baseline="0" dirty="0"/>
              <a:t> returns the number of observations or rows for a data frame.</a:t>
            </a:r>
          </a:p>
          <a:p>
            <a:pPr marL="0" lvl="0" indent="0" algn="l" rtl="0">
              <a:spcBef>
                <a:spcPts val="0"/>
              </a:spcBef>
              <a:spcAft>
                <a:spcPts val="0"/>
              </a:spcAft>
              <a:buNone/>
            </a:pPr>
            <a:endParaRPr lang="en-US" baseline="0"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67533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n_distinct</a:t>
            </a:r>
            <a:r>
              <a:rPr lang="en-US" dirty="0"/>
              <a:t>() counts the number of distinct,</a:t>
            </a:r>
            <a:r>
              <a:rPr lang="en-US" baseline="0" dirty="0"/>
              <a:t> or unique, observations. So, while there are 4 rows, there are only 3 distinct days</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88455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n_distinct</a:t>
            </a:r>
            <a:r>
              <a:rPr lang="en-US" dirty="0"/>
              <a:t>() counts the number of distinct,</a:t>
            </a:r>
            <a:r>
              <a:rPr lang="en-US" baseline="0" dirty="0"/>
              <a:t> or unique, observations. So, while there are 4 rows, there are only 3 distinct days</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42737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like we can apply </a:t>
            </a:r>
            <a:r>
              <a:rPr lang="en-US" i="1" dirty="0"/>
              <a:t>summarize()</a:t>
            </a:r>
            <a:r>
              <a:rPr lang="en-US" dirty="0"/>
              <a:t> to a full data</a:t>
            </a:r>
            <a:r>
              <a:rPr lang="en-US" baseline="0" dirty="0"/>
              <a:t> frame, we can apply </a:t>
            </a:r>
            <a:r>
              <a:rPr lang="en-US" i="1" baseline="0" dirty="0"/>
              <a:t>summarize()</a:t>
            </a:r>
            <a:r>
              <a:rPr lang="en-US" i="0" baseline="0" dirty="0"/>
              <a:t> to each group separately.</a:t>
            </a:r>
          </a:p>
          <a:p>
            <a:endParaRPr lang="en-US" i="0" baseline="0" dirty="0"/>
          </a:p>
          <a:p>
            <a:r>
              <a:rPr lang="en-US" i="0" baseline="0" dirty="0"/>
              <a:t>The combination of </a:t>
            </a:r>
            <a:r>
              <a:rPr lang="en-US" i="0" baseline="0" dirty="0" err="1"/>
              <a:t>group_by</a:t>
            </a:r>
            <a:r>
              <a:rPr lang="en-US" i="0" baseline="0" dirty="0"/>
              <a:t>() and summarize() is extremely powerful.</a:t>
            </a:r>
            <a:endParaRPr lang="en-US" i="0" dirty="0"/>
          </a:p>
        </p:txBody>
      </p:sp>
      <p:sp>
        <p:nvSpPr>
          <p:cNvPr id="4" name="Slide Number Placeholder 3"/>
          <p:cNvSpPr>
            <a:spLocks noGrp="1"/>
          </p:cNvSpPr>
          <p:nvPr>
            <p:ph type="sldNum" sz="quarter" idx="10"/>
          </p:nvPr>
        </p:nvSpPr>
        <p:spPr/>
        <p:txBody>
          <a:bodyPr/>
          <a:lstStyle/>
          <a:p>
            <a:fld id="{0A193586-FEB5-7C43-8F44-7EFAE4EECA28}" type="slidenum">
              <a:rPr lang="en-US" smtClean="0"/>
              <a:t>39</a:t>
            </a:fld>
            <a:endParaRPr lang="en-US"/>
          </a:p>
        </p:txBody>
      </p:sp>
    </p:spTree>
    <p:extLst>
      <p:ext uri="{BB962C8B-B14F-4D97-AF65-F5344CB8AC3E}">
        <p14:creationId xmlns:p14="http://schemas.microsoft.com/office/powerpoint/2010/main" val="16721263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Using summarize() without </a:t>
            </a:r>
            <a:r>
              <a:rPr lang="en-US" dirty="0" err="1"/>
              <a:t>group_by</a:t>
            </a:r>
            <a:r>
              <a:rPr lang="en-US" dirty="0"/>
              <a:t>() we can count how many total rows there are.</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09206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Adding </a:t>
            </a:r>
            <a:r>
              <a:rPr lang="en-US" dirty="0" err="1"/>
              <a:t>group_by</a:t>
            </a:r>
            <a:r>
              <a:rPr lang="en-US" dirty="0"/>
              <a:t>(), we count how many rows there are for each `</a:t>
            </a:r>
            <a:r>
              <a:rPr lang="en-US" dirty="0" err="1"/>
              <a:t>pan_day</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is the data that underlies the figure we looked at in slide 6.</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57147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recap what we covered up to this point,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Analyzing data with with Excel, or similar spreadsheet software, can compromise data quality, and may ultimately lead to patient harm. This is because Excel does not record user interactions and it’s easy to make simple errors that can be very difficult to uncover later.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Instead, you could use a reproducible workflow in which the entire analysis is automated with computer code, and we looked at how doing that can improve your confidence in the validity of an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and finally, we defined “computational document” as documents that have executable code inside of them and we went over how computational documents are a key ingredient of reproducible workflows. </a:t>
            </a:r>
          </a:p>
        </p:txBody>
      </p:sp>
      <p:sp>
        <p:nvSpPr>
          <p:cNvPr id="4" name="Slide Number Placeholder 3"/>
          <p:cNvSpPr>
            <a:spLocks noGrp="1"/>
          </p:cNvSpPr>
          <p:nvPr>
            <p:ph type="sldNum" sz="quarter" idx="5"/>
          </p:nvPr>
        </p:nvSpPr>
        <p:spPr/>
        <p:txBody>
          <a:bodyPr/>
          <a:lstStyle/>
          <a:p>
            <a:fld id="{0A193586-FEB5-7C43-8F44-7EFAE4EECA28}" type="slidenum">
              <a:rPr lang="en-US" smtClean="0"/>
              <a:t>43</a:t>
            </a:fld>
            <a:endParaRPr lang="en-US"/>
          </a:p>
        </p:txBody>
      </p:sp>
    </p:spTree>
    <p:extLst>
      <p:ext uri="{BB962C8B-B14F-4D97-AF65-F5344CB8AC3E}">
        <p14:creationId xmlns:p14="http://schemas.microsoft.com/office/powerpoint/2010/main" val="15550890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recap what we covered up to this point,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Analyzing data with with Excel, or similar spreadsheet software, can compromise data quality, and may ultimately lead to patient harm. This is because Excel does not record user interactions and it’s easy to make simple errors that can be very difficult to uncover later.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Instead, you could use a reproducible workflow in which the entire analysis is automated with computer code, and we looked at how doing that can improve your confidence in the validity of an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and finally, we defined “computational document” as documents that have executable code inside of them and we went over how computational documents are a key ingredient of reproducible workflows. </a:t>
            </a:r>
          </a:p>
        </p:txBody>
      </p:sp>
      <p:sp>
        <p:nvSpPr>
          <p:cNvPr id="4" name="Slide Number Placeholder 3"/>
          <p:cNvSpPr>
            <a:spLocks noGrp="1"/>
          </p:cNvSpPr>
          <p:nvPr>
            <p:ph type="sldNum" sz="quarter" idx="5"/>
          </p:nvPr>
        </p:nvSpPr>
        <p:spPr/>
        <p:txBody>
          <a:bodyPr/>
          <a:lstStyle/>
          <a:p>
            <a:fld id="{0A193586-FEB5-7C43-8F44-7EFAE4EECA28}" type="slidenum">
              <a:rPr lang="en-US" smtClean="0"/>
              <a:t>44</a:t>
            </a:fld>
            <a:endParaRPr lang="en-US"/>
          </a:p>
        </p:txBody>
      </p:sp>
    </p:spTree>
    <p:extLst>
      <p:ext uri="{BB962C8B-B14F-4D97-AF65-F5344CB8AC3E}">
        <p14:creationId xmlns:p14="http://schemas.microsoft.com/office/powerpoint/2010/main" val="39328279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45</a:t>
            </a:fld>
            <a:endParaRPr lang="en-US"/>
          </a:p>
        </p:txBody>
      </p:sp>
    </p:spTree>
    <p:extLst>
      <p:ext uri="{BB962C8B-B14F-4D97-AF65-F5344CB8AC3E}">
        <p14:creationId xmlns:p14="http://schemas.microsoft.com/office/powerpoint/2010/main" val="21557267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46</a:t>
            </a:fld>
            <a:endParaRPr lang="en-US"/>
          </a:p>
        </p:txBody>
      </p:sp>
    </p:spTree>
    <p:extLst>
      <p:ext uri="{BB962C8B-B14F-4D97-AF65-F5344CB8AC3E}">
        <p14:creationId xmlns:p14="http://schemas.microsoft.com/office/powerpoint/2010/main" val="37796339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Cheat sheets would go here</a:t>
            </a:r>
          </a:p>
        </p:txBody>
      </p:sp>
      <p:sp>
        <p:nvSpPr>
          <p:cNvPr id="4" name="Slide Number Placeholder 3"/>
          <p:cNvSpPr>
            <a:spLocks noGrp="1"/>
          </p:cNvSpPr>
          <p:nvPr>
            <p:ph type="sldNum" sz="quarter" idx="10"/>
          </p:nvPr>
        </p:nvSpPr>
        <p:spPr/>
        <p:txBody>
          <a:bodyPr/>
          <a:lstStyle/>
          <a:p>
            <a:fld id="{0A193586-FEB5-7C43-8F44-7EFAE4EECA28}" type="slidenum">
              <a:rPr lang="en-US" smtClean="0"/>
              <a:t>47</a:t>
            </a:fld>
            <a:endParaRPr lang="en-US"/>
          </a:p>
        </p:txBody>
      </p:sp>
    </p:spTree>
    <p:extLst>
      <p:ext uri="{BB962C8B-B14F-4D97-AF65-F5344CB8AC3E}">
        <p14:creationId xmlns:p14="http://schemas.microsoft.com/office/powerpoint/2010/main" val="19493171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Reference the universe of packages that assist in data processing</a:t>
            </a:r>
          </a:p>
        </p:txBody>
      </p:sp>
      <p:sp>
        <p:nvSpPr>
          <p:cNvPr id="4" name="Slide Number Placeholder 3"/>
          <p:cNvSpPr>
            <a:spLocks noGrp="1"/>
          </p:cNvSpPr>
          <p:nvPr>
            <p:ph type="sldNum" sz="quarter" idx="5"/>
          </p:nvPr>
        </p:nvSpPr>
        <p:spPr/>
        <p:txBody>
          <a:bodyPr/>
          <a:lstStyle/>
          <a:p>
            <a:fld id="{0A193586-FEB5-7C43-8F44-7EFAE4EECA28}" type="slidenum">
              <a:rPr lang="en-US" smtClean="0"/>
              <a:t>48</a:t>
            </a:fld>
            <a:endParaRPr lang="en-US"/>
          </a:p>
        </p:txBody>
      </p:sp>
    </p:spTree>
    <p:extLst>
      <p:ext uri="{BB962C8B-B14F-4D97-AF65-F5344CB8AC3E}">
        <p14:creationId xmlns:p14="http://schemas.microsoft.com/office/powerpoint/2010/main" val="3763720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3.mov"/><Relationship Id="rId1" Type="http://schemas.microsoft.com/office/2007/relationships/media" Target="../media/media3.mov"/><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4.mov"/><Relationship Id="rId1" Type="http://schemas.microsoft.com/office/2007/relationships/media" Target="../media/media4.mov"/><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7"/>
            <a:ext cx="9720072" cy="751878"/>
          </a:xfrm>
        </p:spPr>
        <p:txBody>
          <a:bodyPr/>
          <a:lstStyle/>
          <a:p>
            <a:r>
              <a:rPr lang="en-US" dirty="0"/>
              <a:t>Click to edit Master title style</a:t>
            </a:r>
          </a:p>
        </p:txBody>
      </p:sp>
      <p:sp>
        <p:nvSpPr>
          <p:cNvPr id="3" name="Content Placeholder 2"/>
          <p:cNvSpPr>
            <a:spLocks noGrp="1"/>
          </p:cNvSpPr>
          <p:nvPr>
            <p:ph sz="half" idx="1"/>
          </p:nvPr>
        </p:nvSpPr>
        <p:spPr>
          <a:xfrm>
            <a:off x="1024127" y="2286000"/>
            <a:ext cx="475488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1498152"/>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286304"/>
            <a:ext cx="4754880" cy="3986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1498152"/>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286304"/>
            <a:ext cx="4754880" cy="3986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8" name="Footer Placeholder 7"/>
          <p:cNvSpPr>
            <a:spLocks noGrp="1"/>
          </p:cNvSpPr>
          <p:nvPr>
            <p:ph type="ftr" sz="quarter" idx="11"/>
          </p:nvPr>
        </p:nvSpPr>
        <p:spPr/>
        <p:txBody>
          <a:bodyPr/>
          <a:lstStyle/>
          <a:p>
            <a:endParaRPr lang="en-US">
              <a:solidFill>
                <a:prstClr val="black">
                  <a:lumMod val="95000"/>
                  <a:lumOff val="5000"/>
                </a:prstClr>
              </a:solidFill>
            </a:endParaRPr>
          </a:p>
        </p:txBody>
      </p:sp>
      <p:sp>
        <p:nvSpPr>
          <p:cNvPr id="9" name="Slide Number Placeholder 8"/>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4" name="Footer Placeholder 3"/>
          <p:cNvSpPr>
            <a:spLocks noGrp="1"/>
          </p:cNvSpPr>
          <p:nvPr>
            <p:ph type="ftr" sz="quarter" idx="11"/>
          </p:nvPr>
        </p:nvSpPr>
        <p:spPr/>
        <p:txBody>
          <a:bodyPr/>
          <a:lstStyle/>
          <a:p>
            <a:endParaRPr lang="en-US">
              <a:solidFill>
                <a:prstClr val="black">
                  <a:lumMod val="95000"/>
                  <a:lumOff val="5000"/>
                </a:prstClr>
              </a:solidFill>
            </a:endParaRPr>
          </a:p>
        </p:txBody>
      </p:sp>
      <p:sp>
        <p:nvSpPr>
          <p:cNvPr id="5" name="Slide Number Placeholder 4"/>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Your_Turn_10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12"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30"/>
            <a:ext cx="2130970" cy="637613"/>
          </a:xfrm>
          <a:prstGeom prst="rect">
            <a:avLst/>
          </a:prstGeom>
          <a:ln w="12700">
            <a:solidFill>
              <a:srgbClr val="A6AAA9"/>
            </a:solidFill>
            <a:miter lim="400000"/>
          </a:ln>
        </p:spPr>
      </p:pic>
      <p:sp>
        <p:nvSpPr>
          <p:cNvPr id="18"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2"/>
                </p:tgtEl>
              </p:cMediaNode>
            </p:video>
          </p:childTnLst>
        </p:cTn>
      </p:par>
    </p:tnLst>
  </p:timing>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Your_Turn_3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3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7" name="timer_1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7"/>
                                        </p:tgtEl>
                                      </p:cBhvr>
                                    </p:cmd>
                                  </p:childTnLst>
                                </p:cTn>
                              </p:par>
                            </p:childTnLst>
                          </p:cTn>
                        </p:par>
                      </p:childTnLst>
                    </p:cTn>
                  </p:par>
                </p:childTnLst>
              </p:cTn>
              <p:nextCondLst>
                <p:cond evt="onClick" delay="0">
                  <p:tgtEl>
                    <p:spTgt spid="67"/>
                  </p:tgtEl>
                </p:cond>
              </p:nextCondLst>
            </p:seq>
            <p:video>
              <p:cMediaNode vol="80000">
                <p:cTn id="7" fill="hold" display="0">
                  <p:stCondLst>
                    <p:cond delay="indefinite"/>
                  </p:stCondLst>
                </p:cTn>
                <p:tgtEl>
                  <p:spTgt spid="67"/>
                </p:tgtEl>
              </p:cMediaNode>
            </p:video>
          </p:childTnLst>
        </p:cTn>
      </p:par>
    </p:tnLst>
  </p:timing>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Your_Turn_no_timer">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322282648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r>
              <a:rPr lang="en-US">
                <a:solidFill>
                  <a:prstClr val="black">
                    <a:lumMod val="95000"/>
                    <a:lumOff val="5000"/>
                  </a:prstClr>
                </a:solidFill>
              </a:rPr>
              <a:t>
              </a:t>
            </a:r>
            <a:endParaRPr lang="en-US" dirty="0">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2341061" y="614555"/>
            <a:ext cx="7509878" cy="777536"/>
          </a:xfrm>
          <a:prstGeom prst="rect">
            <a:avLst/>
          </a:prstGeom>
          <a:noFill/>
          <a:ln>
            <a:noFill/>
          </a:ln>
        </p:spPr>
        <p:txBody>
          <a:bodyPr spcFirstLastPara="1" wrap="square" lIns="0" tIns="0" rIns="0" bIns="0" anchor="t" anchorCtr="0"/>
          <a:lstStyle>
            <a:lvl1pPr lvl="0" algn="ctr">
              <a:spcBef>
                <a:spcPts val="0"/>
              </a:spcBef>
              <a:spcAft>
                <a:spcPts val="0"/>
              </a:spcAft>
              <a:buSzPts val="1400"/>
              <a:buNone/>
              <a:defRPr sz="5000" b="0" i="0">
                <a:solidFill>
                  <a:srgbClr val="005493"/>
                </a:solidFill>
                <a:latin typeface="+mj-lt"/>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
          <p:cNvSpPr txBox="1">
            <a:spLocks noGrp="1"/>
          </p:cNvSpPr>
          <p:nvPr>
            <p:ph type="ftr" idx="11"/>
          </p:nvPr>
        </p:nvSpPr>
        <p:spPr>
          <a:xfrm>
            <a:off x="4145280" y="6377941"/>
            <a:ext cx="3901372" cy="342964"/>
          </a:xfrm>
          <a:prstGeom prst="rect">
            <a:avLst/>
          </a:prstGeom>
          <a:noFill/>
          <a:ln>
            <a:noFill/>
          </a:ln>
        </p:spPr>
        <p:txBody>
          <a:bodyPr spcFirstLastPara="1" wrap="square" lIns="0" tIns="0" rIns="0" bIns="0" anchor="t" anchorCtr="0"/>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dt" idx="10"/>
          </p:nvPr>
        </p:nvSpPr>
        <p:spPr>
          <a:xfrm>
            <a:off x="609600" y="6377941"/>
            <a:ext cx="2804134" cy="342964"/>
          </a:xfrm>
          <a:prstGeom prst="rect">
            <a:avLst/>
          </a:prstGeom>
          <a:noFill/>
          <a:ln>
            <a:noFill/>
          </a:ln>
        </p:spPr>
        <p:txBody>
          <a:bodyPr spcFirstLastPara="1" wrap="square" lIns="0" tIns="0" rIns="0" bIns="0" anchor="t" anchorCtr="0"/>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9292591" y="6467748"/>
            <a:ext cx="2804134" cy="342964"/>
          </a:xfrm>
          <a:prstGeom prst="rect">
            <a:avLst/>
          </a:prstGeom>
          <a:noFill/>
          <a:ln>
            <a:noFill/>
          </a:ln>
        </p:spPr>
        <p:txBody>
          <a:bodyPr spcFirstLastPara="1" wrap="square" lIns="0" tIns="0" rIns="0" bIns="0" anchor="t"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357695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79501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24128" y="1656272"/>
            <a:ext cx="9720073" cy="4653088"/>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solidFill>
                <a:prstClr val="black">
                  <a:lumMod val="95000"/>
                  <a:lumOff val="5000"/>
                </a:prstClr>
              </a:solidFill>
            </a:endParaRP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extLst>
      <p:ext uri="{BB962C8B-B14F-4D97-AF65-F5344CB8AC3E}">
        <p14:creationId xmlns:p14="http://schemas.microsoft.com/office/powerpoint/2010/main" val="2044624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3" r:id="rId8"/>
    <p:sldLayoutId id="2147483674" r:id="rId9"/>
    <p:sldLayoutId id="2147483675" r:id="rId10"/>
    <p:sldLayoutId id="2147483676" r:id="rId11"/>
    <p:sldLayoutId id="2147483677" r:id="rId12"/>
    <p:sldLayoutId id="2147483668" r:id="rId13"/>
    <p:sldLayoutId id="2147483669" r:id="rId14"/>
    <p:sldLayoutId id="2147483670" r:id="rId15"/>
    <p:sldLayoutId id="2147483671" r:id="rId16"/>
    <p:sldLayoutId id="2147483672" r:id="rId17"/>
    <p:sldLayoutId id="2147483679" r:id="rId18"/>
  </p:sldLayoutIdLst>
  <p:txStyles>
    <p:titleStyle>
      <a:lvl1pPr algn="ctr" defTabSz="914400" rtl="0" eaLnBrk="1" latinLnBrk="0" hangingPunct="1">
        <a:lnSpc>
          <a:spcPct val="80000"/>
        </a:lnSpc>
        <a:spcBef>
          <a:spcPct val="0"/>
        </a:spcBef>
        <a:buNone/>
        <a:defRPr sz="4400" kern="1200" cap="none" spc="100" baseline="0">
          <a:solidFill>
            <a:schemeClr val="tx1">
              <a:lumMod val="95000"/>
              <a:lumOff val="5000"/>
            </a:schemeClr>
          </a:solidFill>
          <a:latin typeface="+mn-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2.tiff"/><Relationship Id="rId7" Type="http://schemas.openxmlformats.org/officeDocument/2006/relationships/image" Target="../media/image26.tiff"/><Relationship Id="rId2" Type="http://schemas.openxmlformats.org/officeDocument/2006/relationships/notesSlide" Target="../notesSlides/notesSlide47.xml"/><Relationship Id="rId1" Type="http://schemas.openxmlformats.org/officeDocument/2006/relationships/slideLayout" Target="../slideLayouts/slideLayout13.xml"/><Relationship Id="rId6" Type="http://schemas.openxmlformats.org/officeDocument/2006/relationships/image" Target="../media/image25.tiff"/><Relationship Id="rId5" Type="http://schemas.openxmlformats.org/officeDocument/2006/relationships/image" Target="../media/image24.tiff"/><Relationship Id="rId4" Type="http://schemas.openxmlformats.org/officeDocument/2006/relationships/image" Target="../media/image23.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4291" y="4960137"/>
            <a:ext cx="8963891" cy="1463040"/>
          </a:xfrm>
        </p:spPr>
        <p:txBody>
          <a:bodyPr>
            <a:normAutofit/>
          </a:bodyPr>
          <a:lstStyle/>
          <a:p>
            <a:r>
              <a:rPr lang="en-US" sz="7200" b="1" dirty="0"/>
              <a:t>Transform</a:t>
            </a:r>
          </a:p>
        </p:txBody>
      </p:sp>
      <p:sp>
        <p:nvSpPr>
          <p:cNvPr id="3" name="Subtitle 2"/>
          <p:cNvSpPr>
            <a:spLocks noGrp="1"/>
          </p:cNvSpPr>
          <p:nvPr>
            <p:ph type="subTitle" idx="1"/>
          </p:nvPr>
        </p:nvSpPr>
        <p:spPr>
          <a:xfrm>
            <a:off x="8610599" y="4804013"/>
            <a:ext cx="3467669" cy="1673756"/>
          </a:xfrm>
        </p:spPr>
        <p:txBody>
          <a:bodyPr>
            <a:normAutofit/>
          </a:bodyPr>
          <a:lstStyle/>
          <a:p>
            <a:r>
              <a:rPr lang="en-US" sz="3200" dirty="0"/>
              <a:t>Ezra Porter</a:t>
            </a:r>
          </a:p>
          <a:p>
            <a:r>
              <a:rPr lang="en-US" sz="3200" dirty="0"/>
              <a:t>R/Medicine 2026</a:t>
            </a:r>
          </a:p>
        </p:txBody>
      </p:sp>
    </p:spTree>
    <p:extLst>
      <p:ext uri="{BB962C8B-B14F-4D97-AF65-F5344CB8AC3E}">
        <p14:creationId xmlns:p14="http://schemas.microsoft.com/office/powerpoint/2010/main" val="767747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9F294CA-89BC-DD86-8E6D-4D62C87ADDA8}"/>
              </a:ext>
            </a:extLst>
          </p:cNvPr>
          <p:cNvPicPr>
            <a:picLocks noChangeAspect="1"/>
          </p:cNvPicPr>
          <p:nvPr/>
        </p:nvPicPr>
        <p:blipFill>
          <a:blip r:embed="rId3"/>
          <a:stretch>
            <a:fillRect/>
          </a:stretch>
        </p:blipFill>
        <p:spPr>
          <a:xfrm>
            <a:off x="-165332" y="2314389"/>
            <a:ext cx="12098992" cy="3357790"/>
          </a:xfrm>
          <a:prstGeom prst="rect">
            <a:avLst/>
          </a:prstGeom>
        </p:spPr>
      </p:pic>
      <p:sp>
        <p:nvSpPr>
          <p:cNvPr id="4" name="Slide Number Placeholder 3">
            <a:extLst>
              <a:ext uri="{FF2B5EF4-FFF2-40B4-BE49-F238E27FC236}">
                <a16:creationId xmlns:a16="http://schemas.microsoft.com/office/drawing/2014/main" id="{4CF66731-3744-7F45-8973-2913CEE3B028}"/>
              </a:ext>
            </a:extLst>
          </p:cNvPr>
          <p:cNvSpPr>
            <a:spLocks noGrp="1"/>
          </p:cNvSpPr>
          <p:nvPr>
            <p:ph type="sldNum" sz="quarter" idx="12"/>
          </p:nvPr>
        </p:nvSpPr>
        <p:spPr/>
        <p:txBody>
          <a:bodyPr/>
          <a:lstStyle/>
          <a:p>
            <a:fld id="{FBFEA71B-C421-F54F-A3C7-C1F2690B2CD4}" type="slidenum">
              <a:rPr lang="en-US" smtClean="0"/>
              <a:t>2</a:t>
            </a:fld>
            <a:endParaRPr lang="en-US"/>
          </a:p>
        </p:txBody>
      </p:sp>
      <p:sp>
        <p:nvSpPr>
          <p:cNvPr id="7" name="object 10">
            <a:extLst>
              <a:ext uri="{FF2B5EF4-FFF2-40B4-BE49-F238E27FC236}">
                <a16:creationId xmlns:a16="http://schemas.microsoft.com/office/drawing/2014/main" id="{856B8654-628A-B24C-8BB0-39E6F5212A24}"/>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a:latin typeface="Tw Cen MT" panose="020B0602020104020603" pitchFamily="34" charset="77"/>
                <a:cs typeface="Helvetica Neue"/>
              </a:rPr>
              <a:t>The Data Analysis Pipeline</a:t>
            </a:r>
            <a:endParaRPr sz="4400" dirty="0">
              <a:latin typeface="Tw Cen MT" panose="020B0602020104020603" pitchFamily="34" charset="77"/>
              <a:cs typeface="Helvetica Neue"/>
            </a:endParaRPr>
          </a:p>
        </p:txBody>
      </p:sp>
      <p:sp>
        <p:nvSpPr>
          <p:cNvPr id="8" name="Rectangle 7">
            <a:extLst>
              <a:ext uri="{FF2B5EF4-FFF2-40B4-BE49-F238E27FC236}">
                <a16:creationId xmlns:a16="http://schemas.microsoft.com/office/drawing/2014/main" id="{33CEA39C-04B8-C449-A1F5-D85D0CDDDD3A}"/>
              </a:ext>
            </a:extLst>
          </p:cNvPr>
          <p:cNvSpPr/>
          <p:nvPr/>
        </p:nvSpPr>
        <p:spPr>
          <a:xfrm>
            <a:off x="2609922" y="3351740"/>
            <a:ext cx="838672" cy="641544"/>
          </a:xfrm>
          <a:prstGeom prst="rect">
            <a:avLst/>
          </a:prstGeom>
          <a:solidFill>
            <a:srgbClr val="FFC00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a:extLst>
              <a:ext uri="{FF2B5EF4-FFF2-40B4-BE49-F238E27FC236}">
                <a16:creationId xmlns:a16="http://schemas.microsoft.com/office/drawing/2014/main" id="{622B8748-36BE-EE4F-8CB3-F776E8432593}"/>
              </a:ext>
            </a:extLst>
          </p:cNvPr>
          <p:cNvSpPr/>
          <p:nvPr/>
        </p:nvSpPr>
        <p:spPr>
          <a:xfrm>
            <a:off x="4404077" y="3351740"/>
            <a:ext cx="1691924" cy="641544"/>
          </a:xfrm>
          <a:prstGeom prst="rect">
            <a:avLst/>
          </a:prstGeom>
          <a:solidFill>
            <a:srgbClr val="FFC00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3970051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7FE168D-4300-744E-B339-DCE47CD41684}"/>
              </a:ext>
            </a:extLst>
          </p:cNvPr>
          <p:cNvPicPr>
            <a:picLocks noChangeAspect="1"/>
          </p:cNvPicPr>
          <p:nvPr/>
        </p:nvPicPr>
        <p:blipFill>
          <a:blip r:embed="rId3"/>
          <a:stretch>
            <a:fillRect/>
          </a:stretch>
        </p:blipFill>
        <p:spPr>
          <a:xfrm>
            <a:off x="4437269" y="1513346"/>
            <a:ext cx="3317461" cy="3831307"/>
          </a:xfrm>
          <a:prstGeom prst="rect">
            <a:avLst/>
          </a:prstGeom>
        </p:spPr>
      </p:pic>
    </p:spTree>
    <p:extLst>
      <p:ext uri="{BB962C8B-B14F-4D97-AF65-F5344CB8AC3E}">
        <p14:creationId xmlns:p14="http://schemas.microsoft.com/office/powerpoint/2010/main" val="2188370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5" name="Google Shape;125;p16"/>
          <p:cNvSpPr txBox="1"/>
          <p:nvPr/>
        </p:nvSpPr>
        <p:spPr>
          <a:xfrm>
            <a:off x="5341615" y="2554472"/>
            <a:ext cx="5710698" cy="1749054"/>
          </a:xfrm>
          <a:prstGeom prst="rect">
            <a:avLst/>
          </a:prstGeom>
          <a:noFill/>
          <a:ln>
            <a:noFill/>
          </a:ln>
        </p:spPr>
        <p:txBody>
          <a:bodyPr spcFirstLastPara="1" wrap="square" lIns="0" tIns="157835" rIns="0" bIns="0" anchor="t" anchorCtr="0">
            <a:noAutofit/>
          </a:bodyPr>
          <a:lstStyle/>
          <a:p>
            <a:pPr marL="6803" marR="2721">
              <a:lnSpc>
                <a:spcPct val="104099"/>
              </a:lnSpc>
              <a:spcBef>
                <a:spcPts val="1061"/>
              </a:spcBef>
            </a:pPr>
            <a:r>
              <a:rPr lang="en-US" sz="4000" dirty="0">
                <a:latin typeface="Tw Cen MT" panose="020B0602020104020603" pitchFamily="34" charset="77"/>
                <a:ea typeface="Calibri"/>
                <a:cs typeface="Calibri"/>
                <a:sym typeface="Calibri"/>
              </a:rPr>
              <a:t>a grammar</a:t>
            </a:r>
            <a:r>
              <a:rPr lang="en-US" sz="4000" i="1" dirty="0">
                <a:latin typeface="Tw Cen MT" panose="020B0602020104020603" pitchFamily="34" charset="77"/>
                <a:ea typeface="Calibri"/>
                <a:cs typeface="Calibri"/>
                <a:sym typeface="Calibri"/>
              </a:rPr>
              <a:t> </a:t>
            </a:r>
            <a:r>
              <a:rPr lang="en-US" sz="4000" dirty="0">
                <a:latin typeface="Tw Cen MT" panose="020B0602020104020603" pitchFamily="34" charset="77"/>
                <a:ea typeface="Calibri"/>
                <a:cs typeface="Calibri"/>
                <a:sym typeface="Calibri"/>
              </a:rPr>
              <a:t>for transforming data frames</a:t>
            </a:r>
            <a:endParaRPr sz="4000" dirty="0">
              <a:latin typeface="Tw Cen MT" panose="020B0602020104020603" pitchFamily="34" charset="77"/>
              <a:ea typeface="Calibri"/>
              <a:cs typeface="Calibri"/>
              <a:sym typeface="Calibri"/>
            </a:endParaRPr>
          </a:p>
        </p:txBody>
      </p:sp>
      <p:pic>
        <p:nvPicPr>
          <p:cNvPr id="8" name="Picture 7">
            <a:extLst>
              <a:ext uri="{FF2B5EF4-FFF2-40B4-BE49-F238E27FC236}">
                <a16:creationId xmlns:a16="http://schemas.microsoft.com/office/drawing/2014/main" id="{7A04BA13-4845-7047-8951-E9AAC731A23D}"/>
              </a:ext>
            </a:extLst>
          </p:cNvPr>
          <p:cNvPicPr>
            <a:picLocks noChangeAspect="1"/>
          </p:cNvPicPr>
          <p:nvPr/>
        </p:nvPicPr>
        <p:blipFill>
          <a:blip r:embed="rId3"/>
          <a:stretch>
            <a:fillRect/>
          </a:stretch>
        </p:blipFill>
        <p:spPr>
          <a:xfrm>
            <a:off x="1563602" y="1513346"/>
            <a:ext cx="3317461" cy="3831307"/>
          </a:xfrm>
          <a:prstGeom prst="rect">
            <a:avLst/>
          </a:prstGeom>
        </p:spPr>
      </p:pic>
    </p:spTree>
    <p:extLst>
      <p:ext uri="{BB962C8B-B14F-4D97-AF65-F5344CB8AC3E}">
        <p14:creationId xmlns:p14="http://schemas.microsoft.com/office/powerpoint/2010/main" val="2972287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Select existing columns</a:t>
            </a:r>
          </a:p>
        </p:txBody>
      </p:sp>
    </p:spTree>
    <p:extLst>
      <p:ext uri="{BB962C8B-B14F-4D97-AF65-F5344CB8AC3E}">
        <p14:creationId xmlns:p14="http://schemas.microsoft.com/office/powerpoint/2010/main" val="2898463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8" name="Google Shape;168;p20"/>
          <p:cNvSpPr txBox="1">
            <a:spLocks noGrp="1"/>
          </p:cNvSpPr>
          <p:nvPr>
            <p:ph type="title"/>
          </p:nvPr>
        </p:nvSpPr>
        <p:spPr>
          <a:xfrm>
            <a:off x="4545497" y="680348"/>
            <a:ext cx="309552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latin typeface="Consolas" panose="020B0609020204030204" pitchFamily="49" charset="0"/>
              </a:rPr>
              <a:t>select()</a:t>
            </a:r>
            <a:endParaRPr dirty="0">
              <a:latin typeface="Consolas" panose="020B0609020204030204" pitchFamily="49" charset="0"/>
            </a:endParaRPr>
          </a:p>
        </p:txBody>
      </p:sp>
      <p:sp>
        <p:nvSpPr>
          <p:cNvPr id="171" name="Google Shape;171;p20"/>
          <p:cNvSpPr txBox="1"/>
          <p:nvPr/>
        </p:nvSpPr>
        <p:spPr>
          <a:xfrm>
            <a:off x="2886228" y="1725726"/>
            <a:ext cx="5912332" cy="1167589"/>
          </a:xfrm>
          <a:prstGeom prst="rect">
            <a:avLst/>
          </a:prstGeom>
          <a:noFill/>
          <a:ln>
            <a:noFill/>
          </a:ln>
        </p:spPr>
        <p:txBody>
          <a:bodyPr spcFirstLastPara="1" wrap="square" lIns="0" tIns="6455" rIns="0" bIns="0" anchor="t" anchorCtr="0">
            <a:noAutofit/>
          </a:bodyPr>
          <a:lstStyle/>
          <a:p>
            <a:pPr marL="6803"/>
            <a:r>
              <a:rPr lang="en-US" sz="3200" dirty="0">
                <a:latin typeface="Tw Cen MT" panose="020B0602020104020603" pitchFamily="34" charset="77"/>
                <a:ea typeface="Calibri"/>
                <a:cs typeface="Calibri"/>
                <a:sym typeface="Calibri"/>
              </a:rPr>
              <a:t>Extract columns from a data frame</a:t>
            </a:r>
            <a:endParaRPr sz="2652" dirty="0">
              <a:latin typeface="Tw Cen MT" panose="020B0602020104020603" pitchFamily="34" charset="77"/>
              <a:ea typeface="Calibri"/>
              <a:cs typeface="Calibri"/>
              <a:sym typeface="Calibri"/>
            </a:endParaRPr>
          </a:p>
          <a:p>
            <a:pPr marL="73817">
              <a:spcBef>
                <a:spcPts val="2354"/>
              </a:spcBef>
            </a:pPr>
            <a:endParaRPr sz="3200" dirty="0">
              <a:latin typeface="Consolas" panose="020B0609020204030204" pitchFamily="49" charset="0"/>
              <a:ea typeface="Courier New"/>
              <a:cs typeface="Consolas" panose="020B0609020204030204" pitchFamily="49" charset="0"/>
              <a:sym typeface="Courier New"/>
            </a:endParaRPr>
          </a:p>
        </p:txBody>
      </p:sp>
      <p:graphicFrame>
        <p:nvGraphicFramePr>
          <p:cNvPr id="14" name="Google Shape;147;p18"/>
          <p:cNvGraphicFramePr/>
          <p:nvPr/>
        </p:nvGraphicFramePr>
        <p:xfrm>
          <a:off x="1920241" y="2893314"/>
          <a:ext cx="3615684" cy="1876805"/>
        </p:xfrm>
        <a:graphic>
          <a:graphicData uri="http://schemas.openxmlformats.org/drawingml/2006/table">
            <a:tbl>
              <a:tblPr firstRow="1" bandRow="1">
                <a:noFill/>
              </a:tblPr>
              <a:tblGrid>
                <a:gridCol w="723154">
                  <a:extLst>
                    <a:ext uri="{9D8B030D-6E8A-4147-A177-3AD203B41FA5}">
                      <a16:colId xmlns:a16="http://schemas.microsoft.com/office/drawing/2014/main" val="20000"/>
                    </a:ext>
                  </a:extLst>
                </a:gridCol>
                <a:gridCol w="684088">
                  <a:extLst>
                    <a:ext uri="{9D8B030D-6E8A-4147-A177-3AD203B41FA5}">
                      <a16:colId xmlns:a16="http://schemas.microsoft.com/office/drawing/2014/main" val="20001"/>
                    </a:ext>
                  </a:extLst>
                </a:gridCol>
                <a:gridCol w="990222">
                  <a:extLst>
                    <a:ext uri="{9D8B030D-6E8A-4147-A177-3AD203B41FA5}">
                      <a16:colId xmlns:a16="http://schemas.microsoft.com/office/drawing/2014/main" val="20002"/>
                    </a:ext>
                  </a:extLst>
                </a:gridCol>
                <a:gridCol w="1218220">
                  <a:extLst>
                    <a:ext uri="{9D8B030D-6E8A-4147-A177-3AD203B41FA5}">
                      <a16:colId xmlns:a16="http://schemas.microsoft.com/office/drawing/2014/main" val="20003"/>
                    </a:ext>
                  </a:extLst>
                </a:gridCol>
              </a:tblGrid>
              <a:tr h="268115">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15" name="Google Shape;148;p18"/>
          <p:cNvGraphicFramePr/>
          <p:nvPr/>
        </p:nvGraphicFramePr>
        <p:xfrm>
          <a:off x="7641021" y="2890346"/>
          <a:ext cx="1511814" cy="1879773"/>
        </p:xfrm>
        <a:graphic>
          <a:graphicData uri="http://schemas.openxmlformats.org/drawingml/2006/table">
            <a:tbl>
              <a:tblPr firstRow="1" bandRow="1">
                <a:noFill/>
              </a:tblPr>
              <a:tblGrid>
                <a:gridCol w="743130">
                  <a:extLst>
                    <a:ext uri="{9D8B030D-6E8A-4147-A177-3AD203B41FA5}">
                      <a16:colId xmlns:a16="http://schemas.microsoft.com/office/drawing/2014/main" val="20000"/>
                    </a:ext>
                  </a:extLst>
                </a:gridCol>
                <a:gridCol w="768684">
                  <a:extLst>
                    <a:ext uri="{9D8B030D-6E8A-4147-A177-3AD203B41FA5}">
                      <a16:colId xmlns:a16="http://schemas.microsoft.com/office/drawing/2014/main" val="20001"/>
                    </a:ext>
                  </a:extLst>
                </a:gridCol>
              </a:tblGrid>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extLst>
                  <a:ext uri="{0D108BD9-81ED-4DB2-BD59-A6C34878D82A}">
                    <a16:rowId xmlns:a16="http://schemas.microsoft.com/office/drawing/2014/main" val="10000"/>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1"/>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2"/>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3"/>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4"/>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5"/>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6"/>
                  </a:ext>
                </a:extLst>
              </a:tr>
            </a:tbl>
          </a:graphicData>
        </a:graphic>
      </p:graphicFrame>
      <p:sp>
        <p:nvSpPr>
          <p:cNvPr id="2" name="Right Arrow 1"/>
          <p:cNvSpPr/>
          <p:nvPr/>
        </p:nvSpPr>
        <p:spPr>
          <a:xfrm>
            <a:off x="6176993" y="3429000"/>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p:cNvGrpSpPr/>
          <p:nvPr/>
        </p:nvGrpSpPr>
        <p:grpSpPr>
          <a:xfrm>
            <a:off x="7155636" y="4907214"/>
            <a:ext cx="2928396" cy="1586106"/>
            <a:chOff x="6009784" y="4089073"/>
            <a:chExt cx="2928396" cy="2552214"/>
          </a:xfrm>
        </p:grpSpPr>
        <p:sp>
          <p:nvSpPr>
            <p:cNvPr id="16" name="Rounded Rectangular Callout 2"/>
            <p:cNvSpPr/>
            <p:nvPr/>
          </p:nvSpPr>
          <p:spPr>
            <a:xfrm>
              <a:off x="6009784" y="4089073"/>
              <a:ext cx="2928396" cy="255221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Google Shape;324;p34"/>
            <p:cNvSpPr txBox="1"/>
            <p:nvPr/>
          </p:nvSpPr>
          <p:spPr>
            <a:xfrm>
              <a:off x="6009784" y="5046495"/>
              <a:ext cx="2928396" cy="1510232"/>
            </a:xfrm>
            <a:prstGeom prst="rect">
              <a:avLst/>
            </a:prstGeom>
            <a:noFill/>
            <a:ln>
              <a:noFill/>
            </a:ln>
          </p:spPr>
          <p:txBody>
            <a:bodyPr spcFirstLastPara="1" wrap="square" lIns="0" tIns="8504" rIns="0" bIns="0" anchor="t" anchorCtr="0">
              <a:noAutofit/>
            </a:bodyPr>
            <a:lstStyle/>
            <a:p>
              <a:pPr marL="8164" algn="ctr">
                <a:lnSpc>
                  <a:spcPct val="116753"/>
                </a:lnSpc>
              </a:pPr>
              <a:r>
                <a:rPr lang="en-US" sz="2400" b="1" dirty="0">
                  <a:solidFill>
                    <a:srgbClr val="FFFFFF"/>
                  </a:solidFill>
                  <a:latin typeface="Trebuchet MS"/>
                  <a:ea typeface="Trebuchet MS"/>
                  <a:cs typeface="Trebuchet MS"/>
                  <a:sym typeface="Trebuchet MS"/>
                </a:rPr>
                <a:t>=</a:t>
              </a:r>
              <a:r>
                <a:rPr lang="en-US" sz="2062" dirty="0">
                  <a:solidFill>
                    <a:srgbClr val="FFFFFF"/>
                  </a:solidFill>
                  <a:latin typeface="Trebuchet MS"/>
                  <a:ea typeface="Trebuchet MS"/>
                  <a:cs typeface="Trebuchet MS"/>
                  <a:sym typeface="Trebuchet MS"/>
                </a:rPr>
                <a:t> Number of rows</a:t>
              </a:r>
            </a:p>
            <a:p>
              <a:pPr marL="8164">
                <a:lnSpc>
                  <a:spcPct val="116753"/>
                </a:lnSpc>
              </a:pPr>
              <a:r>
                <a:rPr lang="en-US" sz="2400" b="1" dirty="0">
                  <a:solidFill>
                    <a:srgbClr val="FFFFFF"/>
                  </a:solidFill>
                  <a:latin typeface="Verdana" panose="020B0604030504040204" pitchFamily="34" charset="0"/>
                  <a:ea typeface="Verdana" panose="020B0604030504040204" pitchFamily="34" charset="0"/>
                  <a:cs typeface="Calibri"/>
                  <a:sym typeface="Trebuchet MS"/>
                </a:rPr>
                <a:t>↓</a:t>
              </a:r>
              <a:r>
                <a:rPr lang="en-US" sz="2062" dirty="0">
                  <a:solidFill>
                    <a:srgbClr val="FFFFFF"/>
                  </a:solidFill>
                  <a:latin typeface="Trebuchet MS"/>
                  <a:ea typeface="Calibri"/>
                  <a:cs typeface="Calibri"/>
                  <a:sym typeface="Trebuchet MS"/>
                </a:rPr>
                <a:t>  Number of Columns</a:t>
              </a:r>
              <a:endParaRPr sz="2062" dirty="0">
                <a:latin typeface="Calibri"/>
                <a:ea typeface="Calibri"/>
                <a:cs typeface="Calibri"/>
                <a:sym typeface="Calibri"/>
              </a:endParaRPr>
            </a:p>
          </p:txBody>
        </p:sp>
      </p:grpSp>
    </p:spTree>
    <p:extLst>
      <p:ext uri="{BB962C8B-B14F-4D97-AF65-F5344CB8AC3E}">
        <p14:creationId xmlns:p14="http://schemas.microsoft.com/office/powerpoint/2010/main" val="2436592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21" name="Google Shape;168;p20">
            <a:extLst>
              <a:ext uri="{FF2B5EF4-FFF2-40B4-BE49-F238E27FC236}">
                <a16:creationId xmlns:a16="http://schemas.microsoft.com/office/drawing/2014/main" id="{2E4C9A47-2D84-3648-A8CE-D01AFA574D4C}"/>
              </a:ext>
            </a:extLst>
          </p:cNvPr>
          <p:cNvSpPr txBox="1">
            <a:spLocks noGrp="1"/>
          </p:cNvSpPr>
          <p:nvPr>
            <p:ph type="title"/>
          </p:nvPr>
        </p:nvSpPr>
        <p:spPr>
          <a:xfrm>
            <a:off x="4545497" y="680348"/>
            <a:ext cx="309552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latin typeface="Consolas" panose="020B0609020204030204" pitchFamily="49" charset="0"/>
              </a:rPr>
              <a:t>select()</a:t>
            </a:r>
            <a:endParaRPr dirty="0">
              <a:latin typeface="Consolas" panose="020B0609020204030204" pitchFamily="49" charset="0"/>
            </a:endParaRPr>
          </a:p>
        </p:txBody>
      </p:sp>
      <p:sp>
        <p:nvSpPr>
          <p:cNvPr id="22" name="Google Shape;171;p20">
            <a:extLst>
              <a:ext uri="{FF2B5EF4-FFF2-40B4-BE49-F238E27FC236}">
                <a16:creationId xmlns:a16="http://schemas.microsoft.com/office/drawing/2014/main" id="{4EAF82ED-97F5-A946-99B5-1EDC257DD372}"/>
              </a:ext>
            </a:extLst>
          </p:cNvPr>
          <p:cNvSpPr txBox="1"/>
          <p:nvPr/>
        </p:nvSpPr>
        <p:spPr>
          <a:xfrm>
            <a:off x="2886228" y="1725726"/>
            <a:ext cx="5912332" cy="1167589"/>
          </a:xfrm>
          <a:prstGeom prst="rect">
            <a:avLst/>
          </a:prstGeom>
          <a:noFill/>
          <a:ln>
            <a:noFill/>
          </a:ln>
        </p:spPr>
        <p:txBody>
          <a:bodyPr spcFirstLastPara="1" wrap="square" lIns="0" tIns="6455" rIns="0" bIns="0" anchor="t" anchorCtr="0">
            <a:noAutofit/>
          </a:bodyPr>
          <a:lstStyle/>
          <a:p>
            <a:pPr marL="6803"/>
            <a:r>
              <a:rPr lang="en-US" sz="3200" dirty="0">
                <a:latin typeface="Tw Cen MT" panose="020B0602020104020603" pitchFamily="34" charset="77"/>
                <a:ea typeface="Calibri"/>
                <a:cs typeface="Calibri"/>
                <a:sym typeface="Calibri"/>
              </a:rPr>
              <a:t>Extract columns from a data frame</a:t>
            </a:r>
            <a:endParaRPr sz="2652" dirty="0">
              <a:latin typeface="Tw Cen MT" panose="020B0602020104020603" pitchFamily="34" charset="77"/>
              <a:ea typeface="Calibri"/>
              <a:cs typeface="Calibri"/>
              <a:sym typeface="Calibri"/>
            </a:endParaRPr>
          </a:p>
          <a:p>
            <a:pPr marL="73817">
              <a:spcBef>
                <a:spcPts val="2354"/>
              </a:spcBef>
            </a:pPr>
            <a:endParaRPr sz="3200" dirty="0">
              <a:latin typeface="Consolas" panose="020B0609020204030204" pitchFamily="49" charset="0"/>
              <a:ea typeface="Courier New"/>
              <a:cs typeface="Consolas" panose="020B0609020204030204" pitchFamily="49" charset="0"/>
              <a:sym typeface="Courier New"/>
            </a:endParaRPr>
          </a:p>
        </p:txBody>
      </p:sp>
      <p:sp>
        <p:nvSpPr>
          <p:cNvPr id="11" name="Google Shape;131;p17"/>
          <p:cNvSpPr/>
          <p:nvPr/>
        </p:nvSpPr>
        <p:spPr>
          <a:xfrm>
            <a:off x="1114978" y="2338959"/>
            <a:ext cx="10037693"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2" name="Rectangle 11"/>
          <p:cNvSpPr/>
          <p:nvPr/>
        </p:nvSpPr>
        <p:spPr>
          <a:xfrm>
            <a:off x="943897" y="2418375"/>
            <a:ext cx="10877531" cy="584775"/>
          </a:xfrm>
          <a:prstGeom prst="rect">
            <a:avLst/>
          </a:prstGeom>
        </p:spPr>
        <p:txBody>
          <a:bodyPr wrap="square">
            <a:spAutoFit/>
          </a:bodyPr>
          <a:lstStyle/>
          <a:p>
            <a:pPr marL="146953" lvl="0">
              <a:spcBef>
                <a:spcPts val="2126"/>
              </a:spcBef>
            </a:pPr>
            <a:r>
              <a:rPr lang="en-US" sz="3200" dirty="0">
                <a:latin typeface="Consolas" panose="020B0609020204030204" pitchFamily="49" charset="0"/>
                <a:ea typeface="Courier New"/>
                <a:cs typeface="Consolas" panose="020B0609020204030204" pitchFamily="49" charset="0"/>
                <a:sym typeface="Courier New"/>
              </a:rPr>
              <a:t>select(</a:t>
            </a:r>
            <a:r>
              <a:rPr lang="en-US" sz="3200" dirty="0" err="1">
                <a:solidFill>
                  <a:srgbClr val="0365C0"/>
                </a:solidFill>
                <a:latin typeface="Consolas" panose="020B0609020204030204" pitchFamily="49" charset="0"/>
                <a:ea typeface="Courier New"/>
                <a:cs typeface="Consolas" panose="020B0609020204030204" pitchFamily="49" charset="0"/>
                <a:sym typeface="Courier New"/>
              </a:rPr>
              <a:t>covid_testing</a:t>
            </a:r>
            <a:r>
              <a:rPr lang="en-US" sz="3200" dirty="0">
                <a:solidFill>
                  <a:srgbClr val="0365C0"/>
                </a:solidFill>
                <a:latin typeface="Consolas" panose="020B0609020204030204" pitchFamily="49" charset="0"/>
                <a:ea typeface="Courier New"/>
                <a:cs typeface="Consolas" panose="020B0609020204030204" pitchFamily="49" charset="0"/>
                <a:sym typeface="Courier New"/>
              </a:rPr>
              <a:t>, </a:t>
            </a:r>
            <a:r>
              <a:rPr lang="en-US" sz="3200" dirty="0" err="1">
                <a:solidFill>
                  <a:srgbClr val="A0C283"/>
                </a:solidFill>
                <a:latin typeface="Consolas" panose="020B0609020204030204" pitchFamily="49" charset="0"/>
                <a:ea typeface="Courier New"/>
                <a:cs typeface="Consolas" panose="020B0609020204030204" pitchFamily="49" charset="0"/>
                <a:sym typeface="Courier New"/>
              </a:rPr>
              <a:t>mrn</a:t>
            </a:r>
            <a:r>
              <a:rPr lang="en-US" sz="3200" dirty="0">
                <a:solidFill>
                  <a:srgbClr val="A0C283"/>
                </a:solidFill>
                <a:latin typeface="Consolas" panose="020B0609020204030204" pitchFamily="49" charset="0"/>
                <a:ea typeface="Courier New"/>
                <a:cs typeface="Consolas" panose="020B0609020204030204" pitchFamily="49" charset="0"/>
                <a:sym typeface="Courier New"/>
              </a:rPr>
              <a:t>, </a:t>
            </a:r>
            <a:r>
              <a:rPr lang="en-US" sz="3200" dirty="0" err="1">
                <a:solidFill>
                  <a:srgbClr val="A0C283"/>
                </a:solidFill>
                <a:latin typeface="Consolas" panose="020B0609020204030204" pitchFamily="49" charset="0"/>
                <a:ea typeface="Courier New"/>
                <a:cs typeface="Consolas" panose="020B0609020204030204" pitchFamily="49" charset="0"/>
                <a:sym typeface="Courier New"/>
              </a:rPr>
              <a:t>last_name</a:t>
            </a:r>
            <a:r>
              <a:rPr lang="en-US" sz="3200" dirty="0">
                <a:latin typeface="Consolas" panose="020B0609020204030204" pitchFamily="49" charset="0"/>
                <a:ea typeface="Courier New"/>
                <a:cs typeface="Consolas" panose="020B0609020204030204" pitchFamily="49" charset="0"/>
                <a:sym typeface="Courier New"/>
              </a:rPr>
              <a:t>)</a:t>
            </a:r>
          </a:p>
        </p:txBody>
      </p:sp>
      <p:sp>
        <p:nvSpPr>
          <p:cNvPr id="13" name="Google Shape;172;p20"/>
          <p:cNvSpPr/>
          <p:nvPr/>
        </p:nvSpPr>
        <p:spPr>
          <a:xfrm>
            <a:off x="4867705" y="2996663"/>
            <a:ext cx="3840688" cy="2083971"/>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 name="connsiteX0" fmla="*/ 6812950 w 7169284"/>
              <a:gd name="connsiteY0" fmla="*/ 994895 h 3612616"/>
              <a:gd name="connsiteX1" fmla="*/ 356337 w 7169284"/>
              <a:gd name="connsiteY1" fmla="*/ 994895 h 3612616"/>
              <a:gd name="connsiteX2" fmla="*/ 307986 w 7169284"/>
              <a:gd name="connsiteY2" fmla="*/ 998148 h 3612616"/>
              <a:gd name="connsiteX3" fmla="*/ 261611 w 7169284"/>
              <a:gd name="connsiteY3" fmla="*/ 1007624 h 3612616"/>
              <a:gd name="connsiteX4" fmla="*/ 217637 w 7169284"/>
              <a:gd name="connsiteY4" fmla="*/ 1022898 h 3612616"/>
              <a:gd name="connsiteX5" fmla="*/ 176489 w 7169284"/>
              <a:gd name="connsiteY5" fmla="*/ 1043546 h 3612616"/>
              <a:gd name="connsiteX6" fmla="*/ 138592 w 7169284"/>
              <a:gd name="connsiteY6" fmla="*/ 1069144 h 3612616"/>
              <a:gd name="connsiteX7" fmla="*/ 104371 w 7169284"/>
              <a:gd name="connsiteY7" fmla="*/ 1099266 h 3612616"/>
              <a:gd name="connsiteX8" fmla="*/ 74249 w 7169284"/>
              <a:gd name="connsiteY8" fmla="*/ 1133487 h 3612616"/>
              <a:gd name="connsiteX9" fmla="*/ 48651 w 7169284"/>
              <a:gd name="connsiteY9" fmla="*/ 1171384 h 3612616"/>
              <a:gd name="connsiteX10" fmla="*/ 28003 w 7169284"/>
              <a:gd name="connsiteY10" fmla="*/ 1212532 h 3612616"/>
              <a:gd name="connsiteX11" fmla="*/ 12729 w 7169284"/>
              <a:gd name="connsiteY11" fmla="*/ 1256506 h 3612616"/>
              <a:gd name="connsiteX12" fmla="*/ 3253 w 7169284"/>
              <a:gd name="connsiteY12" fmla="*/ 1302881 h 3612616"/>
              <a:gd name="connsiteX13" fmla="*/ 0 w 7169284"/>
              <a:gd name="connsiteY13" fmla="*/ 1351232 h 3612616"/>
              <a:gd name="connsiteX14" fmla="*/ 0 w 7169284"/>
              <a:gd name="connsiteY14" fmla="*/ 3256279 h 3612616"/>
              <a:gd name="connsiteX15" fmla="*/ 3253 w 7169284"/>
              <a:gd name="connsiteY15" fmla="*/ 3304631 h 3612616"/>
              <a:gd name="connsiteX16" fmla="*/ 12729 w 7169284"/>
              <a:gd name="connsiteY16" fmla="*/ 3351006 h 3612616"/>
              <a:gd name="connsiteX17" fmla="*/ 28003 w 7169284"/>
              <a:gd name="connsiteY17" fmla="*/ 3394979 h 3612616"/>
              <a:gd name="connsiteX18" fmla="*/ 48651 w 7169284"/>
              <a:gd name="connsiteY18" fmla="*/ 3436127 h 3612616"/>
              <a:gd name="connsiteX19" fmla="*/ 74249 w 7169284"/>
              <a:gd name="connsiteY19" fmla="*/ 3474024 h 3612616"/>
              <a:gd name="connsiteX20" fmla="*/ 104371 w 7169284"/>
              <a:gd name="connsiteY20" fmla="*/ 3508245 h 3612616"/>
              <a:gd name="connsiteX21" fmla="*/ 138592 w 7169284"/>
              <a:gd name="connsiteY21" fmla="*/ 3538367 h 3612616"/>
              <a:gd name="connsiteX22" fmla="*/ 176489 w 7169284"/>
              <a:gd name="connsiteY22" fmla="*/ 3563964 h 3612616"/>
              <a:gd name="connsiteX23" fmla="*/ 217637 w 7169284"/>
              <a:gd name="connsiteY23" fmla="*/ 3584612 h 3612616"/>
              <a:gd name="connsiteX24" fmla="*/ 261611 w 7169284"/>
              <a:gd name="connsiteY24" fmla="*/ 3599887 h 3612616"/>
              <a:gd name="connsiteX25" fmla="*/ 307986 w 7169284"/>
              <a:gd name="connsiteY25" fmla="*/ 3609363 h 3612616"/>
              <a:gd name="connsiteX26" fmla="*/ 356337 w 7169284"/>
              <a:gd name="connsiteY26" fmla="*/ 3612616 h 3612616"/>
              <a:gd name="connsiteX27" fmla="*/ 6812950 w 7169284"/>
              <a:gd name="connsiteY27" fmla="*/ 3612616 h 3612616"/>
              <a:gd name="connsiteX28" fmla="*/ 6861301 w 7169284"/>
              <a:gd name="connsiteY28" fmla="*/ 3609363 h 3612616"/>
              <a:gd name="connsiteX29" fmla="*/ 6907675 w 7169284"/>
              <a:gd name="connsiteY29" fmla="*/ 3599887 h 3612616"/>
              <a:gd name="connsiteX30" fmla="*/ 6951648 w 7169284"/>
              <a:gd name="connsiteY30" fmla="*/ 3584612 h 3612616"/>
              <a:gd name="connsiteX31" fmla="*/ 6992795 w 7169284"/>
              <a:gd name="connsiteY31" fmla="*/ 3563964 h 3612616"/>
              <a:gd name="connsiteX32" fmla="*/ 7030692 w 7169284"/>
              <a:gd name="connsiteY32" fmla="*/ 3538367 h 3612616"/>
              <a:gd name="connsiteX33" fmla="*/ 7064914 w 7169284"/>
              <a:gd name="connsiteY33" fmla="*/ 3508245 h 3612616"/>
              <a:gd name="connsiteX34" fmla="*/ 7095036 w 7169284"/>
              <a:gd name="connsiteY34" fmla="*/ 3474024 h 3612616"/>
              <a:gd name="connsiteX35" fmla="*/ 7120633 w 7169284"/>
              <a:gd name="connsiteY35" fmla="*/ 3436127 h 3612616"/>
              <a:gd name="connsiteX36" fmla="*/ 7141281 w 7169284"/>
              <a:gd name="connsiteY36" fmla="*/ 3394979 h 3612616"/>
              <a:gd name="connsiteX37" fmla="*/ 7156556 w 7169284"/>
              <a:gd name="connsiteY37" fmla="*/ 3351006 h 3612616"/>
              <a:gd name="connsiteX38" fmla="*/ 7166032 w 7169284"/>
              <a:gd name="connsiteY38" fmla="*/ 3304631 h 3612616"/>
              <a:gd name="connsiteX39" fmla="*/ 7169285 w 7169284"/>
              <a:gd name="connsiteY39" fmla="*/ 3256279 h 3612616"/>
              <a:gd name="connsiteX40" fmla="*/ 7169285 w 7169284"/>
              <a:gd name="connsiteY40" fmla="*/ 1351232 h 3612616"/>
              <a:gd name="connsiteX41" fmla="*/ 7166032 w 7169284"/>
              <a:gd name="connsiteY41" fmla="*/ 1302881 h 3612616"/>
              <a:gd name="connsiteX42" fmla="*/ 7156556 w 7169284"/>
              <a:gd name="connsiteY42" fmla="*/ 1256506 h 3612616"/>
              <a:gd name="connsiteX43" fmla="*/ 7141281 w 7169284"/>
              <a:gd name="connsiteY43" fmla="*/ 1212532 h 3612616"/>
              <a:gd name="connsiteX44" fmla="*/ 7120633 w 7169284"/>
              <a:gd name="connsiteY44" fmla="*/ 1171384 h 3612616"/>
              <a:gd name="connsiteX45" fmla="*/ 7095036 w 7169284"/>
              <a:gd name="connsiteY45" fmla="*/ 1133487 h 3612616"/>
              <a:gd name="connsiteX46" fmla="*/ 7064914 w 7169284"/>
              <a:gd name="connsiteY46" fmla="*/ 1099266 h 3612616"/>
              <a:gd name="connsiteX47" fmla="*/ 7030692 w 7169284"/>
              <a:gd name="connsiteY47" fmla="*/ 1069144 h 3612616"/>
              <a:gd name="connsiteX48" fmla="*/ 6992795 w 7169284"/>
              <a:gd name="connsiteY48" fmla="*/ 1043546 h 3612616"/>
              <a:gd name="connsiteX49" fmla="*/ 6951648 w 7169284"/>
              <a:gd name="connsiteY49" fmla="*/ 1022898 h 3612616"/>
              <a:gd name="connsiteX50" fmla="*/ 6907675 w 7169284"/>
              <a:gd name="connsiteY50" fmla="*/ 1007624 h 3612616"/>
              <a:gd name="connsiteX51" fmla="*/ 6861301 w 7169284"/>
              <a:gd name="connsiteY51" fmla="*/ 998148 h 3612616"/>
              <a:gd name="connsiteX52" fmla="*/ 6812950 w 7169284"/>
              <a:gd name="connsiteY52" fmla="*/ 994895 h 3612616"/>
              <a:gd name="connsiteX0" fmla="*/ 3827891 w 7169284"/>
              <a:gd name="connsiteY0" fmla="*/ 0 h 3612616"/>
              <a:gd name="connsiteX1" fmla="*/ 2348194 w 7169284"/>
              <a:gd name="connsiteY1" fmla="*/ 1011641 h 3612616"/>
              <a:gd name="connsiteX2" fmla="*/ 2993816 w 7169284"/>
              <a:gd name="connsiteY2" fmla="*/ 1011641 h 3612616"/>
              <a:gd name="connsiteX3" fmla="*/ 3827891 w 7169284"/>
              <a:gd name="connsiteY3" fmla="*/ 0 h 3612616"/>
            </a:gdLst>
            <a:ahLst/>
            <a:cxnLst>
              <a:cxn ang="0">
                <a:pos x="connsiteX0" y="connsiteY0"/>
              </a:cxn>
              <a:cxn ang="0">
                <a:pos x="connsiteX1" y="connsiteY1"/>
              </a:cxn>
              <a:cxn ang="0">
                <a:pos x="connsiteX2" y="connsiteY2"/>
              </a:cxn>
              <a:cxn ang="0">
                <a:pos x="connsiteX3" y="connsiteY3"/>
              </a:cxn>
            </a:cxnLst>
            <a:rect l="l" t="t" r="r" b="b"/>
            <a:pathLst>
              <a:path w="7169284" h="3612616" extrusionOk="0">
                <a:moveTo>
                  <a:pt x="6812950" y="994895"/>
                </a:moveTo>
                <a:lnTo>
                  <a:pt x="356337" y="994895"/>
                </a:lnTo>
                <a:lnTo>
                  <a:pt x="307986" y="998148"/>
                </a:lnTo>
                <a:lnTo>
                  <a:pt x="261611" y="1007624"/>
                </a:lnTo>
                <a:lnTo>
                  <a:pt x="217637" y="1022898"/>
                </a:lnTo>
                <a:lnTo>
                  <a:pt x="176489" y="1043546"/>
                </a:lnTo>
                <a:lnTo>
                  <a:pt x="138592" y="1069144"/>
                </a:lnTo>
                <a:lnTo>
                  <a:pt x="104371" y="1099266"/>
                </a:lnTo>
                <a:lnTo>
                  <a:pt x="74249" y="1133487"/>
                </a:lnTo>
                <a:lnTo>
                  <a:pt x="48651" y="1171384"/>
                </a:lnTo>
                <a:lnTo>
                  <a:pt x="28003" y="1212532"/>
                </a:lnTo>
                <a:lnTo>
                  <a:pt x="12729" y="1256506"/>
                </a:lnTo>
                <a:lnTo>
                  <a:pt x="3253" y="1302881"/>
                </a:lnTo>
                <a:lnTo>
                  <a:pt x="0" y="1351232"/>
                </a:lnTo>
                <a:lnTo>
                  <a:pt x="0" y="3256279"/>
                </a:lnTo>
                <a:lnTo>
                  <a:pt x="3253" y="3304631"/>
                </a:lnTo>
                <a:lnTo>
                  <a:pt x="12729" y="3351006"/>
                </a:lnTo>
                <a:lnTo>
                  <a:pt x="28003" y="3394979"/>
                </a:lnTo>
                <a:lnTo>
                  <a:pt x="48651" y="3436127"/>
                </a:lnTo>
                <a:lnTo>
                  <a:pt x="74249" y="3474024"/>
                </a:lnTo>
                <a:lnTo>
                  <a:pt x="104371" y="3508245"/>
                </a:lnTo>
                <a:lnTo>
                  <a:pt x="138592" y="3538367"/>
                </a:lnTo>
                <a:lnTo>
                  <a:pt x="176489" y="3563964"/>
                </a:lnTo>
                <a:lnTo>
                  <a:pt x="217637" y="3584612"/>
                </a:lnTo>
                <a:lnTo>
                  <a:pt x="261611" y="3599887"/>
                </a:lnTo>
                <a:lnTo>
                  <a:pt x="307986" y="3609363"/>
                </a:lnTo>
                <a:lnTo>
                  <a:pt x="356337" y="3612616"/>
                </a:lnTo>
                <a:lnTo>
                  <a:pt x="6812950" y="3612616"/>
                </a:lnTo>
                <a:lnTo>
                  <a:pt x="6861301" y="3609363"/>
                </a:lnTo>
                <a:lnTo>
                  <a:pt x="6907675" y="3599887"/>
                </a:lnTo>
                <a:lnTo>
                  <a:pt x="6951648" y="3584612"/>
                </a:lnTo>
                <a:lnTo>
                  <a:pt x="6992795" y="3563964"/>
                </a:lnTo>
                <a:lnTo>
                  <a:pt x="7030692" y="3538367"/>
                </a:lnTo>
                <a:lnTo>
                  <a:pt x="7064914" y="3508245"/>
                </a:lnTo>
                <a:lnTo>
                  <a:pt x="7095036" y="3474024"/>
                </a:lnTo>
                <a:lnTo>
                  <a:pt x="7120633" y="3436127"/>
                </a:lnTo>
                <a:lnTo>
                  <a:pt x="7141281" y="3394979"/>
                </a:lnTo>
                <a:lnTo>
                  <a:pt x="7156556" y="3351006"/>
                </a:lnTo>
                <a:lnTo>
                  <a:pt x="7166032" y="3304631"/>
                </a:lnTo>
                <a:lnTo>
                  <a:pt x="7169285" y="3256279"/>
                </a:lnTo>
                <a:lnTo>
                  <a:pt x="7169285" y="1351232"/>
                </a:lnTo>
                <a:lnTo>
                  <a:pt x="7166032" y="1302881"/>
                </a:lnTo>
                <a:lnTo>
                  <a:pt x="7156556" y="1256506"/>
                </a:lnTo>
                <a:lnTo>
                  <a:pt x="7141281" y="1212532"/>
                </a:lnTo>
                <a:lnTo>
                  <a:pt x="7120633" y="1171384"/>
                </a:lnTo>
                <a:lnTo>
                  <a:pt x="7095036" y="1133487"/>
                </a:lnTo>
                <a:lnTo>
                  <a:pt x="7064914" y="1099266"/>
                </a:lnTo>
                <a:lnTo>
                  <a:pt x="7030692" y="1069144"/>
                </a:lnTo>
                <a:lnTo>
                  <a:pt x="6992795" y="1043546"/>
                </a:lnTo>
                <a:lnTo>
                  <a:pt x="6951648" y="1022898"/>
                </a:lnTo>
                <a:lnTo>
                  <a:pt x="6907675" y="1007624"/>
                </a:lnTo>
                <a:lnTo>
                  <a:pt x="6861301" y="998148"/>
                </a:lnTo>
                <a:lnTo>
                  <a:pt x="6812950" y="994895"/>
                </a:lnTo>
                <a:close/>
              </a:path>
              <a:path w="7169284" h="3612616" extrusionOk="0">
                <a:moveTo>
                  <a:pt x="3827891" y="0"/>
                </a:moveTo>
                <a:lnTo>
                  <a:pt x="2348194" y="1011641"/>
                </a:lnTo>
                <a:lnTo>
                  <a:pt x="2993816" y="1011641"/>
                </a:lnTo>
                <a:lnTo>
                  <a:pt x="3827891" y="0"/>
                </a:lnTo>
                <a:close/>
              </a:path>
            </a:pathLst>
          </a:custGeom>
          <a:solidFill>
            <a:srgbClr val="A0C283"/>
          </a:solidFill>
          <a:ln>
            <a:noFill/>
          </a:ln>
        </p:spPr>
        <p:txBody>
          <a:bodyPr spcFirstLastPara="1" wrap="square" lIns="0" tIns="0" rIns="0" bIns="0" anchor="t" anchorCtr="0">
            <a:noAutofit/>
          </a:bodyPr>
          <a:lstStyle/>
          <a:p>
            <a:endParaRPr sz="964" dirty="0"/>
          </a:p>
        </p:txBody>
      </p:sp>
      <p:sp>
        <p:nvSpPr>
          <p:cNvPr id="14" name="Google Shape;173;p20"/>
          <p:cNvSpPr txBox="1"/>
          <p:nvPr/>
        </p:nvSpPr>
        <p:spPr>
          <a:xfrm>
            <a:off x="4884863" y="3838038"/>
            <a:ext cx="3840688" cy="1160937"/>
          </a:xfrm>
          <a:prstGeom prst="rect">
            <a:avLst/>
          </a:prstGeom>
          <a:noFill/>
          <a:ln>
            <a:noFill/>
          </a:ln>
        </p:spPr>
        <p:txBody>
          <a:bodyPr spcFirstLastPara="1" wrap="square" lIns="0" tIns="8504" rIns="0" bIns="0" anchor="t" anchorCtr="0">
            <a:noAutofit/>
          </a:bodyPr>
          <a:lstStyle/>
          <a:p>
            <a:pPr algn="ctr">
              <a:lnSpc>
                <a:spcPct val="116753"/>
              </a:lnSpc>
            </a:pPr>
            <a:r>
              <a:rPr lang="en-US" sz="2800" dirty="0">
                <a:solidFill>
                  <a:srgbClr val="FFFFFF"/>
                </a:solidFill>
                <a:latin typeface="Tw Cen MT" panose="020B0602020104020603" pitchFamily="34" charset="77"/>
                <a:ea typeface="Trebuchet MS"/>
                <a:cs typeface="Trebuchet MS"/>
                <a:sym typeface="Trebuchet MS"/>
              </a:rPr>
              <a:t>name(s) of columns to extract</a:t>
            </a:r>
            <a:endParaRPr sz="2800" dirty="0">
              <a:latin typeface="Tw Cen MT" panose="020B0602020104020603" pitchFamily="34" charset="77"/>
              <a:ea typeface="Trebuchet MS"/>
              <a:cs typeface="Trebuchet MS"/>
              <a:sym typeface="Trebuchet MS"/>
            </a:endParaRPr>
          </a:p>
        </p:txBody>
      </p:sp>
      <p:sp>
        <p:nvSpPr>
          <p:cNvPr id="15" name="Google Shape;175;p20"/>
          <p:cNvSpPr txBox="1"/>
          <p:nvPr/>
        </p:nvSpPr>
        <p:spPr>
          <a:xfrm>
            <a:off x="3004025" y="3700811"/>
            <a:ext cx="1588982" cy="710036"/>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062" b="1">
                <a:solidFill>
                  <a:srgbClr val="FFFFFF"/>
                </a:solidFill>
                <a:latin typeface="Trebuchet MS"/>
                <a:ea typeface="Trebuchet MS"/>
                <a:cs typeface="Trebuchet MS"/>
                <a:sym typeface="Trebuchet MS"/>
              </a:rPr>
              <a:t>data frame to  transform</a:t>
            </a:r>
            <a:endParaRPr sz="2062">
              <a:latin typeface="Trebuchet MS"/>
              <a:ea typeface="Trebuchet MS"/>
              <a:cs typeface="Trebuchet MS"/>
              <a:sym typeface="Trebuchet MS"/>
            </a:endParaRPr>
          </a:p>
        </p:txBody>
      </p:sp>
      <p:sp>
        <p:nvSpPr>
          <p:cNvPr id="16" name="Google Shape;137;p17"/>
          <p:cNvSpPr/>
          <p:nvPr/>
        </p:nvSpPr>
        <p:spPr>
          <a:xfrm>
            <a:off x="2130711" y="2926883"/>
            <a:ext cx="246229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17" name="Google Shape;138;p17"/>
          <p:cNvSpPr txBox="1"/>
          <p:nvPr/>
        </p:nvSpPr>
        <p:spPr>
          <a:xfrm>
            <a:off x="2197998" y="3819859"/>
            <a:ext cx="2327721" cy="1143810"/>
          </a:xfrm>
          <a:prstGeom prst="rect">
            <a:avLst/>
          </a:prstGeom>
          <a:noFill/>
          <a:ln>
            <a:noFill/>
          </a:ln>
        </p:spPr>
        <p:txBody>
          <a:bodyPr spcFirstLastPara="1" wrap="square" lIns="0" tIns="32652" rIns="0" bIns="0" anchor="t" anchorCtr="0">
            <a:noAutofit/>
          </a:bodyPr>
          <a:lstStyle/>
          <a:p>
            <a:pPr marL="208524" marR="2721" indent="-202061" algn="ctr">
              <a:lnSpc>
                <a:spcPct val="113506"/>
              </a:lnSpc>
            </a:pPr>
            <a:r>
              <a:rPr lang="en-US" sz="2800" dirty="0">
                <a:solidFill>
                  <a:srgbClr val="FFFFFF"/>
                </a:solidFill>
                <a:latin typeface="Tw Cen MT" panose="020B0602020104020603" pitchFamily="34" charset="77"/>
                <a:ea typeface="Trebuchet MS"/>
                <a:cs typeface="Trebuchet MS"/>
                <a:sym typeface="Trebuchet MS"/>
              </a:rPr>
              <a:t>data frame to transform</a:t>
            </a:r>
            <a:endParaRPr sz="2800" dirty="0">
              <a:latin typeface="Tw Cen MT" panose="020B0602020104020603" pitchFamily="34" charset="77"/>
              <a:ea typeface="Trebuchet MS"/>
              <a:cs typeface="Trebuchet MS"/>
              <a:sym typeface="Trebuchet MS"/>
            </a:endParaRPr>
          </a:p>
        </p:txBody>
      </p:sp>
      <p:sp>
        <p:nvSpPr>
          <p:cNvPr id="20" name="Rectangle 19" hidden="1"/>
          <p:cNvSpPr/>
          <p:nvPr/>
        </p:nvSpPr>
        <p:spPr>
          <a:xfrm>
            <a:off x="2269139" y="2400924"/>
            <a:ext cx="4027064"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select(</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24" name="Google Shape;140;p17"/>
          <p:cNvSpPr txBox="1"/>
          <p:nvPr/>
        </p:nvSpPr>
        <p:spPr>
          <a:xfrm>
            <a:off x="166944" y="3919698"/>
            <a:ext cx="1671911" cy="997618"/>
          </a:xfrm>
          <a:prstGeom prst="rect">
            <a:avLst/>
          </a:prstGeom>
          <a:noFill/>
          <a:ln>
            <a:noFill/>
          </a:ln>
        </p:spPr>
        <p:txBody>
          <a:bodyPr spcFirstLastPara="1" wrap="square" lIns="0" tIns="8504" rIns="0" bIns="0" anchor="t" anchorCtr="0">
            <a:noAutofit/>
          </a:bodyPr>
          <a:lstStyle/>
          <a:p>
            <a:pPr marL="6803" algn="ctr"/>
            <a:r>
              <a:rPr lang="en-US" sz="2800" dirty="0">
                <a:solidFill>
                  <a:srgbClr val="FFFFFF"/>
                </a:solidFill>
                <a:latin typeface="Tw Cen MT" panose="020B0602020104020603" pitchFamily="34" charset="77"/>
                <a:ea typeface="Trebuchet MS"/>
                <a:cs typeface="Trebuchet MS"/>
                <a:sym typeface="Trebuchet MS"/>
              </a:rPr>
              <a:t>dplyr function</a:t>
            </a:r>
            <a:endParaRPr sz="2800" dirty="0">
              <a:latin typeface="Tw Cen MT" panose="020B0602020104020603" pitchFamily="34" charset="77"/>
              <a:ea typeface="Trebuchet MS"/>
              <a:cs typeface="Trebuchet MS"/>
              <a:sym typeface="Trebuchet MS"/>
            </a:endParaRPr>
          </a:p>
        </p:txBody>
      </p:sp>
    </p:spTree>
    <p:extLst>
      <p:ext uri="{BB962C8B-B14F-4D97-AF65-F5344CB8AC3E}">
        <p14:creationId xmlns:p14="http://schemas.microsoft.com/office/powerpoint/2010/main" val="3584092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0"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21" name="Google Shape;199;p22" hidden="1"/>
          <p:cNvGraphicFramePr/>
          <p:nvPr/>
        </p:nvGraphicFramePr>
        <p:xfrm>
          <a:off x="6870169" y="3499933"/>
          <a:ext cx="3884753" cy="3171090"/>
        </p:xfrm>
        <a:graphic>
          <a:graphicData uri="http://schemas.openxmlformats.org/drawingml/2006/table">
            <a:tbl>
              <a:tblPr>
                <a:noFill/>
              </a:tblPr>
              <a:tblGrid>
                <a:gridCol w="2180430">
                  <a:extLst>
                    <a:ext uri="{9D8B030D-6E8A-4147-A177-3AD203B41FA5}">
                      <a16:colId xmlns:a16="http://schemas.microsoft.com/office/drawing/2014/main" val="20000"/>
                    </a:ext>
                  </a:extLst>
                </a:gridCol>
                <a:gridCol w="1704323">
                  <a:extLst>
                    <a:ext uri="{9D8B030D-6E8A-4147-A177-3AD203B41FA5}">
                      <a16:colId xmlns:a16="http://schemas.microsoft.com/office/drawing/2014/main" val="20001"/>
                    </a:ext>
                  </a:extLst>
                </a:gridCol>
              </a:tblGrid>
              <a:tr h="459090">
                <a:tc>
                  <a:txBody>
                    <a:bodyPr/>
                    <a:lstStyle/>
                    <a:p>
                      <a:pPr marL="0" lvl="0" indent="0" algn="ctr" rtl="0">
                        <a:spcBef>
                          <a:spcPts val="0"/>
                        </a:spcBef>
                        <a:spcAft>
                          <a:spcPts val="0"/>
                        </a:spcAft>
                        <a:buNone/>
                      </a:pPr>
                      <a:r>
                        <a:rPr lang="en-US" sz="1200" b="1" dirty="0">
                          <a:solidFill>
                            <a:schemeClr val="lt1"/>
                          </a:solidFill>
                        </a:rPr>
                        <a:t>description</a:t>
                      </a:r>
                      <a:endParaRPr sz="1200" b="1" dirty="0">
                        <a:solidFill>
                          <a:schemeClr val="lt1"/>
                        </a:solidFill>
                      </a:endParaRPr>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B w="18975" cap="flat" cmpd="sng">
                      <a:solidFill>
                        <a:srgbClr val="FFFFFF"/>
                      </a:solidFill>
                      <a:prstDash val="solid"/>
                      <a:round/>
                      <a:headEnd type="none" w="sm" len="sm"/>
                      <a:tailEnd type="none" w="sm" len="sm"/>
                    </a:lnB>
                    <a:solidFill>
                      <a:srgbClr val="538DD5"/>
                    </a:solidFill>
                  </a:tcPr>
                </a:tc>
                <a:tc>
                  <a:txBody>
                    <a:bodyPr/>
                    <a:lstStyle/>
                    <a:p>
                      <a:pPr marL="0" lvl="0" indent="0" algn="ctr" rtl="0">
                        <a:spcBef>
                          <a:spcPts val="0"/>
                        </a:spcBef>
                        <a:spcAft>
                          <a:spcPts val="0"/>
                        </a:spcAft>
                        <a:buNone/>
                      </a:pPr>
                      <a:r>
                        <a:rPr lang="en-US" sz="1200" b="1" dirty="0">
                          <a:solidFill>
                            <a:schemeClr val="lt1"/>
                          </a:solidFill>
                        </a:rPr>
                        <a:t>department</a:t>
                      </a:r>
                      <a:endParaRPr sz="1200" b="1" dirty="0">
                        <a:solidFill>
                          <a:schemeClr val="lt1"/>
                        </a:solidFill>
                      </a:endParaRPr>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B w="18975" cap="flat" cmpd="sng">
                      <a:solidFill>
                        <a:srgbClr val="FFFFFF"/>
                      </a:solidFill>
                      <a:prstDash val="solid"/>
                      <a:round/>
                      <a:headEnd type="none" w="sm" len="sm"/>
                      <a:tailEnd type="none" w="sm" len="sm"/>
                    </a:lnB>
                    <a:solidFill>
                      <a:srgbClr val="538DD5"/>
                    </a:solidFill>
                  </a:tcPr>
                </a:tc>
                <a:extLst>
                  <a:ext uri="{0D108BD9-81ED-4DB2-BD59-A6C34878D82A}">
                    <a16:rowId xmlns:a16="http://schemas.microsoft.com/office/drawing/2014/main" val="10000"/>
                  </a:ext>
                </a:extLst>
              </a:tr>
              <a:tr h="717345">
                <a:tc>
                  <a:txBody>
                    <a:bodyPr/>
                    <a:lstStyle/>
                    <a:p>
                      <a:pPr marL="0" lvl="0" indent="0" algn="ctr" rtl="0">
                        <a:spcBef>
                          <a:spcPts val="0"/>
                        </a:spcBef>
                        <a:spcAft>
                          <a:spcPts val="0"/>
                        </a:spcAft>
                        <a:buNone/>
                      </a:pPr>
                      <a:r>
                        <a:rPr lang="en-US" sz="1200" dirty="0"/>
                        <a:t>PROTHROMBIN TIME</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18975" cap="flat" cmpd="sng">
                      <a:solidFill>
                        <a:srgbClr val="FFFFFF"/>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a:t>INTERNAL MEDICINE CLINIC</a:t>
                      </a:r>
                      <a:endParaRPr sz="120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18975" cap="flat" cmpd="sng">
                      <a:solidFill>
                        <a:srgbClr val="FFFFFF"/>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1"/>
                  </a:ext>
                </a:extLst>
              </a:tr>
              <a:tr h="717345">
                <a:tc>
                  <a:txBody>
                    <a:bodyPr/>
                    <a:lstStyle/>
                    <a:p>
                      <a:pPr marL="0" lvl="0" indent="0" algn="ctr" rtl="0">
                        <a:spcBef>
                          <a:spcPts val="0"/>
                        </a:spcBef>
                        <a:spcAft>
                          <a:spcPts val="0"/>
                        </a:spcAft>
                        <a:buNone/>
                      </a:pPr>
                      <a:r>
                        <a:rPr lang="en-US" sz="1200" dirty="0"/>
                        <a:t>BASIC METABOLIC PANEL</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INTERNAL MEDICINE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2"/>
                  </a:ext>
                </a:extLst>
              </a:tr>
              <a:tr h="717345">
                <a:tc>
                  <a:txBody>
                    <a:bodyPr/>
                    <a:lstStyle/>
                    <a:p>
                      <a:pPr marL="0" lvl="0" indent="0" algn="ctr" rtl="0">
                        <a:spcBef>
                          <a:spcPts val="0"/>
                        </a:spcBef>
                        <a:spcAft>
                          <a:spcPts val="0"/>
                        </a:spcAft>
                        <a:buNone/>
                      </a:pPr>
                      <a:r>
                        <a:rPr lang="en-US" sz="1200"/>
                        <a:t>THYROID STIMULATING HORMONE</a:t>
                      </a:r>
                      <a:endParaRPr sz="120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ENDOCRINOLOGY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3"/>
                  </a:ext>
                </a:extLst>
              </a:tr>
              <a:tr h="559965">
                <a:tc>
                  <a:txBody>
                    <a:bodyPr/>
                    <a:lstStyle/>
                    <a:p>
                      <a:pPr marL="0" lvl="0" indent="0" algn="ctr" rtl="0">
                        <a:spcBef>
                          <a:spcPts val="0"/>
                        </a:spcBef>
                        <a:spcAft>
                          <a:spcPts val="0"/>
                        </a:spcAft>
                        <a:buNone/>
                      </a:pPr>
                      <a:r>
                        <a:rPr lang="en-US" sz="1200" dirty="0"/>
                        <a:t>T4, FREE</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ENDOCRINOLOGY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4"/>
                  </a:ext>
                </a:extLst>
              </a:tr>
            </a:tbl>
          </a:graphicData>
        </a:graphic>
      </p:graphicFrame>
      <p:sp>
        <p:nvSpPr>
          <p:cNvPr id="18" name="Google Shape;197;p22"/>
          <p:cNvSpPr/>
          <p:nvPr/>
        </p:nvSpPr>
        <p:spPr>
          <a:xfrm>
            <a:off x="6504143" y="5070610"/>
            <a:ext cx="361572" cy="206847"/>
          </a:xfrm>
          <a:custGeom>
            <a:avLst/>
            <a:gdLst/>
            <a:ahLst/>
            <a:cxnLst/>
            <a:rect l="l" t="t" r="r" b="b"/>
            <a:pathLst>
              <a:path w="622300" h="382270" extrusionOk="0">
                <a:moveTo>
                  <a:pt x="357633" y="0"/>
                </a:moveTo>
                <a:lnTo>
                  <a:pt x="357633" y="133826"/>
                </a:lnTo>
                <a:lnTo>
                  <a:pt x="0" y="133826"/>
                </a:lnTo>
                <a:lnTo>
                  <a:pt x="0" y="247817"/>
                </a:lnTo>
                <a:lnTo>
                  <a:pt x="357633" y="247817"/>
                </a:lnTo>
                <a:lnTo>
                  <a:pt x="357633" y="381642"/>
                </a:lnTo>
                <a:lnTo>
                  <a:pt x="622085" y="190821"/>
                </a:lnTo>
                <a:lnTo>
                  <a:pt x="357633"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3" name="Google Shape;196;p22"/>
          <p:cNvSpPr txBox="1"/>
          <p:nvPr/>
        </p:nvSpPr>
        <p:spPr>
          <a:xfrm>
            <a:off x="1012156" y="3761222"/>
            <a:ext cx="4825999" cy="213878"/>
          </a:xfrm>
          <a:prstGeom prst="rect">
            <a:avLst/>
          </a:prstGeom>
          <a:noFill/>
          <a:ln>
            <a:noFill/>
          </a:ln>
        </p:spPr>
        <p:txBody>
          <a:bodyPr spcFirstLastPara="1" wrap="square" lIns="0" tIns="8156" rIns="0" bIns="0" anchor="t" anchorCtr="0">
            <a:noAutofit/>
          </a:bodyPr>
          <a:lstStyle/>
          <a:p>
            <a:pPr marL="6803" algn="ctr"/>
            <a:r>
              <a:rPr lang="en-US" sz="2000" dirty="0" err="1">
                <a:solidFill>
                  <a:srgbClr val="0365C0"/>
                </a:solidFill>
                <a:latin typeface="Consolas" panose="020B0609020204030204" pitchFamily="49" charset="0"/>
                <a:ea typeface="Courier New"/>
                <a:cs typeface="Consolas" panose="020B0609020204030204" pitchFamily="49" charset="0"/>
                <a:sym typeface="Courier New"/>
              </a:rPr>
              <a:t>covid_testing</a:t>
            </a:r>
            <a:endParaRPr sz="2000" dirty="0">
              <a:latin typeface="Consolas" panose="020B0609020204030204" pitchFamily="49" charset="0"/>
              <a:ea typeface="Calibri"/>
              <a:cs typeface="Calibri"/>
              <a:sym typeface="Calibri"/>
            </a:endParaRPr>
          </a:p>
        </p:txBody>
      </p:sp>
      <p:sp>
        <p:nvSpPr>
          <p:cNvPr id="14" name="Google Shape;131;p17"/>
          <p:cNvSpPr/>
          <p:nvPr/>
        </p:nvSpPr>
        <p:spPr>
          <a:xfrm>
            <a:off x="1114978" y="2338959"/>
            <a:ext cx="10400563"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5" name="Rectangle 14"/>
          <p:cNvSpPr/>
          <p:nvPr/>
        </p:nvSpPr>
        <p:spPr>
          <a:xfrm>
            <a:off x="943897" y="2418375"/>
            <a:ext cx="10877531" cy="584775"/>
          </a:xfrm>
          <a:prstGeom prst="rect">
            <a:avLst/>
          </a:prstGeom>
        </p:spPr>
        <p:txBody>
          <a:bodyPr wrap="square">
            <a:spAutoFit/>
          </a:bodyPr>
          <a:lstStyle/>
          <a:p>
            <a:pPr marL="146953" lvl="0">
              <a:spcBef>
                <a:spcPts val="2126"/>
              </a:spcBef>
            </a:pPr>
            <a:r>
              <a:rPr lang="en-US" sz="3200" dirty="0">
                <a:latin typeface="Consolas" panose="020B0609020204030204" pitchFamily="49" charset="0"/>
                <a:ea typeface="Courier New"/>
                <a:cs typeface="Consolas" panose="020B0609020204030204" pitchFamily="49" charset="0"/>
                <a:sym typeface="Courier New"/>
              </a:rPr>
              <a:t>select(</a:t>
            </a:r>
            <a:r>
              <a:rPr lang="en-US" sz="3200" dirty="0" err="1">
                <a:solidFill>
                  <a:srgbClr val="0365C0"/>
                </a:solidFill>
                <a:latin typeface="Consolas" panose="020B0609020204030204" pitchFamily="49" charset="0"/>
                <a:ea typeface="Courier New"/>
                <a:cs typeface="Consolas" panose="020B0609020204030204" pitchFamily="49" charset="0"/>
                <a:sym typeface="Courier New"/>
              </a:rPr>
              <a:t>covid_testing</a:t>
            </a:r>
            <a:r>
              <a:rPr lang="en-US" sz="3200" dirty="0">
                <a:solidFill>
                  <a:srgbClr val="0365C0"/>
                </a:solidFill>
                <a:latin typeface="Consolas" panose="020B0609020204030204" pitchFamily="49" charset="0"/>
                <a:ea typeface="Courier New"/>
                <a:cs typeface="Consolas" panose="020B0609020204030204" pitchFamily="49" charset="0"/>
                <a:sym typeface="Courier New"/>
              </a:rPr>
              <a:t>, </a:t>
            </a:r>
            <a:r>
              <a:rPr lang="en-US" sz="3200" dirty="0" err="1">
                <a:solidFill>
                  <a:srgbClr val="A0C283"/>
                </a:solidFill>
                <a:latin typeface="Consolas" panose="020B0609020204030204" pitchFamily="49" charset="0"/>
                <a:ea typeface="Courier New"/>
                <a:cs typeface="Consolas" panose="020B0609020204030204" pitchFamily="49" charset="0"/>
                <a:sym typeface="Courier New"/>
              </a:rPr>
              <a:t>mrn</a:t>
            </a:r>
            <a:r>
              <a:rPr lang="en-US" sz="3200" dirty="0">
                <a:solidFill>
                  <a:srgbClr val="A0C283"/>
                </a:solidFill>
                <a:latin typeface="Consolas" panose="020B0609020204030204" pitchFamily="49" charset="0"/>
                <a:ea typeface="Courier New"/>
                <a:cs typeface="Consolas" panose="020B0609020204030204" pitchFamily="49" charset="0"/>
                <a:sym typeface="Courier New"/>
              </a:rPr>
              <a:t>, </a:t>
            </a:r>
            <a:r>
              <a:rPr lang="en-US" sz="3200" dirty="0" err="1">
                <a:solidFill>
                  <a:srgbClr val="A0C283"/>
                </a:solidFill>
                <a:latin typeface="Consolas" panose="020B0609020204030204" pitchFamily="49" charset="0"/>
                <a:ea typeface="Courier New"/>
                <a:cs typeface="Consolas" panose="020B0609020204030204" pitchFamily="49" charset="0"/>
                <a:sym typeface="Courier New"/>
              </a:rPr>
              <a:t>last_name</a:t>
            </a:r>
            <a:r>
              <a:rPr lang="en-US" sz="3200" dirty="0">
                <a:latin typeface="Consolas" panose="020B0609020204030204" pitchFamily="49" charset="0"/>
                <a:ea typeface="Courier New"/>
                <a:cs typeface="Consolas" panose="020B0609020204030204" pitchFamily="49" charset="0"/>
                <a:sym typeface="Courier New"/>
              </a:rPr>
              <a:t>)</a:t>
            </a:r>
          </a:p>
        </p:txBody>
      </p:sp>
      <p:graphicFrame>
        <p:nvGraphicFramePr>
          <p:cNvPr id="4" name="Table 3"/>
          <p:cNvGraphicFramePr>
            <a:graphicFrameLocks noGrp="1"/>
          </p:cNvGraphicFramePr>
          <p:nvPr/>
        </p:nvGraphicFramePr>
        <p:xfrm>
          <a:off x="1012156" y="4167322"/>
          <a:ext cx="4826000" cy="2233477"/>
        </p:xfrm>
        <a:graphic>
          <a:graphicData uri="http://schemas.openxmlformats.org/drawingml/2006/table">
            <a:tbl>
              <a:tblPr/>
              <a:tblGrid>
                <a:gridCol w="1092200">
                  <a:extLst>
                    <a:ext uri="{9D8B030D-6E8A-4147-A177-3AD203B41FA5}">
                      <a16:colId xmlns:a16="http://schemas.microsoft.com/office/drawing/2014/main" val="2581507180"/>
                    </a:ext>
                  </a:extLst>
                </a:gridCol>
                <a:gridCol w="1397000">
                  <a:extLst>
                    <a:ext uri="{9D8B030D-6E8A-4147-A177-3AD203B41FA5}">
                      <a16:colId xmlns:a16="http://schemas.microsoft.com/office/drawing/2014/main" val="3049758104"/>
                    </a:ext>
                  </a:extLst>
                </a:gridCol>
                <a:gridCol w="1270000">
                  <a:extLst>
                    <a:ext uri="{9D8B030D-6E8A-4147-A177-3AD203B41FA5}">
                      <a16:colId xmlns:a16="http://schemas.microsoft.com/office/drawing/2014/main" val="2722530986"/>
                    </a:ext>
                  </a:extLst>
                </a:gridCol>
                <a:gridCol w="1066800">
                  <a:extLst>
                    <a:ext uri="{9D8B030D-6E8A-4147-A177-3AD203B41FA5}">
                      <a16:colId xmlns:a16="http://schemas.microsoft.com/office/drawing/2014/main" val="2802192968"/>
                    </a:ext>
                  </a:extLst>
                </a:gridCol>
              </a:tblGrid>
              <a:tr h="734025">
                <a:tc>
                  <a:txBody>
                    <a:bodyPr/>
                    <a:lstStyle/>
                    <a:p>
                      <a:pPr algn="ctr" rtl="0" fontAlgn="ctr"/>
                      <a:r>
                        <a:rPr lang="en-US" sz="1800" b="1" i="0" u="none" strike="noStrike">
                          <a:solidFill>
                            <a:srgbClr val="FFFFFF"/>
                          </a:solidFill>
                          <a:effectLst/>
                          <a:latin typeface="Arial" panose="020B0604020202020204" pitchFamily="34" charset="0"/>
                        </a:rPr>
                        <a:t>mrn</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1800" b="1" i="0" u="none" strike="noStrike">
                          <a:solidFill>
                            <a:srgbClr val="FFFFFF"/>
                          </a:solidFill>
                          <a:effectLst/>
                          <a:latin typeface="Arial" panose="020B0604020202020204" pitchFamily="34" charset="0"/>
                        </a:rPr>
                        <a:t>first_name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1800" b="1" i="0" u="none" strike="noStrike">
                          <a:solidFill>
                            <a:srgbClr val="FFFFFF"/>
                          </a:solidFill>
                          <a:effectLst/>
                          <a:latin typeface="Arial" panose="020B0604020202020204" pitchFamily="34" charset="0"/>
                        </a:rPr>
                        <a:t>last_name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1800" b="1" i="0" u="none" strike="noStrike">
                          <a:solidFill>
                            <a:srgbClr val="FFFFFF"/>
                          </a:solidFill>
                          <a:effectLst/>
                          <a:latin typeface="Arial" panose="020B0604020202020204" pitchFamily="34" charset="0"/>
                        </a:rPr>
                        <a:t>gender</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A6A6A6"/>
                    </a:solidFill>
                  </a:tcPr>
                </a:tc>
                <a:extLst>
                  <a:ext uri="{0D108BD9-81ED-4DB2-BD59-A6C34878D82A}">
                    <a16:rowId xmlns:a16="http://schemas.microsoft.com/office/drawing/2014/main" val="2011105334"/>
                  </a:ext>
                </a:extLst>
              </a:tr>
              <a:tr h="368975">
                <a:tc>
                  <a:txBody>
                    <a:bodyPr/>
                    <a:lstStyle/>
                    <a:p>
                      <a:pPr algn="ctr" rtl="0" fontAlgn="ctr"/>
                      <a:r>
                        <a:rPr lang="en-US" sz="1800" b="0" i="0" u="none" strike="noStrike" dirty="0">
                          <a:solidFill>
                            <a:srgbClr val="000000"/>
                          </a:solidFill>
                          <a:effectLst/>
                          <a:latin typeface="Arial" panose="020B0604020202020204" pitchFamily="34" charset="0"/>
                        </a:rPr>
                        <a:t>5000876</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a:solidFill>
                            <a:srgbClr val="000000"/>
                          </a:solidFill>
                          <a:effectLst/>
                          <a:latin typeface="Arial" panose="020B0604020202020204" pitchFamily="34" charset="0"/>
                        </a:rPr>
                        <a:t>sarella</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a:solidFill>
                            <a:srgbClr val="000000"/>
                          </a:solidFill>
                          <a:effectLst/>
                          <a:latin typeface="Arial" panose="020B0604020202020204" pitchFamily="34" charset="0"/>
                        </a:rPr>
                        <a:t>stark</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868112959"/>
                  </a:ext>
                </a:extLst>
              </a:tr>
              <a:tr h="380751">
                <a:tc>
                  <a:txBody>
                    <a:bodyPr/>
                    <a:lstStyle/>
                    <a:p>
                      <a:pPr algn="ctr" rtl="0" fontAlgn="ctr"/>
                      <a:r>
                        <a:rPr lang="en-US" sz="1800" b="0" i="0" u="none" strike="noStrike">
                          <a:solidFill>
                            <a:srgbClr val="000000"/>
                          </a:solidFill>
                          <a:effectLst/>
                          <a:latin typeface="Arial" panose="020B0604020202020204" pitchFamily="34" charset="0"/>
                        </a:rPr>
                        <a:t>5006017</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a:solidFill>
                            <a:srgbClr val="000000"/>
                          </a:solidFill>
                          <a:effectLst/>
                          <a:latin typeface="Arial" panose="020B0604020202020204" pitchFamily="34" charset="0"/>
                        </a:rPr>
                        <a:t>alester</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a:solidFill>
                            <a:srgbClr val="000000"/>
                          </a:solidFill>
                          <a:effectLst/>
                          <a:latin typeface="Arial" panose="020B0604020202020204" pitchFamily="34" charset="0"/>
                        </a:rPr>
                        <a:t>stark</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a:solidFill>
                            <a:srgbClr val="000000"/>
                          </a:solidFill>
                          <a:effectLst/>
                          <a:latin typeface="Arial" panose="020B0604020202020204" pitchFamily="34" charset="0"/>
                        </a:rPr>
                        <a:t>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1574073067"/>
                  </a:ext>
                </a:extLst>
              </a:tr>
              <a:tr h="380751">
                <a:tc>
                  <a:txBody>
                    <a:bodyPr/>
                    <a:lstStyle/>
                    <a:p>
                      <a:pPr algn="ctr" rtl="0" fontAlgn="ctr"/>
                      <a:r>
                        <a:rPr lang="en-US" sz="1800" b="0" i="0" u="none" strike="noStrike">
                          <a:solidFill>
                            <a:srgbClr val="000000"/>
                          </a:solidFill>
                          <a:effectLst/>
                          <a:latin typeface="Arial" panose="020B0604020202020204" pitchFamily="34" charset="0"/>
                        </a:rPr>
                        <a:t>5001412</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a:solidFill>
                            <a:srgbClr val="000000"/>
                          </a:solidFill>
                          <a:effectLst/>
                          <a:latin typeface="Arial" panose="020B0604020202020204" pitchFamily="34" charset="0"/>
                        </a:rPr>
                        <a:t>jhezane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a:solidFill>
                            <a:srgbClr val="000000"/>
                          </a:solidFill>
                          <a:effectLst/>
                          <a:latin typeface="Arial" panose="020B0604020202020204" pitchFamily="34" charset="0"/>
                        </a:rPr>
                        <a:t>westerling</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559666717"/>
                  </a:ext>
                </a:extLst>
              </a:tr>
              <a:tr h="368975">
                <a:tc>
                  <a:txBody>
                    <a:bodyPr/>
                    <a:lstStyle/>
                    <a:p>
                      <a:pPr algn="ctr" rtl="0" fontAlgn="ctr"/>
                      <a:r>
                        <a:rPr lang="en-US" sz="1800" b="0" i="0" u="none" strike="noStrike">
                          <a:solidFill>
                            <a:srgbClr val="000000"/>
                          </a:solidFill>
                          <a:effectLst/>
                          <a:latin typeface="Arial" panose="020B0604020202020204" pitchFamily="34" charset="0"/>
                        </a:rPr>
                        <a:t>5000533</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1800" b="0" i="0" u="none" strike="noStrike">
                          <a:solidFill>
                            <a:srgbClr val="000000"/>
                          </a:solidFill>
                          <a:effectLst/>
                          <a:latin typeface="Arial" panose="020B0604020202020204" pitchFamily="34" charset="0"/>
                        </a:rPr>
                        <a:t>penny</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9D9D9"/>
                    </a:solidFill>
                  </a:tcPr>
                </a:tc>
                <a:tc>
                  <a:txBody>
                    <a:bodyPr/>
                    <a:lstStyle/>
                    <a:p>
                      <a:pPr algn="ctr" rtl="0" fontAlgn="ctr"/>
                      <a:r>
                        <a:rPr lang="en-US" sz="1800" b="0" i="0" u="none" strike="noStrike">
                          <a:solidFill>
                            <a:srgbClr val="000000"/>
                          </a:solidFill>
                          <a:effectLst/>
                          <a:latin typeface="Arial" panose="020B0604020202020204" pitchFamily="34" charset="0"/>
                        </a:rPr>
                        <a:t>targaryen</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3315762349"/>
                  </a:ext>
                </a:extLst>
              </a:tr>
            </a:tbl>
          </a:graphicData>
        </a:graphic>
      </p:graphicFrame>
      <p:graphicFrame>
        <p:nvGraphicFramePr>
          <p:cNvPr id="5" name="Table 4"/>
          <p:cNvGraphicFramePr>
            <a:graphicFrameLocks noGrp="1"/>
          </p:cNvGraphicFramePr>
          <p:nvPr/>
        </p:nvGraphicFramePr>
        <p:xfrm>
          <a:off x="7689850" y="4160718"/>
          <a:ext cx="2362200" cy="2233477"/>
        </p:xfrm>
        <a:graphic>
          <a:graphicData uri="http://schemas.openxmlformats.org/drawingml/2006/table">
            <a:tbl>
              <a:tblPr/>
              <a:tblGrid>
                <a:gridCol w="1092200">
                  <a:extLst>
                    <a:ext uri="{9D8B030D-6E8A-4147-A177-3AD203B41FA5}">
                      <a16:colId xmlns:a16="http://schemas.microsoft.com/office/drawing/2014/main" val="346107332"/>
                    </a:ext>
                  </a:extLst>
                </a:gridCol>
                <a:gridCol w="1270000">
                  <a:extLst>
                    <a:ext uri="{9D8B030D-6E8A-4147-A177-3AD203B41FA5}">
                      <a16:colId xmlns:a16="http://schemas.microsoft.com/office/drawing/2014/main" val="110457162"/>
                    </a:ext>
                  </a:extLst>
                </a:gridCol>
              </a:tblGrid>
              <a:tr h="734025">
                <a:tc>
                  <a:txBody>
                    <a:bodyPr/>
                    <a:lstStyle/>
                    <a:p>
                      <a:pPr algn="ctr" rtl="0" fontAlgn="ctr"/>
                      <a:r>
                        <a:rPr lang="en-US" sz="1800" b="1" i="0" u="none" strike="noStrike">
                          <a:solidFill>
                            <a:srgbClr val="FFFFFF"/>
                          </a:solidFill>
                          <a:effectLst/>
                          <a:latin typeface="Arial" panose="020B0604020202020204" pitchFamily="34" charset="0"/>
                        </a:rPr>
                        <a:t>mrn</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1800" b="1" i="0" u="none" strike="noStrike" dirty="0" err="1">
                          <a:solidFill>
                            <a:srgbClr val="FFFFFF"/>
                          </a:solidFill>
                          <a:effectLst/>
                          <a:latin typeface="Arial" panose="020B0604020202020204" pitchFamily="34" charset="0"/>
                        </a:rPr>
                        <a:t>last_name</a:t>
                      </a:r>
                      <a:endParaRPr lang="en-US" sz="18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extLst>
                  <a:ext uri="{0D108BD9-81ED-4DB2-BD59-A6C34878D82A}">
                    <a16:rowId xmlns:a16="http://schemas.microsoft.com/office/drawing/2014/main" val="120289105"/>
                  </a:ext>
                </a:extLst>
              </a:tr>
              <a:tr h="368975">
                <a:tc>
                  <a:txBody>
                    <a:bodyPr/>
                    <a:lstStyle/>
                    <a:p>
                      <a:pPr algn="ctr" rtl="0" fontAlgn="ctr"/>
                      <a:r>
                        <a:rPr lang="en-US" sz="1800" b="0" i="0" u="none" strike="noStrike">
                          <a:solidFill>
                            <a:srgbClr val="000000"/>
                          </a:solidFill>
                          <a:effectLst/>
                          <a:latin typeface="Arial" panose="020B0604020202020204" pitchFamily="34" charset="0"/>
                        </a:rPr>
                        <a:t>5000876</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a:solidFill>
                            <a:srgbClr val="000000"/>
                          </a:solidFill>
                          <a:effectLst/>
                          <a:latin typeface="Arial" panose="020B0604020202020204" pitchFamily="34" charset="0"/>
                        </a:rPr>
                        <a:t>stark</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2960000228"/>
                  </a:ext>
                </a:extLst>
              </a:tr>
              <a:tr h="380751">
                <a:tc>
                  <a:txBody>
                    <a:bodyPr/>
                    <a:lstStyle/>
                    <a:p>
                      <a:pPr algn="ctr" rtl="0" fontAlgn="ctr"/>
                      <a:r>
                        <a:rPr lang="en-US" sz="1800" b="0" i="0" u="none" strike="noStrike">
                          <a:solidFill>
                            <a:srgbClr val="000000"/>
                          </a:solidFill>
                          <a:effectLst/>
                          <a:latin typeface="Arial" panose="020B0604020202020204" pitchFamily="34" charset="0"/>
                        </a:rPr>
                        <a:t>5006017</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a:solidFill>
                            <a:srgbClr val="000000"/>
                          </a:solidFill>
                          <a:effectLst/>
                          <a:latin typeface="Arial" panose="020B0604020202020204" pitchFamily="34" charset="0"/>
                        </a:rPr>
                        <a:t>stark</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3765887066"/>
                  </a:ext>
                </a:extLst>
              </a:tr>
              <a:tr h="380751">
                <a:tc>
                  <a:txBody>
                    <a:bodyPr/>
                    <a:lstStyle/>
                    <a:p>
                      <a:pPr algn="ctr" rtl="0" fontAlgn="ctr"/>
                      <a:r>
                        <a:rPr lang="en-US" sz="1800" b="0" i="0" u="none" strike="noStrike">
                          <a:solidFill>
                            <a:srgbClr val="000000"/>
                          </a:solidFill>
                          <a:effectLst/>
                          <a:latin typeface="Arial" panose="020B0604020202020204" pitchFamily="34" charset="0"/>
                        </a:rPr>
                        <a:t>5001412</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a:solidFill>
                            <a:srgbClr val="000000"/>
                          </a:solidFill>
                          <a:effectLst/>
                          <a:latin typeface="Arial" panose="020B0604020202020204" pitchFamily="34" charset="0"/>
                        </a:rPr>
                        <a:t>westerling</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3134464694"/>
                  </a:ext>
                </a:extLst>
              </a:tr>
              <a:tr h="368975">
                <a:tc>
                  <a:txBody>
                    <a:bodyPr/>
                    <a:lstStyle/>
                    <a:p>
                      <a:pPr algn="ctr" rtl="0" fontAlgn="ctr"/>
                      <a:r>
                        <a:rPr lang="en-US" sz="1800" b="0" i="0" u="none" strike="noStrike">
                          <a:solidFill>
                            <a:srgbClr val="000000"/>
                          </a:solidFill>
                          <a:effectLst/>
                          <a:latin typeface="Arial" panose="020B0604020202020204" pitchFamily="34" charset="0"/>
                        </a:rPr>
                        <a:t>5000533</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1800" b="0" i="0" u="none" strike="noStrike" dirty="0" err="1">
                          <a:solidFill>
                            <a:srgbClr val="000000"/>
                          </a:solidFill>
                          <a:effectLst/>
                          <a:latin typeface="Arial" panose="020B0604020202020204" pitchFamily="34" charset="0"/>
                        </a:rPr>
                        <a:t>targaryen</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extLst>
                  <a:ext uri="{0D108BD9-81ED-4DB2-BD59-A6C34878D82A}">
                    <a16:rowId xmlns:a16="http://schemas.microsoft.com/office/drawing/2014/main" val="504530610"/>
                  </a:ext>
                </a:extLst>
              </a:tr>
            </a:tbl>
          </a:graphicData>
        </a:graphic>
      </p:graphicFrame>
      <p:sp>
        <p:nvSpPr>
          <p:cNvPr id="20" name="Google Shape;196;p22"/>
          <p:cNvSpPr txBox="1"/>
          <p:nvPr/>
        </p:nvSpPr>
        <p:spPr>
          <a:xfrm rot="5400000">
            <a:off x="5758981" y="5253208"/>
            <a:ext cx="608229" cy="449879"/>
          </a:xfrm>
          <a:prstGeom prst="rect">
            <a:avLst/>
          </a:prstGeom>
          <a:noFill/>
          <a:ln>
            <a:noFill/>
          </a:ln>
        </p:spPr>
        <p:txBody>
          <a:bodyPr spcFirstLastPara="1" wrap="square" lIns="0" tIns="8156" rIns="0" bIns="0" anchor="t" anchorCtr="0">
            <a:noAutofit/>
          </a:bodyPr>
          <a:lstStyle/>
          <a:p>
            <a:pPr marL="6803"/>
            <a:r>
              <a:rPr lang="en-US" sz="2400" b="1" dirty="0">
                <a:solidFill>
                  <a:srgbClr val="0365C0"/>
                </a:solidFill>
                <a:latin typeface="+mj-lt"/>
                <a:ea typeface="Courier New"/>
                <a:cs typeface="Consolas" panose="020B0609020204030204" pitchFamily="49" charset="0"/>
                <a:sym typeface="Courier New"/>
              </a:rPr>
              <a:t>…</a:t>
            </a:r>
            <a:endParaRPr sz="2196" b="1" dirty="0">
              <a:latin typeface="+mj-lt"/>
              <a:ea typeface="Calibri"/>
              <a:cs typeface="Calibri"/>
              <a:sym typeface="Calibri"/>
            </a:endParaRPr>
          </a:p>
        </p:txBody>
      </p:sp>
      <p:sp>
        <p:nvSpPr>
          <p:cNvPr id="24" name="Google Shape;196;p22"/>
          <p:cNvSpPr txBox="1"/>
          <p:nvPr/>
        </p:nvSpPr>
        <p:spPr>
          <a:xfrm>
            <a:off x="3121042" y="6279142"/>
            <a:ext cx="608229" cy="449879"/>
          </a:xfrm>
          <a:prstGeom prst="rect">
            <a:avLst/>
          </a:prstGeom>
          <a:noFill/>
          <a:ln>
            <a:noFill/>
          </a:ln>
        </p:spPr>
        <p:txBody>
          <a:bodyPr spcFirstLastPara="1" wrap="square" lIns="0" tIns="8156" rIns="0" bIns="0" anchor="t" anchorCtr="0">
            <a:noAutofit/>
          </a:bodyPr>
          <a:lstStyle/>
          <a:p>
            <a:pPr marL="6803"/>
            <a:r>
              <a:rPr lang="en-US" sz="2400" b="1" dirty="0">
                <a:solidFill>
                  <a:srgbClr val="0365C0"/>
                </a:solidFill>
                <a:latin typeface="+mj-lt"/>
                <a:ea typeface="Courier New"/>
                <a:cs typeface="Consolas" panose="020B0609020204030204" pitchFamily="49" charset="0"/>
                <a:sym typeface="Courier New"/>
              </a:rPr>
              <a:t>…</a:t>
            </a:r>
            <a:endParaRPr sz="2196" b="1" dirty="0">
              <a:latin typeface="+mj-lt"/>
              <a:ea typeface="Calibri"/>
              <a:cs typeface="Calibri"/>
              <a:sym typeface="Calibri"/>
            </a:endParaRPr>
          </a:p>
        </p:txBody>
      </p:sp>
      <p:sp>
        <p:nvSpPr>
          <p:cNvPr id="2" name="Slide Number Placeholder 1"/>
          <p:cNvSpPr>
            <a:spLocks noGrp="1"/>
          </p:cNvSpPr>
          <p:nvPr>
            <p:ph type="sldNum" idx="12"/>
          </p:nvPr>
        </p:nvSpPr>
        <p:spPr/>
        <p:txBody>
          <a:bodyPr/>
          <a:lstStyle/>
          <a:p>
            <a:fld id="{00000000-1234-1234-1234-123412341234}" type="slidenum">
              <a:rPr lang="en-US" smtClean="0"/>
              <a:pPr/>
              <a:t>8</a:t>
            </a:fld>
            <a:endParaRPr lang="en-US"/>
          </a:p>
        </p:txBody>
      </p:sp>
      <p:sp>
        <p:nvSpPr>
          <p:cNvPr id="17" name="Google Shape;168;p20">
            <a:extLst>
              <a:ext uri="{FF2B5EF4-FFF2-40B4-BE49-F238E27FC236}">
                <a16:creationId xmlns:a16="http://schemas.microsoft.com/office/drawing/2014/main" id="{F208E2FF-7277-9843-AD35-C7A3E39217AE}"/>
              </a:ext>
            </a:extLst>
          </p:cNvPr>
          <p:cNvSpPr txBox="1">
            <a:spLocks noGrp="1"/>
          </p:cNvSpPr>
          <p:nvPr>
            <p:ph type="title"/>
          </p:nvPr>
        </p:nvSpPr>
        <p:spPr>
          <a:xfrm>
            <a:off x="4545497" y="680348"/>
            <a:ext cx="309552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latin typeface="Consolas" panose="020B0609020204030204" pitchFamily="49" charset="0"/>
              </a:rPr>
              <a:t>select()</a:t>
            </a:r>
            <a:endParaRPr dirty="0">
              <a:latin typeface="Consolas" panose="020B0609020204030204" pitchFamily="49" charset="0"/>
            </a:endParaRPr>
          </a:p>
        </p:txBody>
      </p:sp>
      <p:sp>
        <p:nvSpPr>
          <p:cNvPr id="19" name="Google Shape;171;p20">
            <a:extLst>
              <a:ext uri="{FF2B5EF4-FFF2-40B4-BE49-F238E27FC236}">
                <a16:creationId xmlns:a16="http://schemas.microsoft.com/office/drawing/2014/main" id="{8D25A273-EFC0-F344-8A33-21DB0B35EA9B}"/>
              </a:ext>
            </a:extLst>
          </p:cNvPr>
          <p:cNvSpPr txBox="1"/>
          <p:nvPr/>
        </p:nvSpPr>
        <p:spPr>
          <a:xfrm>
            <a:off x="2886228" y="1725727"/>
            <a:ext cx="5912332" cy="547810"/>
          </a:xfrm>
          <a:prstGeom prst="rect">
            <a:avLst/>
          </a:prstGeom>
          <a:noFill/>
          <a:ln>
            <a:noFill/>
          </a:ln>
        </p:spPr>
        <p:txBody>
          <a:bodyPr spcFirstLastPara="1" wrap="square" lIns="0" tIns="6455" rIns="0" bIns="0" anchor="t" anchorCtr="0">
            <a:noAutofit/>
          </a:bodyPr>
          <a:lstStyle/>
          <a:p>
            <a:pPr marL="6803"/>
            <a:r>
              <a:rPr lang="en-US" sz="3200" dirty="0">
                <a:latin typeface="Tw Cen MT" panose="020B0602020104020603" pitchFamily="34" charset="77"/>
                <a:ea typeface="Calibri"/>
                <a:cs typeface="Calibri"/>
                <a:sym typeface="Calibri"/>
              </a:rPr>
              <a:t>Extract columns from a data frame</a:t>
            </a:r>
            <a:endParaRPr sz="2652" dirty="0">
              <a:latin typeface="Tw Cen MT" panose="020B0602020104020603" pitchFamily="34" charset="77"/>
              <a:ea typeface="Calibri"/>
              <a:cs typeface="Calibri"/>
              <a:sym typeface="Calibri"/>
            </a:endParaRPr>
          </a:p>
        </p:txBody>
      </p:sp>
    </p:spTree>
    <p:extLst>
      <p:ext uri="{BB962C8B-B14F-4D97-AF65-F5344CB8AC3E}">
        <p14:creationId xmlns:p14="http://schemas.microsoft.com/office/powerpoint/2010/main" val="1474087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36237-993C-8045-8944-D9334B8924E0}"/>
              </a:ext>
            </a:extLst>
          </p:cNvPr>
          <p:cNvSpPr>
            <a:spLocks noGrp="1"/>
          </p:cNvSpPr>
          <p:nvPr>
            <p:ph type="title"/>
          </p:nvPr>
        </p:nvSpPr>
        <p:spPr/>
        <p:txBody>
          <a:bodyPr/>
          <a:lstStyle/>
          <a:p>
            <a:r>
              <a:rPr lang="en-US" dirty="0"/>
              <a:t>Pop Quiz</a:t>
            </a:r>
          </a:p>
        </p:txBody>
      </p:sp>
      <p:sp>
        <p:nvSpPr>
          <p:cNvPr id="3" name="Text Placeholder 2">
            <a:extLst>
              <a:ext uri="{FF2B5EF4-FFF2-40B4-BE49-F238E27FC236}">
                <a16:creationId xmlns:a16="http://schemas.microsoft.com/office/drawing/2014/main" id="{A802227E-A0BF-1E4C-ABBA-17A73F8E8E94}"/>
              </a:ext>
            </a:extLst>
          </p:cNvPr>
          <p:cNvSpPr>
            <a:spLocks noGrp="1"/>
          </p:cNvSpPr>
          <p:nvPr>
            <p:ph type="body" sz="quarter" idx="13"/>
          </p:nvPr>
        </p:nvSpPr>
        <p:spPr/>
        <p:txBody>
          <a:bodyPr>
            <a:normAutofit fontScale="92500" lnSpcReduction="10000"/>
          </a:bodyPr>
          <a:lstStyle/>
          <a:p>
            <a:r>
              <a:rPr lang="en-US" sz="3200" dirty="0"/>
              <a:t>Which of these would successfully select the </a:t>
            </a:r>
            <a:r>
              <a:rPr lang="en-US" sz="3200" dirty="0" err="1">
                <a:latin typeface="Consolas" panose="020B0609020204030204" pitchFamily="49" charset="0"/>
              </a:rPr>
              <a:t>first_name</a:t>
            </a:r>
            <a:r>
              <a:rPr lang="en-US" sz="3200" dirty="0"/>
              <a:t> column from the </a:t>
            </a:r>
            <a:r>
              <a:rPr lang="en-US" sz="3200" dirty="0" err="1">
                <a:latin typeface="Consolas" panose="020B0609020204030204" pitchFamily="49" charset="0"/>
              </a:rPr>
              <a:t>covid_testing</a:t>
            </a:r>
            <a:r>
              <a:rPr lang="en-US" sz="3200" dirty="0"/>
              <a:t> data frame?</a:t>
            </a:r>
          </a:p>
          <a:p>
            <a:r>
              <a:rPr lang="en-US" sz="3200" dirty="0"/>
              <a:t>A)</a:t>
            </a:r>
            <a:r>
              <a:rPr lang="en-US" sz="2800" dirty="0">
                <a:latin typeface="Consolas" panose="020B0609020204030204" pitchFamily="49" charset="0"/>
              </a:rPr>
              <a:t> select(</a:t>
            </a:r>
            <a:r>
              <a:rPr lang="en-US" sz="2800" dirty="0" err="1">
                <a:latin typeface="Consolas" panose="020B0609020204030204" pitchFamily="49" charset="0"/>
              </a:rPr>
              <a:t>first_name</a:t>
            </a:r>
            <a:r>
              <a:rPr lang="en-US" sz="2800" dirty="0">
                <a:latin typeface="Consolas" panose="020B0609020204030204" pitchFamily="49" charset="0"/>
              </a:rPr>
              <a:t>, </a:t>
            </a:r>
            <a:r>
              <a:rPr lang="en-US" sz="2800" dirty="0" err="1">
                <a:latin typeface="Consolas" panose="020B0609020204030204" pitchFamily="49" charset="0"/>
              </a:rPr>
              <a:t>covid_testing</a:t>
            </a:r>
            <a:r>
              <a:rPr lang="en-US" sz="2800" dirty="0">
                <a:latin typeface="Consolas" panose="020B0609020204030204" pitchFamily="49" charset="0"/>
              </a:rPr>
              <a:t>)</a:t>
            </a:r>
          </a:p>
          <a:p>
            <a:pPr marL="0" indent="0">
              <a:buNone/>
            </a:pPr>
            <a:r>
              <a:rPr lang="en-US" sz="3200" dirty="0"/>
              <a:t> B)</a:t>
            </a:r>
            <a:r>
              <a:rPr lang="en-US" sz="2800" dirty="0">
                <a:latin typeface="Consolas" panose="020B0609020204030204" pitchFamily="49" charset="0"/>
              </a:rPr>
              <a:t> select(</a:t>
            </a:r>
            <a:r>
              <a:rPr lang="en-US" sz="2800" dirty="0" err="1">
                <a:latin typeface="Consolas" panose="020B0609020204030204" pitchFamily="49" charset="0"/>
              </a:rPr>
              <a:t>covid_testing</a:t>
            </a:r>
            <a:r>
              <a:rPr lang="en-US" sz="2800" dirty="0">
                <a:latin typeface="Consolas" panose="020B0609020204030204" pitchFamily="49" charset="0"/>
              </a:rPr>
              <a:t>, </a:t>
            </a:r>
            <a:r>
              <a:rPr lang="en-US" sz="2800" dirty="0" err="1">
                <a:latin typeface="Consolas" panose="020B0609020204030204" pitchFamily="49" charset="0"/>
              </a:rPr>
              <a:t>first_name</a:t>
            </a:r>
            <a:r>
              <a:rPr lang="en-US" sz="2800" dirty="0">
                <a:latin typeface="Consolas" panose="020B0609020204030204" pitchFamily="49" charset="0"/>
              </a:rPr>
              <a:t>)</a:t>
            </a:r>
          </a:p>
          <a:p>
            <a:pPr marL="0" indent="0">
              <a:buNone/>
            </a:pPr>
            <a:r>
              <a:rPr lang="en-US" sz="3200" dirty="0"/>
              <a:t> C)</a:t>
            </a:r>
            <a:r>
              <a:rPr lang="en-US" sz="2800" dirty="0">
                <a:latin typeface="Consolas" panose="020B0609020204030204" pitchFamily="49" charset="0"/>
              </a:rPr>
              <a:t> select(</a:t>
            </a:r>
            <a:r>
              <a:rPr lang="en-US" sz="2800" dirty="0" err="1">
                <a:latin typeface="Consolas" panose="020B0609020204030204" pitchFamily="49" charset="0"/>
              </a:rPr>
              <a:t>covid_testing</a:t>
            </a:r>
            <a:r>
              <a:rPr lang="en-US" sz="2800" dirty="0">
                <a:latin typeface="Consolas" panose="020B0609020204030204" pitchFamily="49" charset="0"/>
              </a:rPr>
              <a:t>, -</a:t>
            </a:r>
            <a:r>
              <a:rPr lang="en-US" sz="2800" dirty="0" err="1">
                <a:latin typeface="Consolas" panose="020B0609020204030204" pitchFamily="49" charset="0"/>
              </a:rPr>
              <a:t>first_name</a:t>
            </a:r>
            <a:r>
              <a:rPr lang="en-US" sz="2800" dirty="0">
                <a:latin typeface="Consolas" panose="020B0609020204030204" pitchFamily="49" charset="0"/>
              </a:rPr>
              <a:t>)</a:t>
            </a:r>
          </a:p>
          <a:p>
            <a:pPr marL="0" indent="0">
              <a:buNone/>
            </a:pPr>
            <a:r>
              <a:rPr lang="en-US" sz="3200" dirty="0"/>
              <a:t> D)</a:t>
            </a:r>
            <a:r>
              <a:rPr lang="en-US" sz="2800" dirty="0">
                <a:latin typeface="Consolas" panose="020B0609020204030204" pitchFamily="49" charset="0"/>
              </a:rPr>
              <a:t> select(</a:t>
            </a:r>
            <a:r>
              <a:rPr lang="en-US" sz="2800" dirty="0" err="1">
                <a:latin typeface="Consolas" panose="020B0609020204030204" pitchFamily="49" charset="0"/>
              </a:rPr>
              <a:t>covid_testing</a:t>
            </a:r>
            <a:r>
              <a:rPr lang="en-US" sz="2800" dirty="0">
                <a:latin typeface="Consolas" panose="020B0609020204030204" pitchFamily="49" charset="0"/>
              </a:rPr>
              <a:t>, </a:t>
            </a:r>
            <a:r>
              <a:rPr lang="en-US" sz="2800" dirty="0" err="1">
                <a:latin typeface="Consolas" panose="020B0609020204030204" pitchFamily="49" charset="0"/>
              </a:rPr>
              <a:t>First_Name</a:t>
            </a:r>
            <a:r>
              <a:rPr lang="en-US" sz="2800" dirty="0">
                <a:latin typeface="Consolas" panose="020B0609020204030204" pitchFamily="49" charset="0"/>
              </a:rPr>
              <a:t>)</a:t>
            </a:r>
          </a:p>
          <a:p>
            <a:pPr marL="0" indent="0">
              <a:buNone/>
            </a:pPr>
            <a:endParaRPr lang="en-US" sz="3600" dirty="0">
              <a:latin typeface="Consolas" panose="020B0609020204030204" pitchFamily="49" charset="0"/>
            </a:endParaRPr>
          </a:p>
          <a:p>
            <a:pPr marL="0" indent="0">
              <a:buNone/>
            </a:pPr>
            <a:endParaRPr lang="en-US" sz="3200" dirty="0">
              <a:latin typeface="Consolas" panose="020B0609020204030204" pitchFamily="49" charset="0"/>
            </a:endParaRPr>
          </a:p>
        </p:txBody>
      </p:sp>
    </p:spTree>
    <p:extLst>
      <p:ext uri="{BB962C8B-B14F-4D97-AF65-F5344CB8AC3E}">
        <p14:creationId xmlns:p14="http://schemas.microsoft.com/office/powerpoint/2010/main" val="1264317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Filter rows by logical criteria</a:t>
            </a:r>
          </a:p>
        </p:txBody>
      </p:sp>
    </p:spTree>
    <p:extLst>
      <p:ext uri="{BB962C8B-B14F-4D97-AF65-F5344CB8AC3E}">
        <p14:creationId xmlns:p14="http://schemas.microsoft.com/office/powerpoint/2010/main" val="282549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graphicFrame>
        <p:nvGraphicFramePr>
          <p:cNvPr id="154" name="Google Shape;154;p18"/>
          <p:cNvGraphicFramePr/>
          <p:nvPr/>
        </p:nvGraphicFramePr>
        <p:xfrm>
          <a:off x="1064973" y="2557823"/>
          <a:ext cx="4019961" cy="3296832"/>
        </p:xfrm>
        <a:graphic>
          <a:graphicData uri="http://schemas.openxmlformats.org/drawingml/2006/table">
            <a:tbl>
              <a:tblPr firstRow="1" bandRow="1">
                <a:noFill/>
              </a:tblPr>
              <a:tblGrid>
                <a:gridCol w="804013">
                  <a:extLst>
                    <a:ext uri="{9D8B030D-6E8A-4147-A177-3AD203B41FA5}">
                      <a16:colId xmlns:a16="http://schemas.microsoft.com/office/drawing/2014/main" val="20000"/>
                    </a:ext>
                  </a:extLst>
                </a:gridCol>
                <a:gridCol w="760578">
                  <a:extLst>
                    <a:ext uri="{9D8B030D-6E8A-4147-A177-3AD203B41FA5}">
                      <a16:colId xmlns:a16="http://schemas.microsoft.com/office/drawing/2014/main" val="20001"/>
                    </a:ext>
                  </a:extLst>
                </a:gridCol>
                <a:gridCol w="1100939">
                  <a:extLst>
                    <a:ext uri="{9D8B030D-6E8A-4147-A177-3AD203B41FA5}">
                      <a16:colId xmlns:a16="http://schemas.microsoft.com/office/drawing/2014/main" val="20002"/>
                    </a:ext>
                  </a:extLst>
                </a:gridCol>
                <a:gridCol w="1354431">
                  <a:extLst>
                    <a:ext uri="{9D8B030D-6E8A-4147-A177-3AD203B41FA5}">
                      <a16:colId xmlns:a16="http://schemas.microsoft.com/office/drawing/2014/main" val="20003"/>
                    </a:ext>
                  </a:extLst>
                </a:gridCol>
              </a:tblGrid>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3"/>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5"/>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156" name="Google Shape;156;p18"/>
          <p:cNvGraphicFramePr/>
          <p:nvPr/>
        </p:nvGraphicFramePr>
        <p:xfrm>
          <a:off x="7283202" y="2847899"/>
          <a:ext cx="4019961" cy="1358340"/>
        </p:xfrm>
        <a:graphic>
          <a:graphicData uri="http://schemas.openxmlformats.org/drawingml/2006/table">
            <a:tbl>
              <a:tblPr firstRow="1" bandRow="1">
                <a:noFill/>
              </a:tblPr>
              <a:tblGrid>
                <a:gridCol w="804013">
                  <a:extLst>
                    <a:ext uri="{9D8B030D-6E8A-4147-A177-3AD203B41FA5}">
                      <a16:colId xmlns:a16="http://schemas.microsoft.com/office/drawing/2014/main" val="20000"/>
                    </a:ext>
                  </a:extLst>
                </a:gridCol>
                <a:gridCol w="760578">
                  <a:extLst>
                    <a:ext uri="{9D8B030D-6E8A-4147-A177-3AD203B41FA5}">
                      <a16:colId xmlns:a16="http://schemas.microsoft.com/office/drawing/2014/main" val="20001"/>
                    </a:ext>
                  </a:extLst>
                </a:gridCol>
                <a:gridCol w="1100939">
                  <a:extLst>
                    <a:ext uri="{9D8B030D-6E8A-4147-A177-3AD203B41FA5}">
                      <a16:colId xmlns:a16="http://schemas.microsoft.com/office/drawing/2014/main" val="20002"/>
                    </a:ext>
                  </a:extLst>
                </a:gridCol>
                <a:gridCol w="1354431">
                  <a:extLst>
                    <a:ext uri="{9D8B030D-6E8A-4147-A177-3AD203B41FA5}">
                      <a16:colId xmlns:a16="http://schemas.microsoft.com/office/drawing/2014/main" val="20003"/>
                    </a:ext>
                  </a:extLst>
                </a:gridCol>
              </a:tblGrid>
              <a:tr h="452780">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452780">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1"/>
                  </a:ext>
                </a:extLst>
              </a:tr>
              <a:tr h="452780">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2"/>
                  </a:ext>
                </a:extLst>
              </a:tr>
            </a:tbl>
          </a:graphicData>
        </a:graphic>
      </p:graphicFrame>
      <p:sp>
        <p:nvSpPr>
          <p:cNvPr id="15" name="Google Shape;293;p32"/>
          <p:cNvSpPr txBox="1">
            <a:spLocks noGrp="1"/>
          </p:cNvSpPr>
          <p:nvPr>
            <p:ph type="title"/>
          </p:nvPr>
        </p:nvSpPr>
        <p:spPr>
          <a:xfrm>
            <a:off x="1064973" y="684400"/>
            <a:ext cx="10238190" cy="777536"/>
          </a:xfrm>
          <a:prstGeom prst="rect">
            <a:avLst/>
          </a:prstGeom>
          <a:noFill/>
          <a:ln>
            <a:noFill/>
          </a:ln>
        </p:spPr>
        <p:txBody>
          <a:bodyPr spcFirstLastPara="1" wrap="square" lIns="0" tIns="6455" rIns="0" bIns="0" anchor="t" anchorCtr="0">
            <a:noAutofit/>
          </a:bodyPr>
          <a:lstStyle/>
          <a:p>
            <a:pPr marL="6803" algn="ctr"/>
            <a:r>
              <a:rPr lang="en-US" dirty="0">
                <a:solidFill>
                  <a:srgbClr val="000000"/>
                </a:solidFill>
                <a:latin typeface="Consolas" panose="020B0609020204030204" pitchFamily="49" charset="0"/>
              </a:rPr>
              <a:t>filter()</a:t>
            </a:r>
            <a:endParaRPr dirty="0">
              <a:latin typeface="Consolas" panose="020B0609020204030204" pitchFamily="49" charset="0"/>
            </a:endParaRPr>
          </a:p>
        </p:txBody>
      </p:sp>
      <p:sp>
        <p:nvSpPr>
          <p:cNvPr id="16" name="Google Shape;296;p32"/>
          <p:cNvSpPr txBox="1"/>
          <p:nvPr/>
        </p:nvSpPr>
        <p:spPr>
          <a:xfrm>
            <a:off x="2979673" y="1702714"/>
            <a:ext cx="6232654" cy="575928"/>
          </a:xfrm>
          <a:prstGeom prst="rect">
            <a:avLst/>
          </a:prstGeom>
          <a:noFill/>
          <a:ln>
            <a:noFill/>
          </a:ln>
        </p:spPr>
        <p:txBody>
          <a:bodyPr spcFirstLastPara="1" wrap="square" lIns="0" tIns="6455" rIns="0" bIns="0" anchor="t" anchorCtr="0">
            <a:noAutofit/>
          </a:bodyPr>
          <a:lstStyle/>
          <a:p>
            <a:pPr marL="6803" algn="ctr"/>
            <a:r>
              <a:rPr lang="en-US" sz="2800" dirty="0">
                <a:latin typeface="Tw Cen MT" panose="020B0602020104020603" pitchFamily="34" charset="77"/>
                <a:ea typeface="Calibri"/>
                <a:cs typeface="Calibri"/>
                <a:sym typeface="Calibri"/>
              </a:rPr>
              <a:t>Extract rows that meet logical criteria</a:t>
            </a:r>
            <a:endParaRPr sz="2800" dirty="0">
              <a:latin typeface="Tw Cen MT" panose="020B0602020104020603" pitchFamily="34" charset="77"/>
              <a:ea typeface="Calibri"/>
              <a:cs typeface="Calibri"/>
              <a:sym typeface="Calibri"/>
            </a:endParaRPr>
          </a:p>
        </p:txBody>
      </p:sp>
      <p:sp>
        <p:nvSpPr>
          <p:cNvPr id="17" name="Right Arrow 16"/>
          <p:cNvSpPr/>
          <p:nvPr/>
        </p:nvSpPr>
        <p:spPr>
          <a:xfrm>
            <a:off x="5772588" y="3374669"/>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p:nvGrpSpPr>
        <p:grpSpPr>
          <a:xfrm>
            <a:off x="7155636" y="4907214"/>
            <a:ext cx="3329484" cy="1586106"/>
            <a:chOff x="6009784" y="4089073"/>
            <a:chExt cx="2928396" cy="2552214"/>
          </a:xfrm>
        </p:grpSpPr>
        <p:sp>
          <p:nvSpPr>
            <p:cNvPr id="10" name="Rounded Rectangular Callout 2"/>
            <p:cNvSpPr/>
            <p:nvPr/>
          </p:nvSpPr>
          <p:spPr>
            <a:xfrm>
              <a:off x="6009784" y="4089073"/>
              <a:ext cx="2928396" cy="255221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Google Shape;324;p34"/>
            <p:cNvSpPr txBox="1"/>
            <p:nvPr/>
          </p:nvSpPr>
          <p:spPr>
            <a:xfrm>
              <a:off x="6064537" y="4939876"/>
              <a:ext cx="2718462" cy="1510232"/>
            </a:xfrm>
            <a:prstGeom prst="rect">
              <a:avLst/>
            </a:prstGeom>
            <a:noFill/>
            <a:ln>
              <a:noFill/>
            </a:ln>
          </p:spPr>
          <p:txBody>
            <a:bodyPr spcFirstLastPara="1" wrap="square" lIns="0" tIns="8504" rIns="0" bIns="0" anchor="t" anchorCtr="0">
              <a:noAutofit/>
            </a:bodyPr>
            <a:lstStyle/>
            <a:p>
              <a:pPr marL="8164">
                <a:lnSpc>
                  <a:spcPct val="116753"/>
                </a:lnSpc>
              </a:pPr>
              <a:r>
                <a:rPr lang="en-US" sz="2800" b="1" dirty="0">
                  <a:solidFill>
                    <a:srgbClr val="FFFFFF"/>
                  </a:solidFill>
                  <a:latin typeface="Verdana" panose="020B0604030504040204" pitchFamily="34" charset="0"/>
                  <a:ea typeface="Verdana" panose="020B0604030504040204" pitchFamily="34" charset="0"/>
                  <a:cs typeface="Calibri"/>
                  <a:sym typeface="Trebuchet MS"/>
                </a:rPr>
                <a:t>↓</a:t>
              </a:r>
              <a:r>
                <a:rPr lang="en-US" sz="2400" dirty="0">
                  <a:solidFill>
                    <a:srgbClr val="FFFFFF"/>
                  </a:solidFill>
                  <a:latin typeface="Trebuchet MS"/>
                  <a:ea typeface="Trebuchet MS"/>
                  <a:cs typeface="Trebuchet MS"/>
                  <a:sym typeface="Trebuchet MS"/>
                </a:rPr>
                <a:t>  </a:t>
              </a:r>
              <a:r>
                <a:rPr lang="en-US" sz="2062" dirty="0">
                  <a:solidFill>
                    <a:srgbClr val="FFFFFF"/>
                  </a:solidFill>
                  <a:latin typeface="Trebuchet MS"/>
                  <a:ea typeface="Trebuchet MS"/>
                  <a:cs typeface="Trebuchet MS"/>
                  <a:sym typeface="Trebuchet MS"/>
                </a:rPr>
                <a:t>Number of rows</a:t>
              </a:r>
            </a:p>
            <a:p>
              <a:pPr marL="8164">
                <a:lnSpc>
                  <a:spcPct val="116753"/>
                </a:lnSpc>
              </a:pPr>
              <a:r>
                <a:rPr lang="en-US" sz="2400" b="1" dirty="0">
                  <a:solidFill>
                    <a:srgbClr val="FFFFFF"/>
                  </a:solidFill>
                  <a:latin typeface="Verdana" panose="020B0604030504040204" pitchFamily="34" charset="0"/>
                  <a:ea typeface="Verdana" panose="020B0604030504040204" pitchFamily="34" charset="0"/>
                  <a:cs typeface="Calibri"/>
                  <a:sym typeface="Trebuchet MS"/>
                </a:rPr>
                <a:t>=</a:t>
              </a:r>
              <a:r>
                <a:rPr lang="en-US" sz="2062" dirty="0">
                  <a:solidFill>
                    <a:srgbClr val="FFFFFF"/>
                  </a:solidFill>
                  <a:latin typeface="Trebuchet MS"/>
                  <a:ea typeface="Calibri"/>
                  <a:cs typeface="Calibri"/>
                  <a:sym typeface="Trebuchet MS"/>
                </a:rPr>
                <a:t>  Number of Columns</a:t>
              </a:r>
              <a:endParaRPr sz="2062" dirty="0">
                <a:latin typeface="Calibri"/>
                <a:ea typeface="Calibri"/>
                <a:cs typeface="Calibri"/>
                <a:sym typeface="Calibri"/>
              </a:endParaRPr>
            </a:p>
          </p:txBody>
        </p:sp>
      </p:grpSp>
    </p:spTree>
    <p:extLst>
      <p:ext uri="{BB962C8B-B14F-4D97-AF65-F5344CB8AC3E}">
        <p14:creationId xmlns:p14="http://schemas.microsoft.com/office/powerpoint/2010/main" val="1197365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758718" y="2201670"/>
            <a:ext cx="88696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970276" y="2313797"/>
            <a:ext cx="4027064"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 </a:t>
            </a:r>
            <a:r>
              <a:rPr lang="en-US" sz="3200" dirty="0">
                <a:solidFill>
                  <a:srgbClr val="9BBB59"/>
                </a:solidFill>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1" name="Google Shape;137;p17"/>
          <p:cNvSpPr/>
          <p:nvPr/>
        </p:nvSpPr>
        <p:spPr>
          <a:xfrm>
            <a:off x="1632769" y="2880611"/>
            <a:ext cx="246229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12" name="Google Shape;138;p17"/>
          <p:cNvSpPr txBox="1"/>
          <p:nvPr/>
        </p:nvSpPr>
        <p:spPr>
          <a:xfrm>
            <a:off x="1632770" y="3807544"/>
            <a:ext cx="2453670" cy="1030077"/>
          </a:xfrm>
          <a:prstGeom prst="rect">
            <a:avLst/>
          </a:prstGeom>
          <a:noFill/>
          <a:ln>
            <a:noFill/>
          </a:ln>
        </p:spPr>
        <p:txBody>
          <a:bodyPr spcFirstLastPara="1" wrap="square" lIns="0" tIns="32652" rIns="0" bIns="0" anchor="t" anchorCtr="0">
            <a:noAutofit/>
          </a:bodyPr>
          <a:lstStyle/>
          <a:p>
            <a:pPr marL="208524" marR="2721" indent="-202061" algn="ctr">
              <a:lnSpc>
                <a:spcPct val="113506"/>
              </a:lnSpc>
            </a:pPr>
            <a:r>
              <a:rPr lang="en-US" sz="2800" dirty="0">
                <a:solidFill>
                  <a:srgbClr val="FFFFFF"/>
                </a:solidFill>
                <a:latin typeface="Tw Cen MT" panose="020B0602020104020603" pitchFamily="34" charset="77"/>
                <a:ea typeface="Trebuchet MS"/>
                <a:cs typeface="Trebuchet MS"/>
                <a:sym typeface="Trebuchet MS"/>
              </a:rPr>
              <a:t>data frame to transform</a:t>
            </a:r>
            <a:endParaRPr sz="2800" dirty="0">
              <a:latin typeface="Tw Cen MT" panose="020B0602020104020603" pitchFamily="34" charset="77"/>
              <a:ea typeface="Trebuchet MS"/>
              <a:cs typeface="Trebuchet MS"/>
              <a:sym typeface="Trebuchet MS"/>
            </a:endParaRPr>
          </a:p>
        </p:txBody>
      </p:sp>
      <p:sp>
        <p:nvSpPr>
          <p:cNvPr id="297" name="Google Shape;297;p32"/>
          <p:cNvSpPr/>
          <p:nvPr/>
        </p:nvSpPr>
        <p:spPr>
          <a:xfrm>
            <a:off x="4695596" y="2799128"/>
            <a:ext cx="4682084" cy="2235235"/>
          </a:xfrm>
          <a:custGeom>
            <a:avLst/>
            <a:gdLst/>
            <a:ahLst/>
            <a:cxnLst/>
            <a:rect l="l" t="t" r="r" b="b"/>
            <a:pathLst>
              <a:path w="5965190" h="3684270" extrusionOk="0">
                <a:moveTo>
                  <a:pt x="5608470" y="1066067"/>
                </a:moveTo>
                <a:lnTo>
                  <a:pt x="356337" y="1066067"/>
                </a:lnTo>
                <a:lnTo>
                  <a:pt x="307986" y="1069320"/>
                </a:lnTo>
                <a:lnTo>
                  <a:pt x="261611" y="1078796"/>
                </a:lnTo>
                <a:lnTo>
                  <a:pt x="217637" y="1094070"/>
                </a:lnTo>
                <a:lnTo>
                  <a:pt x="176489" y="1114718"/>
                </a:lnTo>
                <a:lnTo>
                  <a:pt x="138592" y="1140315"/>
                </a:lnTo>
                <a:lnTo>
                  <a:pt x="104371" y="1170437"/>
                </a:lnTo>
                <a:lnTo>
                  <a:pt x="74249" y="1204659"/>
                </a:lnTo>
                <a:lnTo>
                  <a:pt x="48651" y="1242556"/>
                </a:lnTo>
                <a:lnTo>
                  <a:pt x="28003" y="1283703"/>
                </a:lnTo>
                <a:lnTo>
                  <a:pt x="12729" y="1327677"/>
                </a:lnTo>
                <a:lnTo>
                  <a:pt x="3253" y="1374052"/>
                </a:lnTo>
                <a:lnTo>
                  <a:pt x="0" y="1422403"/>
                </a:lnTo>
                <a:lnTo>
                  <a:pt x="0" y="3327450"/>
                </a:lnTo>
                <a:lnTo>
                  <a:pt x="3253" y="3375802"/>
                </a:lnTo>
                <a:lnTo>
                  <a:pt x="12729" y="3422177"/>
                </a:lnTo>
                <a:lnTo>
                  <a:pt x="28003" y="3466150"/>
                </a:lnTo>
                <a:lnTo>
                  <a:pt x="48651" y="3507298"/>
                </a:lnTo>
                <a:lnTo>
                  <a:pt x="74249" y="3545195"/>
                </a:lnTo>
                <a:lnTo>
                  <a:pt x="104371" y="3579417"/>
                </a:lnTo>
                <a:lnTo>
                  <a:pt x="138592" y="3609539"/>
                </a:lnTo>
                <a:lnTo>
                  <a:pt x="176489" y="3635136"/>
                </a:lnTo>
                <a:lnTo>
                  <a:pt x="217637" y="3655784"/>
                </a:lnTo>
                <a:lnTo>
                  <a:pt x="261611" y="3671059"/>
                </a:lnTo>
                <a:lnTo>
                  <a:pt x="307986" y="3680535"/>
                </a:lnTo>
                <a:lnTo>
                  <a:pt x="356337" y="3683788"/>
                </a:lnTo>
                <a:lnTo>
                  <a:pt x="5608470" y="3683788"/>
                </a:lnTo>
                <a:lnTo>
                  <a:pt x="5656820" y="3680535"/>
                </a:lnTo>
                <a:lnTo>
                  <a:pt x="5703195" y="3671058"/>
                </a:lnTo>
                <a:lnTo>
                  <a:pt x="5747168" y="3655784"/>
                </a:lnTo>
                <a:lnTo>
                  <a:pt x="5788315" y="3635136"/>
                </a:lnTo>
                <a:lnTo>
                  <a:pt x="5826212" y="3609538"/>
                </a:lnTo>
                <a:lnTo>
                  <a:pt x="5860433" y="3579416"/>
                </a:lnTo>
                <a:lnTo>
                  <a:pt x="5890555" y="3545195"/>
                </a:lnTo>
                <a:lnTo>
                  <a:pt x="5916152" y="3507298"/>
                </a:lnTo>
                <a:lnTo>
                  <a:pt x="5936801" y="3466150"/>
                </a:lnTo>
                <a:lnTo>
                  <a:pt x="5952075" y="3422177"/>
                </a:lnTo>
                <a:lnTo>
                  <a:pt x="5961551" y="3375802"/>
                </a:lnTo>
                <a:lnTo>
                  <a:pt x="5964804" y="3327450"/>
                </a:lnTo>
                <a:lnTo>
                  <a:pt x="5964804" y="1422403"/>
                </a:lnTo>
                <a:lnTo>
                  <a:pt x="5961551" y="1374052"/>
                </a:lnTo>
                <a:lnTo>
                  <a:pt x="5952075" y="1327677"/>
                </a:lnTo>
                <a:lnTo>
                  <a:pt x="5936801" y="1283703"/>
                </a:lnTo>
                <a:lnTo>
                  <a:pt x="5916152" y="1242556"/>
                </a:lnTo>
                <a:lnTo>
                  <a:pt x="5890555" y="1204659"/>
                </a:lnTo>
                <a:lnTo>
                  <a:pt x="5860433" y="1170437"/>
                </a:lnTo>
                <a:lnTo>
                  <a:pt x="5826212" y="1140315"/>
                </a:lnTo>
                <a:lnTo>
                  <a:pt x="5788315" y="1114718"/>
                </a:lnTo>
                <a:lnTo>
                  <a:pt x="5747168" y="1094070"/>
                </a:lnTo>
                <a:lnTo>
                  <a:pt x="5703195" y="1078796"/>
                </a:lnTo>
                <a:lnTo>
                  <a:pt x="5656820" y="1069320"/>
                </a:lnTo>
                <a:lnTo>
                  <a:pt x="5608470" y="1066067"/>
                </a:lnTo>
                <a:close/>
              </a:path>
              <a:path w="5965190" h="3684270" extrusionOk="0">
                <a:moveTo>
                  <a:pt x="708093" y="0"/>
                </a:moveTo>
                <a:lnTo>
                  <a:pt x="603384" y="1066067"/>
                </a:lnTo>
                <a:lnTo>
                  <a:pt x="812802" y="1066067"/>
                </a:lnTo>
                <a:lnTo>
                  <a:pt x="708093" y="0"/>
                </a:lnTo>
                <a:close/>
              </a:path>
            </a:pathLst>
          </a:custGeom>
          <a:solidFill>
            <a:srgbClr val="A0C283"/>
          </a:solidFill>
          <a:ln>
            <a:noFill/>
          </a:ln>
        </p:spPr>
        <p:txBody>
          <a:bodyPr spcFirstLastPara="1" wrap="square" lIns="0" tIns="0" rIns="0" bIns="0" anchor="t" anchorCtr="0">
            <a:noAutofit/>
          </a:bodyPr>
          <a:lstStyle/>
          <a:p>
            <a:endParaRPr sz="964"/>
          </a:p>
        </p:txBody>
      </p:sp>
      <p:sp>
        <p:nvSpPr>
          <p:cNvPr id="298" name="Google Shape;298;p32"/>
          <p:cNvSpPr txBox="1"/>
          <p:nvPr/>
        </p:nvSpPr>
        <p:spPr>
          <a:xfrm>
            <a:off x="4690561" y="3496029"/>
            <a:ext cx="4682084" cy="1538333"/>
          </a:xfrm>
          <a:prstGeom prst="rect">
            <a:avLst/>
          </a:prstGeom>
          <a:noFill/>
          <a:ln>
            <a:noFill/>
          </a:ln>
        </p:spPr>
        <p:txBody>
          <a:bodyPr spcFirstLastPara="1" wrap="square" lIns="0" tIns="32652" rIns="0" bIns="0" anchor="t" anchorCtr="0">
            <a:noAutofit/>
          </a:bodyPr>
          <a:lstStyle/>
          <a:p>
            <a:pPr marL="6803" marR="2721" indent="-1360" algn="ctr">
              <a:lnSpc>
                <a:spcPct val="113506"/>
              </a:lnSpc>
            </a:pPr>
            <a:r>
              <a:rPr lang="en-US" sz="2800" dirty="0">
                <a:solidFill>
                  <a:srgbClr val="FFFFFF"/>
                </a:solidFill>
                <a:latin typeface="Tw Cen MT" panose="020B0602020104020603" pitchFamily="34" charset="77"/>
                <a:ea typeface="Trebuchet MS"/>
                <a:cs typeface="Trebuchet MS"/>
                <a:sym typeface="Trebuchet MS"/>
              </a:rPr>
              <a:t>logical test </a:t>
            </a:r>
          </a:p>
          <a:p>
            <a:pPr marL="6803" marR="2721" indent="-1360" algn="ctr">
              <a:lnSpc>
                <a:spcPct val="113506"/>
              </a:lnSpc>
            </a:pPr>
            <a:r>
              <a:rPr lang="en-US" sz="2400" dirty="0">
                <a:solidFill>
                  <a:srgbClr val="FFFFFF"/>
                </a:solidFill>
                <a:latin typeface="Tw Cen MT" panose="020B0602020104020603" pitchFamily="34" charset="77"/>
                <a:ea typeface="Calibri"/>
                <a:cs typeface="Calibri"/>
                <a:sym typeface="Calibri"/>
              </a:rPr>
              <a:t>(return each row where </a:t>
            </a:r>
          </a:p>
          <a:p>
            <a:pPr marL="6803" marR="2721" indent="-1360" algn="ctr">
              <a:lnSpc>
                <a:spcPct val="113506"/>
              </a:lnSpc>
            </a:pPr>
            <a:r>
              <a:rPr lang="en-US" sz="2400" dirty="0">
                <a:solidFill>
                  <a:srgbClr val="FFFFFF"/>
                </a:solidFill>
                <a:latin typeface="Tw Cen MT" panose="020B0602020104020603" pitchFamily="34" charset="77"/>
                <a:ea typeface="Calibri"/>
                <a:cs typeface="Calibri"/>
                <a:sym typeface="Calibri"/>
              </a:rPr>
              <a:t>the test is TRUE)</a:t>
            </a:r>
            <a:endParaRPr sz="2400" dirty="0">
              <a:latin typeface="Tw Cen MT" panose="020B0602020104020603" pitchFamily="34" charset="77"/>
              <a:ea typeface="Calibri"/>
              <a:cs typeface="Calibri"/>
              <a:sym typeface="Calibri"/>
            </a:endParaRPr>
          </a:p>
        </p:txBody>
      </p:sp>
      <p:grpSp>
        <p:nvGrpSpPr>
          <p:cNvPr id="2" name="Group 1"/>
          <p:cNvGrpSpPr/>
          <p:nvPr/>
        </p:nvGrpSpPr>
        <p:grpSpPr>
          <a:xfrm>
            <a:off x="2832302" y="5230686"/>
            <a:ext cx="5134126" cy="1488613"/>
            <a:chOff x="2119507" y="3332057"/>
            <a:chExt cx="8028857" cy="3510011"/>
          </a:xfrm>
        </p:grpSpPr>
        <p:graphicFrame>
          <p:nvGraphicFramePr>
            <p:cNvPr id="19" name="Google Shape;154;p18"/>
            <p:cNvGraphicFramePr/>
            <p:nvPr/>
          </p:nvGraphicFramePr>
          <p:xfrm>
            <a:off x="2119507" y="3332057"/>
            <a:ext cx="2763514" cy="3510011"/>
          </p:xfrm>
          <a:graphic>
            <a:graphicData uri="http://schemas.openxmlformats.org/drawingml/2006/table">
              <a:tbl>
                <a:tblPr firstRow="1" bandRow="1">
                  <a:noFill/>
                </a:tblPr>
                <a:tblGrid>
                  <a:gridCol w="353440">
                    <a:extLst>
                      <a:ext uri="{9D8B030D-6E8A-4147-A177-3AD203B41FA5}">
                        <a16:colId xmlns:a16="http://schemas.microsoft.com/office/drawing/2014/main" val="20000"/>
                      </a:ext>
                    </a:extLst>
                  </a:gridCol>
                  <a:gridCol w="334346">
                    <a:extLst>
                      <a:ext uri="{9D8B030D-6E8A-4147-A177-3AD203B41FA5}">
                        <a16:colId xmlns:a16="http://schemas.microsoft.com/office/drawing/2014/main" val="20001"/>
                      </a:ext>
                    </a:extLst>
                  </a:gridCol>
                  <a:gridCol w="483967">
                    <a:extLst>
                      <a:ext uri="{9D8B030D-6E8A-4147-A177-3AD203B41FA5}">
                        <a16:colId xmlns:a16="http://schemas.microsoft.com/office/drawing/2014/main" val="20002"/>
                      </a:ext>
                    </a:extLst>
                  </a:gridCol>
                  <a:gridCol w="595401">
                    <a:extLst>
                      <a:ext uri="{9D8B030D-6E8A-4147-A177-3AD203B41FA5}">
                        <a16:colId xmlns:a16="http://schemas.microsoft.com/office/drawing/2014/main" val="20003"/>
                      </a:ext>
                    </a:extLst>
                  </a:gridCol>
                </a:tblGrid>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solidFill>
                            <a:schemeClr val="bg1"/>
                          </a:solidFill>
                          <a:latin typeface="+mj-lt"/>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TRUE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3"/>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TRUE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5"/>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20" name="Google Shape;156;p18"/>
            <p:cNvGraphicFramePr/>
            <p:nvPr/>
          </p:nvGraphicFramePr>
          <p:xfrm>
            <a:off x="7555398" y="3993070"/>
            <a:ext cx="2592966" cy="1748376"/>
          </p:xfrm>
          <a:graphic>
            <a:graphicData uri="http://schemas.openxmlformats.org/drawingml/2006/table">
              <a:tbl>
                <a:tblPr firstRow="1" bandRow="1">
                  <a:noFill/>
                </a:tblPr>
                <a:tblGrid>
                  <a:gridCol w="25400">
                    <a:extLst>
                      <a:ext uri="{9D8B030D-6E8A-4147-A177-3AD203B41FA5}">
                        <a16:colId xmlns:a16="http://schemas.microsoft.com/office/drawing/2014/main" val="20000"/>
                      </a:ext>
                    </a:extLst>
                  </a:gridCol>
                  <a:gridCol w="622601">
                    <a:extLst>
                      <a:ext uri="{9D8B030D-6E8A-4147-A177-3AD203B41FA5}">
                        <a16:colId xmlns:a16="http://schemas.microsoft.com/office/drawing/2014/main" val="20001"/>
                      </a:ext>
                    </a:extLst>
                  </a:gridCol>
                  <a:gridCol w="452906">
                    <a:extLst>
                      <a:ext uri="{9D8B030D-6E8A-4147-A177-3AD203B41FA5}">
                        <a16:colId xmlns:a16="http://schemas.microsoft.com/office/drawing/2014/main" val="20002"/>
                      </a:ext>
                    </a:extLst>
                  </a:gridCol>
                  <a:gridCol w="557189">
                    <a:extLst>
                      <a:ext uri="{9D8B030D-6E8A-4147-A177-3AD203B41FA5}">
                        <a16:colId xmlns:a16="http://schemas.microsoft.com/office/drawing/2014/main" val="20003"/>
                      </a:ext>
                    </a:extLst>
                  </a:gridCol>
                </a:tblGrid>
                <a:tr h="247165">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4716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1"/>
                    </a:ext>
                  </a:extLst>
                </a:tr>
                <a:tr h="24716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2"/>
                    </a:ext>
                  </a:extLst>
                </a:tr>
              </a:tbl>
            </a:graphicData>
          </a:graphic>
        </p:graphicFrame>
        <p:sp>
          <p:nvSpPr>
            <p:cNvPr id="21" name="Right Arrow 20"/>
            <p:cNvSpPr/>
            <p:nvPr/>
          </p:nvSpPr>
          <p:spPr>
            <a:xfrm>
              <a:off x="5763072" y="4685272"/>
              <a:ext cx="658747" cy="80357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Google Shape;293;p32">
            <a:extLst>
              <a:ext uri="{FF2B5EF4-FFF2-40B4-BE49-F238E27FC236}">
                <a16:creationId xmlns:a16="http://schemas.microsoft.com/office/drawing/2014/main" id="{D7AE2681-54D3-5F45-A7C1-5BC87C4188FE}"/>
              </a:ext>
            </a:extLst>
          </p:cNvPr>
          <p:cNvSpPr txBox="1">
            <a:spLocks noGrp="1"/>
          </p:cNvSpPr>
          <p:nvPr>
            <p:ph type="title"/>
          </p:nvPr>
        </p:nvSpPr>
        <p:spPr>
          <a:xfrm>
            <a:off x="1064973" y="684400"/>
            <a:ext cx="10238190" cy="777536"/>
          </a:xfrm>
          <a:prstGeom prst="rect">
            <a:avLst/>
          </a:prstGeom>
          <a:noFill/>
          <a:ln>
            <a:noFill/>
          </a:ln>
        </p:spPr>
        <p:txBody>
          <a:bodyPr spcFirstLastPara="1" wrap="square" lIns="0" tIns="6455" rIns="0" bIns="0" anchor="t" anchorCtr="0">
            <a:noAutofit/>
          </a:bodyPr>
          <a:lstStyle/>
          <a:p>
            <a:pPr marL="6803" algn="ctr"/>
            <a:r>
              <a:rPr lang="en-US" dirty="0">
                <a:solidFill>
                  <a:srgbClr val="000000"/>
                </a:solidFill>
                <a:latin typeface="Consolas" panose="020B0609020204030204" pitchFamily="49" charset="0"/>
              </a:rPr>
              <a:t>filter()</a:t>
            </a:r>
            <a:endParaRPr dirty="0">
              <a:latin typeface="Consolas" panose="020B0609020204030204" pitchFamily="49" charset="0"/>
            </a:endParaRPr>
          </a:p>
        </p:txBody>
      </p:sp>
      <p:sp>
        <p:nvSpPr>
          <p:cNvPr id="22" name="Google Shape;296;p32">
            <a:extLst>
              <a:ext uri="{FF2B5EF4-FFF2-40B4-BE49-F238E27FC236}">
                <a16:creationId xmlns:a16="http://schemas.microsoft.com/office/drawing/2014/main" id="{E0F93649-BC44-8540-9DBB-35ED078FE4B1}"/>
              </a:ext>
            </a:extLst>
          </p:cNvPr>
          <p:cNvSpPr txBox="1"/>
          <p:nvPr/>
        </p:nvSpPr>
        <p:spPr>
          <a:xfrm>
            <a:off x="2979673" y="1702714"/>
            <a:ext cx="6232654" cy="575928"/>
          </a:xfrm>
          <a:prstGeom prst="rect">
            <a:avLst/>
          </a:prstGeom>
          <a:noFill/>
          <a:ln>
            <a:noFill/>
          </a:ln>
        </p:spPr>
        <p:txBody>
          <a:bodyPr spcFirstLastPara="1" wrap="square" lIns="0" tIns="6455" rIns="0" bIns="0" anchor="t" anchorCtr="0">
            <a:noAutofit/>
          </a:bodyPr>
          <a:lstStyle/>
          <a:p>
            <a:pPr marL="6803" algn="ctr"/>
            <a:r>
              <a:rPr lang="en-US" sz="2800" dirty="0">
                <a:latin typeface="Tw Cen MT" panose="020B0602020104020603" pitchFamily="34" charset="77"/>
                <a:ea typeface="Calibri"/>
                <a:cs typeface="Calibri"/>
                <a:sym typeface="Calibri"/>
              </a:rPr>
              <a:t>Extract rows that meet logical criteria</a:t>
            </a:r>
            <a:endParaRPr sz="2800" dirty="0">
              <a:latin typeface="Tw Cen MT" panose="020B0602020104020603" pitchFamily="34" charset="77"/>
              <a:ea typeface="Calibri"/>
              <a:cs typeface="Calibri"/>
              <a:sym typeface="Calibri"/>
            </a:endParaRPr>
          </a:p>
        </p:txBody>
      </p:sp>
    </p:spTree>
    <p:extLst>
      <p:ext uri="{BB962C8B-B14F-4D97-AF65-F5344CB8AC3E}">
        <p14:creationId xmlns:p14="http://schemas.microsoft.com/office/powerpoint/2010/main" val="1378789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758718" y="2201670"/>
            <a:ext cx="88696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970276" y="2313797"/>
            <a:ext cx="8773556"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err="1">
                <a:solidFill>
                  <a:schemeClr val="accent3">
                    <a:lumMod val="75000"/>
                  </a:schemeClr>
                </a:solidFill>
                <a:latin typeface="Consolas" panose="020B0609020204030204" pitchFamily="49" charset="0"/>
                <a:ea typeface="Courier New"/>
                <a:cs typeface="Consolas" panose="020B0609020204030204" pitchFamily="49" charset="0"/>
                <a:sym typeface="Courier New"/>
              </a:rPr>
              <a:t>column_name</a:t>
            </a:r>
            <a:r>
              <a:rPr lang="en-US" sz="3200" dirty="0">
                <a:solidFill>
                  <a:schemeClr val="accent3">
                    <a:lumMod val="75000"/>
                  </a:schemeClr>
                </a:solidFill>
                <a:latin typeface="Consolas" panose="020B0609020204030204" pitchFamily="49" charset="0"/>
                <a:ea typeface="Courier New"/>
                <a:cs typeface="Consolas" panose="020B0609020204030204" pitchFamily="49" charset="0"/>
                <a:sym typeface="Courier New"/>
              </a:rPr>
              <a:t> </a:t>
            </a:r>
            <a:r>
              <a:rPr lang="en-US" sz="3200" dirty="0">
                <a:solidFill>
                  <a:srgbClr val="FF0000"/>
                </a:solidFill>
                <a:latin typeface="Consolas" panose="020B0609020204030204" pitchFamily="49" charset="0"/>
                <a:ea typeface="Courier New"/>
                <a:cs typeface="Consolas" panose="020B0609020204030204" pitchFamily="49" charset="0"/>
                <a:sym typeface="Courier New"/>
              </a:rPr>
              <a:t>==</a:t>
            </a:r>
            <a:r>
              <a:rPr lang="en-US" sz="3200" dirty="0">
                <a:solidFill>
                  <a:schemeClr val="accent3">
                    <a:lumMod val="75000"/>
                  </a:schemeClr>
                </a:solidFill>
                <a:latin typeface="Consolas" panose="020B0609020204030204" pitchFamily="49" charset="0"/>
                <a:ea typeface="Courier New"/>
                <a:cs typeface="Consolas" panose="020B0609020204030204" pitchFamily="49" charset="0"/>
                <a:sym typeface="Courier New"/>
              </a:rPr>
              <a:t> </a:t>
            </a:r>
            <a:r>
              <a:rPr lang="en-US" sz="3200" dirty="0">
                <a:solidFill>
                  <a:srgbClr val="7030A0"/>
                </a:solidFill>
                <a:latin typeface="Consolas" panose="020B0609020204030204" pitchFamily="49" charset="0"/>
                <a:ea typeface="Courier New"/>
                <a:cs typeface="Consolas" panose="020B0609020204030204" pitchFamily="49" charset="0"/>
                <a:sym typeface="Courier New"/>
              </a:rPr>
              <a:t>criteria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297" name="Google Shape;297;p32"/>
          <p:cNvSpPr/>
          <p:nvPr/>
        </p:nvSpPr>
        <p:spPr>
          <a:xfrm>
            <a:off x="7403725" y="3026799"/>
            <a:ext cx="4682084" cy="2132694"/>
          </a:xfrm>
          <a:custGeom>
            <a:avLst/>
            <a:gdLst>
              <a:gd name="connsiteX0" fmla="*/ 0 w 4682084"/>
              <a:gd name="connsiteY0" fmla="*/ 273318 h 1639878"/>
              <a:gd name="connsiteX1" fmla="*/ 273318 w 4682084"/>
              <a:gd name="connsiteY1" fmla="*/ 0 h 1639878"/>
              <a:gd name="connsiteX2" fmla="*/ 780347 w 4682084"/>
              <a:gd name="connsiteY2" fmla="*/ 0 h 1639878"/>
              <a:gd name="connsiteX3" fmla="*/ 880606 w 4682084"/>
              <a:gd name="connsiteY3" fmla="*/ -492816 h 1639878"/>
              <a:gd name="connsiteX4" fmla="*/ 1950868 w 4682084"/>
              <a:gd name="connsiteY4" fmla="*/ 0 h 1639878"/>
              <a:gd name="connsiteX5" fmla="*/ 4408766 w 4682084"/>
              <a:gd name="connsiteY5" fmla="*/ 0 h 1639878"/>
              <a:gd name="connsiteX6" fmla="*/ 4682084 w 4682084"/>
              <a:gd name="connsiteY6" fmla="*/ 273318 h 1639878"/>
              <a:gd name="connsiteX7" fmla="*/ 4682084 w 4682084"/>
              <a:gd name="connsiteY7" fmla="*/ 273313 h 1639878"/>
              <a:gd name="connsiteX8" fmla="*/ 4682084 w 4682084"/>
              <a:gd name="connsiteY8" fmla="*/ 273313 h 1639878"/>
              <a:gd name="connsiteX9" fmla="*/ 4682084 w 4682084"/>
              <a:gd name="connsiteY9" fmla="*/ 683283 h 1639878"/>
              <a:gd name="connsiteX10" fmla="*/ 4682084 w 4682084"/>
              <a:gd name="connsiteY10" fmla="*/ 1366560 h 1639878"/>
              <a:gd name="connsiteX11" fmla="*/ 4408766 w 4682084"/>
              <a:gd name="connsiteY11" fmla="*/ 1639878 h 1639878"/>
              <a:gd name="connsiteX12" fmla="*/ 1950868 w 4682084"/>
              <a:gd name="connsiteY12" fmla="*/ 1639878 h 1639878"/>
              <a:gd name="connsiteX13" fmla="*/ 780347 w 4682084"/>
              <a:gd name="connsiteY13" fmla="*/ 1639878 h 1639878"/>
              <a:gd name="connsiteX14" fmla="*/ 780347 w 4682084"/>
              <a:gd name="connsiteY14" fmla="*/ 1639878 h 1639878"/>
              <a:gd name="connsiteX15" fmla="*/ 273318 w 4682084"/>
              <a:gd name="connsiteY15" fmla="*/ 1639878 h 1639878"/>
              <a:gd name="connsiteX16" fmla="*/ 0 w 4682084"/>
              <a:gd name="connsiteY16" fmla="*/ 1366560 h 1639878"/>
              <a:gd name="connsiteX17" fmla="*/ 0 w 4682084"/>
              <a:gd name="connsiteY17" fmla="*/ 683283 h 1639878"/>
              <a:gd name="connsiteX18" fmla="*/ 0 w 4682084"/>
              <a:gd name="connsiteY18" fmla="*/ 273313 h 1639878"/>
              <a:gd name="connsiteX19" fmla="*/ 0 w 4682084"/>
              <a:gd name="connsiteY19" fmla="*/ 273313 h 1639878"/>
              <a:gd name="connsiteX20" fmla="*/ 0 w 4682084"/>
              <a:gd name="connsiteY20" fmla="*/ 273318 h 1639878"/>
              <a:gd name="connsiteX0" fmla="*/ 0 w 4682084"/>
              <a:gd name="connsiteY0" fmla="*/ 766134 h 2132694"/>
              <a:gd name="connsiteX1" fmla="*/ 273318 w 4682084"/>
              <a:gd name="connsiteY1" fmla="*/ 492816 h 2132694"/>
              <a:gd name="connsiteX2" fmla="*/ 1352841 w 4682084"/>
              <a:gd name="connsiteY2" fmla="*/ 492816 h 2132694"/>
              <a:gd name="connsiteX3" fmla="*/ 880606 w 4682084"/>
              <a:gd name="connsiteY3" fmla="*/ 0 h 2132694"/>
              <a:gd name="connsiteX4" fmla="*/ 1950868 w 4682084"/>
              <a:gd name="connsiteY4" fmla="*/ 492816 h 2132694"/>
              <a:gd name="connsiteX5" fmla="*/ 4408766 w 4682084"/>
              <a:gd name="connsiteY5" fmla="*/ 492816 h 2132694"/>
              <a:gd name="connsiteX6" fmla="*/ 4682084 w 4682084"/>
              <a:gd name="connsiteY6" fmla="*/ 766134 h 2132694"/>
              <a:gd name="connsiteX7" fmla="*/ 4682084 w 4682084"/>
              <a:gd name="connsiteY7" fmla="*/ 766129 h 2132694"/>
              <a:gd name="connsiteX8" fmla="*/ 4682084 w 4682084"/>
              <a:gd name="connsiteY8" fmla="*/ 766129 h 2132694"/>
              <a:gd name="connsiteX9" fmla="*/ 4682084 w 4682084"/>
              <a:gd name="connsiteY9" fmla="*/ 1176099 h 2132694"/>
              <a:gd name="connsiteX10" fmla="*/ 4682084 w 4682084"/>
              <a:gd name="connsiteY10" fmla="*/ 1859376 h 2132694"/>
              <a:gd name="connsiteX11" fmla="*/ 4408766 w 4682084"/>
              <a:gd name="connsiteY11" fmla="*/ 2132694 h 2132694"/>
              <a:gd name="connsiteX12" fmla="*/ 1950868 w 4682084"/>
              <a:gd name="connsiteY12" fmla="*/ 2132694 h 2132694"/>
              <a:gd name="connsiteX13" fmla="*/ 780347 w 4682084"/>
              <a:gd name="connsiteY13" fmla="*/ 2132694 h 2132694"/>
              <a:gd name="connsiteX14" fmla="*/ 780347 w 4682084"/>
              <a:gd name="connsiteY14" fmla="*/ 2132694 h 2132694"/>
              <a:gd name="connsiteX15" fmla="*/ 273318 w 4682084"/>
              <a:gd name="connsiteY15" fmla="*/ 2132694 h 2132694"/>
              <a:gd name="connsiteX16" fmla="*/ 0 w 4682084"/>
              <a:gd name="connsiteY16" fmla="*/ 1859376 h 2132694"/>
              <a:gd name="connsiteX17" fmla="*/ 0 w 4682084"/>
              <a:gd name="connsiteY17" fmla="*/ 1176099 h 2132694"/>
              <a:gd name="connsiteX18" fmla="*/ 0 w 4682084"/>
              <a:gd name="connsiteY18" fmla="*/ 766129 h 2132694"/>
              <a:gd name="connsiteX19" fmla="*/ 0 w 4682084"/>
              <a:gd name="connsiteY19" fmla="*/ 766129 h 2132694"/>
              <a:gd name="connsiteX20" fmla="*/ 0 w 4682084"/>
              <a:gd name="connsiteY20" fmla="*/ 766134 h 213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682084" h="2132694">
                <a:moveTo>
                  <a:pt x="0" y="766134"/>
                </a:moveTo>
                <a:cubicBezTo>
                  <a:pt x="0" y="615185"/>
                  <a:pt x="122369" y="492816"/>
                  <a:pt x="273318" y="492816"/>
                </a:cubicBezTo>
                <a:lnTo>
                  <a:pt x="1352841" y="492816"/>
                </a:lnTo>
                <a:lnTo>
                  <a:pt x="880606" y="0"/>
                </a:lnTo>
                <a:lnTo>
                  <a:pt x="1950868" y="492816"/>
                </a:lnTo>
                <a:lnTo>
                  <a:pt x="4408766" y="492816"/>
                </a:lnTo>
                <a:cubicBezTo>
                  <a:pt x="4559715" y="492816"/>
                  <a:pt x="4682084" y="615185"/>
                  <a:pt x="4682084" y="766134"/>
                </a:cubicBezTo>
                <a:lnTo>
                  <a:pt x="4682084" y="766129"/>
                </a:lnTo>
                <a:lnTo>
                  <a:pt x="4682084" y="766129"/>
                </a:lnTo>
                <a:lnTo>
                  <a:pt x="4682084" y="1176099"/>
                </a:lnTo>
                <a:lnTo>
                  <a:pt x="4682084" y="1859376"/>
                </a:lnTo>
                <a:cubicBezTo>
                  <a:pt x="4682084" y="2010325"/>
                  <a:pt x="4559715" y="2132694"/>
                  <a:pt x="4408766" y="2132694"/>
                </a:cubicBezTo>
                <a:lnTo>
                  <a:pt x="1950868" y="2132694"/>
                </a:lnTo>
                <a:lnTo>
                  <a:pt x="780347" y="2132694"/>
                </a:lnTo>
                <a:lnTo>
                  <a:pt x="780347" y="2132694"/>
                </a:lnTo>
                <a:lnTo>
                  <a:pt x="273318" y="2132694"/>
                </a:lnTo>
                <a:cubicBezTo>
                  <a:pt x="122369" y="2132694"/>
                  <a:pt x="0" y="2010325"/>
                  <a:pt x="0" y="1859376"/>
                </a:cubicBezTo>
                <a:lnTo>
                  <a:pt x="0" y="1176099"/>
                </a:lnTo>
                <a:lnTo>
                  <a:pt x="0" y="766129"/>
                </a:lnTo>
                <a:lnTo>
                  <a:pt x="0" y="766129"/>
                </a:lnTo>
                <a:lnTo>
                  <a:pt x="0" y="766134"/>
                </a:lnTo>
                <a:close/>
              </a:path>
            </a:pathLst>
          </a:custGeom>
          <a:solidFill>
            <a:srgbClr val="A0C283"/>
          </a:solidFill>
          <a:ln>
            <a:noFill/>
          </a:ln>
        </p:spPr>
        <p:txBody>
          <a:bodyPr spcFirstLastPara="1" wrap="square" lIns="0" tIns="0" rIns="0" bIns="0" anchor="t" anchorCtr="0">
            <a:noAutofit/>
          </a:bodyPr>
          <a:lstStyle/>
          <a:p>
            <a:endParaRPr sz="964" dirty="0"/>
          </a:p>
        </p:txBody>
      </p:sp>
      <p:grpSp>
        <p:nvGrpSpPr>
          <p:cNvPr id="2" name="Group 1"/>
          <p:cNvGrpSpPr/>
          <p:nvPr/>
        </p:nvGrpSpPr>
        <p:grpSpPr>
          <a:xfrm>
            <a:off x="2832302" y="5230686"/>
            <a:ext cx="5134126" cy="1488613"/>
            <a:chOff x="2119507" y="3332057"/>
            <a:chExt cx="8028857" cy="3510011"/>
          </a:xfrm>
        </p:grpSpPr>
        <p:graphicFrame>
          <p:nvGraphicFramePr>
            <p:cNvPr id="19" name="Google Shape;154;p18"/>
            <p:cNvGraphicFramePr/>
            <p:nvPr/>
          </p:nvGraphicFramePr>
          <p:xfrm>
            <a:off x="2119507" y="3332057"/>
            <a:ext cx="2763514" cy="3510011"/>
          </p:xfrm>
          <a:graphic>
            <a:graphicData uri="http://schemas.openxmlformats.org/drawingml/2006/table">
              <a:tbl>
                <a:tblPr firstRow="1" bandRow="1">
                  <a:noFill/>
                </a:tblPr>
                <a:tblGrid>
                  <a:gridCol w="353440">
                    <a:extLst>
                      <a:ext uri="{9D8B030D-6E8A-4147-A177-3AD203B41FA5}">
                        <a16:colId xmlns:a16="http://schemas.microsoft.com/office/drawing/2014/main" val="20000"/>
                      </a:ext>
                    </a:extLst>
                  </a:gridCol>
                  <a:gridCol w="334346">
                    <a:extLst>
                      <a:ext uri="{9D8B030D-6E8A-4147-A177-3AD203B41FA5}">
                        <a16:colId xmlns:a16="http://schemas.microsoft.com/office/drawing/2014/main" val="20001"/>
                      </a:ext>
                    </a:extLst>
                  </a:gridCol>
                  <a:gridCol w="483967">
                    <a:extLst>
                      <a:ext uri="{9D8B030D-6E8A-4147-A177-3AD203B41FA5}">
                        <a16:colId xmlns:a16="http://schemas.microsoft.com/office/drawing/2014/main" val="20002"/>
                      </a:ext>
                    </a:extLst>
                  </a:gridCol>
                  <a:gridCol w="595401">
                    <a:extLst>
                      <a:ext uri="{9D8B030D-6E8A-4147-A177-3AD203B41FA5}">
                        <a16:colId xmlns:a16="http://schemas.microsoft.com/office/drawing/2014/main" val="20003"/>
                      </a:ext>
                    </a:extLst>
                  </a:gridCol>
                </a:tblGrid>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solidFill>
                            <a:schemeClr val="bg1"/>
                          </a:solidFill>
                          <a:latin typeface="+mj-lt"/>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TRUE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3"/>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TRUE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5"/>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20" name="Google Shape;156;p18"/>
            <p:cNvGraphicFramePr/>
            <p:nvPr/>
          </p:nvGraphicFramePr>
          <p:xfrm>
            <a:off x="7555398" y="3993070"/>
            <a:ext cx="2592966" cy="1748376"/>
          </p:xfrm>
          <a:graphic>
            <a:graphicData uri="http://schemas.openxmlformats.org/drawingml/2006/table">
              <a:tbl>
                <a:tblPr firstRow="1" bandRow="1">
                  <a:noFill/>
                </a:tblPr>
                <a:tblGrid>
                  <a:gridCol w="25400">
                    <a:extLst>
                      <a:ext uri="{9D8B030D-6E8A-4147-A177-3AD203B41FA5}">
                        <a16:colId xmlns:a16="http://schemas.microsoft.com/office/drawing/2014/main" val="20000"/>
                      </a:ext>
                    </a:extLst>
                  </a:gridCol>
                  <a:gridCol w="622601">
                    <a:extLst>
                      <a:ext uri="{9D8B030D-6E8A-4147-A177-3AD203B41FA5}">
                        <a16:colId xmlns:a16="http://schemas.microsoft.com/office/drawing/2014/main" val="20001"/>
                      </a:ext>
                    </a:extLst>
                  </a:gridCol>
                  <a:gridCol w="452906">
                    <a:extLst>
                      <a:ext uri="{9D8B030D-6E8A-4147-A177-3AD203B41FA5}">
                        <a16:colId xmlns:a16="http://schemas.microsoft.com/office/drawing/2014/main" val="20002"/>
                      </a:ext>
                    </a:extLst>
                  </a:gridCol>
                  <a:gridCol w="557189">
                    <a:extLst>
                      <a:ext uri="{9D8B030D-6E8A-4147-A177-3AD203B41FA5}">
                        <a16:colId xmlns:a16="http://schemas.microsoft.com/office/drawing/2014/main" val="20003"/>
                      </a:ext>
                    </a:extLst>
                  </a:gridCol>
                </a:tblGrid>
                <a:tr h="247165">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4716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1"/>
                    </a:ext>
                  </a:extLst>
                </a:tr>
                <a:tr h="24716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2"/>
                    </a:ext>
                  </a:extLst>
                </a:tr>
              </a:tbl>
            </a:graphicData>
          </a:graphic>
        </p:graphicFrame>
        <p:sp>
          <p:nvSpPr>
            <p:cNvPr id="21" name="Right Arrow 20"/>
            <p:cNvSpPr/>
            <p:nvPr/>
          </p:nvSpPr>
          <p:spPr>
            <a:xfrm>
              <a:off x="5763072" y="4685272"/>
              <a:ext cx="658747" cy="80357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Google Shape;298;p32">
            <a:extLst>
              <a:ext uri="{FF2B5EF4-FFF2-40B4-BE49-F238E27FC236}">
                <a16:creationId xmlns:a16="http://schemas.microsoft.com/office/drawing/2014/main" id="{FD31B615-81D5-CA48-8BDC-7D937F5A1978}"/>
              </a:ext>
            </a:extLst>
          </p:cNvPr>
          <p:cNvSpPr txBox="1"/>
          <p:nvPr/>
        </p:nvSpPr>
        <p:spPr>
          <a:xfrm>
            <a:off x="7403725" y="3566977"/>
            <a:ext cx="4682084" cy="1538333"/>
          </a:xfrm>
          <a:prstGeom prst="rect">
            <a:avLst/>
          </a:prstGeom>
          <a:noFill/>
          <a:ln>
            <a:noFill/>
          </a:ln>
        </p:spPr>
        <p:txBody>
          <a:bodyPr spcFirstLastPara="1" wrap="square" lIns="0" tIns="32652" rIns="0" bIns="0" anchor="t" anchorCtr="0">
            <a:noAutofit/>
          </a:bodyPr>
          <a:lstStyle/>
          <a:p>
            <a:pPr marL="6803" marR="2721" indent="-1360" algn="ctr">
              <a:lnSpc>
                <a:spcPct val="113506"/>
              </a:lnSpc>
            </a:pPr>
            <a:r>
              <a:rPr lang="en-US" sz="2800" dirty="0">
                <a:solidFill>
                  <a:srgbClr val="FFFFFF"/>
                </a:solidFill>
                <a:latin typeface="Tw Cen MT" panose="020B0602020104020603" pitchFamily="34" charset="77"/>
                <a:ea typeface="Trebuchet MS"/>
                <a:cs typeface="Trebuchet MS"/>
                <a:sym typeface="Trebuchet MS"/>
              </a:rPr>
              <a:t>logical test </a:t>
            </a:r>
          </a:p>
          <a:p>
            <a:pPr marL="6803" marR="2721" indent="-1360" algn="ctr">
              <a:lnSpc>
                <a:spcPct val="113506"/>
              </a:lnSpc>
            </a:pPr>
            <a:r>
              <a:rPr lang="en-US" sz="2400" dirty="0">
                <a:solidFill>
                  <a:srgbClr val="FFFFFF"/>
                </a:solidFill>
                <a:latin typeface="Tw Cen MT" panose="020B0602020104020603" pitchFamily="34" charset="77"/>
                <a:ea typeface="Calibri"/>
                <a:cs typeface="Calibri"/>
                <a:sym typeface="Calibri"/>
              </a:rPr>
              <a:t>(return each row where </a:t>
            </a:r>
          </a:p>
          <a:p>
            <a:pPr marL="6803" marR="2721" indent="-1360" algn="ctr">
              <a:lnSpc>
                <a:spcPct val="113506"/>
              </a:lnSpc>
            </a:pPr>
            <a:r>
              <a:rPr lang="en-US" sz="2400" dirty="0">
                <a:solidFill>
                  <a:srgbClr val="FFFFFF"/>
                </a:solidFill>
                <a:latin typeface="Tw Cen MT" panose="020B0602020104020603" pitchFamily="34" charset="77"/>
                <a:ea typeface="Calibri"/>
                <a:cs typeface="Calibri"/>
                <a:sym typeface="Calibri"/>
              </a:rPr>
              <a:t>the test is TRUE)</a:t>
            </a:r>
            <a:endParaRPr sz="2400" dirty="0">
              <a:latin typeface="Tw Cen MT" panose="020B0602020104020603" pitchFamily="34" charset="77"/>
              <a:ea typeface="Calibri"/>
              <a:cs typeface="Calibri"/>
              <a:sym typeface="Calibri"/>
            </a:endParaRPr>
          </a:p>
        </p:txBody>
      </p:sp>
      <p:sp>
        <p:nvSpPr>
          <p:cNvPr id="24" name="Google Shape;293;p32">
            <a:extLst>
              <a:ext uri="{FF2B5EF4-FFF2-40B4-BE49-F238E27FC236}">
                <a16:creationId xmlns:a16="http://schemas.microsoft.com/office/drawing/2014/main" id="{4C170364-4CDD-7A46-9F7E-4C3A079A4F65}"/>
              </a:ext>
            </a:extLst>
          </p:cNvPr>
          <p:cNvSpPr txBox="1">
            <a:spLocks noGrp="1"/>
          </p:cNvSpPr>
          <p:nvPr>
            <p:ph type="title"/>
          </p:nvPr>
        </p:nvSpPr>
        <p:spPr>
          <a:xfrm>
            <a:off x="1064973" y="684400"/>
            <a:ext cx="10238190" cy="777536"/>
          </a:xfrm>
          <a:prstGeom prst="rect">
            <a:avLst/>
          </a:prstGeom>
          <a:noFill/>
          <a:ln>
            <a:noFill/>
          </a:ln>
        </p:spPr>
        <p:txBody>
          <a:bodyPr spcFirstLastPara="1" wrap="square" lIns="0" tIns="6455" rIns="0" bIns="0" anchor="t" anchorCtr="0">
            <a:noAutofit/>
          </a:bodyPr>
          <a:lstStyle/>
          <a:p>
            <a:pPr marL="6803" algn="ctr"/>
            <a:r>
              <a:rPr lang="en-US" dirty="0">
                <a:solidFill>
                  <a:srgbClr val="000000"/>
                </a:solidFill>
                <a:latin typeface="Consolas" panose="020B0609020204030204" pitchFamily="49" charset="0"/>
              </a:rPr>
              <a:t>filter()</a:t>
            </a:r>
            <a:endParaRPr dirty="0">
              <a:latin typeface="Consolas" panose="020B0609020204030204" pitchFamily="49" charset="0"/>
            </a:endParaRPr>
          </a:p>
        </p:txBody>
      </p:sp>
      <p:sp>
        <p:nvSpPr>
          <p:cNvPr id="25" name="Google Shape;296;p32">
            <a:extLst>
              <a:ext uri="{FF2B5EF4-FFF2-40B4-BE49-F238E27FC236}">
                <a16:creationId xmlns:a16="http://schemas.microsoft.com/office/drawing/2014/main" id="{44395FD8-7DB7-994C-9F77-1D492FD56E7F}"/>
              </a:ext>
            </a:extLst>
          </p:cNvPr>
          <p:cNvSpPr txBox="1"/>
          <p:nvPr/>
        </p:nvSpPr>
        <p:spPr>
          <a:xfrm>
            <a:off x="2979673" y="1702714"/>
            <a:ext cx="6232654" cy="575928"/>
          </a:xfrm>
          <a:prstGeom prst="rect">
            <a:avLst/>
          </a:prstGeom>
          <a:noFill/>
          <a:ln>
            <a:noFill/>
          </a:ln>
        </p:spPr>
        <p:txBody>
          <a:bodyPr spcFirstLastPara="1" wrap="square" lIns="0" tIns="6455" rIns="0" bIns="0" anchor="t" anchorCtr="0">
            <a:noAutofit/>
          </a:bodyPr>
          <a:lstStyle/>
          <a:p>
            <a:pPr marL="6803" algn="ctr"/>
            <a:r>
              <a:rPr lang="en-US" sz="2800" dirty="0">
                <a:latin typeface="Tw Cen MT" panose="020B0602020104020603" pitchFamily="34" charset="77"/>
                <a:ea typeface="Calibri"/>
                <a:cs typeface="Calibri"/>
                <a:sym typeface="Calibri"/>
              </a:rPr>
              <a:t>Extract rows that meet logical criteria</a:t>
            </a:r>
            <a:endParaRPr sz="2800" dirty="0">
              <a:latin typeface="Tw Cen MT" panose="020B0602020104020603" pitchFamily="34" charset="77"/>
              <a:ea typeface="Calibri"/>
              <a:cs typeface="Calibri"/>
              <a:sym typeface="Calibri"/>
            </a:endParaRPr>
          </a:p>
        </p:txBody>
      </p:sp>
    </p:spTree>
    <p:extLst>
      <p:ext uri="{BB962C8B-B14F-4D97-AF65-F5344CB8AC3E}">
        <p14:creationId xmlns:p14="http://schemas.microsoft.com/office/powerpoint/2010/main" val="12269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661160" y="2201670"/>
            <a:ext cx="88696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970276" y="2313797"/>
            <a:ext cx="8547533"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err="1">
                <a:solidFill>
                  <a:srgbClr val="0365C0"/>
                </a:solidFill>
                <a:latin typeface="Consolas" panose="020B0609020204030204" pitchFamily="49" charset="0"/>
                <a:ea typeface="Courier New"/>
                <a:cs typeface="Consolas" panose="020B0609020204030204" pitchFamily="49" charset="0"/>
                <a:sym typeface="Courier New"/>
              </a:rPr>
              <a:t>covid_testing</a:t>
            </a:r>
            <a:r>
              <a:rPr lang="en-US" sz="3200" dirty="0">
                <a:solidFill>
                  <a:srgbClr val="0365C0"/>
                </a:solidFill>
                <a:latin typeface="Consolas" panose="020B0609020204030204" pitchFamily="49" charset="0"/>
                <a:ea typeface="Courier New"/>
                <a:cs typeface="Consolas" panose="020B0609020204030204" pitchFamily="49" charset="0"/>
                <a:sym typeface="Courier New"/>
              </a:rPr>
              <a:t>,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mrn</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 5000083</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cxnSp>
        <p:nvCxnSpPr>
          <p:cNvPr id="4" name="Straight Arrow Connector 3"/>
          <p:cNvCxnSpPr/>
          <p:nvPr/>
        </p:nvCxnSpPr>
        <p:spPr>
          <a:xfrm>
            <a:off x="6074511" y="4651867"/>
            <a:ext cx="486241" cy="1457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Table 6"/>
          <p:cNvGraphicFramePr>
            <a:graphicFrameLocks noGrp="1"/>
          </p:cNvGraphicFramePr>
          <p:nvPr/>
        </p:nvGraphicFramePr>
        <p:xfrm>
          <a:off x="1409635" y="3807152"/>
          <a:ext cx="4544738" cy="2729332"/>
        </p:xfrm>
        <a:graphic>
          <a:graphicData uri="http://schemas.openxmlformats.org/drawingml/2006/table">
            <a:tbl>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i="0" u="none" strike="noStrike" dirty="0" err="1">
                          <a:solidFill>
                            <a:srgbClr val="FFFFFF"/>
                          </a:solidFill>
                          <a:effectLst/>
                          <a:latin typeface="Arial" panose="020B0604020202020204" pitchFamily="34" charset="0"/>
                        </a:rPr>
                        <a:t>mrn</a:t>
                      </a:r>
                      <a:endParaRPr lang="en-US" sz="24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2400" b="1" i="0" u="none" strike="noStrike" dirty="0" err="1">
                          <a:solidFill>
                            <a:srgbClr val="FFFFFF"/>
                          </a:solidFill>
                          <a:effectLst/>
                          <a:latin typeface="Arial" panose="020B0604020202020204" pitchFamily="34" charset="0"/>
                        </a:rPr>
                        <a:t>first_name</a:t>
                      </a:r>
                      <a:endParaRPr lang="en-US" sz="24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2400" b="1" i="0" u="none" strike="noStrike" dirty="0" err="1">
                          <a:solidFill>
                            <a:srgbClr val="FFFFFF"/>
                          </a:solidFill>
                          <a:effectLst/>
                          <a:latin typeface="Arial" panose="020B0604020202020204" pitchFamily="34" charset="0"/>
                        </a:rPr>
                        <a:t>last_name</a:t>
                      </a:r>
                      <a:endParaRPr lang="en-US" sz="24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538DD5"/>
                    </a:solidFill>
                  </a:tcP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latin typeface="Arial" panose="020B0604020202020204" pitchFamily="34" charset="0"/>
                        </a:rPr>
                        <a:t>5000876</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dirty="0" err="1">
                          <a:solidFill>
                            <a:srgbClr val="000000"/>
                          </a:solidFill>
                          <a:effectLst/>
                          <a:latin typeface="Arial" panose="020B0604020202020204" pitchFamily="34" charset="0"/>
                        </a:rPr>
                        <a:t>sarella</a:t>
                      </a:r>
                      <a:endParaRPr lang="en-US" sz="24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dirty="0">
                          <a:solidFill>
                            <a:srgbClr val="000000"/>
                          </a:solidFill>
                          <a:effectLst/>
                          <a:latin typeface="Arial" panose="020B0604020202020204" pitchFamily="34" charset="0"/>
                        </a:rPr>
                        <a:t>stark</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latin typeface="Arial" panose="020B0604020202020204" pitchFamily="34" charset="0"/>
                        </a:rPr>
                        <a:t>5006017</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dirty="0" err="1">
                          <a:solidFill>
                            <a:srgbClr val="000000"/>
                          </a:solidFill>
                          <a:effectLst/>
                          <a:latin typeface="Arial" panose="020B0604020202020204" pitchFamily="34" charset="0"/>
                        </a:rPr>
                        <a:t>alester</a:t>
                      </a:r>
                      <a:endParaRPr lang="en-US" sz="24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dirty="0">
                          <a:solidFill>
                            <a:srgbClr val="000000"/>
                          </a:solidFill>
                          <a:effectLst/>
                          <a:latin typeface="Arial" panose="020B0604020202020204" pitchFamily="34" charset="0"/>
                        </a:rPr>
                        <a:t>stark</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3563215883"/>
                  </a:ext>
                </a:extLst>
              </a:tr>
              <a:tr h="455542">
                <a:tc>
                  <a:txBody>
                    <a:bodyPr/>
                    <a:lstStyle/>
                    <a:p>
                      <a:pPr algn="ctr" rtl="0" fontAlgn="ctr"/>
                      <a:r>
                        <a:rPr lang="en-US" sz="2400" b="0" i="0" u="none" strike="noStrike">
                          <a:solidFill>
                            <a:srgbClr val="000000"/>
                          </a:solidFill>
                          <a:effectLst/>
                          <a:latin typeface="Arial" panose="020B0604020202020204" pitchFamily="34" charset="0"/>
                        </a:rPr>
                        <a:t>5001412</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a:solidFill>
                            <a:srgbClr val="000000"/>
                          </a:solidFill>
                          <a:effectLst/>
                          <a:latin typeface="Arial" panose="020B0604020202020204" pitchFamily="34" charset="0"/>
                        </a:rPr>
                        <a:t>jhezane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dirty="0" err="1">
                          <a:solidFill>
                            <a:srgbClr val="000000"/>
                          </a:solidFill>
                          <a:effectLst/>
                          <a:latin typeface="Arial" panose="020B0604020202020204" pitchFamily="34" charset="0"/>
                        </a:rPr>
                        <a:t>westerling</a:t>
                      </a:r>
                      <a:endParaRPr lang="en-US" sz="24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4003288136"/>
                  </a:ext>
                </a:extLst>
              </a:tr>
              <a:tr h="455542">
                <a:tc>
                  <a:txBody>
                    <a:bodyPr/>
                    <a:lstStyle/>
                    <a:p>
                      <a:pPr algn="ctr" rtl="0" fontAlgn="ctr"/>
                      <a:r>
                        <a:rPr lang="en-US" sz="2400" b="0" i="0" u="none" strike="noStrike" dirty="0">
                          <a:solidFill>
                            <a:srgbClr val="000000"/>
                          </a:solidFill>
                          <a:effectLst/>
                          <a:latin typeface="Arial" panose="020B0604020202020204" pitchFamily="34" charset="0"/>
                        </a:rPr>
                        <a:t>5000083</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2400" b="0" i="0" u="none" strike="noStrike" dirty="0" err="1">
                          <a:solidFill>
                            <a:srgbClr val="000000"/>
                          </a:solidFill>
                          <a:effectLst/>
                          <a:latin typeface="Arial" panose="020B0604020202020204" pitchFamily="34" charset="0"/>
                        </a:rPr>
                        <a:t>lollys</a:t>
                      </a:r>
                      <a:endParaRPr lang="en-US" sz="24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2400" b="0" i="0" u="none" strike="noStrike" dirty="0" err="1">
                          <a:solidFill>
                            <a:srgbClr val="000000"/>
                          </a:solidFill>
                          <a:effectLst/>
                          <a:latin typeface="Arial" panose="020B0604020202020204" pitchFamily="34" charset="0"/>
                        </a:rPr>
                        <a:t>clegane</a:t>
                      </a:r>
                      <a:endParaRPr lang="en-US" sz="24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extLst>
                  <a:ext uri="{0D108BD9-81ED-4DB2-BD59-A6C34878D82A}">
                    <a16:rowId xmlns:a16="http://schemas.microsoft.com/office/drawing/2014/main" val="2004892004"/>
                  </a:ext>
                </a:extLst>
              </a:tr>
            </a:tbl>
          </a:graphicData>
        </a:graphic>
      </p:graphicFrame>
      <p:graphicFrame>
        <p:nvGraphicFramePr>
          <p:cNvPr id="18" name="Table 17"/>
          <p:cNvGraphicFramePr>
            <a:graphicFrameLocks noGrp="1"/>
          </p:cNvGraphicFramePr>
          <p:nvPr/>
        </p:nvGraphicFramePr>
        <p:xfrm>
          <a:off x="6680890" y="4282932"/>
          <a:ext cx="4705577" cy="737870"/>
        </p:xfrm>
        <a:graphic>
          <a:graphicData uri="http://schemas.openxmlformats.org/drawingml/2006/table">
            <a:tbl>
              <a:tblPr/>
              <a:tblGrid>
                <a:gridCol w="1367161">
                  <a:extLst>
                    <a:ext uri="{9D8B030D-6E8A-4147-A177-3AD203B41FA5}">
                      <a16:colId xmlns:a16="http://schemas.microsoft.com/office/drawing/2014/main" val="3642991579"/>
                    </a:ext>
                  </a:extLst>
                </a:gridCol>
                <a:gridCol w="1748694">
                  <a:extLst>
                    <a:ext uri="{9D8B030D-6E8A-4147-A177-3AD203B41FA5}">
                      <a16:colId xmlns:a16="http://schemas.microsoft.com/office/drawing/2014/main" val="1650678772"/>
                    </a:ext>
                  </a:extLst>
                </a:gridCol>
                <a:gridCol w="1589722">
                  <a:extLst>
                    <a:ext uri="{9D8B030D-6E8A-4147-A177-3AD203B41FA5}">
                      <a16:colId xmlns:a16="http://schemas.microsoft.com/office/drawing/2014/main" val="412331866"/>
                    </a:ext>
                  </a:extLst>
                </a:gridCol>
              </a:tblGrid>
              <a:tr h="301625">
                <a:tc>
                  <a:txBody>
                    <a:bodyPr/>
                    <a:lstStyle/>
                    <a:p>
                      <a:pPr algn="ctr" rtl="0" fontAlgn="ctr"/>
                      <a:r>
                        <a:rPr lang="en-US" sz="2400" b="1" i="0" u="none" strike="noStrike" dirty="0" err="1">
                          <a:solidFill>
                            <a:srgbClr val="FFFFFF"/>
                          </a:solidFill>
                          <a:effectLst/>
                          <a:latin typeface="Arial" panose="020B0604020202020204" pitchFamily="34" charset="0"/>
                        </a:rPr>
                        <a:t>mrn</a:t>
                      </a:r>
                      <a:endParaRPr lang="en-US" sz="24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2400" b="1" i="0" u="none" strike="noStrike" dirty="0" err="1">
                          <a:solidFill>
                            <a:srgbClr val="FFFFFF"/>
                          </a:solidFill>
                          <a:effectLst/>
                          <a:latin typeface="Arial" panose="020B0604020202020204" pitchFamily="34" charset="0"/>
                        </a:rPr>
                        <a:t>first_name</a:t>
                      </a:r>
                      <a:endParaRPr lang="en-US" sz="24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2400" b="1" i="0" u="none" strike="noStrike" dirty="0" err="1">
                          <a:solidFill>
                            <a:srgbClr val="FFFFFF"/>
                          </a:solidFill>
                          <a:effectLst/>
                          <a:latin typeface="Arial" panose="020B0604020202020204" pitchFamily="34" charset="0"/>
                        </a:rPr>
                        <a:t>last_name</a:t>
                      </a:r>
                      <a:endParaRPr lang="en-US" sz="24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538DD5"/>
                    </a:solidFill>
                  </a:tcPr>
                </a:tc>
                <a:extLst>
                  <a:ext uri="{0D108BD9-81ED-4DB2-BD59-A6C34878D82A}">
                    <a16:rowId xmlns:a16="http://schemas.microsoft.com/office/drawing/2014/main" val="2889973772"/>
                  </a:ext>
                </a:extLst>
              </a:tr>
              <a:tr h="0">
                <a:tc>
                  <a:txBody>
                    <a:bodyPr/>
                    <a:lstStyle/>
                    <a:p>
                      <a:pPr algn="ctr" rtl="0" fontAlgn="ctr"/>
                      <a:r>
                        <a:rPr lang="en-US" sz="2400" b="0" i="0" u="none" strike="noStrike" dirty="0">
                          <a:solidFill>
                            <a:srgbClr val="000000"/>
                          </a:solidFill>
                          <a:effectLst/>
                          <a:latin typeface="Arial" panose="020B0604020202020204" pitchFamily="34" charset="0"/>
                        </a:rPr>
                        <a:t>5000083</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2400" b="0" i="0" u="none" strike="noStrike">
                          <a:solidFill>
                            <a:srgbClr val="000000"/>
                          </a:solidFill>
                          <a:effectLst/>
                          <a:latin typeface="Arial" panose="020B0604020202020204" pitchFamily="34" charset="0"/>
                        </a:rPr>
                        <a:t>lollys</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2400" b="0" i="0" u="none" strike="noStrike" dirty="0" err="1">
                          <a:solidFill>
                            <a:srgbClr val="000000"/>
                          </a:solidFill>
                          <a:effectLst/>
                          <a:latin typeface="Arial" panose="020B0604020202020204" pitchFamily="34" charset="0"/>
                        </a:rPr>
                        <a:t>clegane</a:t>
                      </a:r>
                      <a:endParaRPr lang="en-US" sz="24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extLst>
                  <a:ext uri="{0D108BD9-81ED-4DB2-BD59-A6C34878D82A}">
                    <a16:rowId xmlns:a16="http://schemas.microsoft.com/office/drawing/2014/main" val="2004892004"/>
                  </a:ext>
                </a:extLst>
              </a:tr>
            </a:tbl>
          </a:graphicData>
        </a:graphic>
      </p:graphicFrame>
      <p:sp>
        <p:nvSpPr>
          <p:cNvPr id="9" name="Rectangle 8"/>
          <p:cNvSpPr/>
          <p:nvPr/>
        </p:nvSpPr>
        <p:spPr>
          <a:xfrm>
            <a:off x="407730" y="4748072"/>
            <a:ext cx="941283" cy="369332"/>
          </a:xfrm>
          <a:prstGeom prst="rect">
            <a:avLst/>
          </a:prstGeom>
        </p:spPr>
        <p:txBody>
          <a:bodyPr wrap="none">
            <a:spAutoFit/>
          </a:bodyPr>
          <a:lstStyle/>
          <a:p>
            <a:r>
              <a:rPr lang="en-US" sz="1800" b="1" dirty="0">
                <a:solidFill>
                  <a:srgbClr val="A6A6A6"/>
                </a:solidFill>
              </a:rPr>
              <a:t>FALSE</a:t>
            </a:r>
          </a:p>
        </p:txBody>
      </p:sp>
      <p:sp>
        <p:nvSpPr>
          <p:cNvPr id="21" name="Rectangle 20"/>
          <p:cNvSpPr/>
          <p:nvPr/>
        </p:nvSpPr>
        <p:spPr>
          <a:xfrm>
            <a:off x="407729" y="5205669"/>
            <a:ext cx="941283" cy="369332"/>
          </a:xfrm>
          <a:prstGeom prst="rect">
            <a:avLst/>
          </a:prstGeom>
        </p:spPr>
        <p:txBody>
          <a:bodyPr wrap="none">
            <a:spAutoFit/>
          </a:bodyPr>
          <a:lstStyle/>
          <a:p>
            <a:r>
              <a:rPr lang="en-US" sz="1800" b="1" dirty="0">
                <a:solidFill>
                  <a:srgbClr val="A6A6A6"/>
                </a:solidFill>
              </a:rPr>
              <a:t>FALSE</a:t>
            </a:r>
          </a:p>
        </p:txBody>
      </p:sp>
      <p:sp>
        <p:nvSpPr>
          <p:cNvPr id="22" name="Rectangle 21"/>
          <p:cNvSpPr/>
          <p:nvPr/>
        </p:nvSpPr>
        <p:spPr>
          <a:xfrm>
            <a:off x="407728" y="5663266"/>
            <a:ext cx="941283" cy="369332"/>
          </a:xfrm>
          <a:prstGeom prst="rect">
            <a:avLst/>
          </a:prstGeom>
        </p:spPr>
        <p:txBody>
          <a:bodyPr wrap="none">
            <a:spAutoFit/>
          </a:bodyPr>
          <a:lstStyle/>
          <a:p>
            <a:r>
              <a:rPr lang="en-US" sz="1800" b="1" dirty="0">
                <a:solidFill>
                  <a:srgbClr val="A6A6A6"/>
                </a:solidFill>
              </a:rPr>
              <a:t>FALSE</a:t>
            </a:r>
          </a:p>
        </p:txBody>
      </p:sp>
      <p:sp>
        <p:nvSpPr>
          <p:cNvPr id="23" name="Rectangle 22"/>
          <p:cNvSpPr/>
          <p:nvPr/>
        </p:nvSpPr>
        <p:spPr>
          <a:xfrm>
            <a:off x="437464" y="6120862"/>
            <a:ext cx="941283" cy="369332"/>
          </a:xfrm>
          <a:prstGeom prst="rect">
            <a:avLst/>
          </a:prstGeom>
        </p:spPr>
        <p:txBody>
          <a:bodyPr wrap="square">
            <a:spAutoFit/>
          </a:bodyPr>
          <a:lstStyle/>
          <a:p>
            <a:r>
              <a:rPr lang="en-US" sz="1800" b="1" dirty="0">
                <a:solidFill>
                  <a:schemeClr val="accent1"/>
                </a:solidFill>
              </a:rPr>
              <a:t>TRUE</a:t>
            </a:r>
          </a:p>
        </p:txBody>
      </p:sp>
      <p:graphicFrame>
        <p:nvGraphicFramePr>
          <p:cNvPr id="20" name="Table 19"/>
          <p:cNvGraphicFramePr>
            <a:graphicFrameLocks noGrp="1"/>
          </p:cNvGraphicFramePr>
          <p:nvPr/>
        </p:nvGraphicFramePr>
        <p:xfrm>
          <a:off x="1407433" y="5638767"/>
          <a:ext cx="4544738" cy="455542"/>
        </p:xfrm>
        <a:graphic>
          <a:graphicData uri="http://schemas.openxmlformats.org/drawingml/2006/table">
            <a:tbl>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455542">
                <a:tc>
                  <a:txBody>
                    <a:bodyPr/>
                    <a:lstStyle/>
                    <a:p>
                      <a:pPr algn="ctr" rtl="0" fontAlgn="ctr"/>
                      <a:r>
                        <a:rPr lang="en-US" sz="2400" b="0" i="0" u="none" strike="noStrike" dirty="0">
                          <a:solidFill>
                            <a:srgbClr val="000000"/>
                          </a:solidFill>
                          <a:effectLst/>
                          <a:latin typeface="Arial" panose="020B0604020202020204" pitchFamily="34" charset="0"/>
                        </a:rPr>
                        <a:t>5001412</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2400" b="0" i="0" u="none" strike="noStrike" dirty="0" err="1">
                          <a:solidFill>
                            <a:srgbClr val="000000"/>
                          </a:solidFill>
                          <a:effectLst/>
                          <a:latin typeface="Arial" panose="020B0604020202020204" pitchFamily="34" charset="0"/>
                        </a:rPr>
                        <a:t>jhezane</a:t>
                      </a:r>
                      <a:endParaRPr lang="en-US" sz="24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2400" b="0" i="0" u="none" strike="noStrike" dirty="0" err="1">
                          <a:solidFill>
                            <a:srgbClr val="000000"/>
                          </a:solidFill>
                          <a:effectLst/>
                          <a:latin typeface="Arial" panose="020B0604020202020204" pitchFamily="34" charset="0"/>
                        </a:rPr>
                        <a:t>westerling</a:t>
                      </a:r>
                      <a:endParaRPr lang="en-US" sz="24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4003288136"/>
                  </a:ext>
                </a:extLst>
              </a:tr>
            </a:tbl>
          </a:graphicData>
        </a:graphic>
      </p:graphicFrame>
      <p:graphicFrame>
        <p:nvGraphicFramePr>
          <p:cNvPr id="24" name="Table 23"/>
          <p:cNvGraphicFramePr>
            <a:graphicFrameLocks noGrp="1"/>
          </p:cNvGraphicFramePr>
          <p:nvPr/>
        </p:nvGraphicFramePr>
        <p:xfrm>
          <a:off x="1407433" y="5177143"/>
          <a:ext cx="4544738" cy="455542"/>
        </p:xfrm>
        <a:graphic>
          <a:graphicData uri="http://schemas.openxmlformats.org/drawingml/2006/table">
            <a:tbl>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455542">
                <a:tc>
                  <a:txBody>
                    <a:bodyPr/>
                    <a:lstStyle/>
                    <a:p>
                      <a:pPr algn="ctr" rtl="0" fontAlgn="ctr"/>
                      <a:r>
                        <a:rPr lang="en-US" sz="2400" b="0" i="0" u="none" strike="noStrike" dirty="0">
                          <a:solidFill>
                            <a:srgbClr val="000000"/>
                          </a:solidFill>
                          <a:effectLst/>
                          <a:latin typeface="Arial" panose="020B0604020202020204" pitchFamily="34" charset="0"/>
                        </a:rPr>
                        <a:t>5006017</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2400" b="0" i="0" u="none" strike="noStrike" dirty="0" err="1">
                          <a:solidFill>
                            <a:srgbClr val="000000"/>
                          </a:solidFill>
                          <a:effectLst/>
                          <a:latin typeface="Arial" panose="020B0604020202020204" pitchFamily="34" charset="0"/>
                        </a:rPr>
                        <a:t>alester</a:t>
                      </a:r>
                      <a:endParaRPr lang="en-US" sz="24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2400" b="0" i="0" u="none" strike="noStrike" dirty="0">
                          <a:solidFill>
                            <a:srgbClr val="000000"/>
                          </a:solidFill>
                          <a:effectLst/>
                          <a:latin typeface="Arial" panose="020B0604020202020204" pitchFamily="34" charset="0"/>
                        </a:rPr>
                        <a:t>stark</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3563215883"/>
                  </a:ext>
                </a:extLst>
              </a:tr>
            </a:tbl>
          </a:graphicData>
        </a:graphic>
      </p:graphicFrame>
      <p:graphicFrame>
        <p:nvGraphicFramePr>
          <p:cNvPr id="25" name="Table 24"/>
          <p:cNvGraphicFramePr>
            <a:graphicFrameLocks noGrp="1"/>
          </p:cNvGraphicFramePr>
          <p:nvPr/>
        </p:nvGraphicFramePr>
        <p:xfrm>
          <a:off x="1407433" y="4715519"/>
          <a:ext cx="4544738" cy="455542"/>
        </p:xfrm>
        <a:graphic>
          <a:graphicData uri="http://schemas.openxmlformats.org/drawingml/2006/table">
            <a:tbl>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455542">
                <a:tc>
                  <a:txBody>
                    <a:bodyPr/>
                    <a:lstStyle/>
                    <a:p>
                      <a:pPr algn="ctr" rtl="0" fontAlgn="ctr"/>
                      <a:r>
                        <a:rPr lang="en-US" sz="2400" b="0" i="0" u="none" strike="noStrike" dirty="0">
                          <a:solidFill>
                            <a:srgbClr val="000000"/>
                          </a:solidFill>
                          <a:effectLst/>
                          <a:latin typeface="Arial" panose="020B0604020202020204" pitchFamily="34" charset="0"/>
                        </a:rPr>
                        <a:t>5000876</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2400" b="0" i="0" u="none" strike="noStrike" dirty="0" err="1">
                          <a:solidFill>
                            <a:srgbClr val="000000"/>
                          </a:solidFill>
                          <a:effectLst/>
                          <a:latin typeface="Arial" panose="020B0604020202020204" pitchFamily="34" charset="0"/>
                        </a:rPr>
                        <a:t>sarella</a:t>
                      </a:r>
                      <a:endParaRPr lang="en-US" sz="24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2400" b="0" i="0" u="none" strike="noStrike" dirty="0">
                          <a:solidFill>
                            <a:srgbClr val="000000"/>
                          </a:solidFill>
                          <a:effectLst/>
                          <a:latin typeface="Arial" panose="020B0604020202020204" pitchFamily="34" charset="0"/>
                        </a:rPr>
                        <a:t>stark</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1843102304"/>
                  </a:ext>
                </a:extLst>
              </a:tr>
            </a:tbl>
          </a:graphicData>
        </a:graphic>
      </p:graphicFrame>
    </p:spTree>
    <p:extLst>
      <p:ext uri="{BB962C8B-B14F-4D97-AF65-F5344CB8AC3E}">
        <p14:creationId xmlns:p14="http://schemas.microsoft.com/office/powerpoint/2010/main" val="166083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1" grpId="0"/>
      <p:bldP spid="22"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094283" y="2201670"/>
            <a:ext cx="10415358"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350125" y="2313797"/>
            <a:ext cx="9903673"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err="1">
                <a:solidFill>
                  <a:srgbClr val="0365C0"/>
                </a:solidFill>
                <a:latin typeface="Consolas" panose="020B0609020204030204" pitchFamily="49" charset="0"/>
                <a:ea typeface="Courier New"/>
                <a:cs typeface="Consolas" panose="020B0609020204030204" pitchFamily="49" charset="0"/>
                <a:sym typeface="Courier New"/>
              </a:rPr>
              <a:t>covid_testing</a:t>
            </a:r>
            <a:r>
              <a:rPr lang="en-US" sz="3200" dirty="0">
                <a:solidFill>
                  <a:srgbClr val="0365C0"/>
                </a:solidFill>
                <a:latin typeface="Consolas" panose="020B0609020204030204" pitchFamily="49" charset="0"/>
                <a:ea typeface="Courier New"/>
                <a:cs typeface="Consolas" panose="020B0609020204030204" pitchFamily="49" charset="0"/>
                <a:sym typeface="Courier New"/>
              </a:rPr>
              <a:t>,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last_name</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 "stark"</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2" name="Rounded Rectangular Callout 2"/>
          <p:cNvSpPr/>
          <p:nvPr/>
        </p:nvSpPr>
        <p:spPr>
          <a:xfrm rot="10800000" flipH="1">
            <a:off x="8218142" y="578604"/>
            <a:ext cx="3220449" cy="1785377"/>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8" name="Google Shape;324;p34"/>
          <p:cNvSpPr txBox="1"/>
          <p:nvPr/>
        </p:nvSpPr>
        <p:spPr>
          <a:xfrm>
            <a:off x="8353632" y="666346"/>
            <a:ext cx="2949467" cy="1043052"/>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Tw Cen MT" panose="020B0602020104020603" pitchFamily="34" charset="77"/>
                <a:ea typeface="Calibri"/>
                <a:cs typeface="Calibri"/>
                <a:sym typeface="Calibri"/>
              </a:rPr>
              <a:t>Values coded as character strings must be surrounded by quotes</a:t>
            </a:r>
            <a:endParaRPr sz="2062" dirty="0">
              <a:solidFill>
                <a:schemeClr val="bg1"/>
              </a:solidFill>
              <a:latin typeface="Tw Cen MT" panose="020B0602020104020603" pitchFamily="34" charset="77"/>
              <a:ea typeface="Calibri"/>
              <a:cs typeface="Calibri"/>
              <a:sym typeface="Calibri"/>
            </a:endParaRPr>
          </a:p>
        </p:txBody>
      </p:sp>
      <p:cxnSp>
        <p:nvCxnSpPr>
          <p:cNvPr id="19" name="Straight Arrow Connector 18"/>
          <p:cNvCxnSpPr/>
          <p:nvPr/>
        </p:nvCxnSpPr>
        <p:spPr>
          <a:xfrm>
            <a:off x="5856870" y="4327928"/>
            <a:ext cx="54864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0" name="Table 19"/>
          <p:cNvGraphicFramePr>
            <a:graphicFrameLocks noGrp="1"/>
          </p:cNvGraphicFramePr>
          <p:nvPr>
            <p:extLst>
              <p:ext uri="{D42A27DB-BD31-4B8C-83A1-F6EECF244321}">
                <p14:modId xmlns:p14="http://schemas.microsoft.com/office/powerpoint/2010/main" val="2954942103"/>
              </p:ext>
            </p:extLst>
          </p:nvPr>
        </p:nvGraphicFramePr>
        <p:xfrm>
          <a:off x="836058" y="3807152"/>
          <a:ext cx="4544738" cy="2729332"/>
        </p:xfrm>
        <a:graphic>
          <a:graphicData uri="http://schemas.openxmlformats.org/drawingml/2006/table">
            <a:tbl>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i="0" u="none" strike="noStrike">
                          <a:solidFill>
                            <a:srgbClr val="FFFFFF"/>
                          </a:solidFill>
                          <a:effectLst/>
                          <a:latin typeface="Arial" panose="020B0604020202020204" pitchFamily="34" charset="0"/>
                        </a:rPr>
                        <a:t>mrn</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2400" b="1" i="0" u="none" strike="noStrike" dirty="0" err="1">
                          <a:solidFill>
                            <a:srgbClr val="FFFFFF"/>
                          </a:solidFill>
                          <a:effectLst/>
                          <a:latin typeface="Arial" panose="020B0604020202020204" pitchFamily="34" charset="0"/>
                        </a:rPr>
                        <a:t>first_name</a:t>
                      </a:r>
                      <a:endParaRPr lang="en-US" sz="24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2400" b="1" i="0" u="none" strike="noStrike">
                          <a:solidFill>
                            <a:srgbClr val="FFFFFF"/>
                          </a:solidFill>
                          <a:effectLst/>
                          <a:latin typeface="Arial" panose="020B0604020202020204" pitchFamily="34" charset="0"/>
                        </a:rPr>
                        <a:t>last_name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A6A6A6"/>
                    </a:solidFill>
                  </a:tcP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latin typeface="Arial" panose="020B0604020202020204" pitchFamily="34" charset="0"/>
                        </a:rPr>
                        <a:t>5000876</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a:solidFill>
                            <a:srgbClr val="000000"/>
                          </a:solidFill>
                          <a:effectLst/>
                          <a:latin typeface="Arial" panose="020B0604020202020204" pitchFamily="34" charset="0"/>
                        </a:rPr>
                        <a:t>sarella</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cap="none" dirty="0">
                          <a:solidFill>
                            <a:srgbClr val="000000"/>
                          </a:solidFill>
                          <a:effectLst/>
                          <a:latin typeface="Arial" panose="020B0604020202020204" pitchFamily="34" charset="0"/>
                          <a:ea typeface="+mn-ea"/>
                          <a:cs typeface="+mn-cs"/>
                          <a:sym typeface="Arial"/>
                        </a:rPr>
                        <a:t>stark</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latin typeface="Arial" panose="020B0604020202020204" pitchFamily="34" charset="0"/>
                        </a:rPr>
                        <a:t>5006017</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a:solidFill>
                            <a:srgbClr val="000000"/>
                          </a:solidFill>
                          <a:effectLst/>
                          <a:latin typeface="Arial" panose="020B0604020202020204" pitchFamily="34" charset="0"/>
                        </a:rPr>
                        <a:t>alester</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dirty="0">
                          <a:solidFill>
                            <a:srgbClr val="000000"/>
                          </a:solidFill>
                          <a:effectLst/>
                          <a:latin typeface="Arial" panose="020B0604020202020204" pitchFamily="34" charset="0"/>
                        </a:rPr>
                        <a:t>stark</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3563215883"/>
                  </a:ext>
                </a:extLst>
              </a:tr>
              <a:tr h="455542">
                <a:tc>
                  <a:txBody>
                    <a:bodyPr/>
                    <a:lstStyle/>
                    <a:p>
                      <a:pPr algn="ctr" rtl="0" fontAlgn="ctr"/>
                      <a:r>
                        <a:rPr lang="en-US" sz="2400" b="0" i="0" u="none" strike="noStrike">
                          <a:solidFill>
                            <a:srgbClr val="000000"/>
                          </a:solidFill>
                          <a:effectLst/>
                          <a:latin typeface="Arial" panose="020B0604020202020204" pitchFamily="34" charset="0"/>
                        </a:rPr>
                        <a:t>5001412</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2400" b="0" i="0" u="none" strike="noStrike">
                          <a:solidFill>
                            <a:srgbClr val="000000"/>
                          </a:solidFill>
                          <a:effectLst/>
                          <a:latin typeface="Arial" panose="020B0604020202020204" pitchFamily="34" charset="0"/>
                        </a:rPr>
                        <a:t>jhezane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2400" b="0" i="0" u="none" strike="noStrike">
                          <a:solidFill>
                            <a:srgbClr val="000000"/>
                          </a:solidFill>
                          <a:effectLst/>
                          <a:latin typeface="Arial" panose="020B0604020202020204" pitchFamily="34" charset="0"/>
                        </a:rPr>
                        <a:t>westerling</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4003288136"/>
                  </a:ext>
                </a:extLst>
              </a:tr>
              <a:tr h="455542">
                <a:tc>
                  <a:txBody>
                    <a:bodyPr/>
                    <a:lstStyle/>
                    <a:p>
                      <a:pPr algn="ctr" rtl="0" fontAlgn="ctr"/>
                      <a:r>
                        <a:rPr lang="en-US" sz="2400" b="0" i="0" u="none" strike="noStrike">
                          <a:solidFill>
                            <a:srgbClr val="000000"/>
                          </a:solidFill>
                          <a:effectLst/>
                          <a:latin typeface="Arial" panose="020B0604020202020204" pitchFamily="34" charset="0"/>
                        </a:rPr>
                        <a:t>5000083</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9D9D9"/>
                    </a:solidFill>
                  </a:tcPr>
                </a:tc>
                <a:tc>
                  <a:txBody>
                    <a:bodyPr/>
                    <a:lstStyle/>
                    <a:p>
                      <a:pPr algn="ctr" rtl="0" fontAlgn="ctr"/>
                      <a:r>
                        <a:rPr lang="en-US" sz="2400" b="0" i="0" u="none" strike="noStrike" dirty="0" err="1">
                          <a:solidFill>
                            <a:srgbClr val="000000"/>
                          </a:solidFill>
                          <a:effectLst/>
                          <a:latin typeface="Arial" panose="020B0604020202020204" pitchFamily="34" charset="0"/>
                        </a:rPr>
                        <a:t>lollys</a:t>
                      </a:r>
                      <a:endParaRPr lang="en-US" sz="24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9D9D9"/>
                    </a:solidFill>
                  </a:tcPr>
                </a:tc>
                <a:tc>
                  <a:txBody>
                    <a:bodyPr/>
                    <a:lstStyle/>
                    <a:p>
                      <a:pPr algn="ctr" rtl="0" fontAlgn="ctr"/>
                      <a:r>
                        <a:rPr lang="en-US" sz="2400" b="0" i="0" u="none" strike="noStrike" dirty="0" err="1">
                          <a:solidFill>
                            <a:srgbClr val="000000"/>
                          </a:solidFill>
                          <a:effectLst/>
                          <a:latin typeface="Arial" panose="020B0604020202020204" pitchFamily="34" charset="0"/>
                        </a:rPr>
                        <a:t>clegane</a:t>
                      </a:r>
                      <a:endParaRPr lang="en-US" sz="24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2004892004"/>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530347027"/>
              </p:ext>
            </p:extLst>
          </p:nvPr>
        </p:nvGraphicFramePr>
        <p:xfrm>
          <a:off x="6987793" y="3807152"/>
          <a:ext cx="4544738" cy="1818248"/>
        </p:xfrm>
        <a:graphic>
          <a:graphicData uri="http://schemas.openxmlformats.org/drawingml/2006/table">
            <a:tbl>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i="0" u="none" strike="noStrike" dirty="0" err="1">
                          <a:solidFill>
                            <a:srgbClr val="FFFFFF"/>
                          </a:solidFill>
                          <a:effectLst/>
                          <a:latin typeface="Arial" panose="020B0604020202020204" pitchFamily="34" charset="0"/>
                        </a:rPr>
                        <a:t>mrn</a:t>
                      </a:r>
                      <a:endParaRPr lang="en-US" sz="24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2400" b="1" i="0" u="none" strike="noStrike" dirty="0" err="1">
                          <a:solidFill>
                            <a:srgbClr val="FFFFFF"/>
                          </a:solidFill>
                          <a:effectLst/>
                          <a:latin typeface="Arial" panose="020B0604020202020204" pitchFamily="34" charset="0"/>
                        </a:rPr>
                        <a:t>first_name</a:t>
                      </a:r>
                      <a:endParaRPr lang="en-US" sz="24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2400" b="1" i="0" u="none" strike="noStrike" dirty="0" err="1">
                          <a:solidFill>
                            <a:srgbClr val="FFFFFF"/>
                          </a:solidFill>
                          <a:effectLst/>
                          <a:latin typeface="Arial" panose="020B0604020202020204" pitchFamily="34" charset="0"/>
                        </a:rPr>
                        <a:t>last_name</a:t>
                      </a:r>
                      <a:endParaRPr lang="en-US" sz="24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A6A6A6"/>
                    </a:solidFill>
                  </a:tcPr>
                </a:tc>
                <a:extLst>
                  <a:ext uri="{0D108BD9-81ED-4DB2-BD59-A6C34878D82A}">
                    <a16:rowId xmlns:a16="http://schemas.microsoft.com/office/drawing/2014/main" val="2889973772"/>
                  </a:ext>
                </a:extLst>
              </a:tr>
              <a:tr h="455542">
                <a:tc>
                  <a:txBody>
                    <a:bodyPr/>
                    <a:lstStyle/>
                    <a:p>
                      <a:pPr algn="ctr" rtl="0" fontAlgn="ctr"/>
                      <a:r>
                        <a:rPr lang="en-US" sz="2400" b="0" i="0" u="none" strike="noStrike">
                          <a:solidFill>
                            <a:srgbClr val="000000"/>
                          </a:solidFill>
                          <a:effectLst/>
                          <a:latin typeface="Arial" panose="020B0604020202020204" pitchFamily="34" charset="0"/>
                        </a:rPr>
                        <a:t>5000876</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a:solidFill>
                            <a:srgbClr val="000000"/>
                          </a:solidFill>
                          <a:effectLst/>
                          <a:latin typeface="Arial" panose="020B0604020202020204" pitchFamily="34" charset="0"/>
                        </a:rPr>
                        <a:t>sarella</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cap="none" dirty="0">
                          <a:solidFill>
                            <a:srgbClr val="000000"/>
                          </a:solidFill>
                          <a:effectLst/>
                          <a:latin typeface="Arial" panose="020B0604020202020204" pitchFamily="34" charset="0"/>
                          <a:ea typeface="+mn-ea"/>
                          <a:cs typeface="+mn-cs"/>
                          <a:sym typeface="Arial"/>
                        </a:rPr>
                        <a:t>stark</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1843102304"/>
                  </a:ext>
                </a:extLst>
              </a:tr>
              <a:tr h="455542">
                <a:tc>
                  <a:txBody>
                    <a:bodyPr/>
                    <a:lstStyle/>
                    <a:p>
                      <a:pPr algn="ctr" rtl="0" fontAlgn="ctr"/>
                      <a:r>
                        <a:rPr lang="en-US" sz="2400" b="0" i="0" u="none" strike="noStrike">
                          <a:solidFill>
                            <a:srgbClr val="000000"/>
                          </a:solidFill>
                          <a:effectLst/>
                          <a:latin typeface="Arial" panose="020B0604020202020204" pitchFamily="34" charset="0"/>
                        </a:rPr>
                        <a:t>5006017</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a:solidFill>
                            <a:srgbClr val="000000"/>
                          </a:solidFill>
                          <a:effectLst/>
                          <a:latin typeface="Arial" panose="020B0604020202020204" pitchFamily="34" charset="0"/>
                        </a:rPr>
                        <a:t>alester</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2400" b="0" i="0" u="none" strike="noStrike" dirty="0">
                          <a:solidFill>
                            <a:srgbClr val="000000"/>
                          </a:solidFill>
                          <a:effectLst/>
                          <a:latin typeface="Arial" panose="020B0604020202020204" pitchFamily="34" charset="0"/>
                        </a:rPr>
                        <a:t>stark</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3563215883"/>
                  </a:ext>
                </a:extLst>
              </a:tr>
            </a:tbl>
          </a:graphicData>
        </a:graphic>
      </p:graphicFrame>
      <p:sp>
        <p:nvSpPr>
          <p:cNvPr id="22" name="Rectangle 21"/>
          <p:cNvSpPr/>
          <p:nvPr/>
        </p:nvSpPr>
        <p:spPr>
          <a:xfrm>
            <a:off x="5380798" y="4794362"/>
            <a:ext cx="813043" cy="369332"/>
          </a:xfrm>
          <a:prstGeom prst="rect">
            <a:avLst/>
          </a:prstGeom>
        </p:spPr>
        <p:txBody>
          <a:bodyPr wrap="none">
            <a:spAutoFit/>
          </a:bodyPr>
          <a:lstStyle/>
          <a:p>
            <a:r>
              <a:rPr lang="en-US" sz="1800" b="1" dirty="0">
                <a:solidFill>
                  <a:schemeClr val="accent1"/>
                </a:solidFill>
              </a:rPr>
              <a:t>TRUE</a:t>
            </a:r>
            <a:endParaRPr lang="en-US" sz="1800" b="1" dirty="0">
              <a:solidFill>
                <a:srgbClr val="A6A6A6"/>
              </a:solidFill>
            </a:endParaRPr>
          </a:p>
        </p:txBody>
      </p:sp>
      <p:sp>
        <p:nvSpPr>
          <p:cNvPr id="23" name="Rectangle 22"/>
          <p:cNvSpPr/>
          <p:nvPr/>
        </p:nvSpPr>
        <p:spPr>
          <a:xfrm>
            <a:off x="5380797" y="5251959"/>
            <a:ext cx="813043" cy="369332"/>
          </a:xfrm>
          <a:prstGeom prst="rect">
            <a:avLst/>
          </a:prstGeom>
        </p:spPr>
        <p:txBody>
          <a:bodyPr wrap="none">
            <a:spAutoFit/>
          </a:bodyPr>
          <a:lstStyle/>
          <a:p>
            <a:r>
              <a:rPr lang="en-US" sz="1800" b="1" dirty="0">
                <a:solidFill>
                  <a:schemeClr val="accent1"/>
                </a:solidFill>
              </a:rPr>
              <a:t>TRUE</a:t>
            </a:r>
            <a:endParaRPr lang="en-US" sz="1800" b="1" dirty="0">
              <a:solidFill>
                <a:srgbClr val="A6A6A6"/>
              </a:solidFill>
            </a:endParaRPr>
          </a:p>
        </p:txBody>
      </p:sp>
      <p:sp>
        <p:nvSpPr>
          <p:cNvPr id="24" name="Rectangle 23"/>
          <p:cNvSpPr/>
          <p:nvPr/>
        </p:nvSpPr>
        <p:spPr>
          <a:xfrm>
            <a:off x="5380796" y="5709556"/>
            <a:ext cx="941283" cy="369332"/>
          </a:xfrm>
          <a:prstGeom prst="rect">
            <a:avLst/>
          </a:prstGeom>
        </p:spPr>
        <p:txBody>
          <a:bodyPr wrap="none">
            <a:spAutoFit/>
          </a:bodyPr>
          <a:lstStyle/>
          <a:p>
            <a:r>
              <a:rPr lang="en-US" sz="1800" b="1" dirty="0">
                <a:solidFill>
                  <a:srgbClr val="A6A6A6"/>
                </a:solidFill>
              </a:rPr>
              <a:t>FALSE</a:t>
            </a:r>
          </a:p>
        </p:txBody>
      </p:sp>
      <p:sp>
        <p:nvSpPr>
          <p:cNvPr id="25" name="Rectangle 24"/>
          <p:cNvSpPr/>
          <p:nvPr/>
        </p:nvSpPr>
        <p:spPr>
          <a:xfrm>
            <a:off x="5410532" y="6167152"/>
            <a:ext cx="941283" cy="369332"/>
          </a:xfrm>
          <a:prstGeom prst="rect">
            <a:avLst/>
          </a:prstGeom>
        </p:spPr>
        <p:txBody>
          <a:bodyPr wrap="square">
            <a:spAutoFit/>
          </a:bodyPr>
          <a:lstStyle/>
          <a:p>
            <a:r>
              <a:rPr lang="en-US" sz="1800" b="1" dirty="0">
                <a:solidFill>
                  <a:srgbClr val="A6A6A6"/>
                </a:solidFill>
              </a:rPr>
              <a:t>FALSE</a:t>
            </a:r>
          </a:p>
        </p:txBody>
      </p:sp>
    </p:spTree>
    <p:extLst>
      <p:ext uri="{BB962C8B-B14F-4D97-AF65-F5344CB8AC3E}">
        <p14:creationId xmlns:p14="http://schemas.microsoft.com/office/powerpoint/2010/main" val="1345223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758718" y="2201670"/>
            <a:ext cx="88696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970276" y="2313797"/>
            <a:ext cx="6965368"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2" name="Google Shape;138;p17"/>
          <p:cNvSpPr txBox="1"/>
          <p:nvPr/>
        </p:nvSpPr>
        <p:spPr>
          <a:xfrm>
            <a:off x="1762309" y="3800330"/>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mj-lt"/>
                <a:ea typeface="Trebuchet MS"/>
                <a:cs typeface="Trebuchet MS"/>
                <a:sym typeface="Trebuchet MS"/>
              </a:rPr>
              <a:t>data frame to transform</a:t>
            </a:r>
            <a:endParaRPr sz="2800" dirty="0">
              <a:latin typeface="+mj-lt"/>
              <a:ea typeface="Trebuchet MS"/>
              <a:cs typeface="Trebuchet MS"/>
              <a:sym typeface="Trebuchet MS"/>
            </a:endParaRPr>
          </a:p>
        </p:txBody>
      </p:sp>
      <p:sp>
        <p:nvSpPr>
          <p:cNvPr id="2" name="Rounded Rectangle 1"/>
          <p:cNvSpPr/>
          <p:nvPr/>
        </p:nvSpPr>
        <p:spPr>
          <a:xfrm>
            <a:off x="4738686" y="2345004"/>
            <a:ext cx="3731544" cy="566814"/>
          </a:xfrm>
          <a:prstGeom prst="roundRect">
            <a:avLst/>
          </a:prstGeom>
          <a:solidFill>
            <a:srgbClr val="A0C283">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Google Shape;293;p32">
            <a:extLst>
              <a:ext uri="{FF2B5EF4-FFF2-40B4-BE49-F238E27FC236}">
                <a16:creationId xmlns:a16="http://schemas.microsoft.com/office/drawing/2014/main" id="{0BFC7DE2-F9C5-0241-960E-92D9261693E3}"/>
              </a:ext>
            </a:extLst>
          </p:cNvPr>
          <p:cNvSpPr txBox="1">
            <a:spLocks noGrp="1"/>
          </p:cNvSpPr>
          <p:nvPr>
            <p:ph type="title"/>
          </p:nvPr>
        </p:nvSpPr>
        <p:spPr>
          <a:xfrm>
            <a:off x="1064973" y="684400"/>
            <a:ext cx="10238190" cy="777536"/>
          </a:xfrm>
          <a:prstGeom prst="rect">
            <a:avLst/>
          </a:prstGeom>
          <a:noFill/>
          <a:ln>
            <a:noFill/>
          </a:ln>
        </p:spPr>
        <p:txBody>
          <a:bodyPr spcFirstLastPara="1" wrap="square" lIns="0" tIns="6455" rIns="0" bIns="0" anchor="t" anchorCtr="0">
            <a:noAutofit/>
          </a:bodyPr>
          <a:lstStyle/>
          <a:p>
            <a:pPr marL="6803" algn="ctr"/>
            <a:r>
              <a:rPr lang="en-US" dirty="0">
                <a:solidFill>
                  <a:srgbClr val="000000"/>
                </a:solidFill>
                <a:latin typeface="Consolas" panose="020B0609020204030204" pitchFamily="49" charset="0"/>
              </a:rPr>
              <a:t>filter()</a:t>
            </a:r>
            <a:endParaRPr dirty="0">
              <a:latin typeface="Consolas" panose="020B0609020204030204" pitchFamily="49" charset="0"/>
            </a:endParaRPr>
          </a:p>
        </p:txBody>
      </p:sp>
      <p:sp>
        <p:nvSpPr>
          <p:cNvPr id="21" name="Google Shape;296;p32">
            <a:extLst>
              <a:ext uri="{FF2B5EF4-FFF2-40B4-BE49-F238E27FC236}">
                <a16:creationId xmlns:a16="http://schemas.microsoft.com/office/drawing/2014/main" id="{8EFE896B-FF86-7149-A4EC-8B4459782E54}"/>
              </a:ext>
            </a:extLst>
          </p:cNvPr>
          <p:cNvSpPr txBox="1"/>
          <p:nvPr/>
        </p:nvSpPr>
        <p:spPr>
          <a:xfrm>
            <a:off x="2979673" y="1702714"/>
            <a:ext cx="6232654" cy="575928"/>
          </a:xfrm>
          <a:prstGeom prst="rect">
            <a:avLst/>
          </a:prstGeom>
          <a:noFill/>
          <a:ln>
            <a:noFill/>
          </a:ln>
        </p:spPr>
        <p:txBody>
          <a:bodyPr spcFirstLastPara="1" wrap="square" lIns="0" tIns="6455" rIns="0" bIns="0" anchor="t" anchorCtr="0">
            <a:noAutofit/>
          </a:bodyPr>
          <a:lstStyle/>
          <a:p>
            <a:pPr marL="6803" algn="ctr"/>
            <a:r>
              <a:rPr lang="en-US" sz="2800" dirty="0">
                <a:latin typeface="Tw Cen MT" panose="020B0602020104020603" pitchFamily="34" charset="77"/>
                <a:ea typeface="Calibri"/>
                <a:cs typeface="Calibri"/>
                <a:sym typeface="Calibri"/>
              </a:rPr>
              <a:t>Extract rows that meet logical criteria</a:t>
            </a:r>
            <a:endParaRPr sz="2800" dirty="0">
              <a:latin typeface="Tw Cen MT" panose="020B0602020104020603" pitchFamily="34" charset="77"/>
              <a:ea typeface="Calibri"/>
              <a:cs typeface="Calibri"/>
              <a:sym typeface="Calibri"/>
            </a:endParaRPr>
          </a:p>
        </p:txBody>
      </p:sp>
      <p:sp>
        <p:nvSpPr>
          <p:cNvPr id="24" name="Google Shape;137;p17">
            <a:extLst>
              <a:ext uri="{FF2B5EF4-FFF2-40B4-BE49-F238E27FC236}">
                <a16:creationId xmlns:a16="http://schemas.microsoft.com/office/drawing/2014/main" id="{DE9195D9-4628-1E48-8ADC-30C473FB5DED}"/>
              </a:ext>
            </a:extLst>
          </p:cNvPr>
          <p:cNvSpPr/>
          <p:nvPr/>
        </p:nvSpPr>
        <p:spPr>
          <a:xfrm>
            <a:off x="1632769" y="2880611"/>
            <a:ext cx="246229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25" name="Google Shape;138;p17">
            <a:extLst>
              <a:ext uri="{FF2B5EF4-FFF2-40B4-BE49-F238E27FC236}">
                <a16:creationId xmlns:a16="http://schemas.microsoft.com/office/drawing/2014/main" id="{473F8901-62F3-D74C-8DC4-414590EE655A}"/>
              </a:ext>
            </a:extLst>
          </p:cNvPr>
          <p:cNvSpPr txBox="1"/>
          <p:nvPr/>
        </p:nvSpPr>
        <p:spPr>
          <a:xfrm>
            <a:off x="1632770" y="3807544"/>
            <a:ext cx="2453670" cy="1030077"/>
          </a:xfrm>
          <a:prstGeom prst="rect">
            <a:avLst/>
          </a:prstGeom>
          <a:noFill/>
          <a:ln>
            <a:noFill/>
          </a:ln>
        </p:spPr>
        <p:txBody>
          <a:bodyPr spcFirstLastPara="1" wrap="square" lIns="0" tIns="32652" rIns="0" bIns="0" anchor="t" anchorCtr="0">
            <a:noAutofit/>
          </a:bodyPr>
          <a:lstStyle/>
          <a:p>
            <a:pPr marL="208524" marR="2721" indent="-202061" algn="ctr">
              <a:lnSpc>
                <a:spcPct val="113506"/>
              </a:lnSpc>
            </a:pPr>
            <a:r>
              <a:rPr lang="en-US" sz="2800" dirty="0">
                <a:solidFill>
                  <a:srgbClr val="FFFFFF"/>
                </a:solidFill>
                <a:latin typeface="Tw Cen MT" panose="020B0602020104020603" pitchFamily="34" charset="77"/>
                <a:ea typeface="Trebuchet MS"/>
                <a:cs typeface="Trebuchet MS"/>
                <a:sym typeface="Trebuchet MS"/>
              </a:rPr>
              <a:t>data frame to transform</a:t>
            </a:r>
            <a:endParaRPr sz="2800" dirty="0">
              <a:latin typeface="Tw Cen MT" panose="020B0602020104020603" pitchFamily="34" charset="77"/>
              <a:ea typeface="Trebuchet MS"/>
              <a:cs typeface="Trebuchet MS"/>
              <a:sym typeface="Trebuchet MS"/>
            </a:endParaRPr>
          </a:p>
        </p:txBody>
      </p:sp>
      <p:sp>
        <p:nvSpPr>
          <p:cNvPr id="26" name="Google Shape;297;p32">
            <a:extLst>
              <a:ext uri="{FF2B5EF4-FFF2-40B4-BE49-F238E27FC236}">
                <a16:creationId xmlns:a16="http://schemas.microsoft.com/office/drawing/2014/main" id="{01E83779-7886-B042-8282-A119F0DA5B19}"/>
              </a:ext>
            </a:extLst>
          </p:cNvPr>
          <p:cNvSpPr/>
          <p:nvPr/>
        </p:nvSpPr>
        <p:spPr>
          <a:xfrm>
            <a:off x="4695596" y="2799128"/>
            <a:ext cx="4682084" cy="2235235"/>
          </a:xfrm>
          <a:custGeom>
            <a:avLst/>
            <a:gdLst/>
            <a:ahLst/>
            <a:cxnLst/>
            <a:rect l="l" t="t" r="r" b="b"/>
            <a:pathLst>
              <a:path w="5965190" h="3684270" extrusionOk="0">
                <a:moveTo>
                  <a:pt x="5608470" y="1066067"/>
                </a:moveTo>
                <a:lnTo>
                  <a:pt x="356337" y="1066067"/>
                </a:lnTo>
                <a:lnTo>
                  <a:pt x="307986" y="1069320"/>
                </a:lnTo>
                <a:lnTo>
                  <a:pt x="261611" y="1078796"/>
                </a:lnTo>
                <a:lnTo>
                  <a:pt x="217637" y="1094070"/>
                </a:lnTo>
                <a:lnTo>
                  <a:pt x="176489" y="1114718"/>
                </a:lnTo>
                <a:lnTo>
                  <a:pt x="138592" y="1140315"/>
                </a:lnTo>
                <a:lnTo>
                  <a:pt x="104371" y="1170437"/>
                </a:lnTo>
                <a:lnTo>
                  <a:pt x="74249" y="1204659"/>
                </a:lnTo>
                <a:lnTo>
                  <a:pt x="48651" y="1242556"/>
                </a:lnTo>
                <a:lnTo>
                  <a:pt x="28003" y="1283703"/>
                </a:lnTo>
                <a:lnTo>
                  <a:pt x="12729" y="1327677"/>
                </a:lnTo>
                <a:lnTo>
                  <a:pt x="3253" y="1374052"/>
                </a:lnTo>
                <a:lnTo>
                  <a:pt x="0" y="1422403"/>
                </a:lnTo>
                <a:lnTo>
                  <a:pt x="0" y="3327450"/>
                </a:lnTo>
                <a:lnTo>
                  <a:pt x="3253" y="3375802"/>
                </a:lnTo>
                <a:lnTo>
                  <a:pt x="12729" y="3422177"/>
                </a:lnTo>
                <a:lnTo>
                  <a:pt x="28003" y="3466150"/>
                </a:lnTo>
                <a:lnTo>
                  <a:pt x="48651" y="3507298"/>
                </a:lnTo>
                <a:lnTo>
                  <a:pt x="74249" y="3545195"/>
                </a:lnTo>
                <a:lnTo>
                  <a:pt x="104371" y="3579417"/>
                </a:lnTo>
                <a:lnTo>
                  <a:pt x="138592" y="3609539"/>
                </a:lnTo>
                <a:lnTo>
                  <a:pt x="176489" y="3635136"/>
                </a:lnTo>
                <a:lnTo>
                  <a:pt x="217637" y="3655784"/>
                </a:lnTo>
                <a:lnTo>
                  <a:pt x="261611" y="3671059"/>
                </a:lnTo>
                <a:lnTo>
                  <a:pt x="307986" y="3680535"/>
                </a:lnTo>
                <a:lnTo>
                  <a:pt x="356337" y="3683788"/>
                </a:lnTo>
                <a:lnTo>
                  <a:pt x="5608470" y="3683788"/>
                </a:lnTo>
                <a:lnTo>
                  <a:pt x="5656820" y="3680535"/>
                </a:lnTo>
                <a:lnTo>
                  <a:pt x="5703195" y="3671058"/>
                </a:lnTo>
                <a:lnTo>
                  <a:pt x="5747168" y="3655784"/>
                </a:lnTo>
                <a:lnTo>
                  <a:pt x="5788315" y="3635136"/>
                </a:lnTo>
                <a:lnTo>
                  <a:pt x="5826212" y="3609538"/>
                </a:lnTo>
                <a:lnTo>
                  <a:pt x="5860433" y="3579416"/>
                </a:lnTo>
                <a:lnTo>
                  <a:pt x="5890555" y="3545195"/>
                </a:lnTo>
                <a:lnTo>
                  <a:pt x="5916152" y="3507298"/>
                </a:lnTo>
                <a:lnTo>
                  <a:pt x="5936801" y="3466150"/>
                </a:lnTo>
                <a:lnTo>
                  <a:pt x="5952075" y="3422177"/>
                </a:lnTo>
                <a:lnTo>
                  <a:pt x="5961551" y="3375802"/>
                </a:lnTo>
                <a:lnTo>
                  <a:pt x="5964804" y="3327450"/>
                </a:lnTo>
                <a:lnTo>
                  <a:pt x="5964804" y="1422403"/>
                </a:lnTo>
                <a:lnTo>
                  <a:pt x="5961551" y="1374052"/>
                </a:lnTo>
                <a:lnTo>
                  <a:pt x="5952075" y="1327677"/>
                </a:lnTo>
                <a:lnTo>
                  <a:pt x="5936801" y="1283703"/>
                </a:lnTo>
                <a:lnTo>
                  <a:pt x="5916152" y="1242556"/>
                </a:lnTo>
                <a:lnTo>
                  <a:pt x="5890555" y="1204659"/>
                </a:lnTo>
                <a:lnTo>
                  <a:pt x="5860433" y="1170437"/>
                </a:lnTo>
                <a:lnTo>
                  <a:pt x="5826212" y="1140315"/>
                </a:lnTo>
                <a:lnTo>
                  <a:pt x="5788315" y="1114718"/>
                </a:lnTo>
                <a:lnTo>
                  <a:pt x="5747168" y="1094070"/>
                </a:lnTo>
                <a:lnTo>
                  <a:pt x="5703195" y="1078796"/>
                </a:lnTo>
                <a:lnTo>
                  <a:pt x="5656820" y="1069320"/>
                </a:lnTo>
                <a:lnTo>
                  <a:pt x="5608470" y="1066067"/>
                </a:lnTo>
                <a:close/>
              </a:path>
              <a:path w="5965190" h="3684270" extrusionOk="0">
                <a:moveTo>
                  <a:pt x="708093" y="0"/>
                </a:moveTo>
                <a:lnTo>
                  <a:pt x="603384" y="1066067"/>
                </a:lnTo>
                <a:lnTo>
                  <a:pt x="812802" y="1066067"/>
                </a:lnTo>
                <a:lnTo>
                  <a:pt x="708093" y="0"/>
                </a:lnTo>
                <a:close/>
              </a:path>
            </a:pathLst>
          </a:custGeom>
          <a:solidFill>
            <a:srgbClr val="A0C283"/>
          </a:solidFill>
          <a:ln>
            <a:noFill/>
          </a:ln>
        </p:spPr>
        <p:txBody>
          <a:bodyPr spcFirstLastPara="1" wrap="square" lIns="0" tIns="0" rIns="0" bIns="0" anchor="t" anchorCtr="0">
            <a:noAutofit/>
          </a:bodyPr>
          <a:lstStyle/>
          <a:p>
            <a:endParaRPr sz="964"/>
          </a:p>
        </p:txBody>
      </p:sp>
      <p:sp>
        <p:nvSpPr>
          <p:cNvPr id="27" name="Google Shape;298;p32">
            <a:extLst>
              <a:ext uri="{FF2B5EF4-FFF2-40B4-BE49-F238E27FC236}">
                <a16:creationId xmlns:a16="http://schemas.microsoft.com/office/drawing/2014/main" id="{B12DF307-B450-5944-A93E-6C5381EC0FA6}"/>
              </a:ext>
            </a:extLst>
          </p:cNvPr>
          <p:cNvSpPr txBox="1"/>
          <p:nvPr/>
        </p:nvSpPr>
        <p:spPr>
          <a:xfrm>
            <a:off x="4690561" y="3496029"/>
            <a:ext cx="4682084" cy="1538333"/>
          </a:xfrm>
          <a:prstGeom prst="rect">
            <a:avLst/>
          </a:prstGeom>
          <a:noFill/>
          <a:ln>
            <a:noFill/>
          </a:ln>
        </p:spPr>
        <p:txBody>
          <a:bodyPr spcFirstLastPara="1" wrap="square" lIns="0" tIns="32652" rIns="0" bIns="0" anchor="t" anchorCtr="0">
            <a:noAutofit/>
          </a:bodyPr>
          <a:lstStyle/>
          <a:p>
            <a:pPr marL="6803" marR="2721" indent="-1360" algn="ctr">
              <a:lnSpc>
                <a:spcPct val="113506"/>
              </a:lnSpc>
            </a:pPr>
            <a:r>
              <a:rPr lang="en-US" sz="2800" dirty="0">
                <a:solidFill>
                  <a:srgbClr val="FFFFFF"/>
                </a:solidFill>
                <a:latin typeface="Tw Cen MT" panose="020B0602020104020603" pitchFamily="34" charset="77"/>
                <a:ea typeface="Trebuchet MS"/>
                <a:cs typeface="Trebuchet MS"/>
                <a:sym typeface="Trebuchet MS"/>
              </a:rPr>
              <a:t>logical test </a:t>
            </a:r>
          </a:p>
          <a:p>
            <a:pPr marL="6803" marR="2721" indent="-1360" algn="ctr">
              <a:lnSpc>
                <a:spcPct val="113506"/>
              </a:lnSpc>
            </a:pPr>
            <a:r>
              <a:rPr lang="en-US" sz="2400" dirty="0">
                <a:solidFill>
                  <a:srgbClr val="FFFFFF"/>
                </a:solidFill>
                <a:latin typeface="Tw Cen MT" panose="020B0602020104020603" pitchFamily="34" charset="77"/>
                <a:ea typeface="Calibri"/>
                <a:cs typeface="Calibri"/>
                <a:sym typeface="Calibri"/>
              </a:rPr>
              <a:t>(return each row where </a:t>
            </a:r>
          </a:p>
          <a:p>
            <a:pPr marL="6803" marR="2721" indent="-1360" algn="ctr">
              <a:lnSpc>
                <a:spcPct val="113506"/>
              </a:lnSpc>
            </a:pPr>
            <a:r>
              <a:rPr lang="en-US" sz="2400" dirty="0">
                <a:solidFill>
                  <a:srgbClr val="FFFFFF"/>
                </a:solidFill>
                <a:latin typeface="Tw Cen MT" panose="020B0602020104020603" pitchFamily="34" charset="77"/>
                <a:ea typeface="Calibri"/>
                <a:cs typeface="Calibri"/>
                <a:sym typeface="Calibri"/>
              </a:rPr>
              <a:t>the test is TRUE)</a:t>
            </a:r>
            <a:endParaRPr sz="2400" dirty="0">
              <a:latin typeface="Tw Cen MT" panose="020B0602020104020603" pitchFamily="34" charset="77"/>
              <a:ea typeface="Calibri"/>
              <a:cs typeface="Calibri"/>
              <a:sym typeface="Calibri"/>
            </a:endParaRPr>
          </a:p>
        </p:txBody>
      </p:sp>
    </p:spTree>
    <p:extLst>
      <p:ext uri="{BB962C8B-B14F-4D97-AF65-F5344CB8AC3E}">
        <p14:creationId xmlns:p14="http://schemas.microsoft.com/office/powerpoint/2010/main" val="1745558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2" name="Google Shape;342;p36"/>
          <p:cNvSpPr txBox="1">
            <a:spLocks noGrp="1"/>
          </p:cNvSpPr>
          <p:nvPr>
            <p:ph type="title"/>
          </p:nvPr>
        </p:nvSpPr>
        <p:spPr>
          <a:xfrm>
            <a:off x="4323129" y="671341"/>
            <a:ext cx="3535721"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Logical tests</a:t>
            </a:r>
            <a:endParaRPr dirty="0"/>
          </a:p>
        </p:txBody>
      </p:sp>
      <p:graphicFrame>
        <p:nvGraphicFramePr>
          <p:cNvPr id="344" name="Google Shape;344;p36"/>
          <p:cNvGraphicFramePr/>
          <p:nvPr>
            <p:extLst>
              <p:ext uri="{D42A27DB-BD31-4B8C-83A1-F6EECF244321}">
                <p14:modId xmlns:p14="http://schemas.microsoft.com/office/powerpoint/2010/main" val="1079566897"/>
              </p:ext>
            </p:extLst>
          </p:nvPr>
        </p:nvGraphicFramePr>
        <p:xfrm>
          <a:off x="2456539" y="2214484"/>
          <a:ext cx="7268900" cy="3527500"/>
        </p:xfrm>
        <a:graphic>
          <a:graphicData uri="http://schemas.openxmlformats.org/drawingml/2006/table">
            <a:tbl>
              <a:tblPr firstRow="1" bandRow="1">
                <a:noFill/>
              </a:tblPr>
              <a:tblGrid>
                <a:gridCol w="2366752">
                  <a:extLst>
                    <a:ext uri="{9D8B030D-6E8A-4147-A177-3AD203B41FA5}">
                      <a16:colId xmlns:a16="http://schemas.microsoft.com/office/drawing/2014/main" val="20000"/>
                    </a:ext>
                  </a:extLst>
                </a:gridCol>
                <a:gridCol w="4902148">
                  <a:extLst>
                    <a:ext uri="{9D8B030D-6E8A-4147-A177-3AD203B41FA5}">
                      <a16:colId xmlns:a16="http://schemas.microsoft.com/office/drawing/2014/main" val="20001"/>
                    </a:ext>
                  </a:extLst>
                </a:gridCol>
              </a:tblGrid>
              <a:tr h="427339">
                <a:tc>
                  <a:txBody>
                    <a:bodyPr/>
                    <a:lstStyle/>
                    <a:p>
                      <a:pPr marL="12700" marR="0" lvl="0" indent="0" algn="ctr" rtl="0">
                        <a:lnSpc>
                          <a:spcPct val="100000"/>
                        </a:lnSpc>
                        <a:spcBef>
                          <a:spcPts val="0"/>
                        </a:spcBef>
                        <a:spcAft>
                          <a:spcPts val="0"/>
                        </a:spcAft>
                        <a:buNone/>
                      </a:pPr>
                      <a:r>
                        <a:rPr lang="en-US"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36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3600" u="none" strike="noStrike" cap="none" dirty="0">
                          <a:latin typeface="Consolas" panose="020B0609020204030204" pitchFamily="49" charset="0"/>
                          <a:ea typeface="Courier New"/>
                          <a:cs typeface="Consolas" panose="020B0609020204030204" pitchFamily="49" charset="0"/>
                          <a:sym typeface="Courier New"/>
                        </a:rPr>
                        <a:t>&lt; </a:t>
                      </a:r>
                      <a:r>
                        <a:rPr lang="en-US"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38879"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3200" u="none" strike="noStrike" cap="none" dirty="0">
                          <a:latin typeface="Tw Cen MT" panose="020B0602020104020603" pitchFamily="34" charset="77"/>
                          <a:ea typeface="Calibri"/>
                          <a:cs typeface="Calibri"/>
                          <a:sym typeface="Calibri"/>
                        </a:rPr>
                        <a:t>Less than</a:t>
                      </a:r>
                      <a:endParaRPr sz="3200" u="none" strike="noStrike" cap="none" dirty="0">
                        <a:latin typeface="Tw Cen MT" panose="020B0602020104020603" pitchFamily="34" charset="77"/>
                        <a:ea typeface="Calibri"/>
                        <a:cs typeface="Calibri"/>
                        <a:sym typeface="Calibri"/>
                      </a:endParaRPr>
                    </a:p>
                  </a:txBody>
                  <a:tcPr marL="0" marR="0" marT="33509"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0"/>
                  </a:ext>
                </a:extLst>
              </a:tr>
              <a:tr h="427339">
                <a:tc>
                  <a:txBody>
                    <a:bodyPr/>
                    <a:lstStyle/>
                    <a:p>
                      <a:pPr marL="12700" marR="0" lvl="0" indent="0" algn="ctr" rtl="0">
                        <a:lnSpc>
                          <a:spcPct val="100000"/>
                        </a:lnSpc>
                        <a:spcBef>
                          <a:spcPts val="0"/>
                        </a:spcBef>
                        <a:spcAft>
                          <a:spcPts val="0"/>
                        </a:spcAft>
                        <a:buNone/>
                      </a:pPr>
                      <a:r>
                        <a:rPr lang="en-US"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36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3600" u="none" strike="noStrike" cap="none" dirty="0">
                          <a:latin typeface="Consolas" panose="020B0609020204030204" pitchFamily="49" charset="0"/>
                          <a:ea typeface="Courier New"/>
                          <a:cs typeface="Consolas" panose="020B0609020204030204" pitchFamily="49" charset="0"/>
                          <a:sym typeface="Courier New"/>
                        </a:rPr>
                        <a:t>&gt; </a:t>
                      </a:r>
                      <a:r>
                        <a:rPr lang="en-US"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36964"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3200" u="none" strike="noStrike" cap="none" dirty="0">
                          <a:latin typeface="Tw Cen MT" panose="020B0602020104020603" pitchFamily="34" charset="77"/>
                          <a:ea typeface="Calibri"/>
                          <a:cs typeface="Calibri"/>
                          <a:sym typeface="Calibri"/>
                        </a:rPr>
                        <a:t>Greater than</a:t>
                      </a:r>
                      <a:endParaRPr sz="3200" u="none" strike="noStrike" cap="none" dirty="0">
                        <a:latin typeface="Tw Cen MT" panose="020B0602020104020603" pitchFamily="34" charset="77"/>
                        <a:ea typeface="Calibri"/>
                        <a:cs typeface="Calibri"/>
                        <a:sym typeface="Calibri"/>
                      </a:endParaRPr>
                    </a:p>
                  </a:txBody>
                  <a:tcPr marL="0" marR="0" marT="37728"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1"/>
                  </a:ext>
                </a:extLst>
              </a:tr>
              <a:tr h="427339">
                <a:tc>
                  <a:txBody>
                    <a:bodyPr/>
                    <a:lstStyle/>
                    <a:p>
                      <a:pPr marL="0" marR="0" lvl="0" indent="0" algn="ctr" rtl="0">
                        <a:lnSpc>
                          <a:spcPct val="100000"/>
                        </a:lnSpc>
                        <a:spcBef>
                          <a:spcPts val="0"/>
                        </a:spcBef>
                        <a:spcAft>
                          <a:spcPts val="0"/>
                        </a:spcAft>
                        <a:buNone/>
                      </a:pPr>
                      <a:r>
                        <a:rPr lang="en-US"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36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3600" u="none" strike="noStrike" cap="none" dirty="0">
                          <a:latin typeface="Consolas" panose="020B0609020204030204" pitchFamily="49" charset="0"/>
                          <a:ea typeface="Courier New"/>
                          <a:cs typeface="Consolas" panose="020B0609020204030204" pitchFamily="49" charset="0"/>
                          <a:sym typeface="Courier New"/>
                        </a:rPr>
                        <a:t>== </a:t>
                      </a:r>
                      <a:r>
                        <a:rPr lang="en-US"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41210"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3200" u="none" strike="noStrike" cap="none" dirty="0">
                          <a:latin typeface="Tw Cen MT" panose="020B0602020104020603" pitchFamily="34" charset="77"/>
                          <a:ea typeface="Calibri"/>
                          <a:cs typeface="Calibri"/>
                          <a:sym typeface="Calibri"/>
                        </a:rPr>
                        <a:t>Equal to</a:t>
                      </a:r>
                      <a:endParaRPr sz="3200" u="none" strike="noStrike" cap="none" dirty="0">
                        <a:latin typeface="Tw Cen MT" panose="020B0602020104020603" pitchFamily="34" charset="77"/>
                        <a:ea typeface="Calibri"/>
                        <a:cs typeface="Calibri"/>
                        <a:sym typeface="Calibri"/>
                      </a:endParaRPr>
                    </a:p>
                  </a:txBody>
                  <a:tcPr marL="0" marR="0" marT="35813"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2"/>
                  </a:ext>
                </a:extLst>
              </a:tr>
              <a:tr h="427339">
                <a:tc>
                  <a:txBody>
                    <a:bodyPr/>
                    <a:lstStyle/>
                    <a:p>
                      <a:pPr marL="0" marR="0" lvl="0" indent="0" algn="ctr" rtl="0">
                        <a:lnSpc>
                          <a:spcPct val="100000"/>
                        </a:lnSpc>
                        <a:spcBef>
                          <a:spcPts val="0"/>
                        </a:spcBef>
                        <a:spcAft>
                          <a:spcPts val="0"/>
                        </a:spcAft>
                        <a:buNone/>
                      </a:pPr>
                      <a:r>
                        <a:rPr lang="en-US"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36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3600" u="none" strike="noStrike" cap="none" dirty="0">
                          <a:latin typeface="Consolas" panose="020B0609020204030204" pitchFamily="49" charset="0"/>
                          <a:ea typeface="Courier New"/>
                          <a:cs typeface="Consolas" panose="020B0609020204030204" pitchFamily="49" charset="0"/>
                          <a:sym typeface="Courier New"/>
                        </a:rPr>
                        <a:t>&lt;= </a:t>
                      </a:r>
                      <a:r>
                        <a:rPr lang="en-US"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39281"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3200" u="none" strike="noStrike" cap="none" dirty="0">
                          <a:latin typeface="Tw Cen MT" panose="020B0602020104020603" pitchFamily="34" charset="77"/>
                          <a:ea typeface="Calibri"/>
                          <a:cs typeface="Calibri"/>
                          <a:sym typeface="Calibri"/>
                        </a:rPr>
                        <a:t>Less than or equal to</a:t>
                      </a:r>
                      <a:endParaRPr sz="3200" u="none" strike="noStrike" cap="none" dirty="0">
                        <a:latin typeface="Tw Cen MT" panose="020B0602020104020603" pitchFamily="34" charset="77"/>
                        <a:ea typeface="Calibri"/>
                        <a:cs typeface="Calibri"/>
                        <a:sym typeface="Calibri"/>
                      </a:endParaRPr>
                    </a:p>
                  </a:txBody>
                  <a:tcPr marL="0" marR="0" marT="33884"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3"/>
                  </a:ext>
                </a:extLst>
              </a:tr>
              <a:tr h="534059">
                <a:tc>
                  <a:txBody>
                    <a:bodyPr/>
                    <a:lstStyle/>
                    <a:p>
                      <a:pPr marL="0" marR="0" lvl="0" indent="0" algn="ctr" rtl="0">
                        <a:lnSpc>
                          <a:spcPct val="100000"/>
                        </a:lnSpc>
                        <a:spcBef>
                          <a:spcPts val="0"/>
                        </a:spcBef>
                        <a:spcAft>
                          <a:spcPts val="0"/>
                        </a:spcAft>
                        <a:buNone/>
                      </a:pPr>
                      <a:r>
                        <a:rPr lang="en-US"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36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3600" u="none" strike="noStrike" cap="none" dirty="0">
                          <a:latin typeface="Consolas" panose="020B0609020204030204" pitchFamily="49" charset="0"/>
                          <a:ea typeface="Courier New"/>
                          <a:cs typeface="Consolas" panose="020B0609020204030204" pitchFamily="49" charset="0"/>
                          <a:sym typeface="Courier New"/>
                        </a:rPr>
                        <a:t>&gt;= </a:t>
                      </a:r>
                      <a:r>
                        <a:rPr lang="en-US"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37353"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3200" u="none" strike="noStrike" cap="none" dirty="0">
                          <a:latin typeface="Tw Cen MT" panose="020B0602020104020603" pitchFamily="34" charset="77"/>
                          <a:ea typeface="Calibri"/>
                          <a:cs typeface="Calibri"/>
                          <a:sym typeface="Calibri"/>
                        </a:rPr>
                        <a:t>Greater than or equal to</a:t>
                      </a:r>
                      <a:endParaRPr sz="3200" u="none" strike="noStrike" cap="none" dirty="0">
                        <a:latin typeface="Tw Cen MT" panose="020B0602020104020603" pitchFamily="34" charset="77"/>
                        <a:ea typeface="Calibri"/>
                        <a:cs typeface="Calibri"/>
                        <a:sym typeface="Calibri"/>
                      </a:endParaRPr>
                    </a:p>
                  </a:txBody>
                  <a:tcPr marL="0" marR="0" marT="38504"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4"/>
                  </a:ext>
                </a:extLst>
              </a:tr>
              <a:tr h="427339">
                <a:tc>
                  <a:txBody>
                    <a:bodyPr/>
                    <a:lstStyle/>
                    <a:p>
                      <a:pPr marL="0" marR="0" lvl="0" indent="0" algn="ctr" rtl="0">
                        <a:lnSpc>
                          <a:spcPct val="100000"/>
                        </a:lnSpc>
                        <a:spcBef>
                          <a:spcPts val="0"/>
                        </a:spcBef>
                        <a:spcAft>
                          <a:spcPts val="0"/>
                        </a:spcAft>
                        <a:buNone/>
                      </a:pPr>
                      <a:r>
                        <a:rPr lang="en-US"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36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3600" u="none" strike="noStrike" cap="none" dirty="0">
                          <a:latin typeface="Consolas" panose="020B0609020204030204" pitchFamily="49" charset="0"/>
                          <a:ea typeface="Courier New"/>
                          <a:cs typeface="Consolas" panose="020B0609020204030204" pitchFamily="49" charset="0"/>
                          <a:sym typeface="Courier New"/>
                        </a:rPr>
                        <a:t>!= </a:t>
                      </a:r>
                      <a:r>
                        <a:rPr lang="en-US"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36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41973"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3200" u="none" strike="noStrike" cap="none" dirty="0">
                          <a:latin typeface="Tw Cen MT" panose="020B0602020104020603" pitchFamily="34" charset="77"/>
                          <a:ea typeface="Calibri"/>
                          <a:cs typeface="Calibri"/>
                          <a:sym typeface="Calibri"/>
                        </a:rPr>
                        <a:t>Not equal to</a:t>
                      </a:r>
                      <a:endParaRPr sz="3200" u="none" strike="noStrike" cap="none" dirty="0">
                        <a:latin typeface="Tw Cen MT" panose="020B0602020104020603" pitchFamily="34" charset="77"/>
                        <a:ea typeface="Calibri"/>
                        <a:cs typeface="Calibri"/>
                        <a:sym typeface="Calibri"/>
                      </a:endParaRPr>
                    </a:p>
                  </a:txBody>
                  <a:tcPr marL="0" marR="0" marT="36576"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69169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36237-993C-8045-8944-D9334B8924E0}"/>
              </a:ext>
            </a:extLst>
          </p:cNvPr>
          <p:cNvSpPr>
            <a:spLocks noGrp="1"/>
          </p:cNvSpPr>
          <p:nvPr>
            <p:ph type="title"/>
          </p:nvPr>
        </p:nvSpPr>
        <p:spPr/>
        <p:txBody>
          <a:bodyPr/>
          <a:lstStyle/>
          <a:p>
            <a:r>
              <a:rPr lang="en-US" dirty="0"/>
              <a:t>Pop Quiz</a:t>
            </a:r>
          </a:p>
        </p:txBody>
      </p:sp>
      <p:sp>
        <p:nvSpPr>
          <p:cNvPr id="3" name="Text Placeholder 2">
            <a:extLst>
              <a:ext uri="{FF2B5EF4-FFF2-40B4-BE49-F238E27FC236}">
                <a16:creationId xmlns:a16="http://schemas.microsoft.com/office/drawing/2014/main" id="{A802227E-A0BF-1E4C-ABBA-17A73F8E8E94}"/>
              </a:ext>
            </a:extLst>
          </p:cNvPr>
          <p:cNvSpPr>
            <a:spLocks noGrp="1"/>
          </p:cNvSpPr>
          <p:nvPr>
            <p:ph type="body" sz="quarter" idx="13"/>
          </p:nvPr>
        </p:nvSpPr>
        <p:spPr>
          <a:xfrm>
            <a:off x="1012330" y="2238375"/>
            <a:ext cx="9720072" cy="3178175"/>
          </a:xfrm>
        </p:spPr>
        <p:txBody>
          <a:bodyPr>
            <a:normAutofit fontScale="92500" lnSpcReduction="10000"/>
          </a:bodyPr>
          <a:lstStyle/>
          <a:p>
            <a:r>
              <a:rPr lang="en-US" sz="3200" dirty="0"/>
              <a:t>Which of these would successfully filter the </a:t>
            </a:r>
            <a:r>
              <a:rPr lang="en-US" sz="3200" dirty="0" err="1">
                <a:latin typeface="Consolas" panose="020B0609020204030204" pitchFamily="49" charset="0"/>
              </a:rPr>
              <a:t>covid_testing</a:t>
            </a:r>
            <a:r>
              <a:rPr lang="en-US" sz="3200" dirty="0"/>
              <a:t> data frame to tests with positive results?</a:t>
            </a:r>
          </a:p>
          <a:p>
            <a:r>
              <a:rPr lang="en-US" sz="3200" dirty="0"/>
              <a:t>A)</a:t>
            </a:r>
            <a:r>
              <a:rPr lang="en-US" sz="2800" dirty="0">
                <a:latin typeface="Consolas" panose="020B0609020204030204" pitchFamily="49" charset="0"/>
              </a:rPr>
              <a:t> filter(</a:t>
            </a:r>
            <a:r>
              <a:rPr lang="en-US" sz="2800" dirty="0" err="1">
                <a:latin typeface="Consolas" panose="020B0609020204030204" pitchFamily="49" charset="0"/>
              </a:rPr>
              <a:t>covid_testing</a:t>
            </a:r>
            <a:r>
              <a:rPr lang="en-US" sz="2800" dirty="0">
                <a:latin typeface="Consolas" panose="020B0609020204030204" pitchFamily="49" charset="0"/>
              </a:rPr>
              <a:t>, result == positive)</a:t>
            </a:r>
          </a:p>
          <a:p>
            <a:pPr marL="0" indent="0">
              <a:buNone/>
            </a:pPr>
            <a:r>
              <a:rPr lang="en-US" sz="3200" dirty="0">
                <a:solidFill>
                  <a:srgbClr val="42BA97">
                    <a:lumMod val="75000"/>
                  </a:srgbClr>
                </a:solidFill>
              </a:rPr>
              <a:t> B)</a:t>
            </a:r>
            <a:r>
              <a:rPr lang="en-US" sz="2800" dirty="0">
                <a:solidFill>
                  <a:srgbClr val="42BA97">
                    <a:lumMod val="75000"/>
                  </a:srgbClr>
                </a:solidFill>
                <a:latin typeface="Consolas" panose="020B0609020204030204" pitchFamily="49" charset="0"/>
              </a:rPr>
              <a:t> filter</a:t>
            </a:r>
            <a:r>
              <a:rPr lang="en-US" sz="2800" dirty="0">
                <a:latin typeface="Consolas" panose="020B0609020204030204" pitchFamily="49" charset="0"/>
              </a:rPr>
              <a:t>(</a:t>
            </a:r>
            <a:r>
              <a:rPr lang="en-US" sz="2800" dirty="0" err="1">
                <a:latin typeface="Consolas" panose="020B0609020204030204" pitchFamily="49" charset="0"/>
              </a:rPr>
              <a:t>covid_testing</a:t>
            </a:r>
            <a:r>
              <a:rPr lang="en-US" sz="2800" dirty="0">
                <a:latin typeface="Consolas" panose="020B0609020204030204" pitchFamily="49" charset="0"/>
              </a:rPr>
              <a:t>, result = "positive")</a:t>
            </a:r>
          </a:p>
          <a:p>
            <a:pPr marL="0" indent="0">
              <a:buNone/>
            </a:pPr>
            <a:r>
              <a:rPr lang="en-US" sz="3200" dirty="0">
                <a:solidFill>
                  <a:srgbClr val="42BA97">
                    <a:lumMod val="75000"/>
                  </a:srgbClr>
                </a:solidFill>
              </a:rPr>
              <a:t> C)</a:t>
            </a:r>
            <a:r>
              <a:rPr lang="en-US" sz="2800" dirty="0">
                <a:solidFill>
                  <a:srgbClr val="42BA97">
                    <a:lumMod val="75000"/>
                  </a:srgbClr>
                </a:solidFill>
                <a:latin typeface="Consolas" panose="020B0609020204030204" pitchFamily="49" charset="0"/>
              </a:rPr>
              <a:t> filter</a:t>
            </a:r>
            <a:r>
              <a:rPr lang="en-US" sz="2800" dirty="0">
                <a:latin typeface="Consolas" panose="020B0609020204030204" pitchFamily="49" charset="0"/>
              </a:rPr>
              <a:t>(</a:t>
            </a:r>
            <a:r>
              <a:rPr lang="en-US" sz="2800" dirty="0" err="1">
                <a:latin typeface="Consolas" panose="020B0609020204030204" pitchFamily="49" charset="0"/>
              </a:rPr>
              <a:t>covid_testing</a:t>
            </a:r>
            <a:r>
              <a:rPr lang="en-US" sz="2800" dirty="0">
                <a:latin typeface="Consolas" panose="020B0609020204030204" pitchFamily="49" charset="0"/>
              </a:rPr>
              <a:t>, result == "positive")</a:t>
            </a:r>
          </a:p>
          <a:p>
            <a:pPr marL="0" indent="0">
              <a:buNone/>
            </a:pPr>
            <a:r>
              <a:rPr lang="en-US" sz="3200" dirty="0"/>
              <a:t> D)</a:t>
            </a:r>
            <a:r>
              <a:rPr lang="en-US" sz="2800" dirty="0">
                <a:latin typeface="Consolas" panose="020B0609020204030204" pitchFamily="49" charset="0"/>
              </a:rPr>
              <a:t> filter(</a:t>
            </a:r>
            <a:r>
              <a:rPr lang="en-US" sz="2800" dirty="0" err="1">
                <a:latin typeface="Consolas" panose="020B0609020204030204" pitchFamily="49" charset="0"/>
              </a:rPr>
              <a:t>covid_testing</a:t>
            </a:r>
            <a:r>
              <a:rPr lang="en-US" sz="2800" dirty="0">
                <a:latin typeface="Consolas" panose="020B0609020204030204" pitchFamily="49" charset="0"/>
              </a:rPr>
              <a:t>, positive == "result")</a:t>
            </a:r>
          </a:p>
          <a:p>
            <a:pPr marL="0" indent="0">
              <a:buNone/>
            </a:pPr>
            <a:endParaRPr lang="en-US" sz="3600" dirty="0">
              <a:latin typeface="Consolas" panose="020B0609020204030204" pitchFamily="49" charset="0"/>
            </a:endParaRPr>
          </a:p>
          <a:p>
            <a:pPr marL="0" indent="0">
              <a:buNone/>
            </a:pPr>
            <a:endParaRPr lang="en-US" sz="3200" dirty="0">
              <a:latin typeface="Consolas" panose="020B0609020204030204" pitchFamily="49" charset="0"/>
            </a:endParaRPr>
          </a:p>
        </p:txBody>
      </p:sp>
    </p:spTree>
    <p:extLst>
      <p:ext uri="{BB962C8B-B14F-4D97-AF65-F5344CB8AC3E}">
        <p14:creationId xmlns:p14="http://schemas.microsoft.com/office/powerpoint/2010/main" val="4115249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t>The pipe operator </a:t>
            </a:r>
            <a:r>
              <a:rPr lang="en-US" dirty="0">
                <a:latin typeface="Consolas" panose="020B0609020204030204" pitchFamily="49" charset="0"/>
              </a:rPr>
              <a:t>%&gt;%</a:t>
            </a:r>
          </a:p>
        </p:txBody>
      </p:sp>
    </p:spTree>
    <p:extLst>
      <p:ext uri="{BB962C8B-B14F-4D97-AF65-F5344CB8AC3E}">
        <p14:creationId xmlns:p14="http://schemas.microsoft.com/office/powerpoint/2010/main" val="167042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4750" y="351797"/>
            <a:ext cx="7046091" cy="777536"/>
          </a:xfrm>
        </p:spPr>
        <p:txBody>
          <a:bodyPr/>
          <a:lstStyle/>
          <a:p>
            <a:r>
              <a:rPr lang="en-US" sz="4800" dirty="0">
                <a:solidFill>
                  <a:srgbClr val="000000"/>
                </a:solidFill>
              </a:rPr>
              <a:t>The Pipe Operator </a:t>
            </a:r>
            <a:r>
              <a:rPr lang="en-US" sz="4800" dirty="0">
                <a:latin typeface="Consolas" panose="020B0609020204030204" pitchFamily="49" charset="0"/>
              </a:rPr>
              <a:t>%&gt;%</a:t>
            </a:r>
            <a:endParaRPr lang="en-US" sz="4800" b="1" dirty="0">
              <a:solidFill>
                <a:srgbClr val="000000"/>
              </a:solidFill>
            </a:endParaRPr>
          </a:p>
        </p:txBody>
      </p:sp>
      <p:sp>
        <p:nvSpPr>
          <p:cNvPr id="3" name="U-Turn Arrow 2"/>
          <p:cNvSpPr/>
          <p:nvPr/>
        </p:nvSpPr>
        <p:spPr>
          <a:xfrm>
            <a:off x="1570847" y="1902372"/>
            <a:ext cx="5055476" cy="1261241"/>
          </a:xfrm>
          <a:prstGeom prst="uturnArrow">
            <a:avLst>
              <a:gd name="adj1" fmla="val 31667"/>
              <a:gd name="adj2" fmla="val 25000"/>
              <a:gd name="adj3" fmla="val 33333"/>
              <a:gd name="adj4" fmla="val 35417"/>
              <a:gd name="adj5" fmla="val 100000"/>
            </a:avLst>
          </a:prstGeom>
          <a:solidFill>
            <a:srgbClr val="8DB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Rectangle 3"/>
          <p:cNvSpPr/>
          <p:nvPr/>
        </p:nvSpPr>
        <p:spPr>
          <a:xfrm>
            <a:off x="4238960" y="3176022"/>
            <a:ext cx="6287299" cy="584775"/>
          </a:xfrm>
          <a:prstGeom prst="rect">
            <a:avLst/>
          </a:prstGeom>
        </p:spPr>
        <p:txBody>
          <a:bodyPr wrap="none">
            <a:spAutoFit/>
          </a:bodyPr>
          <a:lstStyle/>
          <a:p>
            <a:r>
              <a:rPr lang="en-US" sz="3200" dirty="0">
                <a:latin typeface="Consolas" panose="020B0609020204030204" pitchFamily="49" charset="0"/>
                <a:ea typeface="Courier New"/>
                <a:cs typeface="Courier New"/>
                <a:sym typeface="Courier New"/>
              </a:rPr>
              <a:t>filter(</a:t>
            </a:r>
            <a:r>
              <a:rPr lang="en-US" sz="3200" dirty="0">
                <a:solidFill>
                  <a:srgbClr val="0365C0"/>
                </a:solidFill>
                <a:latin typeface="Consolas" panose="020B0609020204030204" pitchFamily="49" charset="0"/>
                <a:ea typeface="Courier New"/>
                <a:cs typeface="Courier New"/>
                <a:sym typeface="Courier New"/>
              </a:rPr>
              <a:t>____</a:t>
            </a:r>
            <a:r>
              <a:rPr lang="en-US" sz="3200" dirty="0">
                <a:latin typeface="Consolas" panose="020B0609020204030204" pitchFamily="49" charset="0"/>
                <a:ea typeface="Courier New"/>
                <a:cs typeface="Courier New"/>
                <a:sym typeface="Courier New"/>
              </a:rPr>
              <a:t>, </a:t>
            </a:r>
            <a:r>
              <a:rPr lang="en-US" sz="3200" dirty="0" err="1">
                <a:solidFill>
                  <a:schemeClr val="accent3">
                    <a:lumMod val="75000"/>
                  </a:schemeClr>
                </a:solidFill>
                <a:latin typeface="Consolas" panose="020B0609020204030204" pitchFamily="49" charset="0"/>
                <a:ea typeface="Courier New"/>
                <a:cs typeface="Courier New"/>
                <a:sym typeface="Courier New"/>
              </a:rPr>
              <a:t>pan_day</a:t>
            </a:r>
            <a:r>
              <a:rPr lang="en-US" sz="3200" dirty="0">
                <a:solidFill>
                  <a:schemeClr val="accent3">
                    <a:lumMod val="75000"/>
                  </a:schemeClr>
                </a:solidFill>
                <a:latin typeface="Consolas" panose="020B0609020204030204" pitchFamily="49" charset="0"/>
                <a:ea typeface="Courier New"/>
                <a:cs typeface="Courier New"/>
                <a:sym typeface="Courier New"/>
              </a:rPr>
              <a:t> &lt;= 10</a:t>
            </a:r>
            <a:r>
              <a:rPr lang="en-US" sz="3200" dirty="0">
                <a:latin typeface="Consolas" panose="020B0609020204030204" pitchFamily="49" charset="0"/>
                <a:ea typeface="Courier New"/>
                <a:cs typeface="Courier New"/>
                <a:sym typeface="Courier New"/>
              </a:rPr>
              <a:t>)</a:t>
            </a:r>
            <a:endParaRPr lang="en-US" sz="3200" dirty="0"/>
          </a:p>
        </p:txBody>
      </p:sp>
      <p:sp>
        <p:nvSpPr>
          <p:cNvPr id="5" name="Rectangle 4"/>
          <p:cNvSpPr/>
          <p:nvPr/>
        </p:nvSpPr>
        <p:spPr>
          <a:xfrm>
            <a:off x="247649" y="3163612"/>
            <a:ext cx="3679639" cy="584775"/>
          </a:xfrm>
          <a:prstGeom prst="rect">
            <a:avLst/>
          </a:prstGeom>
        </p:spPr>
        <p:txBody>
          <a:bodyPr wrap="square">
            <a:spAutoFit/>
          </a:bodyPr>
          <a:lstStyle/>
          <a:p>
            <a:r>
              <a:rPr lang="en-US" sz="3200" dirty="0" err="1">
                <a:solidFill>
                  <a:srgbClr val="0365C0"/>
                </a:solidFill>
                <a:latin typeface="Consolas" panose="020B0609020204030204" pitchFamily="49" charset="0"/>
                <a:ea typeface="Courier New"/>
                <a:cs typeface="Courier New"/>
                <a:sym typeface="Courier New"/>
              </a:rPr>
              <a:t>covid_testing</a:t>
            </a:r>
            <a:endParaRPr lang="en-US" sz="3200" dirty="0"/>
          </a:p>
        </p:txBody>
      </p:sp>
      <p:sp>
        <p:nvSpPr>
          <p:cNvPr id="6" name="Rectangle 5"/>
          <p:cNvSpPr/>
          <p:nvPr/>
        </p:nvSpPr>
        <p:spPr>
          <a:xfrm>
            <a:off x="924910" y="1172273"/>
            <a:ext cx="10372419" cy="599289"/>
          </a:xfrm>
          <a:prstGeom prst="rect">
            <a:avLst/>
          </a:prstGeom>
        </p:spPr>
        <p:txBody>
          <a:bodyPr wrap="square">
            <a:spAutoFit/>
          </a:bodyPr>
          <a:lstStyle/>
          <a:p>
            <a:pPr algn="ctr"/>
            <a:r>
              <a:rPr lang="en-US" sz="3200" dirty="0">
                <a:latin typeface="Calibri" panose="020F0502020204030204" pitchFamily="34" charset="0"/>
              </a:rPr>
              <a:t>Passes result on left into first argument of function on right.</a:t>
            </a:r>
            <a:endParaRPr lang="en-US" sz="2800" dirty="0">
              <a:latin typeface="Calibri" panose="020F0502020204030204" pitchFamily="34" charset="0"/>
            </a:endParaRPr>
          </a:p>
        </p:txBody>
      </p:sp>
      <p:sp>
        <p:nvSpPr>
          <p:cNvPr id="7" name="Rectangle 6"/>
          <p:cNvSpPr/>
          <p:nvPr/>
        </p:nvSpPr>
        <p:spPr>
          <a:xfrm>
            <a:off x="924910" y="4844831"/>
            <a:ext cx="10016359" cy="1524437"/>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030341" y="4905504"/>
            <a:ext cx="8095486" cy="584775"/>
          </a:xfrm>
          <a:prstGeom prst="rect">
            <a:avLst/>
          </a:prstGeom>
        </p:spPr>
        <p:txBody>
          <a:bodyPr wrap="none">
            <a:spAutoFit/>
          </a:bodyPr>
          <a:lstStyle/>
          <a:p>
            <a:r>
              <a:rPr lang="en-US" sz="3200" dirty="0">
                <a:solidFill>
                  <a:schemeClr val="tx1"/>
                </a:solidFill>
                <a:latin typeface="Consolas" panose="020B0609020204030204" pitchFamily="49" charset="0"/>
                <a:ea typeface="Courier New"/>
                <a:cs typeface="Courier New"/>
                <a:sym typeface="Courier New"/>
              </a:rPr>
              <a:t>filter(</a:t>
            </a:r>
            <a:r>
              <a:rPr lang="en-US" sz="3200" dirty="0" err="1">
                <a:solidFill>
                  <a:schemeClr val="tx1"/>
                </a:solidFill>
                <a:latin typeface="Consolas" panose="020B0609020204030204" pitchFamily="49" charset="0"/>
                <a:ea typeface="Courier New"/>
                <a:cs typeface="Courier New"/>
                <a:sym typeface="Courier New"/>
              </a:rPr>
              <a:t>covid_tesing</a:t>
            </a:r>
            <a:r>
              <a:rPr lang="en-US" sz="3200" dirty="0">
                <a:solidFill>
                  <a:schemeClr val="tx1"/>
                </a:solidFill>
                <a:latin typeface="Consolas" panose="020B0609020204030204" pitchFamily="49" charset="0"/>
                <a:ea typeface="Courier New"/>
                <a:cs typeface="Courier New"/>
                <a:sym typeface="Courier New"/>
              </a:rPr>
              <a:t>, </a:t>
            </a:r>
            <a:r>
              <a:rPr lang="en-US" sz="3200" dirty="0" err="1">
                <a:solidFill>
                  <a:schemeClr val="tx1"/>
                </a:solidFill>
                <a:latin typeface="Consolas" panose="020B0609020204030204" pitchFamily="49" charset="0"/>
                <a:ea typeface="Courier New"/>
                <a:cs typeface="Courier New"/>
                <a:sym typeface="Courier New"/>
              </a:rPr>
              <a:t>pan_day</a:t>
            </a:r>
            <a:r>
              <a:rPr lang="en-US" sz="3200" dirty="0">
                <a:solidFill>
                  <a:schemeClr val="tx1"/>
                </a:solidFill>
                <a:latin typeface="Consolas" panose="020B0609020204030204" pitchFamily="49" charset="0"/>
                <a:ea typeface="Courier New"/>
                <a:cs typeface="Courier New"/>
                <a:sym typeface="Courier New"/>
              </a:rPr>
              <a:t> </a:t>
            </a:r>
            <a:r>
              <a:rPr lang="en-US" sz="3200" dirty="0">
                <a:latin typeface="Consolas" panose="020B0609020204030204" pitchFamily="49" charset="0"/>
                <a:ea typeface="Courier New"/>
                <a:cs typeface="Courier New"/>
                <a:sym typeface="Courier New"/>
              </a:rPr>
              <a:t>&lt;= 10)</a:t>
            </a:r>
            <a:endParaRPr lang="en-US" sz="3200" dirty="0">
              <a:latin typeface="Consolas" panose="020B0609020204030204" pitchFamily="49" charset="0"/>
              <a:ea typeface="Courier New"/>
              <a:cs typeface="Courier New"/>
            </a:endParaRPr>
          </a:p>
        </p:txBody>
      </p:sp>
      <p:sp>
        <p:nvSpPr>
          <p:cNvPr id="9" name="Rectangle 8"/>
          <p:cNvSpPr/>
          <p:nvPr/>
        </p:nvSpPr>
        <p:spPr>
          <a:xfrm>
            <a:off x="1030341" y="5550952"/>
            <a:ext cx="10016358" cy="584775"/>
          </a:xfrm>
          <a:prstGeom prst="rect">
            <a:avLst/>
          </a:prstGeom>
        </p:spPr>
        <p:txBody>
          <a:bodyPr wrap="square">
            <a:spAutoFit/>
          </a:bodyPr>
          <a:lstStyle/>
          <a:p>
            <a:r>
              <a:rPr lang="en-US" sz="3200" dirty="0" err="1">
                <a:solidFill>
                  <a:schemeClr val="tx1"/>
                </a:solidFill>
                <a:latin typeface="Consolas" panose="020B0609020204030204" pitchFamily="49" charset="0"/>
                <a:ea typeface="Courier New"/>
                <a:cs typeface="Courier New"/>
                <a:sym typeface="Courier New"/>
              </a:rPr>
              <a:t>covid_tesing</a:t>
            </a:r>
            <a:r>
              <a:rPr lang="en-US" sz="3200" dirty="0">
                <a:latin typeface="Consolas" panose="020B0609020204030204" pitchFamily="49" charset="0"/>
                <a:ea typeface="Courier New"/>
                <a:cs typeface="Courier New"/>
                <a:sym typeface="Courier New"/>
              </a:rPr>
              <a:t> </a:t>
            </a:r>
            <a:r>
              <a:rPr lang="en-US" sz="3200" b="1" dirty="0">
                <a:latin typeface="Consolas" panose="020B0609020204030204" pitchFamily="49" charset="0"/>
                <a:ea typeface="Courier New"/>
                <a:cs typeface="Courier New"/>
              </a:rPr>
              <a:t>%&gt;% </a:t>
            </a:r>
            <a:r>
              <a:rPr lang="en-US" sz="3200" dirty="0">
                <a:latin typeface="Consolas" panose="020B0609020204030204" pitchFamily="49" charset="0"/>
                <a:ea typeface="Courier New"/>
                <a:cs typeface="Courier New"/>
                <a:sym typeface="Courier New"/>
              </a:rPr>
              <a:t>filter(</a:t>
            </a:r>
            <a:r>
              <a:rPr lang="en-US" sz="3200" dirty="0" err="1">
                <a:latin typeface="Consolas" panose="020B0609020204030204" pitchFamily="49" charset="0"/>
                <a:ea typeface="Courier New"/>
                <a:cs typeface="Courier New"/>
                <a:sym typeface="Courier New"/>
              </a:rPr>
              <a:t>pan_day</a:t>
            </a:r>
            <a:r>
              <a:rPr lang="en-US" sz="3200" dirty="0">
                <a:latin typeface="Consolas" panose="020B0609020204030204" pitchFamily="49" charset="0"/>
                <a:ea typeface="Courier New"/>
                <a:cs typeface="Courier New"/>
                <a:sym typeface="Courier New"/>
              </a:rPr>
              <a:t> &lt;= 10)</a:t>
            </a:r>
            <a:endParaRPr lang="en-US" sz="3200" dirty="0">
              <a:latin typeface="Consolas" panose="020B0609020204030204" pitchFamily="49" charset="0"/>
              <a:ea typeface="Courier New"/>
              <a:cs typeface="Courier New"/>
            </a:endParaRPr>
          </a:p>
        </p:txBody>
      </p:sp>
      <p:sp>
        <p:nvSpPr>
          <p:cNvPr id="11" name="Rectangle 10"/>
          <p:cNvSpPr/>
          <p:nvPr/>
        </p:nvSpPr>
        <p:spPr>
          <a:xfrm>
            <a:off x="3376223" y="3163612"/>
            <a:ext cx="862737" cy="584775"/>
          </a:xfrm>
          <a:prstGeom prst="rect">
            <a:avLst/>
          </a:prstGeom>
        </p:spPr>
        <p:txBody>
          <a:bodyPr wrap="none">
            <a:spAutoFit/>
          </a:bodyPr>
          <a:lstStyle/>
          <a:p>
            <a:r>
              <a:rPr lang="en-US" sz="3200" b="1" dirty="0">
                <a:latin typeface="Consolas" panose="020B0609020204030204" pitchFamily="49" charset="0"/>
                <a:ea typeface="Courier New"/>
                <a:cs typeface="Courier New"/>
              </a:rPr>
              <a:t>%&gt;%</a:t>
            </a:r>
          </a:p>
        </p:txBody>
      </p:sp>
    </p:spTree>
    <p:extLst>
      <p:ext uri="{BB962C8B-B14F-4D97-AF65-F5344CB8AC3E}">
        <p14:creationId xmlns:p14="http://schemas.microsoft.com/office/powerpoint/2010/main" val="1031818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783969" y="2054587"/>
            <a:ext cx="11780141" cy="2663187"/>
            <a:chOff x="549019" y="1483220"/>
            <a:chExt cx="11780141" cy="3092797"/>
          </a:xfrm>
        </p:grpSpPr>
        <p:sp>
          <p:nvSpPr>
            <p:cNvPr id="8" name="Rectangle 7"/>
            <p:cNvSpPr/>
            <p:nvPr/>
          </p:nvSpPr>
          <p:spPr>
            <a:xfrm>
              <a:off x="549019" y="1483220"/>
              <a:ext cx="11018141" cy="3092797"/>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654090" y="1566411"/>
              <a:ext cx="11675070" cy="2859403"/>
            </a:xfrm>
            <a:prstGeom prst="rect">
              <a:avLst/>
            </a:prstGeom>
            <a:noFill/>
          </p:spPr>
          <p:txBody>
            <a:bodyPr wrap="square" rtlCol="0">
              <a:spAutoFit/>
            </a:bodyPr>
            <a:lstStyle/>
            <a:p>
              <a:r>
                <a:rPr lang="en-US" sz="2200" dirty="0">
                  <a:solidFill>
                    <a:srgbClr val="164F86"/>
                  </a:solidFill>
                  <a:latin typeface="Consolas" panose="020B0609020204030204" pitchFamily="49" charset="0"/>
                  <a:ea typeface="Courier New"/>
                  <a:cs typeface="Consolas" panose="020B0609020204030204" pitchFamily="49" charset="0"/>
                  <a:sym typeface="Courier New"/>
                </a:rPr>
                <a:t>day_10 &lt;- select(</a:t>
              </a:r>
            </a:p>
            <a:p>
              <a:r>
                <a:rPr lang="en-US" sz="2200" dirty="0">
                  <a:solidFill>
                    <a:srgbClr val="164F86"/>
                  </a:solidFill>
                  <a:latin typeface="Consolas" panose="020B0609020204030204" pitchFamily="49" charset="0"/>
                  <a:ea typeface="Courier New"/>
                  <a:cs typeface="Consolas" panose="020B0609020204030204" pitchFamily="49" charset="0"/>
                  <a:sym typeface="Courier New"/>
                </a:rPr>
                <a:t>		filter(</a:t>
              </a:r>
            </a:p>
            <a:p>
              <a:r>
                <a:rPr lang="en-US" sz="2200" dirty="0">
                  <a:solidFill>
                    <a:srgbClr val="164F86"/>
                  </a:solidFill>
                  <a:latin typeface="Consolas" panose="020B0609020204030204" pitchFamily="49" charset="0"/>
                  <a:ea typeface="Courier New"/>
                  <a:cs typeface="Consolas" panose="020B0609020204030204" pitchFamily="49" charset="0"/>
                  <a:sym typeface="Courier New"/>
                </a:rPr>
                <a:t>		  </a:t>
              </a:r>
              <a:r>
                <a:rPr lang="en-US" sz="2200" dirty="0" err="1">
                  <a:solidFill>
                    <a:srgbClr val="164F86"/>
                  </a:solidFill>
                  <a:latin typeface="Consolas" panose="020B0609020204030204" pitchFamily="49" charset="0"/>
                  <a:ea typeface="Courier New"/>
                  <a:cs typeface="Consolas" panose="020B0609020204030204" pitchFamily="49" charset="0"/>
                  <a:sym typeface="Courier New"/>
                </a:rPr>
                <a:t>covid_testing</a:t>
              </a:r>
              <a:r>
                <a:rPr lang="en-US" sz="2200" dirty="0">
                  <a:solidFill>
                    <a:srgbClr val="164F86"/>
                  </a:solidFill>
                  <a:latin typeface="Consolas" panose="020B0609020204030204" pitchFamily="49" charset="0"/>
                  <a:ea typeface="Courier New"/>
                  <a:cs typeface="Consolas" panose="020B0609020204030204" pitchFamily="49" charset="0"/>
                  <a:sym typeface="Courier New"/>
                </a:rPr>
                <a:t>, </a:t>
              </a:r>
            </a:p>
            <a:p>
              <a:r>
                <a:rPr lang="en-US" sz="2200" dirty="0">
                  <a:solidFill>
                    <a:srgbClr val="164F86"/>
                  </a:solidFill>
                  <a:latin typeface="Consolas" panose="020B0609020204030204" pitchFamily="49" charset="0"/>
                  <a:ea typeface="Courier New"/>
                  <a:cs typeface="Consolas" panose="020B0609020204030204" pitchFamily="49" charset="0"/>
                  <a:sym typeface="Courier New"/>
                </a:rPr>
                <a:t>	        </a:t>
              </a:r>
              <a:r>
                <a:rPr lang="fr-FR" sz="2200" dirty="0" err="1">
                  <a:solidFill>
                    <a:srgbClr val="164F86"/>
                  </a:solidFill>
                  <a:latin typeface="Consolas" panose="020B0609020204030204" pitchFamily="49" charset="0"/>
                  <a:ea typeface="Courier New"/>
                  <a:cs typeface="Consolas" panose="020B0609020204030204" pitchFamily="49" charset="0"/>
                  <a:sym typeface="Courier New"/>
                </a:rPr>
                <a:t>pan_day</a:t>
              </a:r>
              <a:r>
                <a:rPr lang="fr-FR" sz="2200" dirty="0">
                  <a:solidFill>
                    <a:srgbClr val="164F86"/>
                  </a:solidFill>
                  <a:latin typeface="Consolas" panose="020B0609020204030204" pitchFamily="49" charset="0"/>
                  <a:ea typeface="Courier New"/>
                  <a:cs typeface="Consolas" panose="020B0609020204030204" pitchFamily="49" charset="0"/>
                  <a:sym typeface="Courier New"/>
                </a:rPr>
                <a:t> &lt;= 10</a:t>
              </a:r>
            </a:p>
            <a:p>
              <a:r>
                <a:rPr lang="fr-FR" sz="2200" dirty="0">
                  <a:solidFill>
                    <a:srgbClr val="164F86"/>
                  </a:solidFill>
                  <a:latin typeface="Consolas" panose="020B0609020204030204" pitchFamily="49" charset="0"/>
                  <a:ea typeface="Courier New"/>
                  <a:cs typeface="Consolas" panose="020B0609020204030204" pitchFamily="49" charset="0"/>
                  <a:sym typeface="Courier New"/>
                </a:rPr>
                <a:t>		),</a:t>
              </a:r>
            </a:p>
            <a:p>
              <a:r>
                <a:rPr lang="fr-FR" sz="2200" dirty="0">
                  <a:solidFill>
                    <a:srgbClr val="164F86"/>
                  </a:solidFill>
                  <a:latin typeface="Consolas" panose="020B0609020204030204" pitchFamily="49" charset="0"/>
                  <a:ea typeface="Courier New"/>
                  <a:cs typeface="Consolas" panose="020B0609020204030204" pitchFamily="49" charset="0"/>
                  <a:sym typeface="Courier New"/>
                </a:rPr>
                <a:t>		</a:t>
              </a:r>
              <a:r>
                <a:rPr lang="fr-FR" sz="2200" dirty="0" err="1">
                  <a:solidFill>
                    <a:srgbClr val="164F86"/>
                  </a:solidFill>
                  <a:latin typeface="Consolas" panose="020B0609020204030204" pitchFamily="49" charset="0"/>
                  <a:ea typeface="Courier New"/>
                  <a:cs typeface="Consolas" panose="020B0609020204030204" pitchFamily="49" charset="0"/>
                  <a:sym typeface="Courier New"/>
                </a:rPr>
                <a:t>clinic_name</a:t>
              </a:r>
              <a:endParaRPr lang="fr-FR" sz="2200" dirty="0">
                <a:solidFill>
                  <a:srgbClr val="164F86"/>
                </a:solidFill>
                <a:latin typeface="Consolas" panose="020B0609020204030204" pitchFamily="49" charset="0"/>
                <a:ea typeface="Courier New"/>
                <a:cs typeface="Consolas" panose="020B0609020204030204" pitchFamily="49" charset="0"/>
                <a:sym typeface="Courier New"/>
              </a:endParaRPr>
            </a:p>
            <a:p>
              <a:r>
                <a:rPr lang="fr-FR" sz="2200" dirty="0">
                  <a:solidFill>
                    <a:srgbClr val="164F86"/>
                  </a:solidFill>
                  <a:latin typeface="Consolas" panose="020B0609020204030204" pitchFamily="49" charset="0"/>
                  <a:ea typeface="Courier New"/>
                  <a:cs typeface="Consolas" panose="020B0609020204030204" pitchFamily="49" charset="0"/>
                  <a:sym typeface="Courier New"/>
                </a:rPr>
                <a:t>	    )</a:t>
              </a:r>
            </a:p>
          </p:txBody>
        </p:sp>
      </p:grpSp>
    </p:spTree>
    <p:extLst>
      <p:ext uri="{BB962C8B-B14F-4D97-AF65-F5344CB8AC3E}">
        <p14:creationId xmlns:p14="http://schemas.microsoft.com/office/powerpoint/2010/main" val="1142480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99799" y="2293205"/>
            <a:ext cx="11018141" cy="2104465"/>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704870" y="2344866"/>
            <a:ext cx="10782260" cy="2554545"/>
          </a:xfrm>
          <a:prstGeom prst="rect">
            <a:avLst/>
          </a:prstGeom>
          <a:noFill/>
        </p:spPr>
        <p:txBody>
          <a:bodyPr wrap="square" rtlCol="0">
            <a:spAutoFit/>
          </a:bodyPr>
          <a:lstStyle/>
          <a:p>
            <a:r>
              <a:rPr lang="en-US" sz="4000" dirty="0" err="1">
                <a:solidFill>
                  <a:srgbClr val="164F86"/>
                </a:solidFill>
                <a:latin typeface="Consolas" panose="020B0609020204030204" pitchFamily="49" charset="0"/>
                <a:ea typeface="Courier New"/>
                <a:cs typeface="Consolas" panose="020B0609020204030204" pitchFamily="49" charset="0"/>
                <a:sym typeface="Courier New"/>
              </a:rPr>
              <a:t>covid_testing</a:t>
            </a:r>
            <a:r>
              <a:rPr lang="en-US" sz="4000" dirty="0">
                <a:solidFill>
                  <a:srgbClr val="164F86"/>
                </a:solidFill>
                <a:latin typeface="Consolas" panose="020B0609020204030204" pitchFamily="49" charset="0"/>
                <a:ea typeface="Courier New"/>
                <a:cs typeface="Consolas" panose="020B0609020204030204" pitchFamily="49" charset="0"/>
                <a:sym typeface="Courier New"/>
              </a:rPr>
              <a:t> %&gt;% </a:t>
            </a:r>
          </a:p>
          <a:p>
            <a:r>
              <a:rPr lang="en-US" sz="4000" dirty="0">
                <a:solidFill>
                  <a:srgbClr val="164F86"/>
                </a:solidFill>
                <a:latin typeface="Consolas" panose="020B0609020204030204" pitchFamily="49" charset="0"/>
                <a:ea typeface="Courier New"/>
                <a:cs typeface="Consolas" panose="020B0609020204030204" pitchFamily="49" charset="0"/>
                <a:sym typeface="Courier New"/>
              </a:rPr>
              <a:t>	filter(</a:t>
            </a:r>
            <a:r>
              <a:rPr lang="en-US" sz="4000" dirty="0" err="1">
                <a:solidFill>
                  <a:srgbClr val="164F86"/>
                </a:solidFill>
                <a:latin typeface="Consolas" panose="020B0609020204030204" pitchFamily="49" charset="0"/>
                <a:ea typeface="Courier New"/>
                <a:cs typeface="Consolas" panose="020B0609020204030204" pitchFamily="49" charset="0"/>
                <a:sym typeface="Courier New"/>
              </a:rPr>
              <a:t>pan_day</a:t>
            </a:r>
            <a:r>
              <a:rPr lang="en-US" sz="4000" dirty="0">
                <a:solidFill>
                  <a:srgbClr val="164F86"/>
                </a:solidFill>
                <a:latin typeface="Consolas" panose="020B0609020204030204" pitchFamily="49" charset="0"/>
                <a:ea typeface="Courier New"/>
                <a:cs typeface="Consolas" panose="020B0609020204030204" pitchFamily="49" charset="0"/>
                <a:sym typeface="Courier New"/>
              </a:rPr>
              <a:t> &lt;= 10) %&gt;%</a:t>
            </a:r>
          </a:p>
          <a:p>
            <a:r>
              <a:rPr lang="en-US" sz="4000" dirty="0">
                <a:solidFill>
                  <a:srgbClr val="164F86"/>
                </a:solidFill>
                <a:latin typeface="Consolas" panose="020B0609020204030204" pitchFamily="49" charset="0"/>
                <a:ea typeface="Courier New"/>
                <a:cs typeface="Consolas" panose="020B0609020204030204" pitchFamily="49" charset="0"/>
                <a:sym typeface="Courier New"/>
              </a:rPr>
              <a:t>	select(</a:t>
            </a:r>
            <a:r>
              <a:rPr lang="en-US" sz="4000" dirty="0" err="1">
                <a:solidFill>
                  <a:srgbClr val="164F86"/>
                </a:solidFill>
                <a:latin typeface="Consolas" panose="020B0609020204030204" pitchFamily="49" charset="0"/>
                <a:ea typeface="Courier New"/>
                <a:cs typeface="Consolas" panose="020B0609020204030204" pitchFamily="49" charset="0"/>
                <a:sym typeface="Courier New"/>
              </a:rPr>
              <a:t>clinic_name</a:t>
            </a:r>
            <a:r>
              <a:rPr lang="en-US" sz="4000" dirty="0">
                <a:solidFill>
                  <a:srgbClr val="164F86"/>
                </a:solidFill>
                <a:latin typeface="Consolas" panose="020B0609020204030204" pitchFamily="49" charset="0"/>
                <a:ea typeface="Courier New"/>
                <a:cs typeface="Consolas" panose="020B0609020204030204" pitchFamily="49" charset="0"/>
                <a:sym typeface="Courier New"/>
              </a:rPr>
              <a:t>)</a:t>
            </a:r>
          </a:p>
          <a:p>
            <a:endParaRPr lang="en-US" sz="4000" dirty="0">
              <a:solidFill>
                <a:srgbClr val="164F86"/>
              </a:solidFill>
              <a:latin typeface="Consolas" panose="020B0609020204030204" pitchFamily="49" charset="0"/>
              <a:ea typeface="Courier New"/>
              <a:cs typeface="Consolas" panose="020B0609020204030204" pitchFamily="49" charset="0"/>
              <a:sym typeface="Courier New"/>
            </a:endParaRPr>
          </a:p>
        </p:txBody>
      </p:sp>
      <p:sp>
        <p:nvSpPr>
          <p:cNvPr id="5" name="TextBox 4">
            <a:extLst>
              <a:ext uri="{FF2B5EF4-FFF2-40B4-BE49-F238E27FC236}">
                <a16:creationId xmlns:a16="http://schemas.microsoft.com/office/drawing/2014/main" id="{0073D0BB-CB46-2697-9103-F31FE83BEA7E}"/>
              </a:ext>
            </a:extLst>
          </p:cNvPr>
          <p:cNvSpPr txBox="1"/>
          <p:nvPr/>
        </p:nvSpPr>
        <p:spPr>
          <a:xfrm>
            <a:off x="1231043" y="5552552"/>
            <a:ext cx="9729914" cy="1077218"/>
          </a:xfrm>
          <a:prstGeom prst="rect">
            <a:avLst/>
          </a:prstGeom>
          <a:noFill/>
        </p:spPr>
        <p:txBody>
          <a:bodyPr wrap="square">
            <a:spAutoFit/>
          </a:bodyPr>
          <a:lstStyle/>
          <a:p>
            <a:pPr algn="ctr"/>
            <a:r>
              <a:rPr lang="en-US" sz="3200" dirty="0">
                <a:latin typeface="Calibri" panose="020F0502020204030204" pitchFamily="34" charset="0"/>
              </a:rPr>
              <a:t>Note: You may see the new pipe </a:t>
            </a:r>
            <a:r>
              <a:rPr lang="en-US" sz="3200" b="1" dirty="0">
                <a:latin typeface="Calibri" panose="020F0502020204030204" pitchFamily="34" charset="0"/>
              </a:rPr>
              <a:t>|&gt; </a:t>
            </a:r>
            <a:r>
              <a:rPr lang="en-US" sz="3200" dirty="0">
                <a:latin typeface="Calibri" panose="020F0502020204030204" pitchFamily="34" charset="0"/>
              </a:rPr>
              <a:t>in newer versions of R</a:t>
            </a:r>
            <a:endParaRPr lang="en-US" sz="3200" b="1" dirty="0">
              <a:latin typeface="Calibri" panose="020F0502020204030204" pitchFamily="34" charset="0"/>
            </a:endParaRPr>
          </a:p>
          <a:p>
            <a:pPr algn="ctr"/>
            <a:r>
              <a:rPr lang="en-US" sz="3200" dirty="0">
                <a:latin typeface="Calibri" panose="020F0502020204030204" pitchFamily="34" charset="0"/>
              </a:rPr>
              <a:t>Equivalent to %&gt;%</a:t>
            </a:r>
          </a:p>
        </p:txBody>
      </p:sp>
    </p:spTree>
    <p:extLst>
      <p:ext uri="{BB962C8B-B14F-4D97-AF65-F5344CB8AC3E}">
        <p14:creationId xmlns:p14="http://schemas.microsoft.com/office/powerpoint/2010/main" val="574686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AA3D-CC1E-C74E-A634-995E791A2433}"/>
              </a:ext>
            </a:extLst>
          </p:cNvPr>
          <p:cNvSpPr>
            <a:spLocks noGrp="1"/>
          </p:cNvSpPr>
          <p:nvPr>
            <p:ph type="title"/>
          </p:nvPr>
        </p:nvSpPr>
        <p:spPr>
          <a:xfrm>
            <a:off x="1024128" y="585216"/>
            <a:ext cx="9720072" cy="1499616"/>
          </a:xfrm>
        </p:spPr>
        <p:txBody>
          <a:bodyPr/>
          <a:lstStyle/>
          <a:p>
            <a:r>
              <a:rPr lang="en-US" dirty="0"/>
              <a:t>Pop Quiz</a:t>
            </a:r>
          </a:p>
        </p:txBody>
      </p:sp>
      <p:sp>
        <p:nvSpPr>
          <p:cNvPr id="3" name="Text Placeholder 2">
            <a:extLst>
              <a:ext uri="{FF2B5EF4-FFF2-40B4-BE49-F238E27FC236}">
                <a16:creationId xmlns:a16="http://schemas.microsoft.com/office/drawing/2014/main" id="{EE19BCF9-CEA1-7D4C-9B3A-71C9D9023AEA}"/>
              </a:ext>
            </a:extLst>
          </p:cNvPr>
          <p:cNvSpPr>
            <a:spLocks noGrp="1"/>
          </p:cNvSpPr>
          <p:nvPr>
            <p:ph type="body" sz="quarter" idx="13"/>
          </p:nvPr>
        </p:nvSpPr>
        <p:spPr>
          <a:xfrm>
            <a:off x="935665" y="1924493"/>
            <a:ext cx="9932963" cy="4933507"/>
          </a:xfrm>
        </p:spPr>
        <p:txBody>
          <a:bodyPr>
            <a:normAutofit/>
          </a:bodyPr>
          <a:lstStyle/>
          <a:p>
            <a:pPr marL="0" indent="0" algn="ctr">
              <a:buNone/>
            </a:pPr>
            <a:r>
              <a:rPr lang="en-US" sz="4400" dirty="0"/>
              <a:t>Which of the following is equivalent to:</a:t>
            </a:r>
          </a:p>
          <a:p>
            <a:pPr marL="0" indent="0" algn="ctr">
              <a:buNone/>
            </a:pPr>
            <a:br>
              <a:rPr lang="en-US" sz="1400" dirty="0"/>
            </a:br>
            <a:r>
              <a:rPr lang="en-US" sz="4400" dirty="0">
                <a:solidFill>
                  <a:srgbClr val="0070C0"/>
                </a:solidFill>
                <a:latin typeface="Consolas" panose="020B0609020204030204" pitchFamily="49" charset="0"/>
                <a:ea typeface="Monaco" charset="0"/>
                <a:cs typeface="Consolas" panose="020B0609020204030204" pitchFamily="49" charset="0"/>
              </a:rPr>
              <a:t>data %&gt;% select(</a:t>
            </a:r>
            <a:r>
              <a:rPr lang="en-US" sz="4400" dirty="0" err="1">
                <a:solidFill>
                  <a:srgbClr val="0070C0"/>
                </a:solidFill>
                <a:latin typeface="Consolas" panose="020B0609020204030204" pitchFamily="49" charset="0"/>
                <a:ea typeface="Monaco" charset="0"/>
                <a:cs typeface="Consolas" panose="020B0609020204030204" pitchFamily="49" charset="0"/>
              </a:rPr>
              <a:t>column_name</a:t>
            </a:r>
            <a:r>
              <a:rPr lang="en-US" sz="4400" dirty="0">
                <a:solidFill>
                  <a:srgbClr val="0070C0"/>
                </a:solidFill>
                <a:latin typeface="Consolas" panose="020B0609020204030204" pitchFamily="49" charset="0"/>
                <a:ea typeface="Monaco" charset="0"/>
                <a:cs typeface="Consolas" panose="020B0609020204030204" pitchFamily="49" charset="0"/>
              </a:rPr>
              <a:t>)</a:t>
            </a:r>
            <a:endParaRPr lang="en-US" sz="5400" dirty="0">
              <a:latin typeface="Consolas" panose="020B0609020204030204" pitchFamily="49" charset="0"/>
            </a:endParaRPr>
          </a:p>
          <a:p>
            <a:pPr marL="0" indent="0">
              <a:buNone/>
            </a:pPr>
            <a:r>
              <a:rPr lang="en-US" sz="4400" dirty="0"/>
              <a:t>A. </a:t>
            </a:r>
            <a:r>
              <a:rPr lang="en-US" sz="3600" dirty="0">
                <a:solidFill>
                  <a:srgbClr val="0070C0"/>
                </a:solidFill>
                <a:latin typeface="Consolas" panose="020B0609020204030204" pitchFamily="49" charset="0"/>
                <a:ea typeface="Monaco" charset="0"/>
                <a:cs typeface="Consolas" panose="020B0609020204030204" pitchFamily="49" charset="0"/>
              </a:rPr>
              <a:t>data(select(</a:t>
            </a:r>
            <a:r>
              <a:rPr lang="en-US" sz="3600" dirty="0" err="1">
                <a:solidFill>
                  <a:srgbClr val="0070C0"/>
                </a:solidFill>
                <a:latin typeface="Consolas" panose="020B0609020204030204" pitchFamily="49" charset="0"/>
                <a:ea typeface="Monaco" charset="0"/>
                <a:cs typeface="Consolas" panose="020B0609020204030204" pitchFamily="49" charset="0"/>
              </a:rPr>
              <a:t>column_name</a:t>
            </a:r>
            <a:r>
              <a:rPr lang="en-US" sz="3600" dirty="0">
                <a:solidFill>
                  <a:srgbClr val="0070C0"/>
                </a:solidFill>
                <a:latin typeface="Consolas" panose="020B0609020204030204" pitchFamily="49" charset="0"/>
                <a:ea typeface="Monaco" charset="0"/>
                <a:cs typeface="Consolas" panose="020B0609020204030204" pitchFamily="49" charset="0"/>
              </a:rPr>
              <a:t>))</a:t>
            </a:r>
            <a:endParaRPr lang="en-US" sz="4400" dirty="0">
              <a:latin typeface="Consolas" panose="020B0609020204030204" pitchFamily="49" charset="0"/>
            </a:endParaRPr>
          </a:p>
          <a:p>
            <a:pPr marL="0" indent="0">
              <a:buNone/>
            </a:pPr>
            <a:r>
              <a:rPr lang="en-US" sz="4400" dirty="0"/>
              <a:t>B. </a:t>
            </a:r>
            <a:r>
              <a:rPr lang="en-US" sz="3600" dirty="0">
                <a:solidFill>
                  <a:srgbClr val="0070C0"/>
                </a:solidFill>
                <a:latin typeface="Consolas" panose="020B0609020204030204" pitchFamily="49" charset="0"/>
                <a:ea typeface="Monaco" charset="0"/>
                <a:cs typeface="Consolas" panose="020B0609020204030204" pitchFamily="49" charset="0"/>
              </a:rPr>
              <a:t>select</a:t>
            </a:r>
            <a:r>
              <a:rPr lang="en-US" sz="3600" dirty="0">
                <a:solidFill>
                  <a:srgbClr val="0070C0"/>
                </a:solidFill>
                <a:latin typeface="Consolas" panose="020B0609020204030204" pitchFamily="49" charset="0"/>
              </a:rPr>
              <a:t>(</a:t>
            </a:r>
            <a:r>
              <a:rPr lang="en-US" sz="3600" dirty="0">
                <a:solidFill>
                  <a:srgbClr val="0070C0"/>
                </a:solidFill>
                <a:latin typeface="Consolas" panose="020B0609020204030204" pitchFamily="49" charset="0"/>
                <a:ea typeface="Monaco" charset="0"/>
                <a:cs typeface="Consolas" panose="020B0609020204030204" pitchFamily="49" charset="0"/>
              </a:rPr>
              <a:t>data</a:t>
            </a:r>
            <a:r>
              <a:rPr lang="en-US" sz="3600" dirty="0">
                <a:solidFill>
                  <a:srgbClr val="0070C0"/>
                </a:solidFill>
                <a:latin typeface="Consolas" panose="020B0609020204030204" pitchFamily="49" charset="0"/>
              </a:rPr>
              <a:t>(</a:t>
            </a:r>
            <a:r>
              <a:rPr lang="en-US" sz="3600" dirty="0" err="1">
                <a:solidFill>
                  <a:srgbClr val="0070C0"/>
                </a:solidFill>
                <a:latin typeface="Consolas" panose="020B0609020204030204" pitchFamily="49" charset="0"/>
                <a:ea typeface="Monaco" charset="0"/>
                <a:cs typeface="Consolas" panose="020B0609020204030204" pitchFamily="49" charset="0"/>
              </a:rPr>
              <a:t>column_name</a:t>
            </a:r>
            <a:r>
              <a:rPr lang="en-US" sz="3600" dirty="0">
                <a:solidFill>
                  <a:srgbClr val="0070C0"/>
                </a:solidFill>
                <a:latin typeface="Consolas" panose="020B0609020204030204" pitchFamily="49" charset="0"/>
              </a:rPr>
              <a:t>))</a:t>
            </a:r>
          </a:p>
          <a:p>
            <a:pPr marL="0" indent="0">
              <a:buNone/>
            </a:pPr>
            <a:r>
              <a:rPr lang="en-US" sz="4400" dirty="0"/>
              <a:t>C. </a:t>
            </a:r>
            <a:r>
              <a:rPr lang="en-US" sz="3600" dirty="0">
                <a:solidFill>
                  <a:srgbClr val="0070C0"/>
                </a:solidFill>
                <a:latin typeface="Consolas" panose="020B0609020204030204" pitchFamily="49" charset="0"/>
                <a:ea typeface="Monaco" charset="0"/>
                <a:cs typeface="Consolas" panose="020B0609020204030204" pitchFamily="49" charset="0"/>
              </a:rPr>
              <a:t>select</a:t>
            </a:r>
            <a:r>
              <a:rPr lang="en-US" sz="3600" dirty="0">
                <a:solidFill>
                  <a:srgbClr val="0070C0"/>
                </a:solidFill>
                <a:latin typeface="Consolas" panose="020B0609020204030204" pitchFamily="49" charset="0"/>
              </a:rPr>
              <a:t>(</a:t>
            </a:r>
            <a:r>
              <a:rPr lang="en-US" sz="3600" dirty="0" err="1">
                <a:solidFill>
                  <a:srgbClr val="0070C0"/>
                </a:solidFill>
                <a:latin typeface="Consolas" panose="020B0609020204030204" pitchFamily="49" charset="0"/>
                <a:ea typeface="Monaco" charset="0"/>
                <a:cs typeface="Consolas" panose="020B0609020204030204" pitchFamily="49" charset="0"/>
              </a:rPr>
              <a:t>column_name</a:t>
            </a:r>
            <a:r>
              <a:rPr lang="en-US" sz="3600" dirty="0">
                <a:solidFill>
                  <a:srgbClr val="0070C0"/>
                </a:solidFill>
                <a:latin typeface="Consolas" panose="020B0609020204030204" pitchFamily="49" charset="0"/>
              </a:rPr>
              <a:t>, </a:t>
            </a:r>
            <a:r>
              <a:rPr lang="en-US" sz="3600" dirty="0">
                <a:solidFill>
                  <a:srgbClr val="0070C0"/>
                </a:solidFill>
                <a:latin typeface="Consolas" panose="020B0609020204030204" pitchFamily="49" charset="0"/>
                <a:ea typeface="Monaco" charset="0"/>
                <a:cs typeface="Consolas" panose="020B0609020204030204" pitchFamily="49" charset="0"/>
              </a:rPr>
              <a:t>data</a:t>
            </a:r>
            <a:r>
              <a:rPr lang="en-US" sz="3600" dirty="0">
                <a:solidFill>
                  <a:srgbClr val="0070C0"/>
                </a:solidFill>
                <a:latin typeface="Consolas" panose="020B0609020204030204" pitchFamily="49" charset="0"/>
              </a:rPr>
              <a:t>)</a:t>
            </a:r>
          </a:p>
          <a:p>
            <a:pPr marL="0" indent="0">
              <a:buNone/>
            </a:pPr>
            <a:r>
              <a:rPr lang="en-US" sz="4400" dirty="0"/>
              <a:t>D. </a:t>
            </a:r>
            <a:r>
              <a:rPr lang="en-US" sz="3600" dirty="0">
                <a:solidFill>
                  <a:srgbClr val="0070C0"/>
                </a:solidFill>
                <a:latin typeface="Consolas" panose="020B0609020204030204" pitchFamily="49" charset="0"/>
                <a:ea typeface="Monaco" charset="0"/>
                <a:cs typeface="Consolas" panose="020B0609020204030204" pitchFamily="49" charset="0"/>
              </a:rPr>
              <a:t>select</a:t>
            </a:r>
            <a:r>
              <a:rPr lang="en-US" sz="3600" dirty="0">
                <a:solidFill>
                  <a:srgbClr val="0070C0"/>
                </a:solidFill>
                <a:latin typeface="Consolas" panose="020B0609020204030204" pitchFamily="49" charset="0"/>
              </a:rPr>
              <a:t>(</a:t>
            </a:r>
            <a:r>
              <a:rPr lang="en-US" sz="3600" dirty="0">
                <a:solidFill>
                  <a:srgbClr val="0070C0"/>
                </a:solidFill>
                <a:latin typeface="Consolas" panose="020B0609020204030204" pitchFamily="49" charset="0"/>
                <a:ea typeface="Monaco" charset="0"/>
                <a:cs typeface="Consolas" panose="020B0609020204030204" pitchFamily="49" charset="0"/>
              </a:rPr>
              <a:t>data</a:t>
            </a:r>
            <a:r>
              <a:rPr lang="en-US" sz="3600" dirty="0">
                <a:solidFill>
                  <a:srgbClr val="0070C0"/>
                </a:solidFill>
                <a:latin typeface="Consolas" panose="020B0609020204030204" pitchFamily="49" charset="0"/>
              </a:rPr>
              <a:t>, </a:t>
            </a:r>
            <a:r>
              <a:rPr lang="en-US" sz="3600" dirty="0" err="1">
                <a:solidFill>
                  <a:srgbClr val="0070C0"/>
                </a:solidFill>
                <a:latin typeface="Consolas" panose="020B0609020204030204" pitchFamily="49" charset="0"/>
                <a:ea typeface="Monaco" charset="0"/>
                <a:cs typeface="Consolas" panose="020B0609020204030204" pitchFamily="49" charset="0"/>
              </a:rPr>
              <a:t>column_name</a:t>
            </a:r>
            <a:r>
              <a:rPr lang="en-US" sz="3600" dirty="0">
                <a:solidFill>
                  <a:srgbClr val="0070C0"/>
                </a:solidFill>
                <a:latin typeface="Consolas" panose="020B0609020204030204" pitchFamily="49" charset="0"/>
              </a:rPr>
              <a:t>)</a:t>
            </a:r>
          </a:p>
        </p:txBody>
      </p:sp>
    </p:spTree>
    <p:extLst>
      <p:ext uri="{BB962C8B-B14F-4D97-AF65-F5344CB8AC3E}">
        <p14:creationId xmlns:p14="http://schemas.microsoft.com/office/powerpoint/2010/main" val="3568715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Create new columns</a:t>
            </a:r>
          </a:p>
        </p:txBody>
      </p:sp>
    </p:spTree>
    <p:extLst>
      <p:ext uri="{BB962C8B-B14F-4D97-AF65-F5344CB8AC3E}">
        <p14:creationId xmlns:p14="http://schemas.microsoft.com/office/powerpoint/2010/main" val="2894620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3" name="Google Shape;293;p32"/>
          <p:cNvSpPr txBox="1">
            <a:spLocks noGrp="1"/>
          </p:cNvSpPr>
          <p:nvPr>
            <p:ph type="title"/>
          </p:nvPr>
        </p:nvSpPr>
        <p:spPr>
          <a:xfrm>
            <a:off x="0" y="684400"/>
            <a:ext cx="12192000"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latin typeface="Consolas" panose="020B0609020204030204" pitchFamily="49" charset="0"/>
              </a:rPr>
              <a:t>mutate()</a:t>
            </a:r>
            <a:endParaRPr dirty="0">
              <a:latin typeface="Consolas" panose="020B0609020204030204" pitchFamily="49" charset="0"/>
            </a:endParaRPr>
          </a:p>
        </p:txBody>
      </p:sp>
      <p:pic>
        <p:nvPicPr>
          <p:cNvPr id="13" name="Picture 12"/>
          <p:cNvPicPr>
            <a:picLocks noChangeAspect="1"/>
          </p:cNvPicPr>
          <p:nvPr/>
        </p:nvPicPr>
        <p:blipFill>
          <a:blip r:embed="rId3"/>
          <a:stretch>
            <a:fillRect/>
          </a:stretch>
        </p:blipFill>
        <p:spPr>
          <a:xfrm>
            <a:off x="2868595" y="2672531"/>
            <a:ext cx="6454811" cy="1760404"/>
          </a:xfrm>
          <a:prstGeom prst="rect">
            <a:avLst/>
          </a:prstGeom>
        </p:spPr>
      </p:pic>
      <p:grpSp>
        <p:nvGrpSpPr>
          <p:cNvPr id="3" name="Group 2"/>
          <p:cNvGrpSpPr/>
          <p:nvPr/>
        </p:nvGrpSpPr>
        <p:grpSpPr>
          <a:xfrm>
            <a:off x="6342117" y="4505673"/>
            <a:ext cx="2928396" cy="1586106"/>
            <a:chOff x="6009784" y="4089073"/>
            <a:chExt cx="2928396" cy="2552214"/>
          </a:xfrm>
        </p:grpSpPr>
        <p:sp>
          <p:nvSpPr>
            <p:cNvPr id="7" name="Rounded Rectangular Callout 2"/>
            <p:cNvSpPr/>
            <p:nvPr/>
          </p:nvSpPr>
          <p:spPr>
            <a:xfrm>
              <a:off x="6009784" y="4089073"/>
              <a:ext cx="2928396" cy="255221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Google Shape;324;p34"/>
            <p:cNvSpPr txBox="1"/>
            <p:nvPr/>
          </p:nvSpPr>
          <p:spPr>
            <a:xfrm>
              <a:off x="6009784" y="5036357"/>
              <a:ext cx="2928395" cy="1510232"/>
            </a:xfrm>
            <a:prstGeom prst="rect">
              <a:avLst/>
            </a:prstGeom>
            <a:noFill/>
            <a:ln>
              <a:noFill/>
            </a:ln>
          </p:spPr>
          <p:txBody>
            <a:bodyPr spcFirstLastPara="1" wrap="square" lIns="0" tIns="8504" rIns="0" bIns="0" anchor="t" anchorCtr="0">
              <a:noAutofit/>
            </a:bodyPr>
            <a:lstStyle/>
            <a:p>
              <a:pPr marL="8164" algn="ctr">
                <a:lnSpc>
                  <a:spcPct val="116753"/>
                </a:lnSpc>
              </a:pPr>
              <a:r>
                <a:rPr lang="en-US" sz="2400" b="1" dirty="0">
                  <a:solidFill>
                    <a:srgbClr val="FFFFFF"/>
                  </a:solidFill>
                  <a:latin typeface="Trebuchet MS"/>
                  <a:ea typeface="Trebuchet MS"/>
                  <a:cs typeface="Trebuchet MS"/>
                  <a:sym typeface="Trebuchet MS"/>
                </a:rPr>
                <a:t>=</a:t>
              </a:r>
              <a:r>
                <a:rPr lang="en-US" sz="2062" dirty="0">
                  <a:solidFill>
                    <a:srgbClr val="FFFFFF"/>
                  </a:solidFill>
                  <a:latin typeface="Trebuchet MS"/>
                  <a:ea typeface="Trebuchet MS"/>
                  <a:cs typeface="Trebuchet MS"/>
                  <a:sym typeface="Trebuchet MS"/>
                </a:rPr>
                <a:t> Number of rows</a:t>
              </a:r>
            </a:p>
            <a:p>
              <a:pPr marL="8164" algn="ctr">
                <a:lnSpc>
                  <a:spcPct val="116753"/>
                </a:lnSpc>
              </a:pPr>
              <a:r>
                <a:rPr lang="en-US" sz="2400" b="1" dirty="0">
                  <a:solidFill>
                    <a:srgbClr val="FFFFFF"/>
                  </a:solidFill>
                  <a:latin typeface="Trebuchet MS"/>
                  <a:ea typeface="Calibri"/>
                  <a:cs typeface="Calibri"/>
                  <a:sym typeface="Trebuchet MS"/>
                </a:rPr>
                <a:t>↑</a:t>
              </a:r>
              <a:r>
                <a:rPr lang="en-US" sz="2062" dirty="0">
                  <a:solidFill>
                    <a:srgbClr val="FFFFFF"/>
                  </a:solidFill>
                  <a:latin typeface="Trebuchet MS"/>
                  <a:ea typeface="Calibri"/>
                  <a:cs typeface="Calibri"/>
                  <a:sym typeface="Trebuchet MS"/>
                </a:rPr>
                <a:t> Number of Columns</a:t>
              </a:r>
              <a:endParaRPr sz="2062" dirty="0">
                <a:latin typeface="Calibri"/>
                <a:ea typeface="Calibri"/>
                <a:cs typeface="Calibri"/>
                <a:sym typeface="Calibri"/>
              </a:endParaRPr>
            </a:p>
          </p:txBody>
        </p:sp>
      </p:grpSp>
      <p:sp>
        <p:nvSpPr>
          <p:cNvPr id="14" name="Google Shape;296;p32"/>
          <p:cNvSpPr txBox="1"/>
          <p:nvPr/>
        </p:nvSpPr>
        <p:spPr>
          <a:xfrm>
            <a:off x="2125774" y="1673939"/>
            <a:ext cx="7940453" cy="488905"/>
          </a:xfrm>
          <a:prstGeom prst="rect">
            <a:avLst/>
          </a:prstGeom>
          <a:noFill/>
          <a:ln>
            <a:noFill/>
          </a:ln>
        </p:spPr>
        <p:txBody>
          <a:bodyPr spcFirstLastPara="1" wrap="square" lIns="0" tIns="6455" rIns="0" bIns="0" anchor="t" anchorCtr="0">
            <a:noAutofit/>
          </a:bodyPr>
          <a:lstStyle/>
          <a:p>
            <a:pPr marL="6803" algn="ctr"/>
            <a:r>
              <a:rPr lang="en-US" sz="3200" dirty="0">
                <a:latin typeface="Tw Cen MT" panose="020B0602020104020603" pitchFamily="34" charset="77"/>
                <a:ea typeface="Calibri"/>
                <a:cs typeface="Calibri"/>
                <a:sym typeface="Calibri"/>
              </a:rPr>
              <a:t>Create new calculated columns</a:t>
            </a:r>
            <a:endParaRPr sz="3200" dirty="0">
              <a:latin typeface="Tw Cen MT" panose="020B0602020104020603" pitchFamily="34" charset="77"/>
              <a:ea typeface="Calibri"/>
              <a:cs typeface="Calibri"/>
              <a:sym typeface="Calibri"/>
            </a:endParaRPr>
          </a:p>
        </p:txBody>
      </p:sp>
    </p:spTree>
    <p:extLst>
      <p:ext uri="{BB962C8B-B14F-4D97-AF65-F5344CB8AC3E}">
        <p14:creationId xmlns:p14="http://schemas.microsoft.com/office/powerpoint/2010/main" val="1915263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1603948" y="2255454"/>
            <a:ext cx="8580582" cy="1497972"/>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760075" y="2313797"/>
            <a:ext cx="8424455" cy="1200329"/>
          </a:xfrm>
          <a:prstGeom prst="rect">
            <a:avLst/>
          </a:prstGeom>
        </p:spPr>
        <p:txBody>
          <a:bodyPr wrap="square">
            <a:spAutoFit/>
          </a:bodyPr>
          <a:lstStyle/>
          <a:p>
            <a:r>
              <a:rPr lang="en-US" sz="3200" dirty="0" err="1">
                <a:latin typeface="Consolas" panose="020B0609020204030204" pitchFamily="49" charset="0"/>
                <a:ea typeface="Courier New"/>
                <a:cs typeface="Consolas" panose="020B0609020204030204" pitchFamily="49" charset="0"/>
                <a:sym typeface="Courier New"/>
              </a:rPr>
              <a:t>covid_testing</a:t>
            </a:r>
            <a:r>
              <a:rPr lang="en-US" sz="3200" dirty="0">
                <a:latin typeface="Consolas" panose="020B0609020204030204" pitchFamily="49" charset="0"/>
                <a:ea typeface="Courier New"/>
                <a:cs typeface="Consolas" panose="020B0609020204030204" pitchFamily="49" charset="0"/>
                <a:sym typeface="Courier New"/>
              </a:rPr>
              <a:t> %&gt;%</a:t>
            </a:r>
          </a:p>
          <a:p>
            <a:r>
              <a:rPr lang="en-US" sz="3200" dirty="0">
                <a:latin typeface="Consolas" panose="020B0609020204030204" pitchFamily="49" charset="0"/>
                <a:ea typeface="Courier New"/>
                <a:cs typeface="Consolas" panose="020B0609020204030204" pitchFamily="49" charset="0"/>
                <a:sym typeface="Courier New"/>
              </a:rPr>
              <a:t>	mutate(</a:t>
            </a:r>
            <a:r>
              <a:rPr lang="en-US" sz="3200" dirty="0" err="1">
                <a:solidFill>
                  <a:srgbClr val="538DD5"/>
                </a:solidFill>
                <a:latin typeface="Consolas" panose="020B0609020204030204" pitchFamily="49" charset="0"/>
                <a:ea typeface="Courier New"/>
                <a:cs typeface="Consolas" panose="020B0609020204030204" pitchFamily="49" charset="0"/>
                <a:sym typeface="Courier New"/>
              </a:rPr>
              <a:t>new_column</a:t>
            </a:r>
            <a:r>
              <a:rPr lang="en-US" sz="3200" dirty="0">
                <a:latin typeface="Consolas" panose="020B0609020204030204" pitchFamily="49" charset="0"/>
                <a:ea typeface="Courier New"/>
                <a:cs typeface="Consolas" panose="020B0609020204030204" pitchFamily="49" charset="0"/>
                <a:sym typeface="Courier New"/>
              </a:rPr>
              <a:t> </a:t>
            </a:r>
            <a:r>
              <a:rPr lang="en-US" sz="4000" b="1" dirty="0">
                <a:solidFill>
                  <a:schemeClr val="accent3"/>
                </a:solidFill>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 </a:t>
            </a:r>
            <a:r>
              <a:rPr lang="en-US" sz="3200" dirty="0">
                <a:solidFill>
                  <a:schemeClr val="accent2"/>
                </a:solidFill>
                <a:latin typeface="Consolas" panose="020B0609020204030204" pitchFamily="49" charset="0"/>
                <a:ea typeface="Courier New"/>
                <a:cs typeface="Consolas" panose="020B0609020204030204" pitchFamily="49" charset="0"/>
                <a:sym typeface="Courier New"/>
              </a:rPr>
              <a:t>calculation</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7" name="Google Shape;172;p20"/>
          <p:cNvSpPr/>
          <p:nvPr/>
        </p:nvSpPr>
        <p:spPr>
          <a:xfrm flipH="1">
            <a:off x="5703631" y="3384167"/>
            <a:ext cx="1900999" cy="2199471"/>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 name="connsiteX0" fmla="*/ 6812950 w 7169286"/>
              <a:gd name="connsiteY0" fmla="*/ 1302460 h 3920180"/>
              <a:gd name="connsiteX1" fmla="*/ 356337 w 7169286"/>
              <a:gd name="connsiteY1" fmla="*/ 1302460 h 3920180"/>
              <a:gd name="connsiteX2" fmla="*/ 307986 w 7169286"/>
              <a:gd name="connsiteY2" fmla="*/ 1305713 h 3920180"/>
              <a:gd name="connsiteX3" fmla="*/ 261611 w 7169286"/>
              <a:gd name="connsiteY3" fmla="*/ 1315189 h 3920180"/>
              <a:gd name="connsiteX4" fmla="*/ 217637 w 7169286"/>
              <a:gd name="connsiteY4" fmla="*/ 1330463 h 3920180"/>
              <a:gd name="connsiteX5" fmla="*/ 176489 w 7169286"/>
              <a:gd name="connsiteY5" fmla="*/ 1351111 h 3920180"/>
              <a:gd name="connsiteX6" fmla="*/ 138592 w 7169286"/>
              <a:gd name="connsiteY6" fmla="*/ 1376709 h 3920180"/>
              <a:gd name="connsiteX7" fmla="*/ 104371 w 7169286"/>
              <a:gd name="connsiteY7" fmla="*/ 1406831 h 3920180"/>
              <a:gd name="connsiteX8" fmla="*/ 74249 w 7169286"/>
              <a:gd name="connsiteY8" fmla="*/ 1441052 h 3920180"/>
              <a:gd name="connsiteX9" fmla="*/ 48651 w 7169286"/>
              <a:gd name="connsiteY9" fmla="*/ 1478949 h 3920180"/>
              <a:gd name="connsiteX10" fmla="*/ 28003 w 7169286"/>
              <a:gd name="connsiteY10" fmla="*/ 1520097 h 3920180"/>
              <a:gd name="connsiteX11" fmla="*/ 12729 w 7169286"/>
              <a:gd name="connsiteY11" fmla="*/ 1564071 h 3920180"/>
              <a:gd name="connsiteX12" fmla="*/ 3253 w 7169286"/>
              <a:gd name="connsiteY12" fmla="*/ 1610446 h 3920180"/>
              <a:gd name="connsiteX13" fmla="*/ 0 w 7169286"/>
              <a:gd name="connsiteY13" fmla="*/ 1658797 h 3920180"/>
              <a:gd name="connsiteX14" fmla="*/ 0 w 7169286"/>
              <a:gd name="connsiteY14" fmla="*/ 3563844 h 3920180"/>
              <a:gd name="connsiteX15" fmla="*/ 3253 w 7169286"/>
              <a:gd name="connsiteY15" fmla="*/ 3612196 h 3920180"/>
              <a:gd name="connsiteX16" fmla="*/ 12729 w 7169286"/>
              <a:gd name="connsiteY16" fmla="*/ 3658571 h 3920180"/>
              <a:gd name="connsiteX17" fmla="*/ 28003 w 7169286"/>
              <a:gd name="connsiteY17" fmla="*/ 3702544 h 3920180"/>
              <a:gd name="connsiteX18" fmla="*/ 48651 w 7169286"/>
              <a:gd name="connsiteY18" fmla="*/ 3743692 h 3920180"/>
              <a:gd name="connsiteX19" fmla="*/ 74249 w 7169286"/>
              <a:gd name="connsiteY19" fmla="*/ 3781589 h 3920180"/>
              <a:gd name="connsiteX20" fmla="*/ 104371 w 7169286"/>
              <a:gd name="connsiteY20" fmla="*/ 3815810 h 3920180"/>
              <a:gd name="connsiteX21" fmla="*/ 138592 w 7169286"/>
              <a:gd name="connsiteY21" fmla="*/ 3845932 h 3920180"/>
              <a:gd name="connsiteX22" fmla="*/ 176489 w 7169286"/>
              <a:gd name="connsiteY22" fmla="*/ 3871529 h 3920180"/>
              <a:gd name="connsiteX23" fmla="*/ 217637 w 7169286"/>
              <a:gd name="connsiteY23" fmla="*/ 3892177 h 3920180"/>
              <a:gd name="connsiteX24" fmla="*/ 261611 w 7169286"/>
              <a:gd name="connsiteY24" fmla="*/ 3907452 h 3920180"/>
              <a:gd name="connsiteX25" fmla="*/ 307986 w 7169286"/>
              <a:gd name="connsiteY25" fmla="*/ 3916928 h 3920180"/>
              <a:gd name="connsiteX26" fmla="*/ 356337 w 7169286"/>
              <a:gd name="connsiteY26" fmla="*/ 3920181 h 3920180"/>
              <a:gd name="connsiteX27" fmla="*/ 6812950 w 7169286"/>
              <a:gd name="connsiteY27" fmla="*/ 3920181 h 3920180"/>
              <a:gd name="connsiteX28" fmla="*/ 6861301 w 7169286"/>
              <a:gd name="connsiteY28" fmla="*/ 3916928 h 3920180"/>
              <a:gd name="connsiteX29" fmla="*/ 6907675 w 7169286"/>
              <a:gd name="connsiteY29" fmla="*/ 3907452 h 3920180"/>
              <a:gd name="connsiteX30" fmla="*/ 6951648 w 7169286"/>
              <a:gd name="connsiteY30" fmla="*/ 3892177 h 3920180"/>
              <a:gd name="connsiteX31" fmla="*/ 6992795 w 7169286"/>
              <a:gd name="connsiteY31" fmla="*/ 3871529 h 3920180"/>
              <a:gd name="connsiteX32" fmla="*/ 7030692 w 7169286"/>
              <a:gd name="connsiteY32" fmla="*/ 3845932 h 3920180"/>
              <a:gd name="connsiteX33" fmla="*/ 7064914 w 7169286"/>
              <a:gd name="connsiteY33" fmla="*/ 3815810 h 3920180"/>
              <a:gd name="connsiteX34" fmla="*/ 7095036 w 7169286"/>
              <a:gd name="connsiteY34" fmla="*/ 3781589 h 3920180"/>
              <a:gd name="connsiteX35" fmla="*/ 7120633 w 7169286"/>
              <a:gd name="connsiteY35" fmla="*/ 3743692 h 3920180"/>
              <a:gd name="connsiteX36" fmla="*/ 7141281 w 7169286"/>
              <a:gd name="connsiteY36" fmla="*/ 3702544 h 3920180"/>
              <a:gd name="connsiteX37" fmla="*/ 7156556 w 7169286"/>
              <a:gd name="connsiteY37" fmla="*/ 3658571 h 3920180"/>
              <a:gd name="connsiteX38" fmla="*/ 7166032 w 7169286"/>
              <a:gd name="connsiteY38" fmla="*/ 3612196 h 3920180"/>
              <a:gd name="connsiteX39" fmla="*/ 7169285 w 7169286"/>
              <a:gd name="connsiteY39" fmla="*/ 3563844 h 3920180"/>
              <a:gd name="connsiteX40" fmla="*/ 7169285 w 7169286"/>
              <a:gd name="connsiteY40" fmla="*/ 1658797 h 3920180"/>
              <a:gd name="connsiteX41" fmla="*/ 7166032 w 7169286"/>
              <a:gd name="connsiteY41" fmla="*/ 1610446 h 3920180"/>
              <a:gd name="connsiteX42" fmla="*/ 7156556 w 7169286"/>
              <a:gd name="connsiteY42" fmla="*/ 1564071 h 3920180"/>
              <a:gd name="connsiteX43" fmla="*/ 7141281 w 7169286"/>
              <a:gd name="connsiteY43" fmla="*/ 1520097 h 3920180"/>
              <a:gd name="connsiteX44" fmla="*/ 7120633 w 7169286"/>
              <a:gd name="connsiteY44" fmla="*/ 1478949 h 3920180"/>
              <a:gd name="connsiteX45" fmla="*/ 7095036 w 7169286"/>
              <a:gd name="connsiteY45" fmla="*/ 1441052 h 3920180"/>
              <a:gd name="connsiteX46" fmla="*/ 7064914 w 7169286"/>
              <a:gd name="connsiteY46" fmla="*/ 1406831 h 3920180"/>
              <a:gd name="connsiteX47" fmla="*/ 7030692 w 7169286"/>
              <a:gd name="connsiteY47" fmla="*/ 1376709 h 3920180"/>
              <a:gd name="connsiteX48" fmla="*/ 6992795 w 7169286"/>
              <a:gd name="connsiteY48" fmla="*/ 1351111 h 3920180"/>
              <a:gd name="connsiteX49" fmla="*/ 6951648 w 7169286"/>
              <a:gd name="connsiteY49" fmla="*/ 1330463 h 3920180"/>
              <a:gd name="connsiteX50" fmla="*/ 6907675 w 7169286"/>
              <a:gd name="connsiteY50" fmla="*/ 1315189 h 3920180"/>
              <a:gd name="connsiteX51" fmla="*/ 6861301 w 7169286"/>
              <a:gd name="connsiteY51" fmla="*/ 1305713 h 3920180"/>
              <a:gd name="connsiteX52" fmla="*/ 6812950 w 7169286"/>
              <a:gd name="connsiteY52" fmla="*/ 1302460 h 3920180"/>
              <a:gd name="connsiteX0" fmla="*/ 2664091 w 7169286"/>
              <a:gd name="connsiteY0" fmla="*/ 0 h 3920180"/>
              <a:gd name="connsiteX1" fmla="*/ 2348194 w 7169286"/>
              <a:gd name="connsiteY1" fmla="*/ 1319206 h 3920180"/>
              <a:gd name="connsiteX2" fmla="*/ 2993816 w 7169286"/>
              <a:gd name="connsiteY2" fmla="*/ 1319206 h 3920180"/>
              <a:gd name="connsiteX3" fmla="*/ 2664091 w 7169286"/>
              <a:gd name="connsiteY3" fmla="*/ 0 h 3920180"/>
            </a:gdLst>
            <a:ahLst/>
            <a:cxnLst>
              <a:cxn ang="0">
                <a:pos x="connsiteX0" y="connsiteY0"/>
              </a:cxn>
              <a:cxn ang="0">
                <a:pos x="connsiteX1" y="connsiteY1"/>
              </a:cxn>
              <a:cxn ang="0">
                <a:pos x="connsiteX2" y="connsiteY2"/>
              </a:cxn>
              <a:cxn ang="0">
                <a:pos x="connsiteX3" y="connsiteY3"/>
              </a:cxn>
            </a:cxnLst>
            <a:rect l="l" t="t" r="r" b="b"/>
            <a:pathLst>
              <a:path w="7169286" h="3920180" extrusionOk="0">
                <a:moveTo>
                  <a:pt x="6812950" y="1302460"/>
                </a:moveTo>
                <a:lnTo>
                  <a:pt x="356337" y="1302460"/>
                </a:lnTo>
                <a:lnTo>
                  <a:pt x="307986" y="1305713"/>
                </a:lnTo>
                <a:lnTo>
                  <a:pt x="261611" y="1315189"/>
                </a:lnTo>
                <a:lnTo>
                  <a:pt x="217637" y="1330463"/>
                </a:lnTo>
                <a:lnTo>
                  <a:pt x="176489" y="1351111"/>
                </a:lnTo>
                <a:lnTo>
                  <a:pt x="138592" y="1376709"/>
                </a:lnTo>
                <a:lnTo>
                  <a:pt x="104371" y="1406831"/>
                </a:lnTo>
                <a:lnTo>
                  <a:pt x="74249" y="1441052"/>
                </a:lnTo>
                <a:lnTo>
                  <a:pt x="48651" y="1478949"/>
                </a:lnTo>
                <a:lnTo>
                  <a:pt x="28003" y="1520097"/>
                </a:lnTo>
                <a:lnTo>
                  <a:pt x="12729" y="1564071"/>
                </a:lnTo>
                <a:lnTo>
                  <a:pt x="3253" y="1610446"/>
                </a:lnTo>
                <a:lnTo>
                  <a:pt x="0" y="1658797"/>
                </a:lnTo>
                <a:lnTo>
                  <a:pt x="0" y="3563844"/>
                </a:lnTo>
                <a:lnTo>
                  <a:pt x="3253" y="3612196"/>
                </a:lnTo>
                <a:lnTo>
                  <a:pt x="12729" y="3658571"/>
                </a:lnTo>
                <a:lnTo>
                  <a:pt x="28003" y="3702544"/>
                </a:lnTo>
                <a:lnTo>
                  <a:pt x="48651" y="3743692"/>
                </a:lnTo>
                <a:lnTo>
                  <a:pt x="74249" y="3781589"/>
                </a:lnTo>
                <a:lnTo>
                  <a:pt x="104371" y="3815810"/>
                </a:lnTo>
                <a:lnTo>
                  <a:pt x="138592" y="3845932"/>
                </a:lnTo>
                <a:lnTo>
                  <a:pt x="176489" y="3871529"/>
                </a:lnTo>
                <a:lnTo>
                  <a:pt x="217637" y="3892177"/>
                </a:lnTo>
                <a:lnTo>
                  <a:pt x="261611" y="3907452"/>
                </a:lnTo>
                <a:lnTo>
                  <a:pt x="307986" y="3916928"/>
                </a:lnTo>
                <a:lnTo>
                  <a:pt x="356337" y="3920181"/>
                </a:lnTo>
                <a:lnTo>
                  <a:pt x="6812950" y="3920181"/>
                </a:lnTo>
                <a:lnTo>
                  <a:pt x="6861301" y="3916928"/>
                </a:lnTo>
                <a:lnTo>
                  <a:pt x="6907675" y="3907452"/>
                </a:lnTo>
                <a:lnTo>
                  <a:pt x="6951648" y="3892177"/>
                </a:lnTo>
                <a:lnTo>
                  <a:pt x="6992795" y="3871529"/>
                </a:lnTo>
                <a:lnTo>
                  <a:pt x="7030692" y="3845932"/>
                </a:lnTo>
                <a:lnTo>
                  <a:pt x="7064914" y="3815810"/>
                </a:lnTo>
                <a:lnTo>
                  <a:pt x="7095036" y="3781589"/>
                </a:lnTo>
                <a:lnTo>
                  <a:pt x="7120633" y="3743692"/>
                </a:lnTo>
                <a:lnTo>
                  <a:pt x="7141281" y="3702544"/>
                </a:lnTo>
                <a:lnTo>
                  <a:pt x="7156556" y="3658571"/>
                </a:lnTo>
                <a:lnTo>
                  <a:pt x="7166032" y="3612196"/>
                </a:lnTo>
                <a:lnTo>
                  <a:pt x="7169285" y="3563844"/>
                </a:lnTo>
                <a:lnTo>
                  <a:pt x="7169285" y="1658797"/>
                </a:lnTo>
                <a:lnTo>
                  <a:pt x="7166032" y="1610446"/>
                </a:lnTo>
                <a:lnTo>
                  <a:pt x="7156556" y="1564071"/>
                </a:lnTo>
                <a:lnTo>
                  <a:pt x="7141281" y="1520097"/>
                </a:lnTo>
                <a:lnTo>
                  <a:pt x="7120633" y="1478949"/>
                </a:lnTo>
                <a:lnTo>
                  <a:pt x="7095036" y="1441052"/>
                </a:lnTo>
                <a:lnTo>
                  <a:pt x="7064914" y="1406831"/>
                </a:lnTo>
                <a:lnTo>
                  <a:pt x="7030692" y="1376709"/>
                </a:lnTo>
                <a:lnTo>
                  <a:pt x="6992795" y="1351111"/>
                </a:lnTo>
                <a:lnTo>
                  <a:pt x="6951648" y="1330463"/>
                </a:lnTo>
                <a:lnTo>
                  <a:pt x="6907675" y="1315189"/>
                </a:lnTo>
                <a:lnTo>
                  <a:pt x="6861301" y="1305713"/>
                </a:lnTo>
                <a:lnTo>
                  <a:pt x="6812950" y="1302460"/>
                </a:lnTo>
                <a:close/>
              </a:path>
              <a:path w="7169286" h="3920180" extrusionOk="0">
                <a:moveTo>
                  <a:pt x="2664091" y="0"/>
                </a:moveTo>
                <a:lnTo>
                  <a:pt x="2348194" y="1319206"/>
                </a:lnTo>
                <a:lnTo>
                  <a:pt x="2993816" y="1319206"/>
                </a:lnTo>
                <a:lnTo>
                  <a:pt x="2664091" y="0"/>
                </a:lnTo>
                <a:close/>
              </a:path>
            </a:pathLst>
          </a:custGeom>
          <a:solidFill>
            <a:srgbClr val="A0C283"/>
          </a:solidFill>
          <a:ln>
            <a:noFill/>
          </a:ln>
        </p:spPr>
        <p:txBody>
          <a:bodyPr spcFirstLastPara="1" wrap="square" lIns="0" tIns="0" rIns="0" bIns="0" anchor="t" anchorCtr="0">
            <a:noAutofit/>
          </a:bodyPr>
          <a:lstStyle/>
          <a:p>
            <a:endParaRPr sz="964"/>
          </a:p>
        </p:txBody>
      </p:sp>
      <p:sp>
        <p:nvSpPr>
          <p:cNvPr id="19" name="Google Shape;137;p17"/>
          <p:cNvSpPr/>
          <p:nvPr/>
        </p:nvSpPr>
        <p:spPr>
          <a:xfrm>
            <a:off x="3055667" y="3452981"/>
            <a:ext cx="234291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20" name="Google Shape;138;p17"/>
          <p:cNvSpPr txBox="1"/>
          <p:nvPr/>
        </p:nvSpPr>
        <p:spPr>
          <a:xfrm>
            <a:off x="3065827" y="4372700"/>
            <a:ext cx="2327721" cy="1143810"/>
          </a:xfrm>
          <a:prstGeom prst="rect">
            <a:avLst/>
          </a:prstGeom>
          <a:noFill/>
          <a:ln>
            <a:noFill/>
          </a:ln>
        </p:spPr>
        <p:txBody>
          <a:bodyPr spcFirstLastPara="1" wrap="square" lIns="0" tIns="32652" rIns="0" bIns="0" anchor="t" anchorCtr="0">
            <a:noAutofit/>
          </a:bodyPr>
          <a:lstStyle/>
          <a:p>
            <a:pPr marL="208524" marR="2721" indent="-202061" algn="ctr">
              <a:lnSpc>
                <a:spcPct val="113506"/>
              </a:lnSpc>
            </a:pPr>
            <a:r>
              <a:rPr lang="en-US" sz="2800" dirty="0">
                <a:solidFill>
                  <a:srgbClr val="FFFFFF"/>
                </a:solidFill>
                <a:latin typeface="Trebuchet MS"/>
                <a:ea typeface="Trebuchet MS"/>
                <a:cs typeface="Trebuchet MS"/>
                <a:sym typeface="Trebuchet MS"/>
              </a:rPr>
              <a:t>name for new column</a:t>
            </a:r>
            <a:endParaRPr sz="2800" dirty="0">
              <a:latin typeface="Trebuchet MS"/>
              <a:ea typeface="Trebuchet MS"/>
              <a:cs typeface="Trebuchet MS"/>
              <a:sym typeface="Trebuchet MS"/>
            </a:endParaRPr>
          </a:p>
        </p:txBody>
      </p:sp>
      <p:sp>
        <p:nvSpPr>
          <p:cNvPr id="21" name="Google Shape;172;p20"/>
          <p:cNvSpPr/>
          <p:nvPr/>
        </p:nvSpPr>
        <p:spPr>
          <a:xfrm>
            <a:off x="7839178" y="3423718"/>
            <a:ext cx="3840689" cy="2153752"/>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Lst>
            <a:ahLst/>
            <a:cxnLst>
              <a:cxn ang="0">
                <a:pos x="connsiteX0" y="connsiteY0"/>
              </a:cxn>
              <a:cxn ang="0">
                <a:pos x="connsiteX1" y="connsiteY1"/>
              </a:cxn>
              <a:cxn ang="0">
                <a:pos x="connsiteX2" y="connsiteY2"/>
              </a:cxn>
              <a:cxn ang="0">
                <a:pos x="connsiteX3" y="connsiteY3"/>
              </a:cxn>
            </a:cxnLst>
            <a:rect l="l" t="t" r="r" b="b"/>
            <a:pathLst>
              <a:path w="7169286" h="3838694" extrusionOk="0">
                <a:moveTo>
                  <a:pt x="6812950" y="1220972"/>
                </a:moveTo>
                <a:lnTo>
                  <a:pt x="356337" y="1220972"/>
                </a:lnTo>
                <a:lnTo>
                  <a:pt x="307986" y="1224225"/>
                </a:lnTo>
                <a:lnTo>
                  <a:pt x="261611" y="1233701"/>
                </a:lnTo>
                <a:lnTo>
                  <a:pt x="217637" y="1248975"/>
                </a:lnTo>
                <a:lnTo>
                  <a:pt x="176489" y="1269623"/>
                </a:lnTo>
                <a:lnTo>
                  <a:pt x="138592" y="1295221"/>
                </a:lnTo>
                <a:lnTo>
                  <a:pt x="104371" y="1325343"/>
                </a:lnTo>
                <a:lnTo>
                  <a:pt x="74249" y="1359564"/>
                </a:lnTo>
                <a:lnTo>
                  <a:pt x="48651" y="1397461"/>
                </a:lnTo>
                <a:lnTo>
                  <a:pt x="28003" y="1438609"/>
                </a:lnTo>
                <a:lnTo>
                  <a:pt x="12729" y="1482583"/>
                </a:lnTo>
                <a:lnTo>
                  <a:pt x="3253" y="1528958"/>
                </a:lnTo>
                <a:lnTo>
                  <a:pt x="0" y="1577309"/>
                </a:lnTo>
                <a:lnTo>
                  <a:pt x="0" y="3482356"/>
                </a:lnTo>
                <a:lnTo>
                  <a:pt x="3253" y="3530708"/>
                </a:lnTo>
                <a:lnTo>
                  <a:pt x="12729" y="3577083"/>
                </a:lnTo>
                <a:lnTo>
                  <a:pt x="28003" y="3621056"/>
                </a:lnTo>
                <a:lnTo>
                  <a:pt x="48651" y="3662204"/>
                </a:lnTo>
                <a:lnTo>
                  <a:pt x="74249" y="3700101"/>
                </a:lnTo>
                <a:lnTo>
                  <a:pt x="104371" y="3734322"/>
                </a:lnTo>
                <a:lnTo>
                  <a:pt x="138592" y="3764444"/>
                </a:lnTo>
                <a:lnTo>
                  <a:pt x="176489" y="3790041"/>
                </a:lnTo>
                <a:lnTo>
                  <a:pt x="217637" y="3810689"/>
                </a:lnTo>
                <a:lnTo>
                  <a:pt x="261611" y="3825964"/>
                </a:lnTo>
                <a:lnTo>
                  <a:pt x="307986" y="3835440"/>
                </a:lnTo>
                <a:lnTo>
                  <a:pt x="356337" y="3838693"/>
                </a:lnTo>
                <a:lnTo>
                  <a:pt x="6812950" y="3838693"/>
                </a:lnTo>
                <a:lnTo>
                  <a:pt x="6861301" y="3835440"/>
                </a:lnTo>
                <a:lnTo>
                  <a:pt x="6907675" y="3825964"/>
                </a:lnTo>
                <a:lnTo>
                  <a:pt x="6951648" y="3810689"/>
                </a:lnTo>
                <a:lnTo>
                  <a:pt x="6992795" y="3790041"/>
                </a:lnTo>
                <a:lnTo>
                  <a:pt x="7030692" y="3764444"/>
                </a:lnTo>
                <a:lnTo>
                  <a:pt x="7064914" y="3734322"/>
                </a:lnTo>
                <a:lnTo>
                  <a:pt x="7095036" y="3700101"/>
                </a:lnTo>
                <a:lnTo>
                  <a:pt x="7120633" y="3662204"/>
                </a:lnTo>
                <a:lnTo>
                  <a:pt x="7141281" y="3621056"/>
                </a:lnTo>
                <a:lnTo>
                  <a:pt x="7156556" y="3577083"/>
                </a:lnTo>
                <a:lnTo>
                  <a:pt x="7166032" y="3530708"/>
                </a:lnTo>
                <a:lnTo>
                  <a:pt x="7169285" y="3482356"/>
                </a:lnTo>
                <a:lnTo>
                  <a:pt x="7169285" y="1577309"/>
                </a:lnTo>
                <a:lnTo>
                  <a:pt x="7166032" y="1528958"/>
                </a:lnTo>
                <a:lnTo>
                  <a:pt x="7156556" y="1482583"/>
                </a:lnTo>
                <a:lnTo>
                  <a:pt x="7141281" y="1438609"/>
                </a:lnTo>
                <a:lnTo>
                  <a:pt x="7120633" y="1397461"/>
                </a:lnTo>
                <a:lnTo>
                  <a:pt x="7095036" y="1359564"/>
                </a:lnTo>
                <a:lnTo>
                  <a:pt x="7064914" y="1325343"/>
                </a:lnTo>
                <a:lnTo>
                  <a:pt x="7030692" y="1295221"/>
                </a:lnTo>
                <a:lnTo>
                  <a:pt x="6992795" y="1269623"/>
                </a:lnTo>
                <a:lnTo>
                  <a:pt x="6951648" y="1248975"/>
                </a:lnTo>
                <a:lnTo>
                  <a:pt x="6907675" y="1233701"/>
                </a:lnTo>
                <a:lnTo>
                  <a:pt x="6861301" y="1224225"/>
                </a:lnTo>
                <a:lnTo>
                  <a:pt x="6812950" y="1220972"/>
                </a:lnTo>
                <a:close/>
              </a:path>
              <a:path w="7169286" h="3838694" extrusionOk="0">
                <a:moveTo>
                  <a:pt x="997315" y="0"/>
                </a:moveTo>
                <a:lnTo>
                  <a:pt x="2348194" y="1237718"/>
                </a:lnTo>
                <a:lnTo>
                  <a:pt x="2993816" y="1237718"/>
                </a:lnTo>
                <a:lnTo>
                  <a:pt x="997315" y="0"/>
                </a:lnTo>
                <a:close/>
              </a:path>
            </a:pathLst>
          </a:custGeom>
          <a:solidFill>
            <a:srgbClr val="D3908F"/>
          </a:solidFill>
          <a:ln>
            <a:noFill/>
          </a:ln>
        </p:spPr>
        <p:txBody>
          <a:bodyPr spcFirstLastPara="1" wrap="square" lIns="0" tIns="0" rIns="0" bIns="0" anchor="t" anchorCtr="0">
            <a:noAutofit/>
          </a:bodyPr>
          <a:lstStyle/>
          <a:p>
            <a:endParaRPr sz="964"/>
          </a:p>
        </p:txBody>
      </p:sp>
      <p:sp>
        <p:nvSpPr>
          <p:cNvPr id="22" name="Google Shape;173;p20"/>
          <p:cNvSpPr txBox="1"/>
          <p:nvPr/>
        </p:nvSpPr>
        <p:spPr>
          <a:xfrm>
            <a:off x="7897480" y="4370119"/>
            <a:ext cx="3760474" cy="1146391"/>
          </a:xfrm>
          <a:prstGeom prst="rect">
            <a:avLst/>
          </a:prstGeom>
          <a:noFill/>
          <a:ln>
            <a:noFill/>
          </a:ln>
        </p:spPr>
        <p:txBody>
          <a:bodyPr spcFirstLastPara="1" wrap="square" lIns="0" tIns="8504" rIns="0" bIns="0" anchor="t" anchorCtr="0">
            <a:noAutofit/>
          </a:bodyPr>
          <a:lstStyle/>
          <a:p>
            <a:pPr algn="ctr">
              <a:lnSpc>
                <a:spcPct val="116753"/>
              </a:lnSpc>
            </a:pPr>
            <a:r>
              <a:rPr lang="en-US" sz="2800" dirty="0">
                <a:solidFill>
                  <a:srgbClr val="FFFFFF"/>
                </a:solidFill>
                <a:latin typeface="Trebuchet MS"/>
                <a:ea typeface="Trebuchet MS"/>
                <a:cs typeface="Trebuchet MS"/>
                <a:sym typeface="Trebuchet MS"/>
              </a:rPr>
              <a:t>what to put in the new column</a:t>
            </a:r>
            <a:endParaRPr sz="2800" dirty="0">
              <a:latin typeface="Trebuchet MS"/>
              <a:ea typeface="Trebuchet MS"/>
              <a:cs typeface="Trebuchet MS"/>
              <a:sym typeface="Trebuchet MS"/>
            </a:endParaRPr>
          </a:p>
        </p:txBody>
      </p:sp>
      <p:sp>
        <p:nvSpPr>
          <p:cNvPr id="23" name="Google Shape;173;p20"/>
          <p:cNvSpPr txBox="1"/>
          <p:nvPr/>
        </p:nvSpPr>
        <p:spPr>
          <a:xfrm>
            <a:off x="5698596" y="4372701"/>
            <a:ext cx="1906034" cy="1303548"/>
          </a:xfrm>
          <a:prstGeom prst="rect">
            <a:avLst/>
          </a:prstGeom>
          <a:noFill/>
          <a:ln>
            <a:noFill/>
          </a:ln>
        </p:spPr>
        <p:txBody>
          <a:bodyPr spcFirstLastPara="1" wrap="square" lIns="0" tIns="8504" rIns="0" bIns="0" anchor="t" anchorCtr="0">
            <a:noAutofit/>
          </a:bodyPr>
          <a:lstStyle/>
          <a:p>
            <a:pPr algn="ctr">
              <a:lnSpc>
                <a:spcPct val="116753"/>
              </a:lnSpc>
            </a:pPr>
            <a:r>
              <a:rPr lang="en-US" sz="2800" b="1" dirty="0">
                <a:solidFill>
                  <a:srgbClr val="FFFFFF"/>
                </a:solidFill>
                <a:latin typeface="Trebuchet MS"/>
                <a:ea typeface="Trebuchet MS"/>
                <a:cs typeface="Trebuchet MS"/>
                <a:sym typeface="Trebuchet MS"/>
              </a:rPr>
              <a:t>single </a:t>
            </a:r>
          </a:p>
          <a:p>
            <a:pPr algn="ctr">
              <a:lnSpc>
                <a:spcPct val="116753"/>
              </a:lnSpc>
            </a:pPr>
            <a:r>
              <a:rPr lang="en-US" sz="2800" b="1" dirty="0">
                <a:solidFill>
                  <a:srgbClr val="FFFFFF"/>
                </a:solidFill>
                <a:latin typeface="Trebuchet MS"/>
                <a:ea typeface="Trebuchet MS"/>
                <a:cs typeface="Trebuchet MS"/>
                <a:sym typeface="Trebuchet MS"/>
              </a:rPr>
              <a:t>equals</a:t>
            </a:r>
            <a:endParaRPr sz="2800" b="1" dirty="0">
              <a:latin typeface="Trebuchet MS"/>
              <a:ea typeface="Trebuchet MS"/>
              <a:cs typeface="Trebuchet MS"/>
              <a:sym typeface="Trebuchet MS"/>
            </a:endParaRPr>
          </a:p>
        </p:txBody>
      </p:sp>
      <p:sp>
        <p:nvSpPr>
          <p:cNvPr id="18" name="Google Shape;293;p32">
            <a:extLst>
              <a:ext uri="{FF2B5EF4-FFF2-40B4-BE49-F238E27FC236}">
                <a16:creationId xmlns:a16="http://schemas.microsoft.com/office/drawing/2014/main" id="{D1E974D4-549D-C64B-9EEA-B64D62BCB7EE}"/>
              </a:ext>
            </a:extLst>
          </p:cNvPr>
          <p:cNvSpPr txBox="1">
            <a:spLocks noGrp="1"/>
          </p:cNvSpPr>
          <p:nvPr>
            <p:ph type="title"/>
          </p:nvPr>
        </p:nvSpPr>
        <p:spPr>
          <a:xfrm>
            <a:off x="0" y="684400"/>
            <a:ext cx="12192000"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latin typeface="Consolas" panose="020B0609020204030204" pitchFamily="49" charset="0"/>
              </a:rPr>
              <a:t>mutate()</a:t>
            </a:r>
            <a:endParaRPr dirty="0">
              <a:latin typeface="Consolas" panose="020B0609020204030204" pitchFamily="49" charset="0"/>
            </a:endParaRPr>
          </a:p>
        </p:txBody>
      </p:sp>
      <p:sp>
        <p:nvSpPr>
          <p:cNvPr id="24" name="Google Shape;296;p32">
            <a:extLst>
              <a:ext uri="{FF2B5EF4-FFF2-40B4-BE49-F238E27FC236}">
                <a16:creationId xmlns:a16="http://schemas.microsoft.com/office/drawing/2014/main" id="{B58D439C-3EEE-0744-9B32-FD9C3DC5FFC4}"/>
              </a:ext>
            </a:extLst>
          </p:cNvPr>
          <p:cNvSpPr txBox="1"/>
          <p:nvPr/>
        </p:nvSpPr>
        <p:spPr>
          <a:xfrm>
            <a:off x="2125774" y="1673939"/>
            <a:ext cx="7940453" cy="488905"/>
          </a:xfrm>
          <a:prstGeom prst="rect">
            <a:avLst/>
          </a:prstGeom>
          <a:noFill/>
          <a:ln>
            <a:noFill/>
          </a:ln>
        </p:spPr>
        <p:txBody>
          <a:bodyPr spcFirstLastPara="1" wrap="square" lIns="0" tIns="6455" rIns="0" bIns="0" anchor="t" anchorCtr="0">
            <a:noAutofit/>
          </a:bodyPr>
          <a:lstStyle/>
          <a:p>
            <a:pPr marL="6803" algn="ctr"/>
            <a:r>
              <a:rPr lang="en-US" sz="3200" dirty="0">
                <a:latin typeface="Tw Cen MT" panose="020B0602020104020603" pitchFamily="34" charset="77"/>
                <a:ea typeface="Calibri"/>
                <a:cs typeface="Calibri"/>
                <a:sym typeface="Calibri"/>
              </a:rPr>
              <a:t>Create new calculated columns</a:t>
            </a:r>
            <a:endParaRPr sz="3200" dirty="0">
              <a:latin typeface="Tw Cen MT" panose="020B0602020104020603" pitchFamily="34" charset="77"/>
              <a:ea typeface="Calibri"/>
              <a:cs typeface="Calibri"/>
              <a:sym typeface="Calibri"/>
            </a:endParaRPr>
          </a:p>
        </p:txBody>
      </p:sp>
    </p:spTree>
    <p:extLst>
      <p:ext uri="{BB962C8B-B14F-4D97-AF65-F5344CB8AC3E}">
        <p14:creationId xmlns:p14="http://schemas.microsoft.com/office/powerpoint/2010/main" val="3081833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8" name="Google Shape;131;p17"/>
          <p:cNvSpPr/>
          <p:nvPr/>
        </p:nvSpPr>
        <p:spPr>
          <a:xfrm>
            <a:off x="712200" y="2255454"/>
            <a:ext cx="11169106" cy="1497972"/>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712200" y="2313797"/>
            <a:ext cx="11587960" cy="1200329"/>
          </a:xfrm>
          <a:prstGeom prst="rect">
            <a:avLst/>
          </a:prstGeom>
        </p:spPr>
        <p:txBody>
          <a:bodyPr wrap="square">
            <a:spAutoFit/>
          </a:bodyPr>
          <a:lstStyle/>
          <a:p>
            <a:r>
              <a:rPr lang="en-US" sz="3200" dirty="0" err="1">
                <a:latin typeface="Consolas" panose="020B0609020204030204" pitchFamily="49" charset="0"/>
                <a:ea typeface="Courier New"/>
                <a:cs typeface="Consolas" panose="020B0609020204030204" pitchFamily="49" charset="0"/>
                <a:sym typeface="Courier New"/>
              </a:rPr>
              <a:t>covid_testing</a:t>
            </a:r>
            <a:r>
              <a:rPr lang="en-US" sz="3200" dirty="0">
                <a:latin typeface="Consolas" panose="020B0609020204030204" pitchFamily="49" charset="0"/>
                <a:ea typeface="Courier New"/>
                <a:cs typeface="Consolas" panose="020B0609020204030204" pitchFamily="49" charset="0"/>
                <a:sym typeface="Courier New"/>
              </a:rPr>
              <a:t> %&gt;%</a:t>
            </a:r>
          </a:p>
          <a:p>
            <a:r>
              <a:rPr lang="en-US" sz="3200" dirty="0">
                <a:latin typeface="Consolas" panose="020B0609020204030204" pitchFamily="49" charset="0"/>
                <a:ea typeface="Courier New"/>
                <a:cs typeface="Consolas" panose="020B0609020204030204" pitchFamily="49" charset="0"/>
                <a:sym typeface="Courier New"/>
              </a:rPr>
              <a:t>	mutate(</a:t>
            </a:r>
            <a:r>
              <a:rPr lang="en-US" sz="3200" dirty="0" err="1">
                <a:solidFill>
                  <a:srgbClr val="538DD5"/>
                </a:solidFill>
                <a:latin typeface="Consolas" panose="020B0609020204030204" pitchFamily="49" charset="0"/>
                <a:ea typeface="Courier New"/>
                <a:cs typeface="Consolas" panose="020B0609020204030204" pitchFamily="49" charset="0"/>
                <a:sym typeface="Courier New"/>
              </a:rPr>
              <a:t>c_r_tat_mins</a:t>
            </a:r>
            <a:r>
              <a:rPr lang="en-US" sz="3200" dirty="0">
                <a:latin typeface="Consolas" panose="020B0609020204030204" pitchFamily="49" charset="0"/>
                <a:ea typeface="Courier New"/>
                <a:cs typeface="Consolas" panose="020B0609020204030204" pitchFamily="49" charset="0"/>
                <a:sym typeface="Courier New"/>
              </a:rPr>
              <a:t> </a:t>
            </a:r>
            <a:r>
              <a:rPr lang="en-US" sz="4000" b="1" dirty="0">
                <a:solidFill>
                  <a:schemeClr val="accent3"/>
                </a:solidFill>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 </a:t>
            </a:r>
            <a:r>
              <a:rPr lang="en-US" sz="3200" dirty="0" err="1">
                <a:solidFill>
                  <a:schemeClr val="accent2"/>
                </a:solidFill>
                <a:latin typeface="Consolas" panose="020B0609020204030204" pitchFamily="49" charset="0"/>
                <a:ea typeface="Courier New"/>
                <a:cs typeface="Consolas" panose="020B0609020204030204" pitchFamily="49" charset="0"/>
                <a:sym typeface="Courier New"/>
              </a:rPr>
              <a:t>col_rec_tat</a:t>
            </a:r>
            <a:r>
              <a:rPr lang="en-US" sz="3200" dirty="0">
                <a:solidFill>
                  <a:schemeClr val="accent2"/>
                </a:solidFill>
                <a:latin typeface="Consolas" panose="020B0609020204030204" pitchFamily="49" charset="0"/>
                <a:ea typeface="Courier New"/>
                <a:cs typeface="Consolas" panose="020B0609020204030204" pitchFamily="49" charset="0"/>
                <a:sym typeface="Courier New"/>
              </a:rPr>
              <a:t> * 60</a:t>
            </a:r>
            <a:r>
              <a:rPr lang="en-US" sz="3200" dirty="0">
                <a:latin typeface="Consolas" panose="020B0609020204030204" pitchFamily="49" charset="0"/>
                <a:ea typeface="Courier New"/>
                <a:cs typeface="Consolas" panose="020B0609020204030204" pitchFamily="49" charset="0"/>
                <a:sym typeface="Courier New"/>
              </a:rPr>
              <a:t>) </a:t>
            </a:r>
            <a:endParaRPr lang="en-US" dirty="0"/>
          </a:p>
        </p:txBody>
      </p:sp>
      <p:sp>
        <p:nvSpPr>
          <p:cNvPr id="12" name="Google Shape;387;p40"/>
          <p:cNvSpPr/>
          <p:nvPr/>
        </p:nvSpPr>
        <p:spPr>
          <a:xfrm>
            <a:off x="5184328" y="5124631"/>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18" name="Google Shape;324;p34"/>
          <p:cNvSpPr txBox="1"/>
          <p:nvPr/>
        </p:nvSpPr>
        <p:spPr>
          <a:xfrm>
            <a:off x="8195267" y="998054"/>
            <a:ext cx="2949467" cy="1043052"/>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calculation can involve another column in the data frame</a:t>
            </a:r>
            <a:endParaRPr sz="2062" dirty="0">
              <a:solidFill>
                <a:schemeClr val="bg1"/>
              </a:solidFill>
              <a:latin typeface="Calibri"/>
              <a:ea typeface="Calibri"/>
              <a:cs typeface="Calibri"/>
              <a:sym typeface="Calibri"/>
            </a:endParaRPr>
          </a:p>
        </p:txBody>
      </p:sp>
      <p:graphicFrame>
        <p:nvGraphicFramePr>
          <p:cNvPr id="4" name="Table 3"/>
          <p:cNvGraphicFramePr>
            <a:graphicFrameLocks noGrp="1"/>
          </p:cNvGraphicFramePr>
          <p:nvPr/>
        </p:nvGraphicFramePr>
        <p:xfrm>
          <a:off x="558945" y="4022186"/>
          <a:ext cx="4507107" cy="2355755"/>
        </p:xfrm>
        <a:graphic>
          <a:graphicData uri="http://schemas.openxmlformats.org/drawingml/2006/table">
            <a:tbl>
              <a:tblPr/>
              <a:tblGrid>
                <a:gridCol w="1502369">
                  <a:extLst>
                    <a:ext uri="{9D8B030D-6E8A-4147-A177-3AD203B41FA5}">
                      <a16:colId xmlns:a16="http://schemas.microsoft.com/office/drawing/2014/main" val="2953353645"/>
                    </a:ext>
                  </a:extLst>
                </a:gridCol>
                <a:gridCol w="1502369">
                  <a:extLst>
                    <a:ext uri="{9D8B030D-6E8A-4147-A177-3AD203B41FA5}">
                      <a16:colId xmlns:a16="http://schemas.microsoft.com/office/drawing/2014/main" val="2850260362"/>
                    </a:ext>
                  </a:extLst>
                </a:gridCol>
                <a:gridCol w="1502369">
                  <a:extLst>
                    <a:ext uri="{9D8B030D-6E8A-4147-A177-3AD203B41FA5}">
                      <a16:colId xmlns:a16="http://schemas.microsoft.com/office/drawing/2014/main" val="1083288691"/>
                    </a:ext>
                  </a:extLst>
                </a:gridCol>
              </a:tblGrid>
              <a:tr h="751663">
                <a:tc>
                  <a:txBody>
                    <a:bodyPr/>
                    <a:lstStyle/>
                    <a:p>
                      <a:pPr algn="ctr" fontAlgn="t"/>
                      <a:r>
                        <a:rPr lang="en-US" sz="2000" b="1" i="0" u="none" strike="noStrike" dirty="0" err="1">
                          <a:solidFill>
                            <a:schemeClr val="bg1"/>
                          </a:solidFill>
                          <a:effectLst/>
                          <a:latin typeface="Arial" panose="020B0604020202020204" pitchFamily="34" charset="0"/>
                        </a:rPr>
                        <a:t>mrn</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fontAlgn="t"/>
                      <a:r>
                        <a:rPr lang="en-US" sz="2000" b="1" i="0" u="none" strike="noStrike" dirty="0" err="1">
                          <a:solidFill>
                            <a:schemeClr val="bg1"/>
                          </a:solidFill>
                          <a:effectLst/>
                          <a:latin typeface="Arial" panose="020B0604020202020204" pitchFamily="34" charset="0"/>
                        </a:rPr>
                        <a:t>col_rec_tat</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fontAlgn="t"/>
                      <a:r>
                        <a:rPr lang="en-US" sz="2000" b="1" i="0" u="none" strike="noStrike" dirty="0" err="1">
                          <a:solidFill>
                            <a:schemeClr val="bg1"/>
                          </a:solidFill>
                          <a:effectLst/>
                          <a:latin typeface="Arial" panose="020B0604020202020204" pitchFamily="34" charset="0"/>
                        </a:rPr>
                        <a:t>rec_ver_tat</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extLst>
                  <a:ext uri="{0D108BD9-81ED-4DB2-BD59-A6C34878D82A}">
                    <a16:rowId xmlns:a16="http://schemas.microsoft.com/office/drawing/2014/main" val="1299481679"/>
                  </a:ext>
                </a:extLst>
              </a:tr>
              <a:tr h="401023">
                <a:tc>
                  <a:txBody>
                    <a:bodyPr/>
                    <a:lstStyle/>
                    <a:p>
                      <a:pPr algn="ctr" rtl="0" fontAlgn="ctr"/>
                      <a:r>
                        <a:rPr lang="en-US" sz="2000" b="0" i="0" u="none" strike="noStrike" dirty="0">
                          <a:solidFill>
                            <a:srgbClr val="000000"/>
                          </a:solidFill>
                          <a:effectLst/>
                          <a:latin typeface="Arial" panose="020B0604020202020204" pitchFamily="34" charset="0"/>
                        </a:rPr>
                        <a:t>5000876</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dirty="0">
                          <a:solidFill>
                            <a:srgbClr val="000000"/>
                          </a:solidFill>
                          <a:effectLst/>
                          <a:latin typeface="Arial" panose="020B0604020202020204" pitchFamily="34" charset="0"/>
                        </a:rPr>
                        <a:t>29.5</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dirty="0">
                          <a:solidFill>
                            <a:srgbClr val="000000"/>
                          </a:solidFill>
                          <a:effectLst/>
                          <a:latin typeface="Arial" panose="020B0604020202020204" pitchFamily="34" charset="0"/>
                        </a:rPr>
                        <a:t>11.5</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745838708"/>
                  </a:ext>
                </a:extLst>
              </a:tr>
              <a:tr h="401023">
                <a:tc>
                  <a:txBody>
                    <a:bodyPr/>
                    <a:lstStyle/>
                    <a:p>
                      <a:pPr algn="ctr" rtl="0" fontAlgn="ctr"/>
                      <a:r>
                        <a:rPr lang="en-US" sz="2000" b="0" i="0" u="none" strike="noStrike" dirty="0">
                          <a:solidFill>
                            <a:srgbClr val="000000"/>
                          </a:solidFill>
                          <a:effectLst/>
                          <a:latin typeface="Arial" panose="020B0604020202020204" pitchFamily="34" charset="0"/>
                        </a:rPr>
                        <a:t>5006017</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a:solidFill>
                            <a:srgbClr val="000000"/>
                          </a:solidFill>
                          <a:effectLst/>
                          <a:latin typeface="Arial" panose="020B0604020202020204" pitchFamily="34" charset="0"/>
                        </a:rPr>
                        <a:t>3.6</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dirty="0">
                          <a:solidFill>
                            <a:srgbClr val="000000"/>
                          </a:solidFill>
                          <a:effectLst/>
                          <a:latin typeface="Arial" panose="020B0604020202020204" pitchFamily="34" charset="0"/>
                        </a:rPr>
                        <a:t>5</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150813573"/>
                  </a:ext>
                </a:extLst>
              </a:tr>
              <a:tr h="401023">
                <a:tc>
                  <a:txBody>
                    <a:bodyPr/>
                    <a:lstStyle/>
                    <a:p>
                      <a:pPr algn="ctr" rtl="0" fontAlgn="ctr"/>
                      <a:r>
                        <a:rPr lang="en-US" sz="2000" b="0" i="0" u="none" strike="noStrike" dirty="0">
                          <a:solidFill>
                            <a:srgbClr val="000000"/>
                          </a:solidFill>
                          <a:effectLst/>
                          <a:latin typeface="Arial" panose="020B0604020202020204" pitchFamily="34" charset="0"/>
                        </a:rPr>
                        <a:t>5001412</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a:solidFill>
                            <a:srgbClr val="000000"/>
                          </a:solidFill>
                          <a:effectLst/>
                          <a:latin typeface="Arial" panose="020B0604020202020204" pitchFamily="34" charset="0"/>
                        </a:rPr>
                        <a:t>1.4</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dirty="0">
                          <a:solidFill>
                            <a:srgbClr val="000000"/>
                          </a:solidFill>
                          <a:effectLst/>
                          <a:latin typeface="Arial" panose="020B0604020202020204" pitchFamily="34" charset="0"/>
                        </a:rPr>
                        <a:t>5.2</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481542292"/>
                  </a:ext>
                </a:extLst>
              </a:tr>
              <a:tr h="401023">
                <a:tc>
                  <a:txBody>
                    <a:bodyPr/>
                    <a:lstStyle/>
                    <a:p>
                      <a:pPr algn="ctr" rtl="0" fontAlgn="ctr"/>
                      <a:r>
                        <a:rPr lang="en-US" sz="2000" b="0" i="0" u="none" strike="noStrike" dirty="0">
                          <a:solidFill>
                            <a:srgbClr val="000000"/>
                          </a:solidFill>
                          <a:effectLst/>
                          <a:latin typeface="Arial" panose="020B0604020202020204" pitchFamily="34" charset="0"/>
                        </a:rPr>
                        <a:t>5000533</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dirty="0">
                          <a:solidFill>
                            <a:srgbClr val="000000"/>
                          </a:solidFill>
                          <a:effectLst/>
                          <a:latin typeface="Arial" panose="020B0604020202020204" pitchFamily="34" charset="0"/>
                        </a:rPr>
                        <a:t>2.3</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dirty="0">
                          <a:solidFill>
                            <a:srgbClr val="000000"/>
                          </a:solidFill>
                          <a:effectLst/>
                          <a:latin typeface="Arial" panose="020B0604020202020204" pitchFamily="34" charset="0"/>
                        </a:rPr>
                        <a:t>5.8</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1265016389"/>
                  </a:ext>
                </a:extLst>
              </a:tr>
            </a:tbl>
          </a:graphicData>
        </a:graphic>
      </p:graphicFrame>
      <p:graphicFrame>
        <p:nvGraphicFramePr>
          <p:cNvPr id="20" name="Table 19"/>
          <p:cNvGraphicFramePr>
            <a:graphicFrameLocks noGrp="1"/>
          </p:cNvGraphicFramePr>
          <p:nvPr/>
        </p:nvGraphicFramePr>
        <p:xfrm>
          <a:off x="5635979" y="4040833"/>
          <a:ext cx="6380760" cy="2355755"/>
        </p:xfrm>
        <a:graphic>
          <a:graphicData uri="http://schemas.openxmlformats.org/drawingml/2006/table">
            <a:tbl>
              <a:tblPr/>
              <a:tblGrid>
                <a:gridCol w="1595190">
                  <a:extLst>
                    <a:ext uri="{9D8B030D-6E8A-4147-A177-3AD203B41FA5}">
                      <a16:colId xmlns:a16="http://schemas.microsoft.com/office/drawing/2014/main" val="2953353645"/>
                    </a:ext>
                  </a:extLst>
                </a:gridCol>
                <a:gridCol w="1595190">
                  <a:extLst>
                    <a:ext uri="{9D8B030D-6E8A-4147-A177-3AD203B41FA5}">
                      <a16:colId xmlns:a16="http://schemas.microsoft.com/office/drawing/2014/main" val="2850260362"/>
                    </a:ext>
                  </a:extLst>
                </a:gridCol>
                <a:gridCol w="1595190">
                  <a:extLst>
                    <a:ext uri="{9D8B030D-6E8A-4147-A177-3AD203B41FA5}">
                      <a16:colId xmlns:a16="http://schemas.microsoft.com/office/drawing/2014/main" val="1083288691"/>
                    </a:ext>
                  </a:extLst>
                </a:gridCol>
                <a:gridCol w="1595190">
                  <a:extLst>
                    <a:ext uri="{9D8B030D-6E8A-4147-A177-3AD203B41FA5}">
                      <a16:colId xmlns:a16="http://schemas.microsoft.com/office/drawing/2014/main" val="2986944758"/>
                    </a:ext>
                  </a:extLst>
                </a:gridCol>
              </a:tblGrid>
              <a:tr h="751663">
                <a:tc>
                  <a:txBody>
                    <a:bodyPr/>
                    <a:lstStyle/>
                    <a:p>
                      <a:pPr algn="ctr" fontAlgn="t"/>
                      <a:r>
                        <a:rPr lang="en-US" sz="2000" b="1" i="0" u="none" strike="noStrike" dirty="0" err="1">
                          <a:solidFill>
                            <a:schemeClr val="bg1"/>
                          </a:solidFill>
                          <a:effectLst/>
                          <a:latin typeface="Arial" panose="020B0604020202020204" pitchFamily="34" charset="0"/>
                        </a:rPr>
                        <a:t>mrn</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fontAlgn="t"/>
                      <a:r>
                        <a:rPr lang="en-US" sz="2000" b="1" i="0" u="none" strike="noStrike" dirty="0" err="1">
                          <a:solidFill>
                            <a:schemeClr val="bg1"/>
                          </a:solidFill>
                          <a:effectLst/>
                          <a:latin typeface="Arial" panose="020B0604020202020204" pitchFamily="34" charset="0"/>
                        </a:rPr>
                        <a:t>col_rec_tat</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fontAlgn="t"/>
                      <a:r>
                        <a:rPr lang="en-US" sz="2000" b="1" i="0" u="none" strike="noStrike" dirty="0" err="1">
                          <a:solidFill>
                            <a:schemeClr val="bg1"/>
                          </a:solidFill>
                          <a:effectLst/>
                          <a:latin typeface="Arial" panose="020B0604020202020204" pitchFamily="34" charset="0"/>
                        </a:rPr>
                        <a:t>rec_ver_tat</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2000" b="1" i="0" u="none" strike="noStrike" dirty="0" err="1">
                          <a:solidFill>
                            <a:srgbClr val="FFFFFF"/>
                          </a:solidFill>
                          <a:effectLst/>
                          <a:latin typeface="Arial" panose="020B0604020202020204" pitchFamily="34" charset="0"/>
                        </a:rPr>
                        <a:t>c_r_tat_mins</a:t>
                      </a:r>
                      <a:endParaRPr lang="en-US" sz="2000" b="1" i="0" u="none" strike="noStrike" dirty="0">
                        <a:solidFill>
                          <a:srgbClr val="FFFFFF"/>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38DD5"/>
                    </a:solidFill>
                  </a:tcPr>
                </a:tc>
                <a:extLst>
                  <a:ext uri="{0D108BD9-81ED-4DB2-BD59-A6C34878D82A}">
                    <a16:rowId xmlns:a16="http://schemas.microsoft.com/office/drawing/2014/main" val="1299481679"/>
                  </a:ext>
                </a:extLst>
              </a:tr>
              <a:tr h="401023">
                <a:tc>
                  <a:txBody>
                    <a:bodyPr/>
                    <a:lstStyle/>
                    <a:p>
                      <a:pPr algn="ctr" rtl="0" fontAlgn="ctr"/>
                      <a:r>
                        <a:rPr lang="en-US" sz="2000" b="0" i="0" u="none" strike="noStrike" dirty="0">
                          <a:solidFill>
                            <a:srgbClr val="000000"/>
                          </a:solidFill>
                          <a:effectLst/>
                          <a:latin typeface="Arial" panose="020B0604020202020204" pitchFamily="34" charset="0"/>
                        </a:rPr>
                        <a:t>5000876</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dirty="0">
                          <a:solidFill>
                            <a:srgbClr val="000000"/>
                          </a:solidFill>
                          <a:effectLst/>
                          <a:latin typeface="Arial" panose="020B0604020202020204" pitchFamily="34" charset="0"/>
                        </a:rPr>
                        <a:t>29.5</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dirty="0">
                          <a:solidFill>
                            <a:srgbClr val="000000"/>
                          </a:solidFill>
                          <a:effectLst/>
                          <a:latin typeface="Arial" panose="020B0604020202020204" pitchFamily="34" charset="0"/>
                        </a:rPr>
                        <a:t>11.5</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2000" b="0" i="0" u="none" strike="noStrike" dirty="0">
                          <a:solidFill>
                            <a:srgbClr val="000000"/>
                          </a:solidFill>
                          <a:effectLst/>
                          <a:latin typeface="Arial" panose="020B0604020202020204" pitchFamily="34" charset="0"/>
                        </a:rPr>
                        <a:t>1770</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745838708"/>
                  </a:ext>
                </a:extLst>
              </a:tr>
              <a:tr h="401023">
                <a:tc>
                  <a:txBody>
                    <a:bodyPr/>
                    <a:lstStyle/>
                    <a:p>
                      <a:pPr algn="ctr" rtl="0" fontAlgn="ctr"/>
                      <a:r>
                        <a:rPr lang="en-US" sz="2000" b="0" i="0" u="none" strike="noStrike" dirty="0">
                          <a:solidFill>
                            <a:srgbClr val="000000"/>
                          </a:solidFill>
                          <a:effectLst/>
                          <a:latin typeface="Arial" panose="020B0604020202020204" pitchFamily="34" charset="0"/>
                        </a:rPr>
                        <a:t>5006017</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a:solidFill>
                            <a:srgbClr val="000000"/>
                          </a:solidFill>
                          <a:effectLst/>
                          <a:latin typeface="Arial" panose="020B0604020202020204" pitchFamily="34" charset="0"/>
                        </a:rPr>
                        <a:t>3.6</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dirty="0">
                          <a:solidFill>
                            <a:srgbClr val="000000"/>
                          </a:solidFill>
                          <a:effectLst/>
                          <a:latin typeface="Arial" panose="020B0604020202020204" pitchFamily="34" charset="0"/>
                        </a:rPr>
                        <a:t>5</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2000" b="0" i="0" u="none" strike="noStrike" dirty="0">
                          <a:solidFill>
                            <a:srgbClr val="000000"/>
                          </a:solidFill>
                          <a:effectLst/>
                          <a:latin typeface="Arial" panose="020B0604020202020204" pitchFamily="34" charset="0"/>
                        </a:rPr>
                        <a:t>216</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2150813573"/>
                  </a:ext>
                </a:extLst>
              </a:tr>
              <a:tr h="401023">
                <a:tc>
                  <a:txBody>
                    <a:bodyPr/>
                    <a:lstStyle/>
                    <a:p>
                      <a:pPr algn="ctr" rtl="0" fontAlgn="ctr"/>
                      <a:r>
                        <a:rPr lang="en-US" sz="2000" b="0" i="0" u="none" strike="noStrike" dirty="0">
                          <a:solidFill>
                            <a:srgbClr val="000000"/>
                          </a:solidFill>
                          <a:effectLst/>
                          <a:latin typeface="Arial" panose="020B0604020202020204" pitchFamily="34" charset="0"/>
                        </a:rPr>
                        <a:t>5001412</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a:solidFill>
                            <a:srgbClr val="000000"/>
                          </a:solidFill>
                          <a:effectLst/>
                          <a:latin typeface="Arial" panose="020B0604020202020204" pitchFamily="34" charset="0"/>
                        </a:rPr>
                        <a:t>1.4</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dirty="0">
                          <a:solidFill>
                            <a:srgbClr val="000000"/>
                          </a:solidFill>
                          <a:effectLst/>
                          <a:latin typeface="Arial" panose="020B0604020202020204" pitchFamily="34" charset="0"/>
                        </a:rPr>
                        <a:t>5.2</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2000" b="0" i="0" u="none" strike="noStrike" dirty="0">
                          <a:solidFill>
                            <a:srgbClr val="000000"/>
                          </a:solidFill>
                          <a:effectLst/>
                          <a:latin typeface="Arial" panose="020B0604020202020204" pitchFamily="34" charset="0"/>
                        </a:rPr>
                        <a:t>84</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2481542292"/>
                  </a:ext>
                </a:extLst>
              </a:tr>
              <a:tr h="401023">
                <a:tc>
                  <a:txBody>
                    <a:bodyPr/>
                    <a:lstStyle/>
                    <a:p>
                      <a:pPr algn="ctr" rtl="0" fontAlgn="ctr"/>
                      <a:r>
                        <a:rPr lang="en-US" sz="2000" b="0" i="0" u="none" strike="noStrike" dirty="0">
                          <a:solidFill>
                            <a:srgbClr val="000000"/>
                          </a:solidFill>
                          <a:effectLst/>
                          <a:latin typeface="Arial" panose="020B0604020202020204" pitchFamily="34" charset="0"/>
                        </a:rPr>
                        <a:t>5000533</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dirty="0">
                          <a:solidFill>
                            <a:srgbClr val="000000"/>
                          </a:solidFill>
                          <a:effectLst/>
                          <a:latin typeface="Arial" panose="020B0604020202020204" pitchFamily="34" charset="0"/>
                        </a:rPr>
                        <a:t>2.3</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2000" b="0" i="0" u="none" strike="noStrike" dirty="0">
                          <a:solidFill>
                            <a:srgbClr val="000000"/>
                          </a:solidFill>
                          <a:effectLst/>
                          <a:latin typeface="Arial" panose="020B0604020202020204" pitchFamily="34" charset="0"/>
                        </a:rPr>
                        <a:t>5.8</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2000" b="0" i="0" u="none" strike="noStrike" dirty="0">
                          <a:solidFill>
                            <a:srgbClr val="000000"/>
                          </a:solidFill>
                          <a:effectLst/>
                          <a:latin typeface="Arial" panose="020B0604020202020204" pitchFamily="34" charset="0"/>
                        </a:rPr>
                        <a:t>138</a:t>
                      </a: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1265016389"/>
                  </a:ext>
                </a:extLst>
              </a:tr>
            </a:tbl>
          </a:graphicData>
        </a:graphic>
      </p:graphicFrame>
      <p:sp>
        <p:nvSpPr>
          <p:cNvPr id="16" name="Google Shape;293;p32">
            <a:extLst>
              <a:ext uri="{FF2B5EF4-FFF2-40B4-BE49-F238E27FC236}">
                <a16:creationId xmlns:a16="http://schemas.microsoft.com/office/drawing/2014/main" id="{139390EC-319A-B24C-B389-19925CFD9F68}"/>
              </a:ext>
            </a:extLst>
          </p:cNvPr>
          <p:cNvSpPr txBox="1">
            <a:spLocks noGrp="1"/>
          </p:cNvSpPr>
          <p:nvPr>
            <p:ph type="title"/>
          </p:nvPr>
        </p:nvSpPr>
        <p:spPr>
          <a:xfrm>
            <a:off x="0" y="684400"/>
            <a:ext cx="12192000"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latin typeface="Consolas" panose="020B0609020204030204" pitchFamily="49" charset="0"/>
              </a:rPr>
              <a:t>mutate()</a:t>
            </a:r>
            <a:endParaRPr dirty="0">
              <a:latin typeface="Consolas" panose="020B0609020204030204" pitchFamily="49" charset="0"/>
            </a:endParaRPr>
          </a:p>
        </p:txBody>
      </p:sp>
      <p:sp>
        <p:nvSpPr>
          <p:cNvPr id="17" name="Google Shape;296;p32">
            <a:extLst>
              <a:ext uri="{FF2B5EF4-FFF2-40B4-BE49-F238E27FC236}">
                <a16:creationId xmlns:a16="http://schemas.microsoft.com/office/drawing/2014/main" id="{C649CDBA-BC90-894F-B5EE-256613561991}"/>
              </a:ext>
            </a:extLst>
          </p:cNvPr>
          <p:cNvSpPr txBox="1"/>
          <p:nvPr/>
        </p:nvSpPr>
        <p:spPr>
          <a:xfrm>
            <a:off x="2125774" y="1673939"/>
            <a:ext cx="7940453" cy="488905"/>
          </a:xfrm>
          <a:prstGeom prst="rect">
            <a:avLst/>
          </a:prstGeom>
          <a:noFill/>
          <a:ln>
            <a:noFill/>
          </a:ln>
        </p:spPr>
        <p:txBody>
          <a:bodyPr spcFirstLastPara="1" wrap="square" lIns="0" tIns="6455" rIns="0" bIns="0" anchor="t" anchorCtr="0">
            <a:noAutofit/>
          </a:bodyPr>
          <a:lstStyle/>
          <a:p>
            <a:pPr marL="6803" algn="ctr"/>
            <a:r>
              <a:rPr lang="en-US" sz="3200" dirty="0">
                <a:latin typeface="Tw Cen MT" panose="020B0602020104020603" pitchFamily="34" charset="77"/>
                <a:ea typeface="Calibri"/>
                <a:cs typeface="Calibri"/>
                <a:sym typeface="Calibri"/>
              </a:rPr>
              <a:t>Create new calculated columns</a:t>
            </a:r>
            <a:endParaRPr sz="3200" dirty="0">
              <a:latin typeface="Tw Cen MT" panose="020B0602020104020603" pitchFamily="34" charset="77"/>
              <a:ea typeface="Calibri"/>
              <a:cs typeface="Calibri"/>
              <a:sym typeface="Calibri"/>
            </a:endParaRPr>
          </a:p>
        </p:txBody>
      </p:sp>
    </p:spTree>
    <p:extLst>
      <p:ext uri="{BB962C8B-B14F-4D97-AF65-F5344CB8AC3E}">
        <p14:creationId xmlns:p14="http://schemas.microsoft.com/office/powerpoint/2010/main" val="408624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AA3D-CC1E-C74E-A634-995E791A2433}"/>
              </a:ext>
            </a:extLst>
          </p:cNvPr>
          <p:cNvSpPr>
            <a:spLocks noGrp="1"/>
          </p:cNvSpPr>
          <p:nvPr>
            <p:ph type="title"/>
          </p:nvPr>
        </p:nvSpPr>
        <p:spPr/>
        <p:txBody>
          <a:bodyPr/>
          <a:lstStyle/>
          <a:p>
            <a:r>
              <a:rPr lang="en-US" dirty="0"/>
              <a:t>Your Turn #1</a:t>
            </a:r>
          </a:p>
        </p:txBody>
      </p:sp>
      <p:sp>
        <p:nvSpPr>
          <p:cNvPr id="3" name="Text Placeholder 2">
            <a:extLst>
              <a:ext uri="{FF2B5EF4-FFF2-40B4-BE49-F238E27FC236}">
                <a16:creationId xmlns:a16="http://schemas.microsoft.com/office/drawing/2014/main" id="{EE19BCF9-CEA1-7D4C-9B3A-71C9D9023AEA}"/>
              </a:ext>
            </a:extLst>
          </p:cNvPr>
          <p:cNvSpPr>
            <a:spLocks noGrp="1"/>
          </p:cNvSpPr>
          <p:nvPr>
            <p:ph type="body" sz="quarter" idx="13"/>
          </p:nvPr>
        </p:nvSpPr>
        <p:spPr/>
        <p:txBody>
          <a:bodyPr>
            <a:normAutofit lnSpcReduction="10000"/>
          </a:bodyPr>
          <a:lstStyle/>
          <a:p>
            <a:pPr marL="0" indent="0">
              <a:buNone/>
            </a:pPr>
            <a:r>
              <a:rPr lang="en-US" sz="4400" dirty="0"/>
              <a:t>Open </a:t>
            </a:r>
            <a:r>
              <a:rPr lang="en-US" sz="3600" dirty="0">
                <a:solidFill>
                  <a:srgbClr val="0070C0"/>
                </a:solidFill>
                <a:latin typeface="Consolas" panose="020B0609020204030204" pitchFamily="49" charset="0"/>
                <a:ea typeface="Monaco" charset="0"/>
                <a:cs typeface="Consolas" panose="020B0609020204030204" pitchFamily="49" charset="0"/>
              </a:rPr>
              <a:t>03 – </a:t>
            </a:r>
            <a:r>
              <a:rPr lang="en-US" sz="3600" dirty="0" err="1">
                <a:solidFill>
                  <a:srgbClr val="0070C0"/>
                </a:solidFill>
                <a:latin typeface="Consolas" panose="020B0609020204030204" pitchFamily="49" charset="0"/>
                <a:ea typeface="Monaco" charset="0"/>
                <a:cs typeface="Consolas" panose="020B0609020204030204" pitchFamily="49" charset="0"/>
              </a:rPr>
              <a:t>Transform.qmd</a:t>
            </a:r>
            <a:r>
              <a:rPr lang="en-US" sz="4400" dirty="0"/>
              <a:t> and work through the first set of exercises.</a:t>
            </a:r>
          </a:p>
          <a:p>
            <a:pPr marL="0" indent="0">
              <a:buNone/>
            </a:pPr>
            <a:endParaRPr lang="en-US" sz="4400" dirty="0"/>
          </a:p>
          <a:p>
            <a:pPr marL="0" indent="0">
              <a:buNone/>
            </a:pPr>
            <a:r>
              <a:rPr lang="en-US" sz="4400" dirty="0"/>
              <a:t>Type “done!” in the chat when you are finished.</a:t>
            </a:r>
          </a:p>
        </p:txBody>
      </p:sp>
    </p:spTree>
    <p:extLst>
      <p:ext uri="{BB962C8B-B14F-4D97-AF65-F5344CB8AC3E}">
        <p14:creationId xmlns:p14="http://schemas.microsoft.com/office/powerpoint/2010/main" val="18345417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9A81-EACE-CA4A-8F32-2988B1716969}"/>
              </a:ext>
            </a:extLst>
          </p:cNvPr>
          <p:cNvSpPr>
            <a:spLocks noGrp="1"/>
          </p:cNvSpPr>
          <p:nvPr>
            <p:ph type="title"/>
          </p:nvPr>
        </p:nvSpPr>
        <p:spPr/>
        <p:txBody>
          <a:bodyPr/>
          <a:lstStyle/>
          <a:p>
            <a:r>
              <a:rPr lang="en-US" sz="5400" dirty="0">
                <a:solidFill>
                  <a:schemeClr val="tx1"/>
                </a:solidFill>
              </a:rPr>
              <a:t>Grouping your data</a:t>
            </a:r>
            <a:endParaRPr lang="en-US" dirty="0">
              <a:solidFill>
                <a:schemeClr val="tx1"/>
              </a:solidFill>
            </a:endParaRPr>
          </a:p>
        </p:txBody>
      </p:sp>
    </p:spTree>
    <p:extLst>
      <p:ext uri="{BB962C8B-B14F-4D97-AF65-F5344CB8AC3E}">
        <p14:creationId xmlns:p14="http://schemas.microsoft.com/office/powerpoint/2010/main" val="478047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oogle Shape;154;p18"/>
          <p:cNvGraphicFramePr/>
          <p:nvPr/>
        </p:nvGraphicFramePr>
        <p:xfrm>
          <a:off x="1629651" y="2861916"/>
          <a:ext cx="3622445" cy="2690254"/>
        </p:xfrm>
        <a:graphic>
          <a:graphicData uri="http://schemas.openxmlformats.org/drawingml/2006/table">
            <a:tbl>
              <a:tblPr firstRow="1" bandRow="1">
                <a:noFill/>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gridCol w="1220498">
                  <a:extLst>
                    <a:ext uri="{9D8B030D-6E8A-4147-A177-3AD203B41FA5}">
                      <a16:colId xmlns:a16="http://schemas.microsoft.com/office/drawing/2014/main" val="20003"/>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sp>
        <p:nvSpPr>
          <p:cNvPr id="4" name="Right Arrow 3"/>
          <p:cNvSpPr/>
          <p:nvPr/>
        </p:nvSpPr>
        <p:spPr>
          <a:xfrm>
            <a:off x="5811233" y="2941197"/>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Google Shape;154;p18"/>
          <p:cNvGraphicFramePr/>
          <p:nvPr/>
        </p:nvGraphicFramePr>
        <p:xfrm>
          <a:off x="7218468" y="2552806"/>
          <a:ext cx="3622445" cy="1152966"/>
        </p:xfrm>
        <a:graphic>
          <a:graphicData uri="http://schemas.openxmlformats.org/drawingml/2006/table">
            <a:tbl>
              <a:tblPr firstRow="1" bandRow="1">
                <a:noFill/>
                <a:effectLst>
                  <a:outerShdw blurRad="50800" dist="533400" dir="2700000" algn="tl" rotWithShape="0">
                    <a:prstClr val="black">
                      <a:alpha val="40000"/>
                    </a:prstClr>
                  </a:outerShdw>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gridCol w="1220498">
                  <a:extLst>
                    <a:ext uri="{9D8B030D-6E8A-4147-A177-3AD203B41FA5}">
                      <a16:colId xmlns:a16="http://schemas.microsoft.com/office/drawing/2014/main" val="20003"/>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951213" y="686765"/>
            <a:ext cx="2628989" cy="923330"/>
          </a:xfrm>
          <a:prstGeom prst="rect">
            <a:avLst/>
          </a:prstGeom>
          <a:noFill/>
        </p:spPr>
        <p:txBody>
          <a:bodyPr wrap="none" rtlCol="0">
            <a:spAutoFit/>
          </a:bodyPr>
          <a:lstStyle/>
          <a:p>
            <a:r>
              <a:rPr lang="en-US" sz="5400" dirty="0" err="1">
                <a:latin typeface="+mj-lt"/>
                <a:sym typeface="Calibri"/>
              </a:rPr>
              <a:t>group_by</a:t>
            </a:r>
            <a:r>
              <a:rPr lang="en-US" sz="5400" dirty="0">
                <a:latin typeface="Calibri"/>
                <a:sym typeface="Calibri"/>
              </a:rPr>
              <a:t>()</a:t>
            </a:r>
            <a:endParaRPr lang="en-US" dirty="0"/>
          </a:p>
        </p:txBody>
      </p:sp>
      <p:sp>
        <p:nvSpPr>
          <p:cNvPr id="8"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9" name="Google Shape;154;p18"/>
          <p:cNvGraphicFramePr/>
          <p:nvPr/>
        </p:nvGraphicFramePr>
        <p:xfrm>
          <a:off x="7510605" y="3129289"/>
          <a:ext cx="3622445" cy="1152966"/>
        </p:xfrm>
        <a:graphic>
          <a:graphicData uri="http://schemas.openxmlformats.org/drawingml/2006/table">
            <a:tbl>
              <a:tblPr firstRow="1" bandRow="1">
                <a:noFill/>
                <a:effectLst>
                  <a:outerShdw blurRad="50800" dist="533400" dir="2700000" algn="tl" rotWithShape="0">
                    <a:prstClr val="black">
                      <a:alpha val="40000"/>
                    </a:prstClr>
                  </a:outerShdw>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gridCol w="1220498">
                  <a:extLst>
                    <a:ext uri="{9D8B030D-6E8A-4147-A177-3AD203B41FA5}">
                      <a16:colId xmlns:a16="http://schemas.microsoft.com/office/drawing/2014/main" val="20003"/>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bl>
          </a:graphicData>
        </a:graphic>
      </p:graphicFrame>
      <p:graphicFrame>
        <p:nvGraphicFramePr>
          <p:cNvPr id="10" name="Google Shape;154;p18"/>
          <p:cNvGraphicFramePr/>
          <p:nvPr/>
        </p:nvGraphicFramePr>
        <p:xfrm>
          <a:off x="7802743" y="3705772"/>
          <a:ext cx="3622445" cy="1152966"/>
        </p:xfrm>
        <a:graphic>
          <a:graphicData uri="http://schemas.openxmlformats.org/drawingml/2006/table">
            <a:tbl>
              <a:tblPr firstRow="1" bandRow="1">
                <a:noFill/>
                <a:effectLst>
                  <a:outerShdw blurRad="50800" dist="533400" dir="2700000" algn="tl" rotWithShape="0">
                    <a:prstClr val="black">
                      <a:alpha val="40000"/>
                    </a:prstClr>
                  </a:outerShdw>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gridCol w="1220498">
                  <a:extLst>
                    <a:ext uri="{9D8B030D-6E8A-4147-A177-3AD203B41FA5}">
                      <a16:colId xmlns:a16="http://schemas.microsoft.com/office/drawing/2014/main" val="20003"/>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6099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2054" y="712657"/>
            <a:ext cx="2628989" cy="923330"/>
          </a:xfrm>
          <a:prstGeom prst="rect">
            <a:avLst/>
          </a:prstGeom>
          <a:noFill/>
        </p:spPr>
        <p:txBody>
          <a:bodyPr wrap="none" rtlCol="0">
            <a:spAutoFit/>
          </a:bodyPr>
          <a:lstStyle/>
          <a:p>
            <a:r>
              <a:rPr lang="en-US" sz="5400" dirty="0" err="1">
                <a:latin typeface="+mj-lt"/>
                <a:sym typeface="Calibri"/>
              </a:rPr>
              <a:t>group_by</a:t>
            </a:r>
            <a:r>
              <a:rPr lang="en-US" sz="5400" dirty="0">
                <a:latin typeface="Calibri"/>
                <a:sym typeface="Calibri"/>
              </a:rPr>
              <a:t>()</a:t>
            </a:r>
            <a:endParaRPr lang="en-US" dirty="0"/>
          </a:p>
        </p:txBody>
      </p:sp>
      <p:sp>
        <p:nvSpPr>
          <p:cNvPr id="5" name="Google Shape;131;p17"/>
          <p:cNvSpPr/>
          <p:nvPr/>
        </p:nvSpPr>
        <p:spPr>
          <a:xfrm>
            <a:off x="3241040" y="2796189"/>
            <a:ext cx="5516880" cy="1265621"/>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6" name="Rectangle 5"/>
          <p:cNvSpPr/>
          <p:nvPr/>
        </p:nvSpPr>
        <p:spPr>
          <a:xfrm>
            <a:off x="3334875" y="2854532"/>
            <a:ext cx="8424455" cy="1077218"/>
          </a:xfrm>
          <a:prstGeom prst="rect">
            <a:avLst/>
          </a:prstGeom>
        </p:spPr>
        <p:txBody>
          <a:bodyPr wrap="square">
            <a:spAutoFit/>
          </a:bodyPr>
          <a:lstStyle/>
          <a:p>
            <a:r>
              <a:rPr lang="en-US" sz="3200" dirty="0" err="1">
                <a:latin typeface="Consolas" panose="020B0609020204030204" pitchFamily="49" charset="0"/>
                <a:ea typeface="Courier New"/>
                <a:cs typeface="Consolas" panose="020B0609020204030204" pitchFamily="49" charset="0"/>
                <a:sym typeface="Courier New"/>
              </a:rPr>
              <a:t>covid_testing</a:t>
            </a:r>
            <a:r>
              <a:rPr lang="en-US" sz="3200" dirty="0">
                <a:latin typeface="Consolas" panose="020B0609020204030204" pitchFamily="49" charset="0"/>
                <a:ea typeface="Courier New"/>
                <a:cs typeface="Consolas" panose="020B0609020204030204" pitchFamily="49" charset="0"/>
                <a:sym typeface="Courier New"/>
              </a:rPr>
              <a:t> %&gt;%</a:t>
            </a:r>
          </a:p>
          <a:p>
            <a:r>
              <a:rPr lang="en-US" sz="3200" dirty="0">
                <a:latin typeface="Consolas" panose="020B0609020204030204" pitchFamily="49" charset="0"/>
                <a:ea typeface="Courier New"/>
                <a:cs typeface="Consolas" panose="020B0609020204030204" pitchFamily="49" charset="0"/>
                <a:sym typeface="Courier New"/>
              </a:rPr>
              <a:t>	</a:t>
            </a:r>
            <a:r>
              <a:rPr lang="en-US" sz="3200" dirty="0" err="1">
                <a:latin typeface="Consolas" panose="020B0609020204030204" pitchFamily="49" charset="0"/>
                <a:ea typeface="Courier New"/>
                <a:cs typeface="Consolas" panose="020B0609020204030204" pitchFamily="49" charset="0"/>
                <a:sym typeface="Courier New"/>
              </a:rPr>
              <a:t>group_by</a:t>
            </a:r>
            <a:r>
              <a:rPr lang="en-US" sz="3200" dirty="0">
                <a:latin typeface="Consolas" panose="020B0609020204030204" pitchFamily="49" charset="0"/>
                <a:ea typeface="Courier New"/>
                <a:cs typeface="Consolas" panose="020B0609020204030204" pitchFamily="49" charset="0"/>
                <a:sym typeface="Courier New"/>
              </a:rPr>
              <a:t>(</a:t>
            </a:r>
            <a:r>
              <a:rPr lang="en-US" sz="3200" dirty="0">
                <a:solidFill>
                  <a:srgbClr val="538DD5"/>
                </a:solidFill>
                <a:latin typeface="Consolas" panose="020B0609020204030204" pitchFamily="49" charset="0"/>
                <a:ea typeface="Courier New"/>
                <a:cs typeface="Consolas" panose="020B0609020204030204" pitchFamily="49" charset="0"/>
                <a:sym typeface="Courier New"/>
              </a:rPr>
              <a:t>variable</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8" name="Google Shape;137;p17"/>
          <p:cNvSpPr/>
          <p:nvPr/>
        </p:nvSpPr>
        <p:spPr>
          <a:xfrm>
            <a:off x="4630466" y="3924704"/>
            <a:ext cx="3135583" cy="2033420"/>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 name="connsiteX0" fmla="*/ 0 w 2183801"/>
              <a:gd name="connsiteY0" fmla="*/ 1129596 h 2448216"/>
              <a:gd name="connsiteX1" fmla="*/ 263730 w 2183801"/>
              <a:gd name="connsiteY1" fmla="*/ 865866 h 2448216"/>
              <a:gd name="connsiteX2" fmla="*/ 1209057 w 2183801"/>
              <a:gd name="connsiteY2" fmla="*/ 843552 h 2448216"/>
              <a:gd name="connsiteX3" fmla="*/ 1806423 w 2183801"/>
              <a:gd name="connsiteY3" fmla="*/ 0 h 2448216"/>
              <a:gd name="connsiteX4" fmla="*/ 1478117 w 2183801"/>
              <a:gd name="connsiteY4" fmla="*/ 877024 h 2448216"/>
              <a:gd name="connsiteX5" fmla="*/ 1920071 w 2183801"/>
              <a:gd name="connsiteY5" fmla="*/ 865866 h 2448216"/>
              <a:gd name="connsiteX6" fmla="*/ 2183801 w 2183801"/>
              <a:gd name="connsiteY6" fmla="*/ 1129596 h 2448216"/>
              <a:gd name="connsiteX7" fmla="*/ 2183801 w 2183801"/>
              <a:gd name="connsiteY7" fmla="*/ 1129591 h 2448216"/>
              <a:gd name="connsiteX8" fmla="*/ 2183801 w 2183801"/>
              <a:gd name="connsiteY8" fmla="*/ 1129591 h 2448216"/>
              <a:gd name="connsiteX9" fmla="*/ 2183801 w 2183801"/>
              <a:gd name="connsiteY9" fmla="*/ 1525179 h 2448216"/>
              <a:gd name="connsiteX10" fmla="*/ 2183801 w 2183801"/>
              <a:gd name="connsiteY10" fmla="*/ 2184486 h 2448216"/>
              <a:gd name="connsiteX11" fmla="*/ 1920071 w 2183801"/>
              <a:gd name="connsiteY11" fmla="*/ 2448216 h 2448216"/>
              <a:gd name="connsiteX12" fmla="*/ 909917 w 2183801"/>
              <a:gd name="connsiteY12" fmla="*/ 2448216 h 2448216"/>
              <a:gd name="connsiteX13" fmla="*/ 363967 w 2183801"/>
              <a:gd name="connsiteY13" fmla="*/ 2448216 h 2448216"/>
              <a:gd name="connsiteX14" fmla="*/ 363967 w 2183801"/>
              <a:gd name="connsiteY14" fmla="*/ 2448216 h 2448216"/>
              <a:gd name="connsiteX15" fmla="*/ 263730 w 2183801"/>
              <a:gd name="connsiteY15" fmla="*/ 2448216 h 2448216"/>
              <a:gd name="connsiteX16" fmla="*/ 0 w 2183801"/>
              <a:gd name="connsiteY16" fmla="*/ 2184486 h 2448216"/>
              <a:gd name="connsiteX17" fmla="*/ 0 w 2183801"/>
              <a:gd name="connsiteY17" fmla="*/ 1525179 h 2448216"/>
              <a:gd name="connsiteX18" fmla="*/ 0 w 2183801"/>
              <a:gd name="connsiteY18" fmla="*/ 1129591 h 2448216"/>
              <a:gd name="connsiteX19" fmla="*/ 0 w 2183801"/>
              <a:gd name="connsiteY19" fmla="*/ 1129591 h 2448216"/>
              <a:gd name="connsiteX20" fmla="*/ 0 w 2183801"/>
              <a:gd name="connsiteY20" fmla="*/ 1129596 h 244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448216">
                <a:moveTo>
                  <a:pt x="0" y="1129596"/>
                </a:moveTo>
                <a:cubicBezTo>
                  <a:pt x="0" y="983942"/>
                  <a:pt x="118076" y="865866"/>
                  <a:pt x="263730" y="865866"/>
                </a:cubicBezTo>
                <a:lnTo>
                  <a:pt x="1209057" y="843552"/>
                </a:lnTo>
                <a:lnTo>
                  <a:pt x="1806423" y="0"/>
                </a:lnTo>
                <a:lnTo>
                  <a:pt x="1478117" y="877024"/>
                </a:lnTo>
                <a:lnTo>
                  <a:pt x="1920071" y="865866"/>
                </a:lnTo>
                <a:cubicBezTo>
                  <a:pt x="2065725" y="865866"/>
                  <a:pt x="2183801" y="983942"/>
                  <a:pt x="2183801" y="1129596"/>
                </a:cubicBezTo>
                <a:lnTo>
                  <a:pt x="2183801" y="1129591"/>
                </a:lnTo>
                <a:lnTo>
                  <a:pt x="2183801" y="1129591"/>
                </a:lnTo>
                <a:lnTo>
                  <a:pt x="2183801" y="1525179"/>
                </a:lnTo>
                <a:lnTo>
                  <a:pt x="2183801" y="2184486"/>
                </a:lnTo>
                <a:cubicBezTo>
                  <a:pt x="2183801" y="2330140"/>
                  <a:pt x="2065725" y="2448216"/>
                  <a:pt x="1920071" y="2448216"/>
                </a:cubicBezTo>
                <a:lnTo>
                  <a:pt x="909917" y="2448216"/>
                </a:lnTo>
                <a:lnTo>
                  <a:pt x="363967" y="2448216"/>
                </a:lnTo>
                <a:lnTo>
                  <a:pt x="363967" y="2448216"/>
                </a:lnTo>
                <a:lnTo>
                  <a:pt x="263730" y="2448216"/>
                </a:lnTo>
                <a:cubicBezTo>
                  <a:pt x="118076" y="2448216"/>
                  <a:pt x="0" y="2330140"/>
                  <a:pt x="0" y="2184486"/>
                </a:cubicBezTo>
                <a:lnTo>
                  <a:pt x="0" y="1525179"/>
                </a:lnTo>
                <a:lnTo>
                  <a:pt x="0" y="1129591"/>
                </a:lnTo>
                <a:lnTo>
                  <a:pt x="0" y="1129591"/>
                </a:lnTo>
                <a:lnTo>
                  <a:pt x="0" y="1129596"/>
                </a:lnTo>
                <a:close/>
              </a:path>
            </a:pathLst>
          </a:custGeom>
          <a:solidFill>
            <a:srgbClr val="78AAD6"/>
          </a:solidFill>
          <a:ln>
            <a:noFill/>
          </a:ln>
        </p:spPr>
        <p:txBody>
          <a:bodyPr spcFirstLastPara="1" wrap="square" lIns="0" tIns="0" rIns="0" bIns="0" anchor="t" anchorCtr="0">
            <a:noAutofit/>
          </a:bodyPr>
          <a:lstStyle/>
          <a:p>
            <a:endParaRPr sz="964"/>
          </a:p>
        </p:txBody>
      </p:sp>
      <p:sp>
        <p:nvSpPr>
          <p:cNvPr id="9" name="Google Shape;138;p17"/>
          <p:cNvSpPr txBox="1"/>
          <p:nvPr/>
        </p:nvSpPr>
        <p:spPr>
          <a:xfrm>
            <a:off x="4785563" y="4814314"/>
            <a:ext cx="2913812" cy="1143810"/>
          </a:xfrm>
          <a:prstGeom prst="rect">
            <a:avLst/>
          </a:prstGeom>
          <a:noFill/>
          <a:ln>
            <a:noFill/>
          </a:ln>
        </p:spPr>
        <p:txBody>
          <a:bodyPr spcFirstLastPara="1" wrap="square" lIns="0" tIns="32652" rIns="0" bIns="0" anchor="t" anchorCtr="0">
            <a:noAutofit/>
          </a:bodyPr>
          <a:lstStyle/>
          <a:p>
            <a:pPr marL="208524" marR="2721" indent="-202061" algn="ctr">
              <a:lnSpc>
                <a:spcPct val="113506"/>
              </a:lnSpc>
            </a:pPr>
            <a:r>
              <a:rPr lang="en-US" sz="2800" b="1" dirty="0">
                <a:solidFill>
                  <a:srgbClr val="FFFFFF"/>
                </a:solidFill>
                <a:latin typeface="Trebuchet MS"/>
                <a:ea typeface="Trebuchet MS"/>
                <a:cs typeface="Trebuchet MS"/>
                <a:sym typeface="Trebuchet MS"/>
              </a:rPr>
              <a:t>name of variable to group by</a:t>
            </a:r>
            <a:endParaRPr sz="2800" dirty="0">
              <a:latin typeface="Trebuchet MS"/>
              <a:ea typeface="Trebuchet MS"/>
              <a:cs typeface="Trebuchet MS"/>
              <a:sym typeface="Trebuchet MS"/>
            </a:endParaRPr>
          </a:p>
        </p:txBody>
      </p:sp>
      <p:sp>
        <p:nvSpPr>
          <p:cNvPr id="13" name="Google Shape;296;p32"/>
          <p:cNvSpPr txBox="1"/>
          <p:nvPr/>
        </p:nvSpPr>
        <p:spPr>
          <a:xfrm>
            <a:off x="1072054" y="2075342"/>
            <a:ext cx="1076259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3200" i="1" dirty="0">
                <a:latin typeface="Calibri"/>
                <a:ea typeface="Calibri"/>
                <a:cs typeface="Calibri"/>
                <a:sym typeface="Calibri"/>
              </a:rPr>
              <a:t>Grouping observations based on a specific </a:t>
            </a:r>
            <a:r>
              <a:rPr lang="en-US" sz="3200" i="1" dirty="0">
                <a:solidFill>
                  <a:srgbClr val="0070C0"/>
                </a:solidFill>
                <a:latin typeface="Calibri"/>
                <a:ea typeface="Calibri"/>
                <a:cs typeface="Calibri"/>
                <a:sym typeface="Calibri"/>
              </a:rPr>
              <a:t>variable</a:t>
            </a:r>
            <a:r>
              <a:rPr lang="en-US" sz="3200" i="1" dirty="0">
                <a:latin typeface="Calibri"/>
                <a:ea typeface="Calibri"/>
                <a:cs typeface="Calibri"/>
                <a:sym typeface="Calibri"/>
              </a:rPr>
              <a:t>’s values</a:t>
            </a:r>
            <a:endParaRPr sz="3200" i="1" dirty="0">
              <a:latin typeface="Calibri"/>
              <a:ea typeface="Calibri"/>
              <a:cs typeface="Calibri"/>
              <a:sym typeface="Calibri"/>
            </a:endParaRPr>
          </a:p>
        </p:txBody>
      </p:sp>
      <p:sp>
        <p:nvSpPr>
          <p:cNvPr id="10"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Tree>
    <p:extLst>
      <p:ext uri="{BB962C8B-B14F-4D97-AF65-F5344CB8AC3E}">
        <p14:creationId xmlns:p14="http://schemas.microsoft.com/office/powerpoint/2010/main" val="1924504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80759" y="742329"/>
            <a:ext cx="2628989" cy="923330"/>
          </a:xfrm>
          <a:prstGeom prst="rect">
            <a:avLst/>
          </a:prstGeom>
          <a:noFill/>
        </p:spPr>
        <p:txBody>
          <a:bodyPr wrap="none" rtlCol="0">
            <a:spAutoFit/>
          </a:bodyPr>
          <a:lstStyle/>
          <a:p>
            <a:r>
              <a:rPr lang="en-US" sz="5400" dirty="0" err="1">
                <a:latin typeface="+mj-lt"/>
                <a:sym typeface="Calibri"/>
              </a:rPr>
              <a:t>group_by</a:t>
            </a:r>
            <a:r>
              <a:rPr lang="en-US" sz="5400" dirty="0">
                <a:latin typeface="Calibri"/>
                <a:sym typeface="Calibri"/>
              </a:rPr>
              <a:t>()</a:t>
            </a:r>
            <a:endParaRPr lang="en-US" dirty="0"/>
          </a:p>
        </p:txBody>
      </p:sp>
      <p:sp>
        <p:nvSpPr>
          <p:cNvPr id="5" name="Google Shape;131;p17"/>
          <p:cNvSpPr/>
          <p:nvPr/>
        </p:nvSpPr>
        <p:spPr>
          <a:xfrm>
            <a:off x="3291840" y="2427522"/>
            <a:ext cx="5638800" cy="1284159"/>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6" name="Rectangle 5"/>
          <p:cNvSpPr/>
          <p:nvPr/>
        </p:nvSpPr>
        <p:spPr>
          <a:xfrm>
            <a:off x="3588875" y="2485865"/>
            <a:ext cx="5189365" cy="1077218"/>
          </a:xfrm>
          <a:prstGeom prst="rect">
            <a:avLst/>
          </a:prstGeom>
        </p:spPr>
        <p:txBody>
          <a:bodyPr wrap="square">
            <a:spAutoFit/>
          </a:bodyPr>
          <a:lstStyle/>
          <a:p>
            <a:r>
              <a:rPr lang="en-US" sz="3200" dirty="0" err="1">
                <a:latin typeface="Consolas" panose="020B0609020204030204" pitchFamily="49" charset="0"/>
                <a:ea typeface="Courier New"/>
                <a:cs typeface="Consolas" panose="020B0609020204030204" pitchFamily="49" charset="0"/>
                <a:sym typeface="Courier New"/>
              </a:rPr>
              <a:t>covid_testing</a:t>
            </a:r>
            <a:r>
              <a:rPr lang="en-US" sz="3200" dirty="0">
                <a:latin typeface="Consolas" panose="020B0609020204030204" pitchFamily="49" charset="0"/>
                <a:ea typeface="Courier New"/>
                <a:cs typeface="Consolas" panose="020B0609020204030204" pitchFamily="49" charset="0"/>
                <a:sym typeface="Courier New"/>
              </a:rPr>
              <a:t> %&gt;%</a:t>
            </a:r>
            <a:endParaRPr lang="en-US" sz="3200" dirty="0">
              <a:solidFill>
                <a:schemeClr val="bg2">
                  <a:lumMod val="90000"/>
                </a:schemeClr>
              </a:solidFill>
              <a:latin typeface="Consolas" panose="020B0609020204030204" pitchFamily="49" charset="0"/>
              <a:ea typeface="Courier New"/>
              <a:cs typeface="Consolas" panose="020B0609020204030204" pitchFamily="49" charset="0"/>
              <a:sym typeface="Courier New"/>
            </a:endParaRPr>
          </a:p>
          <a:p>
            <a:r>
              <a:rPr lang="en-US" sz="3200" dirty="0">
                <a:latin typeface="Consolas" panose="020B0609020204030204" pitchFamily="49" charset="0"/>
                <a:ea typeface="Courier New"/>
                <a:cs typeface="Consolas" panose="020B0609020204030204" pitchFamily="49" charset="0"/>
                <a:sym typeface="Courier New"/>
              </a:rPr>
              <a:t>	</a:t>
            </a:r>
            <a:r>
              <a:rPr lang="en-US" sz="3200" dirty="0" err="1">
                <a:latin typeface="Consolas" panose="020B0609020204030204" pitchFamily="49" charset="0"/>
                <a:ea typeface="Courier New"/>
                <a:cs typeface="Consolas" panose="020B0609020204030204" pitchFamily="49" charset="0"/>
                <a:sym typeface="Courier New"/>
              </a:rPr>
              <a:t>group_by</a:t>
            </a:r>
            <a:r>
              <a:rPr lang="en-US" sz="3200" dirty="0">
                <a:latin typeface="Consolas" panose="020B0609020204030204" pitchFamily="49" charset="0"/>
                <a:ea typeface="Courier New"/>
                <a:cs typeface="Consolas" panose="020B0609020204030204" pitchFamily="49" charset="0"/>
                <a:sym typeface="Courier New"/>
              </a:rPr>
              <a:t>(</a:t>
            </a:r>
            <a:r>
              <a:rPr lang="en-US" sz="3200" dirty="0" err="1">
                <a:solidFill>
                  <a:srgbClr val="538DD5"/>
                </a:solidFill>
                <a:latin typeface="Consolas" panose="020B0609020204030204" pitchFamily="49" charset="0"/>
                <a:ea typeface="Courier New"/>
                <a:cs typeface="Consolas" panose="020B0609020204030204" pitchFamily="49" charset="0"/>
                <a:sym typeface="Courier New"/>
              </a:rPr>
              <a:t>pan_day</a:t>
            </a:r>
            <a:r>
              <a:rPr lang="en-US" sz="3200" dirty="0">
                <a:latin typeface="Consolas" panose="020B0609020204030204" pitchFamily="49" charset="0"/>
                <a:ea typeface="Courier New"/>
                <a:cs typeface="Consolas" panose="020B0609020204030204" pitchFamily="49" charset="0"/>
                <a:sym typeface="Courier New"/>
              </a:rPr>
              <a:t>)</a:t>
            </a:r>
            <a:endParaRPr lang="en-US" sz="800" dirty="0"/>
          </a:p>
        </p:txBody>
      </p:sp>
      <p:sp>
        <p:nvSpPr>
          <p:cNvPr id="13" name="Google Shape;296;p32"/>
          <p:cNvSpPr txBox="1"/>
          <p:nvPr/>
        </p:nvSpPr>
        <p:spPr>
          <a:xfrm>
            <a:off x="1100629" y="1684817"/>
            <a:ext cx="7335447" cy="502623"/>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3200" i="1" dirty="0">
                <a:latin typeface="Calibri"/>
                <a:ea typeface="Calibri"/>
                <a:cs typeface="Calibri"/>
                <a:sym typeface="Calibri"/>
              </a:rPr>
              <a:t>Group observations by </a:t>
            </a:r>
            <a:r>
              <a:rPr lang="en-US" sz="3200" i="1" dirty="0" err="1">
                <a:solidFill>
                  <a:srgbClr val="0070C0"/>
                </a:solidFill>
                <a:latin typeface="Calibri"/>
                <a:ea typeface="Calibri"/>
                <a:cs typeface="Calibri"/>
                <a:sym typeface="Calibri"/>
              </a:rPr>
              <a:t>pan_day</a:t>
            </a:r>
            <a:endParaRPr sz="3200" i="1" dirty="0">
              <a:solidFill>
                <a:srgbClr val="0070C0"/>
              </a:solidFill>
              <a:latin typeface="Calibri"/>
              <a:ea typeface="Calibri"/>
              <a:cs typeface="Calibri"/>
              <a:sym typeface="Calibri"/>
            </a:endParaRPr>
          </a:p>
        </p:txBody>
      </p:sp>
      <p:sp>
        <p:nvSpPr>
          <p:cNvPr id="11"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pic>
        <p:nvPicPr>
          <p:cNvPr id="12" name="Picture 11">
            <a:extLst>
              <a:ext uri="{FF2B5EF4-FFF2-40B4-BE49-F238E27FC236}">
                <a16:creationId xmlns:a16="http://schemas.microsoft.com/office/drawing/2014/main" id="{8DF64473-2DDE-EB4D-8BA5-28D9E3923954}"/>
              </a:ext>
            </a:extLst>
          </p:cNvPr>
          <p:cNvPicPr>
            <a:picLocks noChangeAspect="1"/>
          </p:cNvPicPr>
          <p:nvPr/>
        </p:nvPicPr>
        <p:blipFill>
          <a:blip r:embed="rId4"/>
          <a:stretch>
            <a:fillRect/>
          </a:stretch>
        </p:blipFill>
        <p:spPr>
          <a:xfrm>
            <a:off x="3195115" y="3927295"/>
            <a:ext cx="5921437" cy="2713992"/>
          </a:xfrm>
          <a:prstGeom prst="rect">
            <a:avLst/>
          </a:prstGeom>
        </p:spPr>
      </p:pic>
      <p:sp>
        <p:nvSpPr>
          <p:cNvPr id="14" name="Rounded Rectangle 13">
            <a:extLst>
              <a:ext uri="{FF2B5EF4-FFF2-40B4-BE49-F238E27FC236}">
                <a16:creationId xmlns:a16="http://schemas.microsoft.com/office/drawing/2014/main" id="{8D4421FF-4B94-2142-9F28-7551BEAB67CA}"/>
              </a:ext>
            </a:extLst>
          </p:cNvPr>
          <p:cNvSpPr/>
          <p:nvPr/>
        </p:nvSpPr>
        <p:spPr>
          <a:xfrm>
            <a:off x="3209863" y="4243796"/>
            <a:ext cx="3356973" cy="301213"/>
          </a:xfrm>
          <a:prstGeom prst="roundRect">
            <a:avLst/>
          </a:pr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16446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80759" y="742329"/>
            <a:ext cx="2628989" cy="923330"/>
          </a:xfrm>
          <a:prstGeom prst="rect">
            <a:avLst/>
          </a:prstGeom>
          <a:noFill/>
        </p:spPr>
        <p:txBody>
          <a:bodyPr wrap="none" rtlCol="0">
            <a:spAutoFit/>
          </a:bodyPr>
          <a:lstStyle/>
          <a:p>
            <a:r>
              <a:rPr lang="en-US" sz="5400" dirty="0" err="1">
                <a:latin typeface="+mj-lt"/>
                <a:sym typeface="Calibri"/>
              </a:rPr>
              <a:t>group_by</a:t>
            </a:r>
            <a:r>
              <a:rPr lang="en-US" sz="5400" dirty="0">
                <a:latin typeface="Calibri"/>
                <a:sym typeface="Calibri"/>
              </a:rPr>
              <a:t>()</a:t>
            </a:r>
            <a:endParaRPr lang="en-US" dirty="0"/>
          </a:p>
        </p:txBody>
      </p:sp>
      <p:sp>
        <p:nvSpPr>
          <p:cNvPr id="5" name="Google Shape;131;p17"/>
          <p:cNvSpPr/>
          <p:nvPr/>
        </p:nvSpPr>
        <p:spPr>
          <a:xfrm>
            <a:off x="1072055" y="2255454"/>
            <a:ext cx="10762593" cy="1628003"/>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6" name="Rectangle 5"/>
          <p:cNvSpPr/>
          <p:nvPr/>
        </p:nvSpPr>
        <p:spPr>
          <a:xfrm>
            <a:off x="1760075" y="2313797"/>
            <a:ext cx="9392596" cy="1569660"/>
          </a:xfrm>
          <a:prstGeom prst="rect">
            <a:avLst/>
          </a:prstGeom>
        </p:spPr>
        <p:txBody>
          <a:bodyPr wrap="square">
            <a:spAutoFit/>
          </a:bodyPr>
          <a:lstStyle/>
          <a:p>
            <a:r>
              <a:rPr lang="en-US" sz="3200" dirty="0" err="1">
                <a:latin typeface="Consolas" panose="020B0609020204030204" pitchFamily="49" charset="0"/>
                <a:ea typeface="Courier New"/>
                <a:cs typeface="Consolas" panose="020B0609020204030204" pitchFamily="49" charset="0"/>
                <a:sym typeface="Courier New"/>
              </a:rPr>
              <a:t>covid_testing</a:t>
            </a:r>
            <a:r>
              <a:rPr lang="en-US" sz="3200" dirty="0">
                <a:latin typeface="Consolas" panose="020B0609020204030204" pitchFamily="49" charset="0"/>
                <a:ea typeface="Courier New"/>
                <a:cs typeface="Consolas" panose="020B0609020204030204" pitchFamily="49" charset="0"/>
                <a:sym typeface="Courier New"/>
              </a:rPr>
              <a:t> %&gt;%</a:t>
            </a:r>
          </a:p>
          <a:p>
            <a:r>
              <a:rPr lang="en-US" sz="3200" dirty="0">
                <a:solidFill>
                  <a:schemeClr val="bg2">
                    <a:lumMod val="90000"/>
                  </a:schemeClr>
                </a:solidFill>
                <a:latin typeface="Consolas" panose="020B0609020204030204" pitchFamily="49" charset="0"/>
                <a:ea typeface="Courier New"/>
                <a:cs typeface="Consolas" panose="020B0609020204030204" pitchFamily="49" charset="0"/>
                <a:sym typeface="Courier New"/>
              </a:rPr>
              <a:t>	select(</a:t>
            </a:r>
            <a:r>
              <a:rPr lang="en-US" sz="3200" dirty="0" err="1">
                <a:solidFill>
                  <a:schemeClr val="bg2">
                    <a:lumMod val="90000"/>
                  </a:schemeClr>
                </a:solidFill>
                <a:latin typeface="Consolas" panose="020B0609020204030204" pitchFamily="49" charset="0"/>
                <a:ea typeface="Courier New"/>
                <a:cs typeface="Consolas" panose="020B0609020204030204" pitchFamily="49" charset="0"/>
                <a:sym typeface="Courier New"/>
              </a:rPr>
              <a:t>mrn</a:t>
            </a:r>
            <a:r>
              <a:rPr lang="en-US" sz="3200" dirty="0">
                <a:solidFill>
                  <a:schemeClr val="bg2">
                    <a:lumMod val="90000"/>
                  </a:schemeClr>
                </a:solidFill>
                <a:latin typeface="Consolas" panose="020B0609020204030204" pitchFamily="49" charset="0"/>
                <a:ea typeface="Courier New"/>
                <a:cs typeface="Consolas" panose="020B0609020204030204" pitchFamily="49" charset="0"/>
                <a:sym typeface="Courier New"/>
              </a:rPr>
              <a:t>, </a:t>
            </a:r>
            <a:r>
              <a:rPr lang="en-US" sz="3200" dirty="0" err="1">
                <a:solidFill>
                  <a:schemeClr val="bg2">
                    <a:lumMod val="90000"/>
                  </a:schemeClr>
                </a:solidFill>
                <a:latin typeface="Consolas" panose="020B0609020204030204" pitchFamily="49" charset="0"/>
                <a:ea typeface="Courier New"/>
                <a:cs typeface="Consolas" panose="020B0609020204030204" pitchFamily="49" charset="0"/>
                <a:sym typeface="Courier New"/>
              </a:rPr>
              <a:t>pan_day</a:t>
            </a:r>
            <a:r>
              <a:rPr lang="en-US" sz="3200" dirty="0">
                <a:solidFill>
                  <a:schemeClr val="bg2">
                    <a:lumMod val="90000"/>
                  </a:schemeClr>
                </a:solidFill>
                <a:latin typeface="Consolas" panose="020B0609020204030204" pitchFamily="49" charset="0"/>
                <a:ea typeface="Courier New"/>
                <a:cs typeface="Consolas" panose="020B0609020204030204" pitchFamily="49" charset="0"/>
                <a:sym typeface="Courier New"/>
              </a:rPr>
              <a:t>, </a:t>
            </a:r>
            <a:r>
              <a:rPr lang="en-US" sz="3200" dirty="0" err="1">
                <a:solidFill>
                  <a:schemeClr val="bg2">
                    <a:lumMod val="90000"/>
                  </a:schemeClr>
                </a:solidFill>
                <a:latin typeface="Consolas" panose="020B0609020204030204" pitchFamily="49" charset="0"/>
                <a:ea typeface="Courier New"/>
                <a:cs typeface="Consolas" panose="020B0609020204030204" pitchFamily="49" charset="0"/>
                <a:sym typeface="Courier New"/>
              </a:rPr>
              <a:t>clinic_name</a:t>
            </a:r>
            <a:r>
              <a:rPr lang="en-US" sz="3200" dirty="0">
                <a:solidFill>
                  <a:schemeClr val="bg2">
                    <a:lumMod val="90000"/>
                  </a:schemeClr>
                </a:solidFill>
                <a:latin typeface="Consolas" panose="020B0609020204030204" pitchFamily="49" charset="0"/>
                <a:ea typeface="Courier New"/>
                <a:cs typeface="Consolas" panose="020B0609020204030204" pitchFamily="49" charset="0"/>
                <a:sym typeface="Courier New"/>
              </a:rPr>
              <a:t>) %&gt;%</a:t>
            </a:r>
          </a:p>
          <a:p>
            <a:r>
              <a:rPr lang="en-US" sz="3200" dirty="0">
                <a:latin typeface="Consolas" panose="020B0609020204030204" pitchFamily="49" charset="0"/>
                <a:ea typeface="Courier New"/>
                <a:cs typeface="Consolas" panose="020B0609020204030204" pitchFamily="49" charset="0"/>
                <a:sym typeface="Courier New"/>
              </a:rPr>
              <a:t>	</a:t>
            </a:r>
            <a:r>
              <a:rPr lang="en-US" sz="3200" dirty="0" err="1">
                <a:latin typeface="Consolas" panose="020B0609020204030204" pitchFamily="49" charset="0"/>
                <a:ea typeface="Courier New"/>
                <a:cs typeface="Consolas" panose="020B0609020204030204" pitchFamily="49" charset="0"/>
                <a:sym typeface="Courier New"/>
              </a:rPr>
              <a:t>group_by</a:t>
            </a:r>
            <a:r>
              <a:rPr lang="en-US" sz="3200" dirty="0">
                <a:latin typeface="Consolas" panose="020B0609020204030204" pitchFamily="49" charset="0"/>
                <a:ea typeface="Courier New"/>
                <a:cs typeface="Consolas" panose="020B0609020204030204" pitchFamily="49" charset="0"/>
                <a:sym typeface="Courier New"/>
              </a:rPr>
              <a:t>(</a:t>
            </a:r>
            <a:r>
              <a:rPr lang="en-US" sz="3200" dirty="0" err="1">
                <a:solidFill>
                  <a:srgbClr val="538DD5"/>
                </a:solidFill>
                <a:latin typeface="Consolas" panose="020B0609020204030204" pitchFamily="49" charset="0"/>
                <a:ea typeface="Courier New"/>
                <a:cs typeface="Consolas" panose="020B0609020204030204" pitchFamily="49" charset="0"/>
                <a:sym typeface="Courier New"/>
              </a:rPr>
              <a:t>pan_day</a:t>
            </a:r>
            <a:r>
              <a:rPr lang="en-US" sz="32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dirty="0" err="1">
                <a:solidFill>
                  <a:srgbClr val="538DD5"/>
                </a:solidFill>
                <a:latin typeface="Consolas" panose="020B0609020204030204" pitchFamily="49" charset="0"/>
                <a:ea typeface="Courier New"/>
                <a:cs typeface="Consolas" panose="020B0609020204030204" pitchFamily="49" charset="0"/>
                <a:sym typeface="Courier New"/>
              </a:rPr>
              <a:t>clinic_name</a:t>
            </a:r>
            <a:r>
              <a:rPr lang="en-US" sz="3200" dirty="0">
                <a:latin typeface="Consolas" panose="020B0609020204030204" pitchFamily="49" charset="0"/>
                <a:ea typeface="Courier New"/>
                <a:cs typeface="Consolas" panose="020B0609020204030204" pitchFamily="49" charset="0"/>
                <a:sym typeface="Courier New"/>
              </a:rPr>
              <a:t>)</a:t>
            </a:r>
            <a:endParaRPr lang="en-US" sz="800" dirty="0"/>
          </a:p>
        </p:txBody>
      </p:sp>
      <p:sp>
        <p:nvSpPr>
          <p:cNvPr id="13" name="Google Shape;296;p32"/>
          <p:cNvSpPr txBox="1"/>
          <p:nvPr/>
        </p:nvSpPr>
        <p:spPr>
          <a:xfrm>
            <a:off x="1100629" y="1684817"/>
            <a:ext cx="9621448" cy="502623"/>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3200" i="1" dirty="0">
                <a:latin typeface="Calibri"/>
                <a:ea typeface="Calibri"/>
                <a:cs typeface="Calibri"/>
                <a:sym typeface="Calibri"/>
              </a:rPr>
              <a:t>Group observations by `</a:t>
            </a:r>
            <a:r>
              <a:rPr lang="en-US" sz="3200" i="1" dirty="0" err="1">
                <a:solidFill>
                  <a:srgbClr val="0070C0"/>
                </a:solidFill>
                <a:latin typeface="Calibri"/>
                <a:ea typeface="Calibri"/>
                <a:cs typeface="Calibri"/>
                <a:sym typeface="Calibri"/>
              </a:rPr>
              <a:t>pan_day</a:t>
            </a:r>
            <a:r>
              <a:rPr lang="en-US" sz="3200" i="1" dirty="0">
                <a:latin typeface="Calibri"/>
                <a:ea typeface="Calibri"/>
                <a:cs typeface="Calibri"/>
                <a:sym typeface="Calibri"/>
              </a:rPr>
              <a:t>` and `</a:t>
            </a:r>
            <a:r>
              <a:rPr lang="en-US" sz="3200" i="1" dirty="0" err="1">
                <a:solidFill>
                  <a:srgbClr val="0070C0"/>
                </a:solidFill>
                <a:latin typeface="Calibri"/>
                <a:ea typeface="Calibri"/>
                <a:cs typeface="Calibri"/>
                <a:sym typeface="Calibri"/>
              </a:rPr>
              <a:t>clinic_name</a:t>
            </a:r>
            <a:r>
              <a:rPr lang="en-US" sz="3200" i="1" dirty="0">
                <a:latin typeface="Calibri"/>
                <a:ea typeface="Calibri"/>
                <a:cs typeface="Calibri"/>
                <a:sym typeface="Calibri"/>
              </a:rPr>
              <a:t>`</a:t>
            </a:r>
            <a:endParaRPr sz="3200" i="1" dirty="0">
              <a:latin typeface="Calibri"/>
              <a:ea typeface="Calibri"/>
              <a:cs typeface="Calibri"/>
              <a:sym typeface="Calibri"/>
            </a:endParaRPr>
          </a:p>
        </p:txBody>
      </p:sp>
      <p:sp>
        <p:nvSpPr>
          <p:cNvPr id="11"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pic>
        <p:nvPicPr>
          <p:cNvPr id="3" name="Picture 2">
            <a:extLst>
              <a:ext uri="{FF2B5EF4-FFF2-40B4-BE49-F238E27FC236}">
                <a16:creationId xmlns:a16="http://schemas.microsoft.com/office/drawing/2014/main" id="{36E539E9-ED60-DF4D-8DB8-036D1A475200}"/>
              </a:ext>
            </a:extLst>
          </p:cNvPr>
          <p:cNvPicPr>
            <a:picLocks noChangeAspect="1"/>
          </p:cNvPicPr>
          <p:nvPr/>
        </p:nvPicPr>
        <p:blipFill>
          <a:blip r:embed="rId4"/>
          <a:stretch>
            <a:fillRect/>
          </a:stretch>
        </p:blipFill>
        <p:spPr>
          <a:xfrm>
            <a:off x="1641987" y="3980967"/>
            <a:ext cx="4999686" cy="2499843"/>
          </a:xfrm>
          <a:prstGeom prst="rect">
            <a:avLst/>
          </a:prstGeom>
        </p:spPr>
      </p:pic>
      <p:sp>
        <p:nvSpPr>
          <p:cNvPr id="12" name="Rounded Rectangle 11">
            <a:extLst>
              <a:ext uri="{FF2B5EF4-FFF2-40B4-BE49-F238E27FC236}">
                <a16:creationId xmlns:a16="http://schemas.microsoft.com/office/drawing/2014/main" id="{4D4E7655-247D-EE4F-844A-69AB1769C681}"/>
              </a:ext>
            </a:extLst>
          </p:cNvPr>
          <p:cNvSpPr/>
          <p:nvPr/>
        </p:nvSpPr>
        <p:spPr>
          <a:xfrm>
            <a:off x="1597744" y="4239423"/>
            <a:ext cx="4999690" cy="309717"/>
          </a:xfrm>
          <a:prstGeom prst="roundRect">
            <a:avLst/>
          </a:pr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21520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6" name="Google Shape;296;p32"/>
          <p:cNvSpPr txBox="1"/>
          <p:nvPr/>
        </p:nvSpPr>
        <p:spPr>
          <a:xfrm>
            <a:off x="1758718" y="1950720"/>
            <a:ext cx="6159054" cy="890808"/>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3200" dirty="0">
                <a:latin typeface="Calibri"/>
                <a:ea typeface="Calibri"/>
                <a:cs typeface="Calibri"/>
                <a:sym typeface="Calibri"/>
              </a:rPr>
              <a:t>Make summaries of your data</a:t>
            </a:r>
            <a:endParaRPr sz="3200" dirty="0">
              <a:latin typeface="Calibri"/>
              <a:ea typeface="Calibri"/>
              <a:cs typeface="Calibri"/>
              <a:sym typeface="Calibri"/>
            </a:endParaRP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pic>
        <p:nvPicPr>
          <p:cNvPr id="6" name="Picture 5"/>
          <p:cNvPicPr>
            <a:picLocks noChangeAspect="1"/>
          </p:cNvPicPr>
          <p:nvPr/>
        </p:nvPicPr>
        <p:blipFill>
          <a:blip r:embed="rId4"/>
          <a:stretch>
            <a:fillRect/>
          </a:stretch>
        </p:blipFill>
        <p:spPr>
          <a:xfrm>
            <a:off x="2724340" y="2673888"/>
            <a:ext cx="5439827" cy="2066804"/>
          </a:xfrm>
          <a:prstGeom prst="rect">
            <a:avLst/>
          </a:prstGeom>
        </p:spPr>
      </p:pic>
      <p:sp>
        <p:nvSpPr>
          <p:cNvPr id="2" name="Rounded Rectangle 1"/>
          <p:cNvSpPr/>
          <p:nvPr/>
        </p:nvSpPr>
        <p:spPr>
          <a:xfrm>
            <a:off x="4765040" y="2987040"/>
            <a:ext cx="1010920" cy="1753652"/>
          </a:xfrm>
          <a:prstGeom prst="round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986757" y="750622"/>
            <a:ext cx="2830647" cy="923330"/>
          </a:xfrm>
          <a:prstGeom prst="rect">
            <a:avLst/>
          </a:prstGeom>
          <a:noFill/>
        </p:spPr>
        <p:txBody>
          <a:bodyPr wrap="none" rtlCol="0">
            <a:spAutoFit/>
          </a:bodyPr>
          <a:lstStyle/>
          <a:p>
            <a:r>
              <a:rPr lang="en-US" sz="5400" dirty="0">
                <a:latin typeface="+mj-lt"/>
                <a:sym typeface="Calibri"/>
              </a:rPr>
              <a:t>summarize</a:t>
            </a:r>
            <a:r>
              <a:rPr lang="en-US" sz="5400" dirty="0">
                <a:sym typeface="Calibri"/>
              </a:rPr>
              <a:t>()</a:t>
            </a:r>
            <a:endParaRPr lang="en-US" dirty="0"/>
          </a:p>
        </p:txBody>
      </p:sp>
      <p:sp>
        <p:nvSpPr>
          <p:cNvPr id="4" name="Rectangle 3">
            <a:extLst>
              <a:ext uri="{FF2B5EF4-FFF2-40B4-BE49-F238E27FC236}">
                <a16:creationId xmlns:a16="http://schemas.microsoft.com/office/drawing/2014/main" id="{EA493C65-B51F-E941-8996-74CCA516164B}"/>
              </a:ext>
            </a:extLst>
          </p:cNvPr>
          <p:cNvSpPr/>
          <p:nvPr/>
        </p:nvSpPr>
        <p:spPr>
          <a:xfrm>
            <a:off x="7212330" y="2673888"/>
            <a:ext cx="705442" cy="709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76851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847205" y="2375374"/>
            <a:ext cx="10762593" cy="1497972"/>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6" name="Google Shape;296;p32"/>
          <p:cNvSpPr txBox="1"/>
          <p:nvPr/>
        </p:nvSpPr>
        <p:spPr>
          <a:xfrm>
            <a:off x="847205" y="1882660"/>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Make summaries of your data</a:t>
            </a:r>
          </a:p>
        </p:txBody>
      </p:sp>
      <p:sp>
        <p:nvSpPr>
          <p:cNvPr id="14" name="Rectangle 13"/>
          <p:cNvSpPr/>
          <p:nvPr/>
        </p:nvSpPr>
        <p:spPr>
          <a:xfrm>
            <a:off x="1535224" y="2433717"/>
            <a:ext cx="10074573" cy="1200329"/>
          </a:xfrm>
          <a:prstGeom prst="rect">
            <a:avLst/>
          </a:prstGeom>
        </p:spPr>
        <p:txBody>
          <a:bodyPr wrap="square">
            <a:spAutoFit/>
          </a:bodyPr>
          <a:lstStyle/>
          <a:p>
            <a:r>
              <a:rPr lang="en-US" sz="3200" dirty="0" err="1">
                <a:latin typeface="Consolas" panose="020B0609020204030204" pitchFamily="49" charset="0"/>
                <a:ea typeface="Courier New"/>
                <a:cs typeface="Consolas" panose="020B0609020204030204" pitchFamily="49" charset="0"/>
                <a:sym typeface="Courier New"/>
              </a:rPr>
              <a:t>covid_testing</a:t>
            </a:r>
            <a:r>
              <a:rPr lang="en-US" sz="3200" dirty="0">
                <a:latin typeface="Consolas" panose="020B0609020204030204" pitchFamily="49" charset="0"/>
                <a:ea typeface="Courier New"/>
                <a:cs typeface="Consolas" panose="020B0609020204030204" pitchFamily="49" charset="0"/>
                <a:sym typeface="Courier New"/>
              </a:rPr>
              <a:t> %&gt;%</a:t>
            </a:r>
          </a:p>
          <a:p>
            <a:r>
              <a:rPr lang="en-US" sz="3200" dirty="0">
                <a:latin typeface="Consolas" panose="020B0609020204030204" pitchFamily="49" charset="0"/>
                <a:ea typeface="Courier New"/>
                <a:cs typeface="Consolas" panose="020B0609020204030204" pitchFamily="49" charset="0"/>
                <a:sym typeface="Courier New"/>
              </a:rPr>
              <a:t>	summarize(</a:t>
            </a:r>
            <a:r>
              <a:rPr lang="en-US" sz="3200" dirty="0" err="1">
                <a:solidFill>
                  <a:schemeClr val="accent2">
                    <a:lumMod val="60000"/>
                    <a:lumOff val="40000"/>
                  </a:schemeClr>
                </a:solidFill>
                <a:latin typeface="Consolas" panose="020B0609020204030204" pitchFamily="49" charset="0"/>
                <a:ea typeface="Courier New"/>
                <a:cs typeface="Consolas" panose="020B0609020204030204" pitchFamily="49" charset="0"/>
                <a:sym typeface="Courier New"/>
              </a:rPr>
              <a:t>new_variable</a:t>
            </a:r>
            <a:r>
              <a:rPr lang="en-US" sz="3200" dirty="0">
                <a:solidFill>
                  <a:schemeClr val="accent2">
                    <a:lumMod val="60000"/>
                    <a:lumOff val="40000"/>
                  </a:schemeClr>
                </a:solidFill>
                <a:latin typeface="Consolas" panose="020B0609020204030204" pitchFamily="49" charset="0"/>
                <a:ea typeface="Courier New"/>
                <a:cs typeface="Consolas" panose="020B0609020204030204" pitchFamily="49" charset="0"/>
                <a:sym typeface="Courier New"/>
              </a:rPr>
              <a:t> </a:t>
            </a:r>
            <a:r>
              <a:rPr lang="en-US" sz="4000" b="1" dirty="0">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 </a:t>
            </a:r>
            <a:r>
              <a:rPr lang="en-US" sz="3200" dirty="0">
                <a:solidFill>
                  <a:srgbClr val="D3908F"/>
                </a:solidFill>
                <a:latin typeface="Consolas" panose="020B0609020204030204" pitchFamily="49" charset="0"/>
                <a:ea typeface="Courier New"/>
                <a:cs typeface="Consolas" panose="020B0609020204030204" pitchFamily="49" charset="0"/>
                <a:sym typeface="Courier New"/>
              </a:rPr>
              <a:t>calculation</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9" name="Google Shape;137;p17"/>
          <p:cNvSpPr/>
          <p:nvPr/>
        </p:nvSpPr>
        <p:spPr>
          <a:xfrm>
            <a:off x="2698230" y="4168817"/>
            <a:ext cx="2530995" cy="1557835"/>
          </a:xfrm>
          <a:prstGeom prst="wedgeRoundRectCallout">
            <a:avLst>
              <a:gd name="adj1" fmla="val 62427"/>
              <a:gd name="adj2" fmla="val -92068"/>
              <a:gd name="adj3" fmla="val 16667"/>
            </a:avLst>
          </a:prstGeom>
          <a:solidFill>
            <a:schemeClr val="accent2">
              <a:lumMod val="60000"/>
              <a:lumOff val="40000"/>
            </a:schemeClr>
          </a:solidFill>
          <a:ln>
            <a:noFill/>
          </a:ln>
        </p:spPr>
        <p:txBody>
          <a:bodyPr spcFirstLastPara="1" wrap="square" lIns="0" tIns="0" rIns="0" bIns="0" anchor="t" anchorCtr="0">
            <a:noAutofit/>
          </a:bodyPr>
          <a:lstStyle/>
          <a:p>
            <a:endParaRPr sz="964"/>
          </a:p>
        </p:txBody>
      </p:sp>
      <p:sp>
        <p:nvSpPr>
          <p:cNvPr id="20" name="Google Shape;138;p17"/>
          <p:cNvSpPr txBox="1"/>
          <p:nvPr/>
        </p:nvSpPr>
        <p:spPr>
          <a:xfrm>
            <a:off x="2796007" y="4432660"/>
            <a:ext cx="2327721" cy="1143810"/>
          </a:xfrm>
          <a:prstGeom prst="rect">
            <a:avLst/>
          </a:prstGeom>
          <a:noFill/>
          <a:ln>
            <a:noFill/>
          </a:ln>
        </p:spPr>
        <p:txBody>
          <a:bodyPr spcFirstLastPara="1" wrap="square" lIns="0" tIns="32652" rIns="0" bIns="0" anchor="t" anchorCtr="0">
            <a:noAutofit/>
          </a:bodyPr>
          <a:lstStyle/>
          <a:p>
            <a:pPr marL="208524" marR="2721" indent="-202061" algn="ctr">
              <a:lnSpc>
                <a:spcPct val="113506"/>
              </a:lnSpc>
            </a:pPr>
            <a:r>
              <a:rPr lang="en-US" sz="2800" b="1" dirty="0">
                <a:solidFill>
                  <a:srgbClr val="FFFFFF"/>
                </a:solidFill>
                <a:latin typeface="Trebuchet MS"/>
                <a:ea typeface="Trebuchet MS"/>
                <a:cs typeface="Trebuchet MS"/>
                <a:sym typeface="Trebuchet MS"/>
              </a:rPr>
              <a:t>name for new variable</a:t>
            </a:r>
            <a:endParaRPr sz="2800" dirty="0">
              <a:latin typeface="Trebuchet MS"/>
              <a:ea typeface="Trebuchet MS"/>
              <a:cs typeface="Trebuchet MS"/>
              <a:sym typeface="Trebuchet MS"/>
            </a:endParaRPr>
          </a:p>
        </p:txBody>
      </p:sp>
      <p:sp>
        <p:nvSpPr>
          <p:cNvPr id="21" name="Google Shape;172;p20"/>
          <p:cNvSpPr/>
          <p:nvPr/>
        </p:nvSpPr>
        <p:spPr>
          <a:xfrm>
            <a:off x="9100228" y="3560242"/>
            <a:ext cx="1977347" cy="2153752"/>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Lst>
            <a:ahLst/>
            <a:cxnLst>
              <a:cxn ang="0">
                <a:pos x="connsiteX0" y="connsiteY0"/>
              </a:cxn>
              <a:cxn ang="0">
                <a:pos x="connsiteX1" y="connsiteY1"/>
              </a:cxn>
              <a:cxn ang="0">
                <a:pos x="connsiteX2" y="connsiteY2"/>
              </a:cxn>
              <a:cxn ang="0">
                <a:pos x="connsiteX3" y="connsiteY3"/>
              </a:cxn>
            </a:cxnLst>
            <a:rect l="l" t="t" r="r" b="b"/>
            <a:pathLst>
              <a:path w="7169286" h="3838694" extrusionOk="0">
                <a:moveTo>
                  <a:pt x="6812950" y="1220972"/>
                </a:moveTo>
                <a:lnTo>
                  <a:pt x="356337" y="1220972"/>
                </a:lnTo>
                <a:lnTo>
                  <a:pt x="307986" y="1224225"/>
                </a:lnTo>
                <a:lnTo>
                  <a:pt x="261611" y="1233701"/>
                </a:lnTo>
                <a:lnTo>
                  <a:pt x="217637" y="1248975"/>
                </a:lnTo>
                <a:lnTo>
                  <a:pt x="176489" y="1269623"/>
                </a:lnTo>
                <a:lnTo>
                  <a:pt x="138592" y="1295221"/>
                </a:lnTo>
                <a:lnTo>
                  <a:pt x="104371" y="1325343"/>
                </a:lnTo>
                <a:lnTo>
                  <a:pt x="74249" y="1359564"/>
                </a:lnTo>
                <a:lnTo>
                  <a:pt x="48651" y="1397461"/>
                </a:lnTo>
                <a:lnTo>
                  <a:pt x="28003" y="1438609"/>
                </a:lnTo>
                <a:lnTo>
                  <a:pt x="12729" y="1482583"/>
                </a:lnTo>
                <a:lnTo>
                  <a:pt x="3253" y="1528958"/>
                </a:lnTo>
                <a:lnTo>
                  <a:pt x="0" y="1577309"/>
                </a:lnTo>
                <a:lnTo>
                  <a:pt x="0" y="3482356"/>
                </a:lnTo>
                <a:lnTo>
                  <a:pt x="3253" y="3530708"/>
                </a:lnTo>
                <a:lnTo>
                  <a:pt x="12729" y="3577083"/>
                </a:lnTo>
                <a:lnTo>
                  <a:pt x="28003" y="3621056"/>
                </a:lnTo>
                <a:lnTo>
                  <a:pt x="48651" y="3662204"/>
                </a:lnTo>
                <a:lnTo>
                  <a:pt x="74249" y="3700101"/>
                </a:lnTo>
                <a:lnTo>
                  <a:pt x="104371" y="3734322"/>
                </a:lnTo>
                <a:lnTo>
                  <a:pt x="138592" y="3764444"/>
                </a:lnTo>
                <a:lnTo>
                  <a:pt x="176489" y="3790041"/>
                </a:lnTo>
                <a:lnTo>
                  <a:pt x="217637" y="3810689"/>
                </a:lnTo>
                <a:lnTo>
                  <a:pt x="261611" y="3825964"/>
                </a:lnTo>
                <a:lnTo>
                  <a:pt x="307986" y="3835440"/>
                </a:lnTo>
                <a:lnTo>
                  <a:pt x="356337" y="3838693"/>
                </a:lnTo>
                <a:lnTo>
                  <a:pt x="6812950" y="3838693"/>
                </a:lnTo>
                <a:lnTo>
                  <a:pt x="6861301" y="3835440"/>
                </a:lnTo>
                <a:lnTo>
                  <a:pt x="6907675" y="3825964"/>
                </a:lnTo>
                <a:lnTo>
                  <a:pt x="6951648" y="3810689"/>
                </a:lnTo>
                <a:lnTo>
                  <a:pt x="6992795" y="3790041"/>
                </a:lnTo>
                <a:lnTo>
                  <a:pt x="7030692" y="3764444"/>
                </a:lnTo>
                <a:lnTo>
                  <a:pt x="7064914" y="3734322"/>
                </a:lnTo>
                <a:lnTo>
                  <a:pt x="7095036" y="3700101"/>
                </a:lnTo>
                <a:lnTo>
                  <a:pt x="7120633" y="3662204"/>
                </a:lnTo>
                <a:lnTo>
                  <a:pt x="7141281" y="3621056"/>
                </a:lnTo>
                <a:lnTo>
                  <a:pt x="7156556" y="3577083"/>
                </a:lnTo>
                <a:lnTo>
                  <a:pt x="7166032" y="3530708"/>
                </a:lnTo>
                <a:lnTo>
                  <a:pt x="7169285" y="3482356"/>
                </a:lnTo>
                <a:lnTo>
                  <a:pt x="7169285" y="1577309"/>
                </a:lnTo>
                <a:lnTo>
                  <a:pt x="7166032" y="1528958"/>
                </a:lnTo>
                <a:lnTo>
                  <a:pt x="7156556" y="1482583"/>
                </a:lnTo>
                <a:lnTo>
                  <a:pt x="7141281" y="1438609"/>
                </a:lnTo>
                <a:lnTo>
                  <a:pt x="7120633" y="1397461"/>
                </a:lnTo>
                <a:lnTo>
                  <a:pt x="7095036" y="1359564"/>
                </a:lnTo>
                <a:lnTo>
                  <a:pt x="7064914" y="1325343"/>
                </a:lnTo>
                <a:lnTo>
                  <a:pt x="7030692" y="1295221"/>
                </a:lnTo>
                <a:lnTo>
                  <a:pt x="6992795" y="1269623"/>
                </a:lnTo>
                <a:lnTo>
                  <a:pt x="6951648" y="1248975"/>
                </a:lnTo>
                <a:lnTo>
                  <a:pt x="6907675" y="1233701"/>
                </a:lnTo>
                <a:lnTo>
                  <a:pt x="6861301" y="1224225"/>
                </a:lnTo>
                <a:lnTo>
                  <a:pt x="6812950" y="1220972"/>
                </a:lnTo>
                <a:close/>
              </a:path>
              <a:path w="7169286" h="3838694" extrusionOk="0">
                <a:moveTo>
                  <a:pt x="997315" y="0"/>
                </a:moveTo>
                <a:lnTo>
                  <a:pt x="2348194" y="1237718"/>
                </a:lnTo>
                <a:lnTo>
                  <a:pt x="2993816" y="1237718"/>
                </a:lnTo>
                <a:lnTo>
                  <a:pt x="997315" y="0"/>
                </a:lnTo>
                <a:close/>
              </a:path>
            </a:pathLst>
          </a:custGeom>
          <a:solidFill>
            <a:srgbClr val="D3908F"/>
          </a:solidFill>
          <a:ln>
            <a:noFill/>
          </a:ln>
        </p:spPr>
        <p:txBody>
          <a:bodyPr spcFirstLastPara="1" wrap="square" lIns="0" tIns="0" rIns="0" bIns="0" anchor="t" anchorCtr="0">
            <a:noAutofit/>
          </a:bodyPr>
          <a:lstStyle/>
          <a:p>
            <a:endParaRPr sz="964"/>
          </a:p>
        </p:txBody>
      </p:sp>
      <p:sp>
        <p:nvSpPr>
          <p:cNvPr id="22" name="Google Shape;173;p20"/>
          <p:cNvSpPr txBox="1"/>
          <p:nvPr/>
        </p:nvSpPr>
        <p:spPr>
          <a:xfrm>
            <a:off x="9333318" y="4426675"/>
            <a:ext cx="1658532" cy="1146391"/>
          </a:xfrm>
          <a:prstGeom prst="rect">
            <a:avLst/>
          </a:prstGeom>
          <a:noFill/>
          <a:ln>
            <a:noFill/>
          </a:ln>
        </p:spPr>
        <p:txBody>
          <a:bodyPr spcFirstLastPara="1" wrap="square" lIns="0" tIns="8504" rIns="0" bIns="0" anchor="ctr" anchorCtr="0">
            <a:noAutofit/>
          </a:bodyPr>
          <a:lstStyle/>
          <a:p>
            <a:pPr algn="ctr">
              <a:lnSpc>
                <a:spcPct val="116753"/>
              </a:lnSpc>
            </a:pPr>
            <a:r>
              <a:rPr lang="en-US" sz="2800" b="1" dirty="0">
                <a:solidFill>
                  <a:srgbClr val="FFFFFF"/>
                </a:solidFill>
                <a:latin typeface="Trebuchet MS"/>
                <a:ea typeface="Trebuchet MS"/>
                <a:cs typeface="Trebuchet MS"/>
                <a:sym typeface="Trebuchet MS"/>
              </a:rPr>
              <a:t>Value or function</a:t>
            </a:r>
            <a:endParaRPr sz="2800" dirty="0">
              <a:latin typeface="Trebuchet MS"/>
              <a:ea typeface="Trebuchet MS"/>
              <a:cs typeface="Trebuchet MS"/>
              <a:sym typeface="Trebuchet MS"/>
            </a:endParaRPr>
          </a:p>
        </p:txBody>
      </p:sp>
      <p:sp>
        <p:nvSpPr>
          <p:cNvPr id="3" name="TextBox 2"/>
          <p:cNvSpPr txBox="1"/>
          <p:nvPr/>
        </p:nvSpPr>
        <p:spPr>
          <a:xfrm>
            <a:off x="866079" y="781067"/>
            <a:ext cx="2875531" cy="923330"/>
          </a:xfrm>
          <a:prstGeom prst="rect">
            <a:avLst/>
          </a:prstGeom>
          <a:noFill/>
        </p:spPr>
        <p:txBody>
          <a:bodyPr wrap="none" rtlCol="0">
            <a:spAutoFit/>
          </a:bodyPr>
          <a:lstStyle/>
          <a:p>
            <a:r>
              <a:rPr lang="en-US" sz="5400" dirty="0">
                <a:latin typeface="+mj-lt"/>
                <a:sym typeface="Calibri"/>
              </a:rPr>
              <a:t>summarize</a:t>
            </a:r>
            <a:r>
              <a:rPr lang="en-US" sz="5400" dirty="0">
                <a:latin typeface="Calibri"/>
                <a:sym typeface="Calibri"/>
              </a:rPr>
              <a:t>()</a:t>
            </a:r>
            <a:endParaRPr lang="en-US" dirty="0"/>
          </a:p>
        </p:txBody>
      </p:sp>
      <p:sp>
        <p:nvSpPr>
          <p:cNvPr id="2" name="TextBox 1">
            <a:extLst>
              <a:ext uri="{FF2B5EF4-FFF2-40B4-BE49-F238E27FC236}">
                <a16:creationId xmlns:a16="http://schemas.microsoft.com/office/drawing/2014/main" id="{4E5DA503-43D8-234F-A574-470E275BF911}"/>
              </a:ext>
            </a:extLst>
          </p:cNvPr>
          <p:cNvSpPr txBox="1"/>
          <p:nvPr/>
        </p:nvSpPr>
        <p:spPr>
          <a:xfrm>
            <a:off x="751840" y="5974080"/>
            <a:ext cx="10240010" cy="584775"/>
          </a:xfrm>
          <a:prstGeom prst="rect">
            <a:avLst/>
          </a:prstGeom>
          <a:noFill/>
        </p:spPr>
        <p:txBody>
          <a:bodyPr wrap="square" rtlCol="0">
            <a:spAutoFit/>
          </a:bodyPr>
          <a:lstStyle/>
          <a:p>
            <a:pPr algn="ctr"/>
            <a:r>
              <a:rPr lang="en-US" sz="3200" dirty="0"/>
              <a:t>Performs calculation across all rows of data frame</a:t>
            </a:r>
          </a:p>
        </p:txBody>
      </p:sp>
    </p:spTree>
    <p:extLst>
      <p:ext uri="{BB962C8B-B14F-4D97-AF65-F5344CB8AC3E}">
        <p14:creationId xmlns:p14="http://schemas.microsoft.com/office/powerpoint/2010/main" val="29681644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1072055" y="2280929"/>
            <a:ext cx="10762593" cy="1821891"/>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dirty="0"/>
          </a:p>
        </p:txBody>
      </p:sp>
      <p:sp>
        <p:nvSpPr>
          <p:cNvPr id="296" name="Google Shape;296;p32"/>
          <p:cNvSpPr txBox="1"/>
          <p:nvPr/>
        </p:nvSpPr>
        <p:spPr>
          <a:xfrm>
            <a:off x="1072055" y="1747595"/>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Make summaries of your data</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13" name="Table 12"/>
          <p:cNvGraphicFramePr>
            <a:graphicFrameLocks noGrp="1"/>
          </p:cNvGraphicFramePr>
          <p:nvPr/>
        </p:nvGraphicFramePr>
        <p:xfrm>
          <a:off x="1900244" y="4358675"/>
          <a:ext cx="3736808" cy="2287415"/>
        </p:xfrm>
        <a:graphic>
          <a:graphicData uri="http://schemas.openxmlformats.org/drawingml/2006/table">
            <a:tbl>
              <a:tblPr firstRow="1" bandRow="1"/>
              <a:tblGrid>
                <a:gridCol w="1505607">
                  <a:extLst>
                    <a:ext uri="{9D8B030D-6E8A-4147-A177-3AD203B41FA5}">
                      <a16:colId xmlns:a16="http://schemas.microsoft.com/office/drawing/2014/main" val="20000"/>
                    </a:ext>
                  </a:extLst>
                </a:gridCol>
                <a:gridCol w="2231201">
                  <a:extLst>
                    <a:ext uri="{9D8B030D-6E8A-4147-A177-3AD203B41FA5}">
                      <a16:colId xmlns:a16="http://schemas.microsoft.com/office/drawing/2014/main" val="20001"/>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err="1">
                          <a:solidFill>
                            <a:schemeClr val="lt1"/>
                          </a:solidFill>
                        </a:rPr>
                        <a:t>pan_day</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7</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7</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8</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18" name="Google Shape;387;p40"/>
          <p:cNvSpPr/>
          <p:nvPr/>
        </p:nvSpPr>
        <p:spPr>
          <a:xfrm>
            <a:off x="5929312" y="4688886"/>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4" name="Rounded Rectangular Callout 2"/>
          <p:cNvSpPr/>
          <p:nvPr/>
        </p:nvSpPr>
        <p:spPr>
          <a:xfrm rot="10800000" flipH="1">
            <a:off x="6865339" y="1382747"/>
            <a:ext cx="2878268" cy="2239347"/>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439077 h 2866590"/>
              <a:gd name="connsiteX1" fmla="*/ 285509 w 2928396"/>
              <a:gd name="connsiteY1" fmla="*/ 1153568 h 2866590"/>
              <a:gd name="connsiteX2" fmla="*/ 904754 w 2928396"/>
              <a:gd name="connsiteY2" fmla="*/ 1176718 h 2866590"/>
              <a:gd name="connsiteX3" fmla="*/ 493059 w 2928396"/>
              <a:gd name="connsiteY3" fmla="*/ 0 h 2866590"/>
              <a:gd name="connsiteX4" fmla="*/ 1220165 w 2928396"/>
              <a:gd name="connsiteY4" fmla="*/ 1153568 h 2866590"/>
              <a:gd name="connsiteX5" fmla="*/ 2642887 w 2928396"/>
              <a:gd name="connsiteY5" fmla="*/ 1153568 h 2866590"/>
              <a:gd name="connsiteX6" fmla="*/ 2928396 w 2928396"/>
              <a:gd name="connsiteY6" fmla="*/ 1439077 h 2866590"/>
              <a:gd name="connsiteX7" fmla="*/ 2928396 w 2928396"/>
              <a:gd name="connsiteY7" fmla="*/ 1439072 h 2866590"/>
              <a:gd name="connsiteX8" fmla="*/ 2928396 w 2928396"/>
              <a:gd name="connsiteY8" fmla="*/ 1439072 h 2866590"/>
              <a:gd name="connsiteX9" fmla="*/ 2928396 w 2928396"/>
              <a:gd name="connsiteY9" fmla="*/ 1867327 h 2866590"/>
              <a:gd name="connsiteX10" fmla="*/ 2928396 w 2928396"/>
              <a:gd name="connsiteY10" fmla="*/ 2581081 h 2866590"/>
              <a:gd name="connsiteX11" fmla="*/ 2642887 w 2928396"/>
              <a:gd name="connsiteY11" fmla="*/ 2866590 h 2866590"/>
              <a:gd name="connsiteX12" fmla="*/ 1220165 w 2928396"/>
              <a:gd name="connsiteY12" fmla="*/ 2866590 h 2866590"/>
              <a:gd name="connsiteX13" fmla="*/ 488066 w 2928396"/>
              <a:gd name="connsiteY13" fmla="*/ 2866590 h 2866590"/>
              <a:gd name="connsiteX14" fmla="*/ 488066 w 2928396"/>
              <a:gd name="connsiteY14" fmla="*/ 2866590 h 2866590"/>
              <a:gd name="connsiteX15" fmla="*/ 285509 w 2928396"/>
              <a:gd name="connsiteY15" fmla="*/ 2866590 h 2866590"/>
              <a:gd name="connsiteX16" fmla="*/ 0 w 2928396"/>
              <a:gd name="connsiteY16" fmla="*/ 2581081 h 2866590"/>
              <a:gd name="connsiteX17" fmla="*/ 0 w 2928396"/>
              <a:gd name="connsiteY17" fmla="*/ 1867327 h 2866590"/>
              <a:gd name="connsiteX18" fmla="*/ 0 w 2928396"/>
              <a:gd name="connsiteY18" fmla="*/ 1439072 h 2866590"/>
              <a:gd name="connsiteX19" fmla="*/ 0 w 2928396"/>
              <a:gd name="connsiteY19" fmla="*/ 1439072 h 2866590"/>
              <a:gd name="connsiteX20" fmla="*/ 0 w 2928396"/>
              <a:gd name="connsiteY20" fmla="*/ 1439077 h 2866590"/>
              <a:gd name="connsiteX0" fmla="*/ 0 w 2928396"/>
              <a:gd name="connsiteY0" fmla="*/ 1770737 h 3198250"/>
              <a:gd name="connsiteX1" fmla="*/ 285509 w 2928396"/>
              <a:gd name="connsiteY1" fmla="*/ 1485228 h 3198250"/>
              <a:gd name="connsiteX2" fmla="*/ 904754 w 2928396"/>
              <a:gd name="connsiteY2" fmla="*/ 1508378 h 3198250"/>
              <a:gd name="connsiteX3" fmla="*/ 521125 w 2928396"/>
              <a:gd name="connsiteY3" fmla="*/ 0 h 3198250"/>
              <a:gd name="connsiteX4" fmla="*/ 1220165 w 2928396"/>
              <a:gd name="connsiteY4" fmla="*/ 1485228 h 3198250"/>
              <a:gd name="connsiteX5" fmla="*/ 2642887 w 2928396"/>
              <a:gd name="connsiteY5" fmla="*/ 1485228 h 3198250"/>
              <a:gd name="connsiteX6" fmla="*/ 2928396 w 2928396"/>
              <a:gd name="connsiteY6" fmla="*/ 1770737 h 3198250"/>
              <a:gd name="connsiteX7" fmla="*/ 2928396 w 2928396"/>
              <a:gd name="connsiteY7" fmla="*/ 1770732 h 3198250"/>
              <a:gd name="connsiteX8" fmla="*/ 2928396 w 2928396"/>
              <a:gd name="connsiteY8" fmla="*/ 1770732 h 3198250"/>
              <a:gd name="connsiteX9" fmla="*/ 2928396 w 2928396"/>
              <a:gd name="connsiteY9" fmla="*/ 2198987 h 3198250"/>
              <a:gd name="connsiteX10" fmla="*/ 2928396 w 2928396"/>
              <a:gd name="connsiteY10" fmla="*/ 2912741 h 3198250"/>
              <a:gd name="connsiteX11" fmla="*/ 2642887 w 2928396"/>
              <a:gd name="connsiteY11" fmla="*/ 3198250 h 3198250"/>
              <a:gd name="connsiteX12" fmla="*/ 1220165 w 2928396"/>
              <a:gd name="connsiteY12" fmla="*/ 3198250 h 3198250"/>
              <a:gd name="connsiteX13" fmla="*/ 488066 w 2928396"/>
              <a:gd name="connsiteY13" fmla="*/ 3198250 h 3198250"/>
              <a:gd name="connsiteX14" fmla="*/ 488066 w 2928396"/>
              <a:gd name="connsiteY14" fmla="*/ 3198250 h 3198250"/>
              <a:gd name="connsiteX15" fmla="*/ 285509 w 2928396"/>
              <a:gd name="connsiteY15" fmla="*/ 3198250 h 3198250"/>
              <a:gd name="connsiteX16" fmla="*/ 0 w 2928396"/>
              <a:gd name="connsiteY16" fmla="*/ 2912741 h 3198250"/>
              <a:gd name="connsiteX17" fmla="*/ 0 w 2928396"/>
              <a:gd name="connsiteY17" fmla="*/ 2198987 h 3198250"/>
              <a:gd name="connsiteX18" fmla="*/ 0 w 2928396"/>
              <a:gd name="connsiteY18" fmla="*/ 1770732 h 3198250"/>
              <a:gd name="connsiteX19" fmla="*/ 0 w 2928396"/>
              <a:gd name="connsiteY19" fmla="*/ 1770732 h 3198250"/>
              <a:gd name="connsiteX20" fmla="*/ 0 w 2928396"/>
              <a:gd name="connsiteY20" fmla="*/ 1770737 h 319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198250">
                <a:moveTo>
                  <a:pt x="0" y="1770737"/>
                </a:moveTo>
                <a:cubicBezTo>
                  <a:pt x="0" y="1613055"/>
                  <a:pt x="127827" y="1485228"/>
                  <a:pt x="285509" y="1485228"/>
                </a:cubicBezTo>
                <a:lnTo>
                  <a:pt x="904754" y="1508378"/>
                </a:lnTo>
                <a:lnTo>
                  <a:pt x="521125" y="0"/>
                </a:lnTo>
                <a:lnTo>
                  <a:pt x="1220165" y="1485228"/>
                </a:lnTo>
                <a:lnTo>
                  <a:pt x="2642887" y="1485228"/>
                </a:lnTo>
                <a:cubicBezTo>
                  <a:pt x="2800569" y="1485228"/>
                  <a:pt x="2928396" y="1613055"/>
                  <a:pt x="2928396" y="1770737"/>
                </a:cubicBezTo>
                <a:lnTo>
                  <a:pt x="2928396" y="1770732"/>
                </a:lnTo>
                <a:lnTo>
                  <a:pt x="2928396" y="1770732"/>
                </a:lnTo>
                <a:lnTo>
                  <a:pt x="2928396" y="2198987"/>
                </a:lnTo>
                <a:lnTo>
                  <a:pt x="2928396" y="2912741"/>
                </a:lnTo>
                <a:cubicBezTo>
                  <a:pt x="2928396" y="3070423"/>
                  <a:pt x="2800569" y="3198250"/>
                  <a:pt x="2642887" y="3198250"/>
                </a:cubicBezTo>
                <a:lnTo>
                  <a:pt x="1220165" y="3198250"/>
                </a:lnTo>
                <a:lnTo>
                  <a:pt x="488066" y="3198250"/>
                </a:lnTo>
                <a:lnTo>
                  <a:pt x="488066" y="3198250"/>
                </a:lnTo>
                <a:lnTo>
                  <a:pt x="285509" y="3198250"/>
                </a:lnTo>
                <a:cubicBezTo>
                  <a:pt x="127827" y="3198250"/>
                  <a:pt x="0" y="3070423"/>
                  <a:pt x="0" y="2912741"/>
                </a:cubicBezTo>
                <a:lnTo>
                  <a:pt x="0" y="2198987"/>
                </a:lnTo>
                <a:lnTo>
                  <a:pt x="0" y="1770732"/>
                </a:lnTo>
                <a:lnTo>
                  <a:pt x="0" y="1770732"/>
                </a:lnTo>
                <a:lnTo>
                  <a:pt x="0" y="1770737"/>
                </a:lnTo>
                <a:close/>
              </a:path>
            </a:pathLst>
          </a:custGeom>
          <a:solidFill>
            <a:schemeClr val="tx1">
              <a:lumMod val="65000"/>
              <a:lumOff val="3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Google Shape;324;p34"/>
          <p:cNvSpPr txBox="1"/>
          <p:nvPr/>
        </p:nvSpPr>
        <p:spPr>
          <a:xfrm>
            <a:off x="6962102" y="1593054"/>
            <a:ext cx="2655167" cy="735811"/>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function that returns number </a:t>
            </a:r>
            <a:r>
              <a:rPr lang="en-US" sz="2062">
                <a:solidFill>
                  <a:schemeClr val="bg1"/>
                </a:solidFill>
                <a:latin typeface="Calibri"/>
                <a:ea typeface="Calibri"/>
                <a:cs typeface="Calibri"/>
                <a:sym typeface="Calibri"/>
              </a:rPr>
              <a:t>of observations</a:t>
            </a:r>
            <a:endParaRPr sz="2062" dirty="0">
              <a:solidFill>
                <a:schemeClr val="bg1"/>
              </a:solidFill>
              <a:latin typeface="Calibri"/>
              <a:ea typeface="Calibri"/>
              <a:cs typeface="Calibri"/>
              <a:sym typeface="Calibri"/>
            </a:endParaRPr>
          </a:p>
        </p:txBody>
      </p:sp>
      <p:sp>
        <p:nvSpPr>
          <p:cNvPr id="26" name="TextBox 25"/>
          <p:cNvSpPr txBox="1"/>
          <p:nvPr/>
        </p:nvSpPr>
        <p:spPr>
          <a:xfrm>
            <a:off x="815160" y="763285"/>
            <a:ext cx="2875531" cy="923330"/>
          </a:xfrm>
          <a:prstGeom prst="rect">
            <a:avLst/>
          </a:prstGeom>
          <a:noFill/>
        </p:spPr>
        <p:txBody>
          <a:bodyPr wrap="none" rtlCol="0">
            <a:spAutoFit/>
          </a:bodyPr>
          <a:lstStyle/>
          <a:p>
            <a:r>
              <a:rPr lang="en-US" sz="5400" dirty="0">
                <a:latin typeface="+mj-lt"/>
                <a:sym typeface="Calibri"/>
              </a:rPr>
              <a:t>summarize</a:t>
            </a:r>
            <a:r>
              <a:rPr lang="en-US" sz="5400" dirty="0">
                <a:latin typeface="Calibri"/>
                <a:sym typeface="Calibri"/>
              </a:rPr>
              <a:t>()</a:t>
            </a:r>
            <a:endParaRPr lang="en-US" dirty="0"/>
          </a:p>
        </p:txBody>
      </p:sp>
      <p:graphicFrame>
        <p:nvGraphicFramePr>
          <p:cNvPr id="27" name="Table 26"/>
          <p:cNvGraphicFramePr>
            <a:graphicFrameLocks noGrp="1"/>
          </p:cNvGraphicFramePr>
          <p:nvPr/>
        </p:nvGraphicFramePr>
        <p:xfrm>
          <a:off x="6655443" y="4358675"/>
          <a:ext cx="2051392" cy="892344"/>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order_count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
        <p:nvSpPr>
          <p:cNvPr id="14" name="Rectangle 13"/>
          <p:cNvSpPr/>
          <p:nvPr/>
        </p:nvSpPr>
        <p:spPr>
          <a:xfrm>
            <a:off x="1760075" y="2410049"/>
            <a:ext cx="9392596" cy="1692771"/>
          </a:xfrm>
          <a:prstGeom prst="rect">
            <a:avLst/>
          </a:prstGeom>
        </p:spPr>
        <p:txBody>
          <a:bodyPr wrap="square">
            <a:spAutoFit/>
          </a:bodyPr>
          <a:lstStyle/>
          <a:p>
            <a:r>
              <a:rPr lang="en-US" sz="2400" dirty="0" err="1">
                <a:latin typeface="Consolas" panose="020B0609020204030204" pitchFamily="49" charset="0"/>
                <a:ea typeface="Courier New"/>
                <a:cs typeface="Consolas" panose="020B0609020204030204" pitchFamily="49" charset="0"/>
                <a:sym typeface="Courier New"/>
              </a:rPr>
              <a:t>covid_testing</a:t>
            </a:r>
            <a:r>
              <a:rPr lang="en-US" sz="2400" dirty="0">
                <a:latin typeface="Consolas" panose="020B0609020204030204" pitchFamily="49" charset="0"/>
                <a:ea typeface="Courier New"/>
                <a:cs typeface="Consolas" panose="020B0609020204030204" pitchFamily="49" charset="0"/>
                <a:sym typeface="Courier New"/>
              </a:rPr>
              <a:t> %&gt;%</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solidFill>
                  <a:schemeClr val="tx1">
                    <a:lumMod val="50000"/>
                    <a:lumOff val="50000"/>
                  </a:schemeClr>
                </a:solidFill>
                <a:latin typeface="Consolas" panose="020B0609020204030204" pitchFamily="49" charset="0"/>
                <a:ea typeface="Courier New"/>
                <a:cs typeface="Consolas" panose="020B0609020204030204" pitchFamily="49" charset="0"/>
                <a:sym typeface="Courier New"/>
              </a:rPr>
              <a:t>select(</a:t>
            </a:r>
            <a:r>
              <a:rPr lang="en-US" sz="2400" dirty="0" err="1">
                <a:solidFill>
                  <a:schemeClr val="tx1">
                    <a:lumMod val="50000"/>
                    <a:lumOff val="50000"/>
                  </a:schemeClr>
                </a:solidFill>
                <a:latin typeface="Consolas" panose="020B0609020204030204" pitchFamily="49" charset="0"/>
                <a:ea typeface="Courier New"/>
                <a:cs typeface="Consolas" panose="020B0609020204030204" pitchFamily="49" charset="0"/>
                <a:sym typeface="Courier New"/>
              </a:rPr>
              <a:t>mrn</a:t>
            </a:r>
            <a:r>
              <a:rPr lang="en-US" sz="2400" dirty="0">
                <a:solidFill>
                  <a:schemeClr val="tx1">
                    <a:lumMod val="50000"/>
                    <a:lumOff val="50000"/>
                  </a:schemeClr>
                </a:solidFill>
                <a:latin typeface="Consolas" panose="020B0609020204030204" pitchFamily="49" charset="0"/>
                <a:ea typeface="Courier New"/>
                <a:cs typeface="Consolas" panose="020B0609020204030204" pitchFamily="49" charset="0"/>
                <a:sym typeface="Courier New"/>
              </a:rPr>
              <a:t>, </a:t>
            </a:r>
            <a:r>
              <a:rPr lang="en-US" sz="2400" dirty="0" err="1">
                <a:solidFill>
                  <a:schemeClr val="tx1">
                    <a:lumMod val="50000"/>
                    <a:lumOff val="50000"/>
                  </a:schemeClr>
                </a:solidFill>
                <a:latin typeface="Consolas" panose="020B0609020204030204" pitchFamily="49" charset="0"/>
                <a:ea typeface="Courier New"/>
                <a:cs typeface="Consolas" panose="020B0609020204030204" pitchFamily="49" charset="0"/>
                <a:sym typeface="Courier New"/>
              </a:rPr>
              <a:t>pan_day</a:t>
            </a:r>
            <a:r>
              <a:rPr lang="en-US" sz="2400" dirty="0">
                <a:solidFill>
                  <a:schemeClr val="tx1">
                    <a:lumMod val="50000"/>
                    <a:lumOff val="50000"/>
                  </a:schemeClr>
                </a:solidFill>
                <a:latin typeface="Consolas" panose="020B0609020204030204" pitchFamily="49" charset="0"/>
                <a:ea typeface="Courier New"/>
                <a:cs typeface="Consolas" panose="020B0609020204030204" pitchFamily="49" charset="0"/>
                <a:sym typeface="Courier New"/>
              </a:rPr>
              <a:t>) %&gt;% </a:t>
            </a:r>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solidFill>
                  <a:schemeClr val="tx1">
                    <a:lumMod val="50000"/>
                    <a:lumOff val="50000"/>
                  </a:schemeClr>
                </a:solidFill>
                <a:latin typeface="Consolas" panose="020B0609020204030204" pitchFamily="49" charset="0"/>
                <a:ea typeface="Courier New"/>
                <a:cs typeface="Consolas" panose="020B0609020204030204" pitchFamily="49" charset="0"/>
                <a:sym typeface="Courier New"/>
              </a:rPr>
              <a:t>head(4) %&gt;%</a:t>
            </a:r>
          </a:p>
          <a:p>
            <a:r>
              <a:rPr lang="en-US" sz="2400" dirty="0">
                <a:latin typeface="Consolas" panose="020B0609020204030204" pitchFamily="49" charset="0"/>
                <a:ea typeface="Courier New"/>
                <a:cs typeface="Consolas" panose="020B0609020204030204" pitchFamily="49" charset="0"/>
                <a:sym typeface="Courier New"/>
              </a:rPr>
              <a:t>	summarize(</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order_count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 </a:t>
            </a:r>
            <a:r>
              <a:rPr lang="en-US" sz="2400" dirty="0">
                <a:solidFill>
                  <a:srgbClr val="8DB4E2"/>
                </a:solidFill>
                <a:latin typeface="Consolas" panose="020B0609020204030204" pitchFamily="49" charset="0"/>
                <a:ea typeface="Courier New"/>
                <a:cs typeface="Consolas" panose="020B0609020204030204" pitchFamily="49" charset="0"/>
                <a:sym typeface="Courier New"/>
              </a:rPr>
              <a:t>n()</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p:txBody>
      </p:sp>
    </p:spTree>
    <p:extLst>
      <p:ext uri="{BB962C8B-B14F-4D97-AF65-F5344CB8AC3E}">
        <p14:creationId xmlns:p14="http://schemas.microsoft.com/office/powerpoint/2010/main" val="242716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2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6" name="Google Shape;296;p32"/>
          <p:cNvSpPr txBox="1"/>
          <p:nvPr/>
        </p:nvSpPr>
        <p:spPr>
          <a:xfrm>
            <a:off x="1072055" y="1745910"/>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Additional summaries = new columns</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8" name="Google Shape;387;p40"/>
          <p:cNvSpPr/>
          <p:nvPr/>
        </p:nvSpPr>
        <p:spPr>
          <a:xfrm>
            <a:off x="5619559" y="4854523"/>
            <a:ext cx="322654" cy="224464"/>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6" name="TextBox 25"/>
          <p:cNvSpPr txBox="1"/>
          <p:nvPr/>
        </p:nvSpPr>
        <p:spPr>
          <a:xfrm>
            <a:off x="879065" y="766937"/>
            <a:ext cx="2875531" cy="923330"/>
          </a:xfrm>
          <a:prstGeom prst="rect">
            <a:avLst/>
          </a:prstGeom>
          <a:noFill/>
        </p:spPr>
        <p:txBody>
          <a:bodyPr wrap="none" rtlCol="0">
            <a:spAutoFit/>
          </a:bodyPr>
          <a:lstStyle/>
          <a:p>
            <a:r>
              <a:rPr lang="en-US" sz="5400" dirty="0">
                <a:latin typeface="+mj-lt"/>
                <a:sym typeface="Calibri"/>
              </a:rPr>
              <a:t>summarize</a:t>
            </a:r>
            <a:r>
              <a:rPr lang="en-US" sz="5400" dirty="0">
                <a:latin typeface="Calibri"/>
                <a:sym typeface="Calibri"/>
              </a:rPr>
              <a:t>()</a:t>
            </a:r>
            <a:endParaRPr lang="en-US" dirty="0"/>
          </a:p>
        </p:txBody>
      </p:sp>
      <p:graphicFrame>
        <p:nvGraphicFramePr>
          <p:cNvPr id="27" name="Table 26"/>
          <p:cNvGraphicFramePr>
            <a:graphicFrameLocks noGrp="1"/>
          </p:cNvGraphicFramePr>
          <p:nvPr/>
        </p:nvGraphicFramePr>
        <p:xfrm>
          <a:off x="6319213" y="4601326"/>
          <a:ext cx="1985421" cy="863647"/>
        </p:xfrm>
        <a:graphic>
          <a:graphicData uri="http://schemas.openxmlformats.org/drawingml/2006/table">
            <a:tbl>
              <a:tblPr firstRow="1" bandRow="1"/>
              <a:tblGrid>
                <a:gridCol w="1985421">
                  <a:extLst>
                    <a:ext uri="{9D8B030D-6E8A-4147-A177-3AD203B41FA5}">
                      <a16:colId xmlns:a16="http://schemas.microsoft.com/office/drawing/2014/main" val="20000"/>
                    </a:ext>
                  </a:extLst>
                </a:gridCol>
              </a:tblGrid>
              <a:tr h="461323">
                <a:tc>
                  <a:txBody>
                    <a:bodyPr/>
                    <a:lstStyle/>
                    <a:p>
                      <a:pPr marL="0" lvl="0" indent="0" algn="ctr" rtl="0">
                        <a:spcBef>
                          <a:spcPts val="0"/>
                        </a:spcBef>
                        <a:spcAft>
                          <a:spcPts val="0"/>
                        </a:spcAft>
                        <a:buNone/>
                      </a:pPr>
                      <a:r>
                        <a:rPr lang="en-US" sz="2300" b="1" dirty="0" err="1">
                          <a:solidFill>
                            <a:schemeClr val="lt1"/>
                          </a:solidFill>
                        </a:rPr>
                        <a:t>order_count</a:t>
                      </a:r>
                      <a:endParaRPr sz="2300" b="1" dirty="0">
                        <a:solidFill>
                          <a:schemeClr val="lt1"/>
                        </a:solidFil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402324">
                <a:tc>
                  <a:txBody>
                    <a:bodyPr/>
                    <a:lstStyle/>
                    <a:p>
                      <a:pPr marL="0" lvl="0" indent="0" algn="ctr" rtl="0">
                        <a:spcBef>
                          <a:spcPts val="0"/>
                        </a:spcBef>
                        <a:spcAft>
                          <a:spcPts val="0"/>
                        </a:spcAft>
                        <a:buNone/>
                      </a:pPr>
                      <a:r>
                        <a:rPr lang="en-US" sz="1900" b="0" i="0" u="none" strike="noStrike" cap="none" dirty="0">
                          <a:solidFill>
                            <a:srgbClr val="000000"/>
                          </a:solidFill>
                          <a:latin typeface="Arial"/>
                          <a:ea typeface="Arial"/>
                          <a:cs typeface="Arial"/>
                          <a:sym typeface="Arial"/>
                        </a:rPr>
                        <a:t>4</a:t>
                      </a:r>
                      <a:endParaRPr sz="1900" b="0" i="0" u="none" strike="noStrike" cap="none" dirty="0">
                        <a:solidFill>
                          <a:srgbClr val="000000"/>
                        </a:solidFill>
                        <a:latin typeface="Arial"/>
                        <a:ea typeface="Arial"/>
                        <a:cs typeface="Arial"/>
                        <a:sym typeface="Aria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nvGraphicFramePr>
        <p:xfrm>
          <a:off x="8370605" y="4601326"/>
          <a:ext cx="1985421" cy="863647"/>
        </p:xfrm>
        <a:graphic>
          <a:graphicData uri="http://schemas.openxmlformats.org/drawingml/2006/table">
            <a:tbl>
              <a:tblPr firstRow="1" bandRow="1"/>
              <a:tblGrid>
                <a:gridCol w="1985421">
                  <a:extLst>
                    <a:ext uri="{9D8B030D-6E8A-4147-A177-3AD203B41FA5}">
                      <a16:colId xmlns:a16="http://schemas.microsoft.com/office/drawing/2014/main" val="20000"/>
                    </a:ext>
                  </a:extLst>
                </a:gridCol>
              </a:tblGrid>
              <a:tr h="461323">
                <a:tc>
                  <a:txBody>
                    <a:bodyPr/>
                    <a:lstStyle/>
                    <a:p>
                      <a:pPr marL="0" lvl="0" indent="0" algn="ctr" rtl="0">
                        <a:spcBef>
                          <a:spcPts val="0"/>
                        </a:spcBef>
                        <a:spcAft>
                          <a:spcPts val="0"/>
                        </a:spcAft>
                        <a:buNone/>
                      </a:pPr>
                      <a:r>
                        <a:rPr lang="en-US" sz="2300" b="1" dirty="0" err="1">
                          <a:solidFill>
                            <a:schemeClr val="lt1"/>
                          </a:solidFill>
                        </a:rPr>
                        <a:t>day_count</a:t>
                      </a:r>
                      <a:endParaRPr sz="2300" b="1" dirty="0">
                        <a:solidFill>
                          <a:schemeClr val="lt1"/>
                        </a:solidFil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402324">
                <a:tc>
                  <a:txBody>
                    <a:bodyPr/>
                    <a:lstStyle/>
                    <a:p>
                      <a:pPr marL="0" lvl="0" indent="0" algn="ctr" rtl="0">
                        <a:spcBef>
                          <a:spcPts val="0"/>
                        </a:spcBef>
                        <a:spcAft>
                          <a:spcPts val="0"/>
                        </a:spcAft>
                        <a:buNone/>
                      </a:pPr>
                      <a:r>
                        <a:rPr lang="en-US" sz="1900" b="0" i="0" u="none" strike="noStrike" cap="none" dirty="0">
                          <a:solidFill>
                            <a:srgbClr val="000000"/>
                          </a:solidFill>
                          <a:latin typeface="Arial"/>
                          <a:ea typeface="Arial"/>
                          <a:cs typeface="Arial"/>
                          <a:sym typeface="Arial"/>
                        </a:rPr>
                        <a:t>3</a:t>
                      </a:r>
                      <a:endParaRPr sz="1900" b="0" i="0" u="none" strike="noStrike" cap="none" dirty="0">
                        <a:solidFill>
                          <a:srgbClr val="000000"/>
                        </a:solidFill>
                        <a:latin typeface="Arial"/>
                        <a:ea typeface="Arial"/>
                        <a:cs typeface="Arial"/>
                        <a:sym typeface="Aria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
        <p:nvSpPr>
          <p:cNvPr id="19" name="Google Shape;131;p17"/>
          <p:cNvSpPr/>
          <p:nvPr/>
        </p:nvSpPr>
        <p:spPr>
          <a:xfrm>
            <a:off x="1072055" y="2196331"/>
            <a:ext cx="10762593" cy="2161934"/>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dirty="0"/>
          </a:p>
        </p:txBody>
      </p:sp>
      <p:sp>
        <p:nvSpPr>
          <p:cNvPr id="20" name="Rectangle 19"/>
          <p:cNvSpPr/>
          <p:nvPr/>
        </p:nvSpPr>
        <p:spPr>
          <a:xfrm>
            <a:off x="1622915" y="2173051"/>
            <a:ext cx="9392596" cy="2185214"/>
          </a:xfrm>
          <a:prstGeom prst="rect">
            <a:avLst/>
          </a:prstGeom>
        </p:spPr>
        <p:txBody>
          <a:bodyPr wrap="square">
            <a:spAutoFit/>
          </a:bodyPr>
          <a:lstStyle/>
          <a:p>
            <a:r>
              <a:rPr lang="en-US" sz="2400" dirty="0" err="1">
                <a:latin typeface="Consolas" panose="020B0609020204030204" pitchFamily="49" charset="0"/>
                <a:ea typeface="Courier New"/>
                <a:cs typeface="Consolas" panose="020B0609020204030204" pitchFamily="49" charset="0"/>
                <a:sym typeface="Courier New"/>
              </a:rPr>
              <a:t>covid_testing</a:t>
            </a:r>
            <a:r>
              <a:rPr lang="en-US" sz="2400" dirty="0">
                <a:latin typeface="Consolas" panose="020B0609020204030204" pitchFamily="49" charset="0"/>
                <a:ea typeface="Courier New"/>
                <a:cs typeface="Consolas" panose="020B0609020204030204" pitchFamily="49" charset="0"/>
                <a:sym typeface="Courier New"/>
              </a:rPr>
              <a:t> %&gt;%</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solidFill>
                  <a:schemeClr val="tx1">
                    <a:lumMod val="50000"/>
                    <a:lumOff val="50000"/>
                  </a:schemeClr>
                </a:solidFill>
                <a:latin typeface="Consolas" panose="020B0609020204030204" pitchFamily="49" charset="0"/>
                <a:ea typeface="Courier New"/>
                <a:cs typeface="Consolas" panose="020B0609020204030204" pitchFamily="49" charset="0"/>
                <a:sym typeface="Courier New"/>
              </a:rPr>
              <a:t>select(</a:t>
            </a:r>
            <a:r>
              <a:rPr lang="en-US" sz="2400" dirty="0" err="1">
                <a:solidFill>
                  <a:schemeClr val="tx1">
                    <a:lumMod val="50000"/>
                    <a:lumOff val="50000"/>
                  </a:schemeClr>
                </a:solidFill>
                <a:latin typeface="Consolas" panose="020B0609020204030204" pitchFamily="49" charset="0"/>
                <a:ea typeface="Courier New"/>
                <a:cs typeface="Consolas" panose="020B0609020204030204" pitchFamily="49" charset="0"/>
                <a:sym typeface="Courier New"/>
              </a:rPr>
              <a:t>mrn</a:t>
            </a:r>
            <a:r>
              <a:rPr lang="en-US" sz="2400" dirty="0">
                <a:solidFill>
                  <a:schemeClr val="tx1">
                    <a:lumMod val="50000"/>
                    <a:lumOff val="50000"/>
                  </a:schemeClr>
                </a:solidFill>
                <a:latin typeface="Consolas" panose="020B0609020204030204" pitchFamily="49" charset="0"/>
                <a:ea typeface="Courier New"/>
                <a:cs typeface="Consolas" panose="020B0609020204030204" pitchFamily="49" charset="0"/>
                <a:sym typeface="Courier New"/>
              </a:rPr>
              <a:t>, </a:t>
            </a:r>
            <a:r>
              <a:rPr lang="en-US" sz="2400" dirty="0" err="1">
                <a:solidFill>
                  <a:schemeClr val="tx1">
                    <a:lumMod val="50000"/>
                    <a:lumOff val="50000"/>
                  </a:schemeClr>
                </a:solidFill>
                <a:latin typeface="Consolas" panose="020B0609020204030204" pitchFamily="49" charset="0"/>
                <a:ea typeface="Courier New"/>
                <a:cs typeface="Consolas" panose="020B0609020204030204" pitchFamily="49" charset="0"/>
                <a:sym typeface="Courier New"/>
              </a:rPr>
              <a:t>pan_day</a:t>
            </a:r>
            <a:r>
              <a:rPr lang="en-US" sz="2400" dirty="0">
                <a:solidFill>
                  <a:schemeClr val="tx1">
                    <a:lumMod val="50000"/>
                    <a:lumOff val="50000"/>
                  </a:schemeClr>
                </a:solidFill>
                <a:latin typeface="Consolas" panose="020B0609020204030204" pitchFamily="49" charset="0"/>
                <a:ea typeface="Courier New"/>
                <a:cs typeface="Consolas" panose="020B0609020204030204" pitchFamily="49" charset="0"/>
                <a:sym typeface="Courier New"/>
              </a:rPr>
              <a:t>) %&gt;% 	</a:t>
            </a:r>
          </a:p>
          <a:p>
            <a:r>
              <a:rPr lang="en-US" sz="2400" dirty="0">
                <a:solidFill>
                  <a:schemeClr val="tx1">
                    <a:lumMod val="50000"/>
                    <a:lumOff val="50000"/>
                  </a:schemeClr>
                </a:solidFill>
                <a:latin typeface="Consolas" panose="020B0609020204030204" pitchFamily="49" charset="0"/>
                <a:ea typeface="Courier New"/>
                <a:cs typeface="Consolas" panose="020B0609020204030204" pitchFamily="49" charset="0"/>
                <a:sym typeface="Courier New"/>
              </a:rPr>
              <a:t>	head(4) %&gt;%</a:t>
            </a:r>
          </a:p>
          <a:p>
            <a:r>
              <a:rPr lang="en-US" sz="2400" dirty="0">
                <a:latin typeface="Consolas" panose="020B0609020204030204" pitchFamily="49" charset="0"/>
                <a:ea typeface="Courier New"/>
                <a:cs typeface="Consolas" panose="020B0609020204030204" pitchFamily="49" charset="0"/>
                <a:sym typeface="Courier New"/>
              </a:rPr>
              <a:t>	summarize(</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order_count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 </a:t>
            </a:r>
            <a:r>
              <a:rPr lang="en-US" sz="2400" dirty="0">
                <a:solidFill>
                  <a:srgbClr val="8DB4E2"/>
                </a:solidFill>
                <a:latin typeface="Consolas" panose="020B0609020204030204" pitchFamily="49" charset="0"/>
                <a:ea typeface="Courier New"/>
                <a:cs typeface="Consolas" panose="020B0609020204030204" pitchFamily="49" charset="0"/>
                <a:sym typeface="Courier New"/>
              </a:rPr>
              <a:t>n()</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a:p>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day_count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solidFill>
                  <a:schemeClr val="accent2"/>
                </a:solidFill>
                <a:latin typeface="Consolas" panose="020B0609020204030204" pitchFamily="49" charset="0"/>
                <a:ea typeface="Courier New"/>
                <a:cs typeface="Consolas" panose="020B0609020204030204" pitchFamily="49" charset="0"/>
                <a:sym typeface="Courier New"/>
              </a:rPr>
              <a:t> </a:t>
            </a:r>
            <a:r>
              <a:rPr lang="en-US" sz="2400" dirty="0" err="1">
                <a:solidFill>
                  <a:srgbClr val="8DB4E2"/>
                </a:solidFill>
                <a:latin typeface="Consolas" panose="020B0609020204030204" pitchFamily="49" charset="0"/>
                <a:ea typeface="Courier New"/>
                <a:cs typeface="Consolas" panose="020B0609020204030204" pitchFamily="49" charset="0"/>
                <a:sym typeface="Courier New"/>
              </a:rPr>
              <a:t>n_distinct</a:t>
            </a:r>
            <a:r>
              <a:rPr lang="en-US" sz="2400" dirty="0">
                <a:solidFill>
                  <a:srgbClr val="8DB4E2"/>
                </a:solidFill>
                <a:latin typeface="Consolas" panose="020B0609020204030204" pitchFamily="49" charset="0"/>
                <a:ea typeface="Courier New"/>
                <a:cs typeface="Consolas" panose="020B0609020204030204" pitchFamily="49" charset="0"/>
                <a:sym typeface="Courier New"/>
              </a:rPr>
              <a:t>(</a:t>
            </a:r>
            <a:r>
              <a:rPr lang="en-US" sz="2400" dirty="0" err="1">
                <a:solidFill>
                  <a:srgbClr val="8DB4E2"/>
                </a:solidFill>
                <a:latin typeface="Consolas" panose="020B0609020204030204" pitchFamily="49" charset="0"/>
                <a:ea typeface="Courier New"/>
                <a:cs typeface="Consolas" panose="020B0609020204030204" pitchFamily="49" charset="0"/>
                <a:sym typeface="Courier New"/>
              </a:rPr>
              <a:t>pan_day</a:t>
            </a:r>
            <a:r>
              <a:rPr lang="en-US" sz="2400" dirty="0">
                <a:solidFill>
                  <a:srgbClr val="8DB4E2"/>
                </a:solidFill>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p:txBody>
      </p:sp>
      <p:sp>
        <p:nvSpPr>
          <p:cNvPr id="24" name="Rounded Rectangular Callout 2"/>
          <p:cNvSpPr/>
          <p:nvPr/>
        </p:nvSpPr>
        <p:spPr>
          <a:xfrm rot="10800000" flipH="1">
            <a:off x="7336211" y="925131"/>
            <a:ext cx="2894275" cy="3019345"/>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439077 h 2866590"/>
              <a:gd name="connsiteX1" fmla="*/ 285509 w 2928396"/>
              <a:gd name="connsiteY1" fmla="*/ 1153568 h 2866590"/>
              <a:gd name="connsiteX2" fmla="*/ 904754 w 2928396"/>
              <a:gd name="connsiteY2" fmla="*/ 1176718 h 2866590"/>
              <a:gd name="connsiteX3" fmla="*/ 493059 w 2928396"/>
              <a:gd name="connsiteY3" fmla="*/ 0 h 2866590"/>
              <a:gd name="connsiteX4" fmla="*/ 1220165 w 2928396"/>
              <a:gd name="connsiteY4" fmla="*/ 1153568 h 2866590"/>
              <a:gd name="connsiteX5" fmla="*/ 2642887 w 2928396"/>
              <a:gd name="connsiteY5" fmla="*/ 1153568 h 2866590"/>
              <a:gd name="connsiteX6" fmla="*/ 2928396 w 2928396"/>
              <a:gd name="connsiteY6" fmla="*/ 1439077 h 2866590"/>
              <a:gd name="connsiteX7" fmla="*/ 2928396 w 2928396"/>
              <a:gd name="connsiteY7" fmla="*/ 1439072 h 2866590"/>
              <a:gd name="connsiteX8" fmla="*/ 2928396 w 2928396"/>
              <a:gd name="connsiteY8" fmla="*/ 1439072 h 2866590"/>
              <a:gd name="connsiteX9" fmla="*/ 2928396 w 2928396"/>
              <a:gd name="connsiteY9" fmla="*/ 1867327 h 2866590"/>
              <a:gd name="connsiteX10" fmla="*/ 2928396 w 2928396"/>
              <a:gd name="connsiteY10" fmla="*/ 2581081 h 2866590"/>
              <a:gd name="connsiteX11" fmla="*/ 2642887 w 2928396"/>
              <a:gd name="connsiteY11" fmla="*/ 2866590 h 2866590"/>
              <a:gd name="connsiteX12" fmla="*/ 1220165 w 2928396"/>
              <a:gd name="connsiteY12" fmla="*/ 2866590 h 2866590"/>
              <a:gd name="connsiteX13" fmla="*/ 488066 w 2928396"/>
              <a:gd name="connsiteY13" fmla="*/ 2866590 h 2866590"/>
              <a:gd name="connsiteX14" fmla="*/ 488066 w 2928396"/>
              <a:gd name="connsiteY14" fmla="*/ 2866590 h 2866590"/>
              <a:gd name="connsiteX15" fmla="*/ 285509 w 2928396"/>
              <a:gd name="connsiteY15" fmla="*/ 2866590 h 2866590"/>
              <a:gd name="connsiteX16" fmla="*/ 0 w 2928396"/>
              <a:gd name="connsiteY16" fmla="*/ 2581081 h 2866590"/>
              <a:gd name="connsiteX17" fmla="*/ 0 w 2928396"/>
              <a:gd name="connsiteY17" fmla="*/ 1867327 h 2866590"/>
              <a:gd name="connsiteX18" fmla="*/ 0 w 2928396"/>
              <a:gd name="connsiteY18" fmla="*/ 1439072 h 2866590"/>
              <a:gd name="connsiteX19" fmla="*/ 0 w 2928396"/>
              <a:gd name="connsiteY19" fmla="*/ 1439072 h 2866590"/>
              <a:gd name="connsiteX20" fmla="*/ 0 w 2928396"/>
              <a:gd name="connsiteY20" fmla="*/ 1439077 h 2866590"/>
              <a:gd name="connsiteX0" fmla="*/ 0 w 2928396"/>
              <a:gd name="connsiteY0" fmla="*/ 1770737 h 3198250"/>
              <a:gd name="connsiteX1" fmla="*/ 285509 w 2928396"/>
              <a:gd name="connsiteY1" fmla="*/ 1485228 h 3198250"/>
              <a:gd name="connsiteX2" fmla="*/ 904754 w 2928396"/>
              <a:gd name="connsiteY2" fmla="*/ 1508378 h 3198250"/>
              <a:gd name="connsiteX3" fmla="*/ 521125 w 2928396"/>
              <a:gd name="connsiteY3" fmla="*/ 0 h 3198250"/>
              <a:gd name="connsiteX4" fmla="*/ 1220165 w 2928396"/>
              <a:gd name="connsiteY4" fmla="*/ 1485228 h 3198250"/>
              <a:gd name="connsiteX5" fmla="*/ 2642887 w 2928396"/>
              <a:gd name="connsiteY5" fmla="*/ 1485228 h 3198250"/>
              <a:gd name="connsiteX6" fmla="*/ 2928396 w 2928396"/>
              <a:gd name="connsiteY6" fmla="*/ 1770737 h 3198250"/>
              <a:gd name="connsiteX7" fmla="*/ 2928396 w 2928396"/>
              <a:gd name="connsiteY7" fmla="*/ 1770732 h 3198250"/>
              <a:gd name="connsiteX8" fmla="*/ 2928396 w 2928396"/>
              <a:gd name="connsiteY8" fmla="*/ 1770732 h 3198250"/>
              <a:gd name="connsiteX9" fmla="*/ 2928396 w 2928396"/>
              <a:gd name="connsiteY9" fmla="*/ 2198987 h 3198250"/>
              <a:gd name="connsiteX10" fmla="*/ 2928396 w 2928396"/>
              <a:gd name="connsiteY10" fmla="*/ 2912741 h 3198250"/>
              <a:gd name="connsiteX11" fmla="*/ 2642887 w 2928396"/>
              <a:gd name="connsiteY11" fmla="*/ 3198250 h 3198250"/>
              <a:gd name="connsiteX12" fmla="*/ 1220165 w 2928396"/>
              <a:gd name="connsiteY12" fmla="*/ 3198250 h 3198250"/>
              <a:gd name="connsiteX13" fmla="*/ 488066 w 2928396"/>
              <a:gd name="connsiteY13" fmla="*/ 3198250 h 3198250"/>
              <a:gd name="connsiteX14" fmla="*/ 488066 w 2928396"/>
              <a:gd name="connsiteY14" fmla="*/ 3198250 h 3198250"/>
              <a:gd name="connsiteX15" fmla="*/ 285509 w 2928396"/>
              <a:gd name="connsiteY15" fmla="*/ 3198250 h 3198250"/>
              <a:gd name="connsiteX16" fmla="*/ 0 w 2928396"/>
              <a:gd name="connsiteY16" fmla="*/ 2912741 h 3198250"/>
              <a:gd name="connsiteX17" fmla="*/ 0 w 2928396"/>
              <a:gd name="connsiteY17" fmla="*/ 2198987 h 3198250"/>
              <a:gd name="connsiteX18" fmla="*/ 0 w 2928396"/>
              <a:gd name="connsiteY18" fmla="*/ 1770732 h 3198250"/>
              <a:gd name="connsiteX19" fmla="*/ 0 w 2928396"/>
              <a:gd name="connsiteY19" fmla="*/ 1770732 h 3198250"/>
              <a:gd name="connsiteX20" fmla="*/ 0 w 2928396"/>
              <a:gd name="connsiteY20" fmla="*/ 1770737 h 319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198250">
                <a:moveTo>
                  <a:pt x="0" y="1770737"/>
                </a:moveTo>
                <a:cubicBezTo>
                  <a:pt x="0" y="1613055"/>
                  <a:pt x="127827" y="1485228"/>
                  <a:pt x="285509" y="1485228"/>
                </a:cubicBezTo>
                <a:lnTo>
                  <a:pt x="904754" y="1508378"/>
                </a:lnTo>
                <a:lnTo>
                  <a:pt x="521125" y="0"/>
                </a:lnTo>
                <a:lnTo>
                  <a:pt x="1220165" y="1485228"/>
                </a:lnTo>
                <a:lnTo>
                  <a:pt x="2642887" y="1485228"/>
                </a:lnTo>
                <a:cubicBezTo>
                  <a:pt x="2800569" y="1485228"/>
                  <a:pt x="2928396" y="1613055"/>
                  <a:pt x="2928396" y="1770737"/>
                </a:cubicBezTo>
                <a:lnTo>
                  <a:pt x="2928396" y="1770732"/>
                </a:lnTo>
                <a:lnTo>
                  <a:pt x="2928396" y="1770732"/>
                </a:lnTo>
                <a:lnTo>
                  <a:pt x="2928396" y="2198987"/>
                </a:lnTo>
                <a:lnTo>
                  <a:pt x="2928396" y="2912741"/>
                </a:lnTo>
                <a:cubicBezTo>
                  <a:pt x="2928396" y="3070423"/>
                  <a:pt x="2800569" y="3198250"/>
                  <a:pt x="2642887" y="3198250"/>
                </a:cubicBezTo>
                <a:lnTo>
                  <a:pt x="1220165" y="3198250"/>
                </a:lnTo>
                <a:lnTo>
                  <a:pt x="488066" y="3198250"/>
                </a:lnTo>
                <a:lnTo>
                  <a:pt x="488066" y="3198250"/>
                </a:lnTo>
                <a:lnTo>
                  <a:pt x="285509" y="3198250"/>
                </a:lnTo>
                <a:cubicBezTo>
                  <a:pt x="127827" y="3198250"/>
                  <a:pt x="0" y="3070423"/>
                  <a:pt x="0" y="2912741"/>
                </a:cubicBezTo>
                <a:lnTo>
                  <a:pt x="0" y="2198987"/>
                </a:lnTo>
                <a:lnTo>
                  <a:pt x="0" y="1770732"/>
                </a:lnTo>
                <a:lnTo>
                  <a:pt x="0" y="1770732"/>
                </a:lnTo>
                <a:lnTo>
                  <a:pt x="0" y="1770737"/>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Google Shape;324;p34"/>
          <p:cNvSpPr txBox="1"/>
          <p:nvPr/>
        </p:nvSpPr>
        <p:spPr>
          <a:xfrm>
            <a:off x="7336211" y="1289074"/>
            <a:ext cx="2921257" cy="735811"/>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function that returns number of distinct values</a:t>
            </a:r>
            <a:endParaRPr sz="2062" dirty="0">
              <a:solidFill>
                <a:schemeClr val="bg1"/>
              </a:solidFill>
              <a:latin typeface="Calibri"/>
              <a:ea typeface="Calibri"/>
              <a:cs typeface="Calibri"/>
              <a:sym typeface="Calibri"/>
            </a:endParaRPr>
          </a:p>
        </p:txBody>
      </p:sp>
      <p:graphicFrame>
        <p:nvGraphicFramePr>
          <p:cNvPr id="14" name="Table 13">
            <a:extLst>
              <a:ext uri="{FF2B5EF4-FFF2-40B4-BE49-F238E27FC236}">
                <a16:creationId xmlns:a16="http://schemas.microsoft.com/office/drawing/2014/main" id="{6C7B2B3D-CA1C-D847-87EF-F11145D34C0E}"/>
              </a:ext>
            </a:extLst>
          </p:cNvPr>
          <p:cNvGraphicFramePr>
            <a:graphicFrameLocks noGrp="1"/>
          </p:cNvGraphicFramePr>
          <p:nvPr/>
        </p:nvGraphicFramePr>
        <p:xfrm>
          <a:off x="1646781" y="4476935"/>
          <a:ext cx="3736808" cy="2287415"/>
        </p:xfrm>
        <a:graphic>
          <a:graphicData uri="http://schemas.openxmlformats.org/drawingml/2006/table">
            <a:tbl>
              <a:tblPr firstRow="1" bandRow="1"/>
              <a:tblGrid>
                <a:gridCol w="1505607">
                  <a:extLst>
                    <a:ext uri="{9D8B030D-6E8A-4147-A177-3AD203B41FA5}">
                      <a16:colId xmlns:a16="http://schemas.microsoft.com/office/drawing/2014/main" val="20000"/>
                    </a:ext>
                  </a:extLst>
                </a:gridCol>
                <a:gridCol w="2231201">
                  <a:extLst>
                    <a:ext uri="{9D8B030D-6E8A-4147-A177-3AD203B41FA5}">
                      <a16:colId xmlns:a16="http://schemas.microsoft.com/office/drawing/2014/main" val="20001"/>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err="1">
                          <a:solidFill>
                            <a:schemeClr val="lt1"/>
                          </a:solidFill>
                        </a:rPr>
                        <a:t>pan_day</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7</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7</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8</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6949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6" name="Google Shape;296;p32"/>
          <p:cNvSpPr txBox="1"/>
          <p:nvPr/>
        </p:nvSpPr>
        <p:spPr>
          <a:xfrm>
            <a:off x="1072054" y="1745910"/>
            <a:ext cx="10762593"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Summarize supports calculations on summary stats</a:t>
            </a:r>
          </a:p>
        </p:txBody>
      </p:sp>
      <p:sp>
        <p:nvSpPr>
          <p:cNvPr id="15" name="Google Shape;46;p7"/>
          <p:cNvSpPr>
            <a:spLocks noChangeAspect="1"/>
          </p:cNvSpPr>
          <p:nvPr/>
        </p:nvSpPr>
        <p:spPr>
          <a:xfrm>
            <a:off x="11154103" y="5882749"/>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8" name="Google Shape;387;p40"/>
          <p:cNvSpPr/>
          <p:nvPr/>
        </p:nvSpPr>
        <p:spPr>
          <a:xfrm>
            <a:off x="4784325" y="4792382"/>
            <a:ext cx="322654" cy="224464"/>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6" name="TextBox 25"/>
          <p:cNvSpPr txBox="1"/>
          <p:nvPr/>
        </p:nvSpPr>
        <p:spPr>
          <a:xfrm>
            <a:off x="879065" y="766937"/>
            <a:ext cx="2875531" cy="923330"/>
          </a:xfrm>
          <a:prstGeom prst="rect">
            <a:avLst/>
          </a:prstGeom>
          <a:noFill/>
        </p:spPr>
        <p:txBody>
          <a:bodyPr wrap="none" rtlCol="0">
            <a:spAutoFit/>
          </a:bodyPr>
          <a:lstStyle/>
          <a:p>
            <a:r>
              <a:rPr lang="en-US" sz="5400" dirty="0">
                <a:latin typeface="+mj-lt"/>
                <a:sym typeface="Calibri"/>
              </a:rPr>
              <a:t>summarize</a:t>
            </a:r>
            <a:r>
              <a:rPr lang="en-US" sz="5400" dirty="0">
                <a:latin typeface="Calibri"/>
                <a:sym typeface="Calibri"/>
              </a:rPr>
              <a:t>()</a:t>
            </a:r>
            <a:endParaRPr lang="en-US" dirty="0"/>
          </a:p>
        </p:txBody>
      </p:sp>
      <p:graphicFrame>
        <p:nvGraphicFramePr>
          <p:cNvPr id="27" name="Table 26"/>
          <p:cNvGraphicFramePr>
            <a:graphicFrameLocks noGrp="1"/>
          </p:cNvGraphicFramePr>
          <p:nvPr>
            <p:extLst>
              <p:ext uri="{D42A27DB-BD31-4B8C-83A1-F6EECF244321}">
                <p14:modId xmlns:p14="http://schemas.microsoft.com/office/powerpoint/2010/main" val="2310768364"/>
              </p:ext>
            </p:extLst>
          </p:nvPr>
        </p:nvGraphicFramePr>
        <p:xfrm>
          <a:off x="5483979" y="4539185"/>
          <a:ext cx="1985421" cy="863647"/>
        </p:xfrm>
        <a:graphic>
          <a:graphicData uri="http://schemas.openxmlformats.org/drawingml/2006/table">
            <a:tbl>
              <a:tblPr firstRow="1" bandRow="1"/>
              <a:tblGrid>
                <a:gridCol w="1985421">
                  <a:extLst>
                    <a:ext uri="{9D8B030D-6E8A-4147-A177-3AD203B41FA5}">
                      <a16:colId xmlns:a16="http://schemas.microsoft.com/office/drawing/2014/main" val="20000"/>
                    </a:ext>
                  </a:extLst>
                </a:gridCol>
              </a:tblGrid>
              <a:tr h="461323">
                <a:tc>
                  <a:txBody>
                    <a:bodyPr/>
                    <a:lstStyle/>
                    <a:p>
                      <a:pPr marL="0" lvl="0" indent="0" algn="ctr" rtl="0">
                        <a:spcBef>
                          <a:spcPts val="0"/>
                        </a:spcBef>
                        <a:spcAft>
                          <a:spcPts val="0"/>
                        </a:spcAft>
                        <a:buNone/>
                      </a:pPr>
                      <a:r>
                        <a:rPr lang="en-US" sz="2300" b="1" dirty="0" err="1">
                          <a:solidFill>
                            <a:schemeClr val="lt1"/>
                          </a:solidFill>
                        </a:rPr>
                        <a:t>order_count</a:t>
                      </a:r>
                      <a:endParaRPr sz="2300" b="1" dirty="0">
                        <a:solidFill>
                          <a:schemeClr val="lt1"/>
                        </a:solidFil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402324">
                <a:tc>
                  <a:txBody>
                    <a:bodyPr/>
                    <a:lstStyle/>
                    <a:p>
                      <a:pPr marL="0" lvl="0" indent="0" algn="ctr" rtl="0">
                        <a:spcBef>
                          <a:spcPts val="0"/>
                        </a:spcBef>
                        <a:spcAft>
                          <a:spcPts val="0"/>
                        </a:spcAft>
                        <a:buNone/>
                      </a:pPr>
                      <a:r>
                        <a:rPr lang="en-US" sz="1900" b="0" i="0" u="none" strike="noStrike" cap="none" dirty="0">
                          <a:solidFill>
                            <a:srgbClr val="000000"/>
                          </a:solidFill>
                          <a:latin typeface="Arial"/>
                          <a:ea typeface="Arial"/>
                          <a:cs typeface="Arial"/>
                          <a:sym typeface="Arial"/>
                        </a:rPr>
                        <a:t>15524</a:t>
                      </a:r>
                      <a:endParaRPr sz="1900" b="0" i="0" u="none" strike="noStrike" cap="none" dirty="0">
                        <a:solidFill>
                          <a:srgbClr val="000000"/>
                        </a:solidFill>
                        <a:latin typeface="Arial"/>
                        <a:ea typeface="Arial"/>
                        <a:cs typeface="Arial"/>
                        <a:sym typeface="Aria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nvGraphicFramePr>
        <p:xfrm>
          <a:off x="7535371" y="4539185"/>
          <a:ext cx="1985421" cy="863647"/>
        </p:xfrm>
        <a:graphic>
          <a:graphicData uri="http://schemas.openxmlformats.org/drawingml/2006/table">
            <a:tbl>
              <a:tblPr firstRow="1" bandRow="1"/>
              <a:tblGrid>
                <a:gridCol w="1985421">
                  <a:extLst>
                    <a:ext uri="{9D8B030D-6E8A-4147-A177-3AD203B41FA5}">
                      <a16:colId xmlns:a16="http://schemas.microsoft.com/office/drawing/2014/main" val="20000"/>
                    </a:ext>
                  </a:extLst>
                </a:gridCol>
              </a:tblGrid>
              <a:tr h="461323">
                <a:tc>
                  <a:txBody>
                    <a:bodyPr/>
                    <a:lstStyle/>
                    <a:p>
                      <a:pPr marL="0" lvl="0" indent="0" algn="ctr" rtl="0">
                        <a:spcBef>
                          <a:spcPts val="0"/>
                        </a:spcBef>
                        <a:spcAft>
                          <a:spcPts val="0"/>
                        </a:spcAft>
                        <a:buNone/>
                      </a:pPr>
                      <a:r>
                        <a:rPr lang="en-US" sz="2300" b="1" dirty="0" err="1">
                          <a:solidFill>
                            <a:schemeClr val="lt1"/>
                          </a:solidFill>
                        </a:rPr>
                        <a:t>day_count</a:t>
                      </a:r>
                      <a:endParaRPr sz="2300" b="1" dirty="0">
                        <a:solidFill>
                          <a:schemeClr val="lt1"/>
                        </a:solidFil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402324">
                <a:tc>
                  <a:txBody>
                    <a:bodyPr/>
                    <a:lstStyle/>
                    <a:p>
                      <a:pPr marL="0" lvl="0" indent="0" algn="ctr" rtl="0">
                        <a:spcBef>
                          <a:spcPts val="0"/>
                        </a:spcBef>
                        <a:spcAft>
                          <a:spcPts val="0"/>
                        </a:spcAft>
                        <a:buNone/>
                      </a:pPr>
                      <a:r>
                        <a:rPr lang="en-US" sz="1900" b="0" i="0" u="none" strike="noStrike" cap="none" dirty="0">
                          <a:solidFill>
                            <a:srgbClr val="000000"/>
                          </a:solidFill>
                          <a:latin typeface="Arial"/>
                          <a:ea typeface="Arial"/>
                          <a:cs typeface="Arial"/>
                          <a:sym typeface="Arial"/>
                        </a:rPr>
                        <a:t>102</a:t>
                      </a:r>
                      <a:endParaRPr sz="1900" b="0" i="0" u="none" strike="noStrike" cap="none" dirty="0">
                        <a:solidFill>
                          <a:srgbClr val="000000"/>
                        </a:solidFill>
                        <a:latin typeface="Arial"/>
                        <a:ea typeface="Arial"/>
                        <a:cs typeface="Arial"/>
                        <a:sym typeface="Aria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
        <p:nvSpPr>
          <p:cNvPr id="19" name="Google Shape;131;p17"/>
          <p:cNvSpPr/>
          <p:nvPr/>
        </p:nvSpPr>
        <p:spPr>
          <a:xfrm>
            <a:off x="1072055" y="2196331"/>
            <a:ext cx="10762593" cy="1938992"/>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dirty="0"/>
          </a:p>
        </p:txBody>
      </p:sp>
      <p:sp>
        <p:nvSpPr>
          <p:cNvPr id="20" name="Rectangle 19"/>
          <p:cNvSpPr/>
          <p:nvPr/>
        </p:nvSpPr>
        <p:spPr>
          <a:xfrm>
            <a:off x="1622915" y="2173051"/>
            <a:ext cx="9392596" cy="1938992"/>
          </a:xfrm>
          <a:prstGeom prst="rect">
            <a:avLst/>
          </a:prstGeom>
        </p:spPr>
        <p:txBody>
          <a:bodyPr wrap="square">
            <a:spAutoFit/>
          </a:bodyPr>
          <a:lstStyle/>
          <a:p>
            <a:r>
              <a:rPr lang="en-US" sz="2400" dirty="0" err="1">
                <a:latin typeface="Consolas" panose="020B0609020204030204" pitchFamily="49" charset="0"/>
                <a:ea typeface="Courier New"/>
                <a:cs typeface="Consolas" panose="020B0609020204030204" pitchFamily="49" charset="0"/>
                <a:sym typeface="Courier New"/>
              </a:rPr>
              <a:t>covid_testing</a:t>
            </a:r>
            <a:r>
              <a:rPr lang="en-US" sz="2400" dirty="0">
                <a:latin typeface="Consolas" panose="020B0609020204030204" pitchFamily="49" charset="0"/>
                <a:ea typeface="Courier New"/>
                <a:cs typeface="Consolas" panose="020B0609020204030204" pitchFamily="49" charset="0"/>
                <a:sym typeface="Courier New"/>
              </a:rPr>
              <a:t> %&gt;% </a:t>
            </a:r>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p>
          <a:p>
            <a:r>
              <a:rPr lang="en-US" sz="2400" dirty="0">
                <a:latin typeface="Consolas" panose="020B0609020204030204" pitchFamily="49" charset="0"/>
                <a:ea typeface="Courier New"/>
                <a:cs typeface="Consolas" panose="020B0609020204030204" pitchFamily="49" charset="0"/>
                <a:sym typeface="Courier New"/>
              </a:rPr>
              <a:t>	summarize(</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order_count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 </a:t>
            </a:r>
            <a:r>
              <a:rPr lang="en-US" sz="2400" dirty="0">
                <a:solidFill>
                  <a:srgbClr val="8DB4E2"/>
                </a:solidFill>
                <a:latin typeface="Consolas" panose="020B0609020204030204" pitchFamily="49" charset="0"/>
                <a:ea typeface="Courier New"/>
                <a:cs typeface="Consolas" panose="020B0609020204030204" pitchFamily="49" charset="0"/>
                <a:sym typeface="Courier New"/>
              </a:rPr>
              <a:t>n()</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a:p>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day_count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solidFill>
                  <a:schemeClr val="accent2"/>
                </a:solidFill>
                <a:latin typeface="Consolas" panose="020B0609020204030204" pitchFamily="49" charset="0"/>
                <a:ea typeface="Courier New"/>
                <a:cs typeface="Consolas" panose="020B0609020204030204" pitchFamily="49" charset="0"/>
                <a:sym typeface="Courier New"/>
              </a:rPr>
              <a:t> </a:t>
            </a:r>
            <a:r>
              <a:rPr lang="en-US" sz="2400" dirty="0" err="1">
                <a:solidFill>
                  <a:srgbClr val="8DB4E2"/>
                </a:solidFill>
                <a:latin typeface="Consolas" panose="020B0609020204030204" pitchFamily="49" charset="0"/>
                <a:ea typeface="Courier New"/>
                <a:cs typeface="Consolas" panose="020B0609020204030204" pitchFamily="49" charset="0"/>
                <a:sym typeface="Courier New"/>
              </a:rPr>
              <a:t>n_distinct</a:t>
            </a:r>
            <a:r>
              <a:rPr lang="en-US" sz="2400" dirty="0">
                <a:solidFill>
                  <a:srgbClr val="8DB4E2"/>
                </a:solidFill>
                <a:latin typeface="Consolas" panose="020B0609020204030204" pitchFamily="49" charset="0"/>
                <a:ea typeface="Courier New"/>
                <a:cs typeface="Consolas" panose="020B0609020204030204" pitchFamily="49" charset="0"/>
                <a:sym typeface="Courier New"/>
              </a:rPr>
              <a:t>(</a:t>
            </a:r>
            <a:r>
              <a:rPr lang="en-US" sz="2400" dirty="0" err="1">
                <a:solidFill>
                  <a:srgbClr val="8DB4E2"/>
                </a:solidFill>
                <a:latin typeface="Consolas" panose="020B0609020204030204" pitchFamily="49" charset="0"/>
                <a:ea typeface="Courier New"/>
                <a:cs typeface="Consolas" panose="020B0609020204030204" pitchFamily="49" charset="0"/>
                <a:sym typeface="Courier New"/>
              </a:rPr>
              <a:t>pan_day</a:t>
            </a:r>
            <a:r>
              <a:rPr lang="en-US" sz="2400" dirty="0">
                <a:solidFill>
                  <a:srgbClr val="8DB4E2"/>
                </a:solidFill>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a:t>
            </a:r>
          </a:p>
          <a:p>
            <a:r>
              <a:rPr lang="en-US" sz="2400" dirty="0">
                <a:solidFill>
                  <a:srgbClr val="8DB4E2"/>
                </a:solidFill>
                <a:latin typeface="Consolas" panose="020B0609020204030204" pitchFamily="49" charset="0"/>
                <a:ea typeface="Courier New"/>
                <a:cs typeface="Consolas" panose="020B0609020204030204" pitchFamily="49" charset="0"/>
                <a:sym typeface="Courier New"/>
              </a:rPr>
              <a:t>		    </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orders_per_day</a:t>
            </a:r>
            <a:r>
              <a:rPr lang="en-US" sz="2400" dirty="0">
                <a:solidFill>
                  <a:srgbClr val="8DB4E2"/>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solidFill>
                  <a:srgbClr val="8DB4E2"/>
                </a:solidFill>
                <a:latin typeface="Consolas" panose="020B0609020204030204" pitchFamily="49" charset="0"/>
                <a:ea typeface="Courier New"/>
                <a:cs typeface="Consolas" panose="020B0609020204030204" pitchFamily="49" charset="0"/>
                <a:sym typeface="Courier New"/>
              </a:rPr>
              <a:t> </a:t>
            </a:r>
            <a:r>
              <a:rPr lang="en-US" sz="2400" dirty="0" err="1">
                <a:solidFill>
                  <a:srgbClr val="8DB4E2"/>
                </a:solidFill>
                <a:latin typeface="Consolas" panose="020B0609020204030204" pitchFamily="49" charset="0"/>
                <a:ea typeface="Courier New"/>
                <a:cs typeface="Consolas" panose="020B0609020204030204" pitchFamily="49" charset="0"/>
                <a:sym typeface="Courier New"/>
              </a:rPr>
              <a:t>order_count</a:t>
            </a:r>
            <a:r>
              <a:rPr lang="en-US" sz="2400" dirty="0">
                <a:solidFill>
                  <a:srgbClr val="8DB4E2"/>
                </a:solidFill>
                <a:latin typeface="Consolas" panose="020B0609020204030204" pitchFamily="49" charset="0"/>
                <a:ea typeface="Courier New"/>
                <a:cs typeface="Consolas" panose="020B0609020204030204" pitchFamily="49" charset="0"/>
                <a:sym typeface="Courier New"/>
              </a:rPr>
              <a:t>/</a:t>
            </a:r>
            <a:r>
              <a:rPr lang="en-US" sz="2400" dirty="0" err="1">
                <a:solidFill>
                  <a:srgbClr val="8DB4E2"/>
                </a:solidFill>
                <a:latin typeface="Consolas" panose="020B0609020204030204" pitchFamily="49" charset="0"/>
                <a:ea typeface="Courier New"/>
                <a:cs typeface="Consolas" panose="020B0609020204030204" pitchFamily="49" charset="0"/>
                <a:sym typeface="Courier New"/>
              </a:rPr>
              <a:t>day_count</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p:txBody>
      </p:sp>
      <p:graphicFrame>
        <p:nvGraphicFramePr>
          <p:cNvPr id="14" name="Table 13">
            <a:extLst>
              <a:ext uri="{FF2B5EF4-FFF2-40B4-BE49-F238E27FC236}">
                <a16:creationId xmlns:a16="http://schemas.microsoft.com/office/drawing/2014/main" id="{6C7B2B3D-CA1C-D847-87EF-F11145D34C0E}"/>
              </a:ext>
            </a:extLst>
          </p:cNvPr>
          <p:cNvGraphicFramePr>
            <a:graphicFrameLocks noGrp="1"/>
          </p:cNvGraphicFramePr>
          <p:nvPr/>
        </p:nvGraphicFramePr>
        <p:xfrm>
          <a:off x="846308" y="4353906"/>
          <a:ext cx="3736808" cy="2287415"/>
        </p:xfrm>
        <a:graphic>
          <a:graphicData uri="http://schemas.openxmlformats.org/drawingml/2006/table">
            <a:tbl>
              <a:tblPr firstRow="1" bandRow="1"/>
              <a:tblGrid>
                <a:gridCol w="1505607">
                  <a:extLst>
                    <a:ext uri="{9D8B030D-6E8A-4147-A177-3AD203B41FA5}">
                      <a16:colId xmlns:a16="http://schemas.microsoft.com/office/drawing/2014/main" val="20000"/>
                    </a:ext>
                  </a:extLst>
                </a:gridCol>
                <a:gridCol w="2231201">
                  <a:extLst>
                    <a:ext uri="{9D8B030D-6E8A-4147-A177-3AD203B41FA5}">
                      <a16:colId xmlns:a16="http://schemas.microsoft.com/office/drawing/2014/main" val="20001"/>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err="1">
                          <a:solidFill>
                            <a:schemeClr val="lt1"/>
                          </a:solidFill>
                        </a:rPr>
                        <a:t>pan_day</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7</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7</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8</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graphicFrame>
        <p:nvGraphicFramePr>
          <p:cNvPr id="13" name="Table 12">
            <a:extLst>
              <a:ext uri="{FF2B5EF4-FFF2-40B4-BE49-F238E27FC236}">
                <a16:creationId xmlns:a16="http://schemas.microsoft.com/office/drawing/2014/main" id="{33411B5F-F0C5-DF45-89A2-E2247BA79176}"/>
              </a:ext>
            </a:extLst>
          </p:cNvPr>
          <p:cNvGraphicFramePr>
            <a:graphicFrameLocks noGrp="1"/>
          </p:cNvGraphicFramePr>
          <p:nvPr/>
        </p:nvGraphicFramePr>
        <p:xfrm>
          <a:off x="9597201" y="4539184"/>
          <a:ext cx="2237446" cy="863647"/>
        </p:xfrm>
        <a:graphic>
          <a:graphicData uri="http://schemas.openxmlformats.org/drawingml/2006/table">
            <a:tbl>
              <a:tblPr firstRow="1" bandRow="1"/>
              <a:tblGrid>
                <a:gridCol w="2237446">
                  <a:extLst>
                    <a:ext uri="{9D8B030D-6E8A-4147-A177-3AD203B41FA5}">
                      <a16:colId xmlns:a16="http://schemas.microsoft.com/office/drawing/2014/main" val="20000"/>
                    </a:ext>
                  </a:extLst>
                </a:gridCol>
              </a:tblGrid>
              <a:tr h="461323">
                <a:tc>
                  <a:txBody>
                    <a:bodyPr/>
                    <a:lstStyle/>
                    <a:p>
                      <a:pPr marL="0" lvl="0" indent="0" algn="ctr" rtl="0">
                        <a:spcBef>
                          <a:spcPts val="0"/>
                        </a:spcBef>
                        <a:spcAft>
                          <a:spcPts val="0"/>
                        </a:spcAft>
                        <a:buNone/>
                      </a:pPr>
                      <a:r>
                        <a:rPr lang="en-US" sz="2300" b="1" dirty="0" err="1">
                          <a:solidFill>
                            <a:schemeClr val="lt1"/>
                          </a:solidFill>
                        </a:rPr>
                        <a:t>orders_per_day</a:t>
                      </a:r>
                      <a:endParaRPr sz="2300" b="1" dirty="0">
                        <a:solidFill>
                          <a:schemeClr val="lt1"/>
                        </a:solidFil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402324">
                <a:tc>
                  <a:txBody>
                    <a:bodyPr/>
                    <a:lstStyle/>
                    <a:p>
                      <a:pPr marL="0" lvl="0" indent="0" algn="ctr" rtl="0">
                        <a:spcBef>
                          <a:spcPts val="0"/>
                        </a:spcBef>
                        <a:spcAft>
                          <a:spcPts val="0"/>
                        </a:spcAft>
                        <a:buNone/>
                      </a:pPr>
                      <a:r>
                        <a:rPr lang="en-US" sz="1900" b="0" i="0" u="none" strike="noStrike" cap="none" dirty="0">
                          <a:solidFill>
                            <a:srgbClr val="000000"/>
                          </a:solidFill>
                          <a:latin typeface="Arial"/>
                          <a:ea typeface="Arial"/>
                          <a:cs typeface="Arial"/>
                          <a:sym typeface="Arial"/>
                        </a:rPr>
                        <a:t>152</a:t>
                      </a:r>
                      <a:endParaRPr sz="1900" b="0" i="0" u="none" strike="noStrike" cap="none" dirty="0">
                        <a:solidFill>
                          <a:srgbClr val="000000"/>
                        </a:solidFill>
                        <a:latin typeface="Arial"/>
                        <a:ea typeface="Arial"/>
                        <a:cs typeface="Arial"/>
                        <a:sym typeface="Aria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0761238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890984" y="758471"/>
            <a:ext cx="2468688" cy="923330"/>
          </a:xfrm>
          <a:prstGeom prst="rect">
            <a:avLst/>
          </a:prstGeom>
          <a:noFill/>
        </p:spPr>
        <p:txBody>
          <a:bodyPr wrap="none" rtlCol="0">
            <a:spAutoFit/>
          </a:bodyPr>
          <a:lstStyle/>
          <a:p>
            <a:pPr algn="ctr"/>
            <a:r>
              <a:rPr lang="en-US" sz="5400" dirty="0" err="1">
                <a:latin typeface="+mj-lt"/>
                <a:sym typeface="Calibri"/>
              </a:rPr>
              <a:t>group_by</a:t>
            </a:r>
            <a:r>
              <a:rPr lang="en-US" sz="5400" dirty="0">
                <a:latin typeface="+mj-lt"/>
                <a:sym typeface="Calibri"/>
              </a:rPr>
              <a:t>()</a:t>
            </a:r>
            <a:endParaRPr lang="en-US" sz="5400" dirty="0">
              <a:latin typeface="+mj-lt"/>
            </a:endParaRPr>
          </a:p>
        </p:txBody>
      </p:sp>
      <p:sp>
        <p:nvSpPr>
          <p:cNvPr id="8" name="TextBox 7"/>
          <p:cNvSpPr txBox="1"/>
          <p:nvPr/>
        </p:nvSpPr>
        <p:spPr>
          <a:xfrm>
            <a:off x="5281663" y="758471"/>
            <a:ext cx="2875531" cy="923330"/>
          </a:xfrm>
          <a:prstGeom prst="rect">
            <a:avLst/>
          </a:prstGeom>
          <a:noFill/>
        </p:spPr>
        <p:txBody>
          <a:bodyPr wrap="none" rtlCol="0">
            <a:spAutoFit/>
          </a:bodyPr>
          <a:lstStyle/>
          <a:p>
            <a:pPr algn="ctr"/>
            <a:r>
              <a:rPr lang="en-US" sz="5400" dirty="0">
                <a:latin typeface="+mj-lt"/>
                <a:sym typeface="Calibri"/>
              </a:rPr>
              <a:t>summarize</a:t>
            </a:r>
            <a:r>
              <a:rPr lang="en-US" sz="5400" dirty="0">
                <a:latin typeface="Calibri"/>
                <a:sym typeface="Calibri"/>
              </a:rPr>
              <a:t>()</a:t>
            </a:r>
            <a:endParaRPr lang="en-US" dirty="0"/>
          </a:p>
        </p:txBody>
      </p:sp>
      <p:sp>
        <p:nvSpPr>
          <p:cNvPr id="9" name="TextBox 8"/>
          <p:cNvSpPr txBox="1"/>
          <p:nvPr/>
        </p:nvSpPr>
        <p:spPr>
          <a:xfrm>
            <a:off x="3521410" y="831373"/>
            <a:ext cx="1598515" cy="923330"/>
          </a:xfrm>
          <a:prstGeom prst="rect">
            <a:avLst/>
          </a:prstGeom>
          <a:noFill/>
        </p:spPr>
        <p:txBody>
          <a:bodyPr wrap="none" rtlCol="0">
            <a:spAutoFit/>
          </a:bodyPr>
          <a:lstStyle/>
          <a:p>
            <a:r>
              <a:rPr lang="en-US" sz="5400" dirty="0">
                <a:latin typeface="+mj-lt"/>
                <a:sym typeface="Calibri"/>
              </a:rPr>
              <a:t>%&gt;%</a:t>
            </a:r>
            <a:endParaRPr lang="en-US" sz="5400" dirty="0">
              <a:latin typeface="+mj-lt"/>
            </a:endParaRPr>
          </a:p>
        </p:txBody>
      </p:sp>
      <p:graphicFrame>
        <p:nvGraphicFramePr>
          <p:cNvPr id="3" name="Google Shape;154;p18"/>
          <p:cNvGraphicFramePr/>
          <p:nvPr/>
        </p:nvGraphicFramePr>
        <p:xfrm>
          <a:off x="1606351" y="2967054"/>
          <a:ext cx="2401947" cy="2690254"/>
        </p:xfrm>
        <a:graphic>
          <a:graphicData uri="http://schemas.openxmlformats.org/drawingml/2006/table">
            <a:tbl>
              <a:tblPr firstRow="1" bandRow="1">
                <a:noFill/>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sp>
        <p:nvSpPr>
          <p:cNvPr id="4" name="Right Arrow 3"/>
          <p:cNvSpPr/>
          <p:nvPr/>
        </p:nvSpPr>
        <p:spPr>
          <a:xfrm>
            <a:off x="4268089" y="3960514"/>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8077727" y="4303413"/>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p:cNvGrpSpPr/>
          <p:nvPr/>
        </p:nvGrpSpPr>
        <p:grpSpPr>
          <a:xfrm>
            <a:off x="5350840" y="2931327"/>
            <a:ext cx="2476438" cy="2690254"/>
            <a:chOff x="4377469" y="1940727"/>
            <a:chExt cx="2476438" cy="2690254"/>
          </a:xfrm>
        </p:grpSpPr>
        <p:graphicFrame>
          <p:nvGraphicFramePr>
            <p:cNvPr id="5" name="Google Shape;154;p18"/>
            <p:cNvGraphicFramePr/>
            <p:nvPr/>
          </p:nvGraphicFramePr>
          <p:xfrm>
            <a:off x="4451960" y="1940727"/>
            <a:ext cx="2401947" cy="2690254"/>
          </p:xfrm>
          <a:graphic>
            <a:graphicData uri="http://schemas.openxmlformats.org/drawingml/2006/table">
              <a:tbl>
                <a:tblPr firstRow="1" bandRow="1">
                  <a:noFill/>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sp>
          <p:nvSpPr>
            <p:cNvPr id="11" name="Rounded Rectangle 10"/>
            <p:cNvSpPr/>
            <p:nvPr/>
          </p:nvSpPr>
          <p:spPr>
            <a:xfrm>
              <a:off x="4377470" y="2241176"/>
              <a:ext cx="2476437" cy="896471"/>
            </a:xfrm>
            <a:prstGeom prst="roundRect">
              <a:avLst/>
            </a:pr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ounded Rectangle 11"/>
            <p:cNvSpPr/>
            <p:nvPr/>
          </p:nvSpPr>
          <p:spPr>
            <a:xfrm>
              <a:off x="4377470" y="3122313"/>
              <a:ext cx="2476437" cy="685800"/>
            </a:xfrm>
            <a:prstGeom prst="roundRect">
              <a:avLst/>
            </a:pr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ounded Rectangle 12"/>
            <p:cNvSpPr/>
            <p:nvPr/>
          </p:nvSpPr>
          <p:spPr>
            <a:xfrm>
              <a:off x="4377469" y="3808113"/>
              <a:ext cx="2476437" cy="754334"/>
            </a:xfrm>
            <a:prstGeom prst="roundRect">
              <a:avLst/>
            </a:pr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aphicFrame>
        <p:nvGraphicFramePr>
          <p:cNvPr id="14" name="Google Shape;154;p18"/>
          <p:cNvGraphicFramePr/>
          <p:nvPr/>
        </p:nvGraphicFramePr>
        <p:xfrm>
          <a:off x="9169819" y="3482785"/>
          <a:ext cx="1409875" cy="1537288"/>
        </p:xfrm>
        <a:graphic>
          <a:graphicData uri="http://schemas.openxmlformats.org/drawingml/2006/table">
            <a:tbl>
              <a:tblPr firstRow="1" bandRow="1">
                <a:noFill/>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accent6"/>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accent6">
                        <a:lumMod val="60000"/>
                        <a:lumOff val="40000"/>
                      </a:schemeClr>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accent6">
                        <a:lumMod val="60000"/>
                        <a:lumOff val="40000"/>
                      </a:schemeClr>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accent6">
                        <a:lumMod val="60000"/>
                        <a:lumOff val="40000"/>
                      </a:schemeClr>
                    </a:solidFill>
                  </a:tcPr>
                </a:tc>
                <a:extLst>
                  <a:ext uri="{0D108BD9-81ED-4DB2-BD59-A6C34878D82A}">
                    <a16:rowId xmlns:a16="http://schemas.microsoft.com/office/drawing/2014/main" val="10006"/>
                  </a:ext>
                </a:extLst>
              </a:tr>
            </a:tbl>
          </a:graphicData>
        </a:graphic>
      </p:graphicFrame>
      <p:sp>
        <p:nvSpPr>
          <p:cNvPr id="16"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7" name="Google Shape;296;p32"/>
          <p:cNvSpPr txBox="1"/>
          <p:nvPr/>
        </p:nvSpPr>
        <p:spPr>
          <a:xfrm>
            <a:off x="1510050" y="2115906"/>
            <a:ext cx="7411101" cy="890808"/>
          </a:xfrm>
          <a:prstGeom prst="rect">
            <a:avLst/>
          </a:prstGeom>
          <a:noFill/>
          <a:ln>
            <a:noFill/>
          </a:ln>
        </p:spPr>
        <p:txBody>
          <a:bodyPr spcFirstLastPara="1" wrap="square" lIns="0" tIns="6455" rIns="0" bIns="0" anchor="t" anchorCtr="0">
            <a:noAutofit/>
          </a:bodyPr>
          <a:lstStyle/>
          <a:p>
            <a:pPr marL="6803"/>
            <a:r>
              <a:rPr lang="en-US" sz="3600" dirty="0">
                <a:latin typeface="Calibri"/>
                <a:ea typeface="Calibri"/>
                <a:cs typeface="Calibri"/>
                <a:sym typeface="Calibri"/>
              </a:rPr>
              <a:t>Make summaries of your data </a:t>
            </a:r>
            <a:r>
              <a:rPr lang="en-US" sz="3600" i="1" dirty="0">
                <a:latin typeface="Calibri"/>
                <a:ea typeface="Calibri"/>
                <a:cs typeface="Calibri"/>
                <a:sym typeface="Calibri"/>
              </a:rPr>
              <a:t>by group</a:t>
            </a:r>
            <a:endParaRPr sz="3600" i="1" dirty="0">
              <a:latin typeface="Calibri"/>
              <a:ea typeface="Calibri"/>
              <a:cs typeface="Calibri"/>
              <a:sym typeface="Calibri"/>
            </a:endParaRPr>
          </a:p>
        </p:txBody>
      </p:sp>
      <p:sp>
        <p:nvSpPr>
          <p:cNvPr id="18" name="Right Arrow 17"/>
          <p:cNvSpPr/>
          <p:nvPr/>
        </p:nvSpPr>
        <p:spPr>
          <a:xfrm rot="611046">
            <a:off x="8077727" y="3682611"/>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rot="20988954" flipV="1">
            <a:off x="8077727" y="4892854"/>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22605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1072055" y="2280929"/>
            <a:ext cx="10762593" cy="1821891"/>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dirty="0"/>
          </a:p>
        </p:txBody>
      </p:sp>
      <p:sp>
        <p:nvSpPr>
          <p:cNvPr id="296" name="Google Shape;296;p32"/>
          <p:cNvSpPr txBox="1"/>
          <p:nvPr/>
        </p:nvSpPr>
        <p:spPr>
          <a:xfrm>
            <a:off x="1072055" y="1747595"/>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Make summaries of your data</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13" name="Table 12"/>
          <p:cNvGraphicFramePr>
            <a:graphicFrameLocks noGrp="1"/>
          </p:cNvGraphicFramePr>
          <p:nvPr/>
        </p:nvGraphicFramePr>
        <p:xfrm>
          <a:off x="1900244" y="4358675"/>
          <a:ext cx="3736808" cy="2287415"/>
        </p:xfrm>
        <a:graphic>
          <a:graphicData uri="http://schemas.openxmlformats.org/drawingml/2006/table">
            <a:tbl>
              <a:tblPr firstRow="1" bandRow="1"/>
              <a:tblGrid>
                <a:gridCol w="1505607">
                  <a:extLst>
                    <a:ext uri="{9D8B030D-6E8A-4147-A177-3AD203B41FA5}">
                      <a16:colId xmlns:a16="http://schemas.microsoft.com/office/drawing/2014/main" val="20000"/>
                    </a:ext>
                  </a:extLst>
                </a:gridCol>
                <a:gridCol w="2231201">
                  <a:extLst>
                    <a:ext uri="{9D8B030D-6E8A-4147-A177-3AD203B41FA5}">
                      <a16:colId xmlns:a16="http://schemas.microsoft.com/office/drawing/2014/main" val="20001"/>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err="1">
                          <a:solidFill>
                            <a:schemeClr val="lt1"/>
                          </a:solidFill>
                        </a:rPr>
                        <a:t>pan_day</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7</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7</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8</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18" name="Google Shape;387;p40"/>
          <p:cNvSpPr/>
          <p:nvPr/>
        </p:nvSpPr>
        <p:spPr>
          <a:xfrm>
            <a:off x="5929312" y="4688886"/>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6" name="TextBox 25"/>
          <p:cNvSpPr txBox="1"/>
          <p:nvPr/>
        </p:nvSpPr>
        <p:spPr>
          <a:xfrm>
            <a:off x="815160" y="763285"/>
            <a:ext cx="6825971" cy="923330"/>
          </a:xfrm>
          <a:prstGeom prst="rect">
            <a:avLst/>
          </a:prstGeom>
          <a:noFill/>
        </p:spPr>
        <p:txBody>
          <a:bodyPr wrap="none" rtlCol="0">
            <a:spAutoFit/>
          </a:bodyPr>
          <a:lstStyle/>
          <a:p>
            <a:r>
              <a:rPr lang="en-US" sz="5400" dirty="0" err="1">
                <a:latin typeface="+mj-lt"/>
                <a:sym typeface="Calibri"/>
              </a:rPr>
              <a:t>group_by</a:t>
            </a:r>
            <a:r>
              <a:rPr lang="en-US" sz="5400" dirty="0">
                <a:latin typeface="+mj-lt"/>
                <a:sym typeface="Calibri"/>
              </a:rPr>
              <a:t>() %&gt;% summarize</a:t>
            </a:r>
            <a:r>
              <a:rPr lang="en-US" sz="5400" dirty="0">
                <a:latin typeface="Calibri"/>
                <a:sym typeface="Calibri"/>
              </a:rPr>
              <a:t>()</a:t>
            </a:r>
            <a:endParaRPr lang="en-US" dirty="0"/>
          </a:p>
        </p:txBody>
      </p:sp>
      <p:graphicFrame>
        <p:nvGraphicFramePr>
          <p:cNvPr id="27" name="Table 26"/>
          <p:cNvGraphicFramePr>
            <a:graphicFrameLocks noGrp="1"/>
          </p:cNvGraphicFramePr>
          <p:nvPr/>
        </p:nvGraphicFramePr>
        <p:xfrm>
          <a:off x="6655443" y="4358675"/>
          <a:ext cx="2051392" cy="861864"/>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order_count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1800" b="0" i="0" kern="1200" dirty="0">
                          <a:solidFill>
                            <a:schemeClr val="tx1"/>
                          </a:solidFill>
                          <a:effectLst/>
                          <a:latin typeface="+mn-lt"/>
                          <a:ea typeface="+mn-ea"/>
                          <a:cs typeface="+mn-cs"/>
                        </a:rPr>
                        <a:t>15524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
        <p:nvSpPr>
          <p:cNvPr id="14" name="Rectangle 13"/>
          <p:cNvSpPr/>
          <p:nvPr/>
        </p:nvSpPr>
        <p:spPr>
          <a:xfrm>
            <a:off x="1760075" y="2410049"/>
            <a:ext cx="9392596" cy="1323439"/>
          </a:xfrm>
          <a:prstGeom prst="rect">
            <a:avLst/>
          </a:prstGeom>
        </p:spPr>
        <p:txBody>
          <a:bodyPr wrap="square">
            <a:spAutoFit/>
          </a:bodyPr>
          <a:lstStyle/>
          <a:p>
            <a:r>
              <a:rPr lang="en-US" sz="2400" dirty="0" err="1">
                <a:latin typeface="Consolas" panose="020B0609020204030204" pitchFamily="49" charset="0"/>
                <a:ea typeface="Courier New"/>
                <a:cs typeface="Consolas" panose="020B0609020204030204" pitchFamily="49" charset="0"/>
                <a:sym typeface="Courier New"/>
              </a:rPr>
              <a:t>covid_testing</a:t>
            </a:r>
            <a:r>
              <a:rPr lang="en-US" sz="2400" dirty="0">
                <a:latin typeface="Consolas" panose="020B0609020204030204" pitchFamily="49" charset="0"/>
                <a:ea typeface="Courier New"/>
                <a:cs typeface="Consolas" panose="020B0609020204030204" pitchFamily="49" charset="0"/>
                <a:sym typeface="Courier New"/>
              </a:rPr>
              <a:t> %&gt;%</a:t>
            </a:r>
          </a:p>
          <a:p>
            <a:r>
              <a:rPr lang="en-US" sz="2400" dirty="0">
                <a:solidFill>
                  <a:srgbClr val="FF0000"/>
                </a:solidFill>
                <a:latin typeface="Consolas" panose="020B0609020204030204" pitchFamily="49" charset="0"/>
                <a:ea typeface="Courier New"/>
                <a:cs typeface="Consolas" panose="020B0609020204030204" pitchFamily="49" charset="0"/>
                <a:sym typeface="Courier New"/>
              </a:rPr>
              <a:t>	</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summarize(</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order_count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 </a:t>
            </a:r>
            <a:r>
              <a:rPr lang="en-US" sz="2400" dirty="0">
                <a:solidFill>
                  <a:srgbClr val="8DB4E2"/>
                </a:solidFill>
                <a:latin typeface="Consolas" panose="020B0609020204030204" pitchFamily="49" charset="0"/>
                <a:ea typeface="Courier New"/>
                <a:cs typeface="Consolas" panose="020B0609020204030204" pitchFamily="49" charset="0"/>
                <a:sym typeface="Courier New"/>
              </a:rPr>
              <a:t>n()</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p:txBody>
      </p:sp>
    </p:spTree>
    <p:extLst>
      <p:ext uri="{BB962C8B-B14F-4D97-AF65-F5344CB8AC3E}">
        <p14:creationId xmlns:p14="http://schemas.microsoft.com/office/powerpoint/2010/main" val="288509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1072055" y="2280929"/>
            <a:ext cx="10762593" cy="1821891"/>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dirty="0"/>
          </a:p>
        </p:txBody>
      </p:sp>
      <p:sp>
        <p:nvSpPr>
          <p:cNvPr id="296" name="Google Shape;296;p32"/>
          <p:cNvSpPr txBox="1"/>
          <p:nvPr/>
        </p:nvSpPr>
        <p:spPr>
          <a:xfrm>
            <a:off x="1072055" y="1747595"/>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Make summaries of your data</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13" name="Table 12"/>
          <p:cNvGraphicFramePr>
            <a:graphicFrameLocks noGrp="1"/>
          </p:cNvGraphicFramePr>
          <p:nvPr/>
        </p:nvGraphicFramePr>
        <p:xfrm>
          <a:off x="1900244" y="4358675"/>
          <a:ext cx="3736808" cy="2287415"/>
        </p:xfrm>
        <a:graphic>
          <a:graphicData uri="http://schemas.openxmlformats.org/drawingml/2006/table">
            <a:tbl>
              <a:tblPr firstRow="1" bandRow="1"/>
              <a:tblGrid>
                <a:gridCol w="1505607">
                  <a:extLst>
                    <a:ext uri="{9D8B030D-6E8A-4147-A177-3AD203B41FA5}">
                      <a16:colId xmlns:a16="http://schemas.microsoft.com/office/drawing/2014/main" val="20000"/>
                    </a:ext>
                  </a:extLst>
                </a:gridCol>
                <a:gridCol w="2231201">
                  <a:extLst>
                    <a:ext uri="{9D8B030D-6E8A-4147-A177-3AD203B41FA5}">
                      <a16:colId xmlns:a16="http://schemas.microsoft.com/office/drawing/2014/main" val="20001"/>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err="1">
                          <a:solidFill>
                            <a:schemeClr val="lt1"/>
                          </a:solidFill>
                        </a:rPr>
                        <a:t>pan_day</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7</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7</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8</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18" name="Google Shape;387;p40"/>
          <p:cNvSpPr/>
          <p:nvPr/>
        </p:nvSpPr>
        <p:spPr>
          <a:xfrm>
            <a:off x="5929312" y="4688886"/>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6" name="TextBox 25"/>
          <p:cNvSpPr txBox="1"/>
          <p:nvPr/>
        </p:nvSpPr>
        <p:spPr>
          <a:xfrm>
            <a:off x="815160" y="763285"/>
            <a:ext cx="6825971" cy="923330"/>
          </a:xfrm>
          <a:prstGeom prst="rect">
            <a:avLst/>
          </a:prstGeom>
          <a:noFill/>
        </p:spPr>
        <p:txBody>
          <a:bodyPr wrap="none" rtlCol="0">
            <a:spAutoFit/>
          </a:bodyPr>
          <a:lstStyle/>
          <a:p>
            <a:r>
              <a:rPr lang="en-US" sz="5400" dirty="0" err="1">
                <a:latin typeface="+mj-lt"/>
                <a:sym typeface="Calibri"/>
              </a:rPr>
              <a:t>group_by</a:t>
            </a:r>
            <a:r>
              <a:rPr lang="en-US" sz="5400" dirty="0">
                <a:latin typeface="+mj-lt"/>
                <a:sym typeface="Calibri"/>
              </a:rPr>
              <a:t>() %&gt;% summarize</a:t>
            </a:r>
            <a:r>
              <a:rPr lang="en-US" sz="5400" dirty="0">
                <a:latin typeface="Calibri"/>
                <a:sym typeface="Calibri"/>
              </a:rPr>
              <a:t>()</a:t>
            </a:r>
            <a:endParaRPr lang="en-US" dirty="0"/>
          </a:p>
        </p:txBody>
      </p:sp>
      <p:graphicFrame>
        <p:nvGraphicFramePr>
          <p:cNvPr id="27" name="Table 26"/>
          <p:cNvGraphicFramePr>
            <a:graphicFrameLocks noGrp="1"/>
          </p:cNvGraphicFramePr>
          <p:nvPr/>
        </p:nvGraphicFramePr>
        <p:xfrm>
          <a:off x="8606339" y="4310789"/>
          <a:ext cx="2051392" cy="2139420"/>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order_count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2</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778434246"/>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3</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3860153828"/>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9</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25789013"/>
                  </a:ext>
                </a:extLst>
              </a:tr>
            </a:tbl>
          </a:graphicData>
        </a:graphic>
      </p:graphicFrame>
      <p:sp>
        <p:nvSpPr>
          <p:cNvPr id="14" name="Rectangle 13"/>
          <p:cNvSpPr/>
          <p:nvPr/>
        </p:nvSpPr>
        <p:spPr>
          <a:xfrm>
            <a:off x="1760075" y="2410049"/>
            <a:ext cx="9392596" cy="1323439"/>
          </a:xfrm>
          <a:prstGeom prst="rect">
            <a:avLst/>
          </a:prstGeom>
        </p:spPr>
        <p:txBody>
          <a:bodyPr wrap="square">
            <a:spAutoFit/>
          </a:bodyPr>
          <a:lstStyle/>
          <a:p>
            <a:r>
              <a:rPr lang="en-US" sz="2400" dirty="0" err="1">
                <a:latin typeface="Consolas" panose="020B0609020204030204" pitchFamily="49" charset="0"/>
                <a:ea typeface="Courier New"/>
                <a:cs typeface="Consolas" panose="020B0609020204030204" pitchFamily="49" charset="0"/>
                <a:sym typeface="Courier New"/>
              </a:rPr>
              <a:t>covid_testing</a:t>
            </a:r>
            <a:r>
              <a:rPr lang="en-US" sz="2400" dirty="0">
                <a:latin typeface="Consolas" panose="020B0609020204030204" pitchFamily="49" charset="0"/>
                <a:ea typeface="Courier New"/>
                <a:cs typeface="Consolas" panose="020B0609020204030204" pitchFamily="49" charset="0"/>
                <a:sym typeface="Courier New"/>
              </a:rPr>
              <a:t> %&gt;%</a:t>
            </a:r>
          </a:p>
          <a:p>
            <a:r>
              <a:rPr lang="en-US" sz="2400" dirty="0">
                <a:solidFill>
                  <a:srgbClr val="FF0000"/>
                </a:solidFill>
                <a:latin typeface="Consolas" panose="020B0609020204030204" pitchFamily="49" charset="0"/>
                <a:ea typeface="Courier New"/>
                <a:cs typeface="Consolas" panose="020B0609020204030204" pitchFamily="49" charset="0"/>
                <a:sym typeface="Courier New"/>
              </a:rPr>
              <a:t>	</a:t>
            </a:r>
            <a:r>
              <a:rPr lang="en-US" sz="2400" dirty="0" err="1">
                <a:solidFill>
                  <a:srgbClr val="FF0000"/>
                </a:solidFill>
                <a:latin typeface="Consolas" panose="020B0609020204030204" pitchFamily="49" charset="0"/>
                <a:ea typeface="Courier New"/>
                <a:cs typeface="Consolas" panose="020B0609020204030204" pitchFamily="49" charset="0"/>
                <a:sym typeface="Courier New"/>
              </a:rPr>
              <a:t>group_by</a:t>
            </a:r>
            <a:r>
              <a:rPr lang="en-US" sz="2400" dirty="0">
                <a:solidFill>
                  <a:srgbClr val="FF0000"/>
                </a:solidFill>
                <a:latin typeface="Consolas" panose="020B0609020204030204" pitchFamily="49" charset="0"/>
                <a:ea typeface="Courier New"/>
                <a:cs typeface="Consolas" panose="020B0609020204030204" pitchFamily="49" charset="0"/>
                <a:sym typeface="Courier New"/>
              </a:rPr>
              <a:t>(</a:t>
            </a:r>
            <a:r>
              <a:rPr lang="en-US" sz="2400" dirty="0" err="1">
                <a:solidFill>
                  <a:srgbClr val="FF0000"/>
                </a:solidFill>
                <a:latin typeface="Consolas" panose="020B0609020204030204" pitchFamily="49" charset="0"/>
                <a:ea typeface="Courier New"/>
                <a:cs typeface="Consolas" panose="020B0609020204030204" pitchFamily="49" charset="0"/>
                <a:sym typeface="Courier New"/>
              </a:rPr>
              <a:t>pan_day</a:t>
            </a:r>
            <a:r>
              <a:rPr lang="en-US" sz="2400" dirty="0">
                <a:solidFill>
                  <a:srgbClr val="FF0000"/>
                </a:solidFill>
                <a:latin typeface="Consolas" panose="020B0609020204030204" pitchFamily="49" charset="0"/>
                <a:ea typeface="Courier New"/>
                <a:cs typeface="Consolas" panose="020B0609020204030204" pitchFamily="49" charset="0"/>
                <a:sym typeface="Courier New"/>
              </a:rPr>
              <a:t>) %&gt;%</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summarize(</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order_count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solidFill>
                  <a:schemeClr val="accent3"/>
                </a:solidFill>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 </a:t>
            </a:r>
            <a:r>
              <a:rPr lang="en-US" sz="2400" dirty="0">
                <a:solidFill>
                  <a:srgbClr val="8DB4E2"/>
                </a:solidFill>
                <a:latin typeface="Consolas" panose="020B0609020204030204" pitchFamily="49" charset="0"/>
                <a:ea typeface="Courier New"/>
                <a:cs typeface="Consolas" panose="020B0609020204030204" pitchFamily="49" charset="0"/>
                <a:sym typeface="Courier New"/>
              </a:rPr>
              <a:t>n()</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p:txBody>
      </p:sp>
      <p:graphicFrame>
        <p:nvGraphicFramePr>
          <p:cNvPr id="10" name="Table 9">
            <a:extLst>
              <a:ext uri="{FF2B5EF4-FFF2-40B4-BE49-F238E27FC236}">
                <a16:creationId xmlns:a16="http://schemas.microsoft.com/office/drawing/2014/main" id="{F3C7F4C9-73FF-1A4B-95FE-6EB57DA1E636}"/>
              </a:ext>
            </a:extLst>
          </p:cNvPr>
          <p:cNvGraphicFramePr>
            <a:graphicFrameLocks noGrp="1"/>
          </p:cNvGraphicFramePr>
          <p:nvPr/>
        </p:nvGraphicFramePr>
        <p:xfrm>
          <a:off x="6554947" y="4302888"/>
          <a:ext cx="2051392" cy="2139420"/>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pan_day</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alpha val="50196"/>
                      </a:srgb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7</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alpha val="50196"/>
                      </a:srgbClr>
                    </a:solidFill>
                  </a:tcPr>
                </a:tc>
                <a:extLst>
                  <a:ext uri="{0D108BD9-81ED-4DB2-BD59-A6C34878D82A}">
                    <a16:rowId xmlns:a16="http://schemas.microsoft.com/office/drawing/2014/main" val="1394885157"/>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8</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alpha val="50196"/>
                      </a:srgbClr>
                    </a:solidFill>
                  </a:tcPr>
                </a:tc>
                <a:extLst>
                  <a:ext uri="{0D108BD9-81ED-4DB2-BD59-A6C34878D82A}">
                    <a16:rowId xmlns:a16="http://schemas.microsoft.com/office/drawing/2014/main" val="3362528972"/>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9</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alpha val="50196"/>
                      </a:srgbClr>
                    </a:solidFill>
                  </a:tcPr>
                </a:tc>
                <a:extLst>
                  <a:ext uri="{0D108BD9-81ED-4DB2-BD59-A6C34878D82A}">
                    <a16:rowId xmlns:a16="http://schemas.microsoft.com/office/drawing/2014/main" val="3121703329"/>
                  </a:ext>
                </a:extLst>
              </a:tr>
            </a:tbl>
          </a:graphicData>
        </a:graphic>
      </p:graphicFrame>
    </p:spTree>
    <p:extLst>
      <p:ext uri="{BB962C8B-B14F-4D97-AF65-F5344CB8AC3E}">
        <p14:creationId xmlns:p14="http://schemas.microsoft.com/office/powerpoint/2010/main" val="882865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22C01-0632-6388-3AF9-9F55EAB4D1F3}"/>
              </a:ext>
            </a:extLst>
          </p:cNvPr>
          <p:cNvSpPr>
            <a:spLocks noGrp="1"/>
          </p:cNvSpPr>
          <p:nvPr>
            <p:ph type="title"/>
          </p:nvPr>
        </p:nvSpPr>
        <p:spPr/>
        <p:txBody>
          <a:bodyPr/>
          <a:lstStyle/>
          <a:p>
            <a:r>
              <a:rPr lang="en-US" dirty="0"/>
              <a:t>Your Turn #2</a:t>
            </a:r>
          </a:p>
        </p:txBody>
      </p:sp>
      <p:sp>
        <p:nvSpPr>
          <p:cNvPr id="3" name="Text Placeholder 2">
            <a:extLst>
              <a:ext uri="{FF2B5EF4-FFF2-40B4-BE49-F238E27FC236}">
                <a16:creationId xmlns:a16="http://schemas.microsoft.com/office/drawing/2014/main" id="{DE43FC3E-238A-3B1C-85E9-FE4CB635C6D2}"/>
              </a:ext>
            </a:extLst>
          </p:cNvPr>
          <p:cNvSpPr>
            <a:spLocks noGrp="1"/>
          </p:cNvSpPr>
          <p:nvPr>
            <p:ph type="body" sz="quarter" idx="13"/>
          </p:nvPr>
        </p:nvSpPr>
        <p:spPr>
          <a:xfrm>
            <a:off x="1024128" y="2238375"/>
            <a:ext cx="9720072" cy="3848916"/>
          </a:xfrm>
        </p:spPr>
        <p:txBody>
          <a:bodyPr>
            <a:normAutofit fontScale="92500" lnSpcReduction="10000"/>
          </a:bodyPr>
          <a:lstStyle/>
          <a:p>
            <a:pPr marL="0" indent="0">
              <a:buNone/>
            </a:pPr>
            <a:r>
              <a:rPr lang="en-US" dirty="0"/>
              <a:t>Within </a:t>
            </a:r>
            <a:r>
              <a:rPr lang="en-US" sz="4000" dirty="0">
                <a:solidFill>
                  <a:srgbClr val="0070C0"/>
                </a:solidFill>
                <a:latin typeface="Consolas" panose="020B0609020204030204" pitchFamily="49" charset="0"/>
                <a:ea typeface="Monaco" charset="0"/>
                <a:cs typeface="Consolas" panose="020B0609020204030204" pitchFamily="49" charset="0"/>
              </a:rPr>
              <a:t>03 – </a:t>
            </a:r>
            <a:r>
              <a:rPr lang="en-US" sz="4000" dirty="0" err="1">
                <a:solidFill>
                  <a:srgbClr val="0070C0"/>
                </a:solidFill>
                <a:latin typeface="Consolas" panose="020B0609020204030204" pitchFamily="49" charset="0"/>
                <a:ea typeface="Monaco" charset="0"/>
                <a:cs typeface="Consolas" panose="020B0609020204030204" pitchFamily="49" charset="0"/>
              </a:rPr>
              <a:t>Transform.qmd</a:t>
            </a:r>
            <a:r>
              <a:rPr lang="en-US" dirty="0"/>
              <a:t> work through the second exercise, starting from where you stopped after the last exercise.</a:t>
            </a:r>
          </a:p>
          <a:p>
            <a:pPr marL="0" indent="0">
              <a:buNone/>
            </a:pPr>
            <a:endParaRPr lang="en-US" dirty="0"/>
          </a:p>
          <a:p>
            <a:pPr marL="0" indent="0">
              <a:buNone/>
            </a:pPr>
            <a:r>
              <a:rPr lang="en-US" sz="4800" dirty="0"/>
              <a:t>Type “done!” in the chat when you are finished.</a:t>
            </a:r>
          </a:p>
        </p:txBody>
      </p:sp>
    </p:spTree>
    <p:extLst>
      <p:ext uri="{BB962C8B-B14F-4D97-AF65-F5344CB8AC3E}">
        <p14:creationId xmlns:p14="http://schemas.microsoft.com/office/powerpoint/2010/main" val="4609685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2864C1-603E-8842-AE96-D3526096E32C}"/>
              </a:ext>
            </a:extLst>
          </p:cNvPr>
          <p:cNvSpPr>
            <a:spLocks noGrp="1"/>
          </p:cNvSpPr>
          <p:nvPr>
            <p:ph idx="4294967295"/>
          </p:nvPr>
        </p:nvSpPr>
        <p:spPr>
          <a:xfrm>
            <a:off x="4187686" y="1932312"/>
            <a:ext cx="7618831" cy="1006074"/>
          </a:xfrm>
        </p:spPr>
        <p:txBody>
          <a:bodyPr>
            <a:normAutofit/>
          </a:bodyPr>
          <a:lstStyle/>
          <a:p>
            <a:pPr marL="0" indent="0">
              <a:buNone/>
            </a:pPr>
            <a:r>
              <a:rPr lang="en-US" sz="3200" dirty="0"/>
              <a:t>Extract columns with </a:t>
            </a:r>
            <a:r>
              <a:rPr lang="en-US" sz="2800" dirty="0">
                <a:latin typeface="Consolas" panose="020B0609020204030204" pitchFamily="49" charset="0"/>
              </a:rPr>
              <a:t>select()</a:t>
            </a:r>
            <a:endParaRPr lang="en-US" sz="3200" dirty="0">
              <a:latin typeface="Consolas" panose="020B0609020204030204" pitchFamily="49" charset="0"/>
            </a:endParaRPr>
          </a:p>
        </p:txBody>
      </p:sp>
      <p:sp>
        <p:nvSpPr>
          <p:cNvPr id="4" name="object 10">
            <a:extLst>
              <a:ext uri="{FF2B5EF4-FFF2-40B4-BE49-F238E27FC236}">
                <a16:creationId xmlns:a16="http://schemas.microsoft.com/office/drawing/2014/main" id="{76AF4A87-DBFF-1B44-A044-1B865727C039}"/>
              </a:ext>
            </a:extLst>
          </p:cNvPr>
          <p:cNvSpPr txBox="1"/>
          <p:nvPr/>
        </p:nvSpPr>
        <p:spPr>
          <a:xfrm>
            <a:off x="1765568" y="576094"/>
            <a:ext cx="9018175"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a:latin typeface="Tw Cen MT" panose="020B0602020104020603" pitchFamily="34" charset="77"/>
                <a:cs typeface="Helvetica Neue"/>
              </a:rPr>
              <a:t>Recap</a:t>
            </a:r>
            <a:endParaRPr sz="4400" dirty="0">
              <a:latin typeface="Tw Cen MT" panose="020B0602020104020603" pitchFamily="34" charset="77"/>
              <a:cs typeface="Helvetica Neue"/>
            </a:endParaRPr>
          </a:p>
        </p:txBody>
      </p:sp>
      <p:grpSp>
        <p:nvGrpSpPr>
          <p:cNvPr id="6" name="Group 5">
            <a:extLst>
              <a:ext uri="{FF2B5EF4-FFF2-40B4-BE49-F238E27FC236}">
                <a16:creationId xmlns:a16="http://schemas.microsoft.com/office/drawing/2014/main" id="{7BD6099D-93BA-4044-B5A2-A0D34FDA56FE}"/>
              </a:ext>
            </a:extLst>
          </p:cNvPr>
          <p:cNvGrpSpPr/>
          <p:nvPr/>
        </p:nvGrpSpPr>
        <p:grpSpPr>
          <a:xfrm>
            <a:off x="1454258" y="1932312"/>
            <a:ext cx="2247767" cy="995844"/>
            <a:chOff x="593887" y="1722035"/>
            <a:chExt cx="2247767" cy="995844"/>
          </a:xfrm>
        </p:grpSpPr>
        <p:graphicFrame>
          <p:nvGraphicFramePr>
            <p:cNvPr id="10" name="Google Shape;147;p18">
              <a:extLst>
                <a:ext uri="{FF2B5EF4-FFF2-40B4-BE49-F238E27FC236}">
                  <a16:creationId xmlns:a16="http://schemas.microsoft.com/office/drawing/2014/main" id="{1745E705-87DD-3546-A5E7-2D5DC3A2CBE9}"/>
                </a:ext>
              </a:extLst>
            </p:cNvPr>
            <p:cNvGraphicFramePr/>
            <p:nvPr>
              <p:extLst>
                <p:ext uri="{D42A27DB-BD31-4B8C-83A1-F6EECF244321}">
                  <p14:modId xmlns:p14="http://schemas.microsoft.com/office/powerpoint/2010/main" val="2434750802"/>
                </p:ext>
              </p:extLst>
            </p:nvPr>
          </p:nvGraphicFramePr>
          <p:xfrm>
            <a:off x="593887" y="1722035"/>
            <a:ext cx="1046024" cy="968156"/>
          </p:xfrm>
          <a:graphic>
            <a:graphicData uri="http://schemas.openxmlformats.org/drawingml/2006/table">
              <a:tbl>
                <a:tblPr firstRow="1" bandRow="1">
                  <a:noFill/>
                </a:tblPr>
                <a:tblGrid>
                  <a:gridCol w="209210">
                    <a:extLst>
                      <a:ext uri="{9D8B030D-6E8A-4147-A177-3AD203B41FA5}">
                        <a16:colId xmlns:a16="http://schemas.microsoft.com/office/drawing/2014/main" val="20000"/>
                      </a:ext>
                    </a:extLst>
                  </a:gridCol>
                  <a:gridCol w="197908">
                    <a:extLst>
                      <a:ext uri="{9D8B030D-6E8A-4147-A177-3AD203B41FA5}">
                        <a16:colId xmlns:a16="http://schemas.microsoft.com/office/drawing/2014/main" val="20001"/>
                      </a:ext>
                    </a:extLst>
                  </a:gridCol>
                  <a:gridCol w="286473">
                    <a:extLst>
                      <a:ext uri="{9D8B030D-6E8A-4147-A177-3AD203B41FA5}">
                        <a16:colId xmlns:a16="http://schemas.microsoft.com/office/drawing/2014/main" val="20002"/>
                      </a:ext>
                    </a:extLst>
                  </a:gridCol>
                  <a:gridCol w="352433">
                    <a:extLst>
                      <a:ext uri="{9D8B030D-6E8A-4147-A177-3AD203B41FA5}">
                        <a16:colId xmlns:a16="http://schemas.microsoft.com/office/drawing/2014/main" val="20003"/>
                      </a:ext>
                    </a:extLst>
                  </a:gridCol>
                </a:tblGrid>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11" name="Google Shape;148;p18">
              <a:extLst>
                <a:ext uri="{FF2B5EF4-FFF2-40B4-BE49-F238E27FC236}">
                  <a16:creationId xmlns:a16="http://schemas.microsoft.com/office/drawing/2014/main" id="{D40F168D-7E8B-2049-97B7-940B96812DC7}"/>
                </a:ext>
              </a:extLst>
            </p:cNvPr>
            <p:cNvGraphicFramePr/>
            <p:nvPr>
              <p:extLst>
                <p:ext uri="{D42A27DB-BD31-4B8C-83A1-F6EECF244321}">
                  <p14:modId xmlns:p14="http://schemas.microsoft.com/office/powerpoint/2010/main" val="754175661"/>
                </p:ext>
              </p:extLst>
            </p:nvPr>
          </p:nvGraphicFramePr>
          <p:xfrm>
            <a:off x="2238454" y="1749723"/>
            <a:ext cx="603200" cy="968156"/>
          </p:xfrm>
          <a:graphic>
            <a:graphicData uri="http://schemas.openxmlformats.org/drawingml/2006/table">
              <a:tbl>
                <a:tblPr firstRow="1" bandRow="1">
                  <a:noFill/>
                </a:tblPr>
                <a:tblGrid>
                  <a:gridCol w="296502">
                    <a:extLst>
                      <a:ext uri="{9D8B030D-6E8A-4147-A177-3AD203B41FA5}">
                        <a16:colId xmlns:a16="http://schemas.microsoft.com/office/drawing/2014/main" val="20000"/>
                      </a:ext>
                    </a:extLst>
                  </a:gridCol>
                  <a:gridCol w="306698">
                    <a:extLst>
                      <a:ext uri="{9D8B030D-6E8A-4147-A177-3AD203B41FA5}">
                        <a16:colId xmlns:a16="http://schemas.microsoft.com/office/drawing/2014/main" val="20001"/>
                      </a:ext>
                    </a:extLst>
                  </a:gridCol>
                </a:tblGrid>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extLst>
                    <a:ext uri="{0D108BD9-81ED-4DB2-BD59-A6C34878D82A}">
                      <a16:rowId xmlns:a16="http://schemas.microsoft.com/office/drawing/2014/main" val="10000"/>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1"/>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2"/>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3"/>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4"/>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5"/>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6"/>
                    </a:ext>
                  </a:extLst>
                </a:tr>
              </a:tbl>
            </a:graphicData>
          </a:graphic>
        </p:graphicFrame>
        <p:sp>
          <p:nvSpPr>
            <p:cNvPr id="12" name="Google Shape;152;p18">
              <a:extLst>
                <a:ext uri="{FF2B5EF4-FFF2-40B4-BE49-F238E27FC236}">
                  <a16:creationId xmlns:a16="http://schemas.microsoft.com/office/drawing/2014/main" id="{DEADF342-73B1-2040-AF14-4CDD98875EBB}"/>
                </a:ext>
              </a:extLst>
            </p:cNvPr>
            <p:cNvSpPr/>
            <p:nvPr/>
          </p:nvSpPr>
          <p:spPr>
            <a:xfrm>
              <a:off x="1775840" y="2100439"/>
              <a:ext cx="326685" cy="21134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pSp>
      <p:grpSp>
        <p:nvGrpSpPr>
          <p:cNvPr id="20" name="Group 19">
            <a:extLst>
              <a:ext uri="{FF2B5EF4-FFF2-40B4-BE49-F238E27FC236}">
                <a16:creationId xmlns:a16="http://schemas.microsoft.com/office/drawing/2014/main" id="{F7FD02C8-45FD-AC4C-9347-9497C6B4C4C8}"/>
              </a:ext>
            </a:extLst>
          </p:cNvPr>
          <p:cNvGrpSpPr/>
          <p:nvPr/>
        </p:nvGrpSpPr>
        <p:grpSpPr>
          <a:xfrm>
            <a:off x="1033366" y="3567394"/>
            <a:ext cx="2668660" cy="968156"/>
            <a:chOff x="593887" y="3068855"/>
            <a:chExt cx="2668660" cy="968156"/>
          </a:xfrm>
        </p:grpSpPr>
        <p:graphicFrame>
          <p:nvGraphicFramePr>
            <p:cNvPr id="13" name="Google Shape;154;p18">
              <a:extLst>
                <a:ext uri="{FF2B5EF4-FFF2-40B4-BE49-F238E27FC236}">
                  <a16:creationId xmlns:a16="http://schemas.microsoft.com/office/drawing/2014/main" id="{AAFA965D-DF2A-6C42-BC67-62B616730392}"/>
                </a:ext>
              </a:extLst>
            </p:cNvPr>
            <p:cNvGraphicFramePr/>
            <p:nvPr>
              <p:extLst>
                <p:ext uri="{D42A27DB-BD31-4B8C-83A1-F6EECF244321}">
                  <p14:modId xmlns:p14="http://schemas.microsoft.com/office/powerpoint/2010/main" val="1617864571"/>
                </p:ext>
              </p:extLst>
            </p:nvPr>
          </p:nvGraphicFramePr>
          <p:xfrm>
            <a:off x="593887" y="3068855"/>
            <a:ext cx="1046024" cy="968156"/>
          </p:xfrm>
          <a:graphic>
            <a:graphicData uri="http://schemas.openxmlformats.org/drawingml/2006/table">
              <a:tbl>
                <a:tblPr firstRow="1" bandRow="1">
                  <a:noFill/>
                </a:tblPr>
                <a:tblGrid>
                  <a:gridCol w="209210">
                    <a:extLst>
                      <a:ext uri="{9D8B030D-6E8A-4147-A177-3AD203B41FA5}">
                        <a16:colId xmlns:a16="http://schemas.microsoft.com/office/drawing/2014/main" val="20000"/>
                      </a:ext>
                    </a:extLst>
                  </a:gridCol>
                  <a:gridCol w="197908">
                    <a:extLst>
                      <a:ext uri="{9D8B030D-6E8A-4147-A177-3AD203B41FA5}">
                        <a16:colId xmlns:a16="http://schemas.microsoft.com/office/drawing/2014/main" val="20001"/>
                      </a:ext>
                    </a:extLst>
                  </a:gridCol>
                  <a:gridCol w="286473">
                    <a:extLst>
                      <a:ext uri="{9D8B030D-6E8A-4147-A177-3AD203B41FA5}">
                        <a16:colId xmlns:a16="http://schemas.microsoft.com/office/drawing/2014/main" val="20002"/>
                      </a:ext>
                    </a:extLst>
                  </a:gridCol>
                  <a:gridCol w="352433">
                    <a:extLst>
                      <a:ext uri="{9D8B030D-6E8A-4147-A177-3AD203B41FA5}">
                        <a16:colId xmlns:a16="http://schemas.microsoft.com/office/drawing/2014/main" val="20003"/>
                      </a:ext>
                    </a:extLst>
                  </a:gridCol>
                </a:tblGrid>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3"/>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5"/>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14" name="Google Shape;156;p18">
              <a:extLst>
                <a:ext uri="{FF2B5EF4-FFF2-40B4-BE49-F238E27FC236}">
                  <a16:creationId xmlns:a16="http://schemas.microsoft.com/office/drawing/2014/main" id="{CE221E51-9868-B04B-BB8E-1B5FE62169F6}"/>
                </a:ext>
              </a:extLst>
            </p:cNvPr>
            <p:cNvGraphicFramePr/>
            <p:nvPr>
              <p:extLst>
                <p:ext uri="{D42A27DB-BD31-4B8C-83A1-F6EECF244321}">
                  <p14:modId xmlns:p14="http://schemas.microsoft.com/office/powerpoint/2010/main" val="2614054367"/>
                </p:ext>
              </p:extLst>
            </p:nvPr>
          </p:nvGraphicFramePr>
          <p:xfrm>
            <a:off x="2216523" y="3068855"/>
            <a:ext cx="1046024" cy="402120"/>
          </p:xfrm>
          <a:graphic>
            <a:graphicData uri="http://schemas.openxmlformats.org/drawingml/2006/table">
              <a:tbl>
                <a:tblPr firstRow="1" bandRow="1">
                  <a:noFill/>
                </a:tblPr>
                <a:tblGrid>
                  <a:gridCol w="209210">
                    <a:extLst>
                      <a:ext uri="{9D8B030D-6E8A-4147-A177-3AD203B41FA5}">
                        <a16:colId xmlns:a16="http://schemas.microsoft.com/office/drawing/2014/main" val="20000"/>
                      </a:ext>
                    </a:extLst>
                  </a:gridCol>
                  <a:gridCol w="197908">
                    <a:extLst>
                      <a:ext uri="{9D8B030D-6E8A-4147-A177-3AD203B41FA5}">
                        <a16:colId xmlns:a16="http://schemas.microsoft.com/office/drawing/2014/main" val="20001"/>
                      </a:ext>
                    </a:extLst>
                  </a:gridCol>
                  <a:gridCol w="286473">
                    <a:extLst>
                      <a:ext uri="{9D8B030D-6E8A-4147-A177-3AD203B41FA5}">
                        <a16:colId xmlns:a16="http://schemas.microsoft.com/office/drawing/2014/main" val="20002"/>
                      </a:ext>
                    </a:extLst>
                  </a:gridCol>
                  <a:gridCol w="352433">
                    <a:extLst>
                      <a:ext uri="{9D8B030D-6E8A-4147-A177-3AD203B41FA5}">
                        <a16:colId xmlns:a16="http://schemas.microsoft.com/office/drawing/2014/main" val="20003"/>
                      </a:ext>
                    </a:extLst>
                  </a:gridCol>
                </a:tblGrid>
                <a:tr h="134040">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134040">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1"/>
                    </a:ext>
                  </a:extLst>
                </a:tr>
                <a:tr h="134040">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2"/>
                    </a:ext>
                  </a:extLst>
                </a:tr>
              </a:tbl>
            </a:graphicData>
          </a:graphic>
        </p:graphicFrame>
        <p:sp>
          <p:nvSpPr>
            <p:cNvPr id="15" name="Google Shape;152;p18">
              <a:extLst>
                <a:ext uri="{FF2B5EF4-FFF2-40B4-BE49-F238E27FC236}">
                  <a16:creationId xmlns:a16="http://schemas.microsoft.com/office/drawing/2014/main" id="{953A488E-38F8-AF4E-99A7-CD62C97E3E6B}"/>
                </a:ext>
              </a:extLst>
            </p:cNvPr>
            <p:cNvSpPr/>
            <p:nvPr/>
          </p:nvSpPr>
          <p:spPr>
            <a:xfrm>
              <a:off x="1764874" y="3164241"/>
              <a:ext cx="326685" cy="21134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pSp>
      <p:grpSp>
        <p:nvGrpSpPr>
          <p:cNvPr id="23" name="Group 22">
            <a:extLst>
              <a:ext uri="{FF2B5EF4-FFF2-40B4-BE49-F238E27FC236}">
                <a16:creationId xmlns:a16="http://schemas.microsoft.com/office/drawing/2014/main" id="{083CA39A-79FA-4C45-AC13-9FB81CC49D08}"/>
              </a:ext>
            </a:extLst>
          </p:cNvPr>
          <p:cNvGrpSpPr/>
          <p:nvPr/>
        </p:nvGrpSpPr>
        <p:grpSpPr>
          <a:xfrm>
            <a:off x="219421" y="4921031"/>
            <a:ext cx="3482605" cy="912032"/>
            <a:chOff x="281013" y="5097164"/>
            <a:chExt cx="3482605" cy="912032"/>
          </a:xfrm>
        </p:grpSpPr>
        <p:pic>
          <p:nvPicPr>
            <p:cNvPr id="17" name="Picture 16">
              <a:extLst>
                <a:ext uri="{FF2B5EF4-FFF2-40B4-BE49-F238E27FC236}">
                  <a16:creationId xmlns:a16="http://schemas.microsoft.com/office/drawing/2014/main" id="{425F0177-33B0-EA40-901A-AF59885B5D2C}"/>
                </a:ext>
              </a:extLst>
            </p:cNvPr>
            <p:cNvPicPr>
              <a:picLocks noChangeAspect="1"/>
            </p:cNvPicPr>
            <p:nvPr/>
          </p:nvPicPr>
          <p:blipFill rotWithShape="1">
            <a:blip r:embed="rId4"/>
            <a:srcRect r="59207"/>
            <a:stretch/>
          </p:blipFill>
          <p:spPr>
            <a:xfrm>
              <a:off x="281013" y="5097164"/>
              <a:ext cx="1358898" cy="908520"/>
            </a:xfrm>
            <a:prstGeom prst="rect">
              <a:avLst/>
            </a:prstGeom>
          </p:spPr>
        </p:pic>
        <p:pic>
          <p:nvPicPr>
            <p:cNvPr id="18" name="Picture 17">
              <a:extLst>
                <a:ext uri="{FF2B5EF4-FFF2-40B4-BE49-F238E27FC236}">
                  <a16:creationId xmlns:a16="http://schemas.microsoft.com/office/drawing/2014/main" id="{5B6A5F4B-BA39-354C-8EB8-6D7B2EAF4259}"/>
                </a:ext>
              </a:extLst>
            </p:cNvPr>
            <p:cNvPicPr>
              <a:picLocks noChangeAspect="1"/>
            </p:cNvPicPr>
            <p:nvPr/>
          </p:nvPicPr>
          <p:blipFill rotWithShape="1">
            <a:blip r:embed="rId4"/>
            <a:srcRect l="50000"/>
            <a:stretch/>
          </p:blipFill>
          <p:spPr>
            <a:xfrm>
              <a:off x="2091560" y="5097164"/>
              <a:ext cx="1672058" cy="912032"/>
            </a:xfrm>
            <a:prstGeom prst="rect">
              <a:avLst/>
            </a:prstGeom>
          </p:spPr>
        </p:pic>
        <p:sp>
          <p:nvSpPr>
            <p:cNvPr id="19" name="Google Shape;152;p18">
              <a:extLst>
                <a:ext uri="{FF2B5EF4-FFF2-40B4-BE49-F238E27FC236}">
                  <a16:creationId xmlns:a16="http://schemas.microsoft.com/office/drawing/2014/main" id="{462C7D19-9D66-724F-8A20-892B6F088D4D}"/>
                </a:ext>
              </a:extLst>
            </p:cNvPr>
            <p:cNvSpPr/>
            <p:nvPr/>
          </p:nvSpPr>
          <p:spPr>
            <a:xfrm>
              <a:off x="1720629" y="5505495"/>
              <a:ext cx="326685" cy="21134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pSp>
      <p:sp>
        <p:nvSpPr>
          <p:cNvPr id="21" name="Content Placeholder 2">
            <a:extLst>
              <a:ext uri="{FF2B5EF4-FFF2-40B4-BE49-F238E27FC236}">
                <a16:creationId xmlns:a16="http://schemas.microsoft.com/office/drawing/2014/main" id="{2DEAB4D9-C338-6245-9259-A388CDA39D7F}"/>
              </a:ext>
            </a:extLst>
          </p:cNvPr>
          <p:cNvSpPr txBox="1">
            <a:spLocks/>
          </p:cNvSpPr>
          <p:nvPr/>
        </p:nvSpPr>
        <p:spPr>
          <a:xfrm>
            <a:off x="4187686" y="3567394"/>
            <a:ext cx="7618831" cy="1006074"/>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Font typeface="Tw Cen MT" panose="020B0602020104020603" pitchFamily="34" charset="0"/>
              <a:buNone/>
            </a:pPr>
            <a:r>
              <a:rPr lang="en-US" sz="3200" dirty="0"/>
              <a:t>Filter rows by logical criteria with </a:t>
            </a:r>
            <a:r>
              <a:rPr lang="en-US" sz="2800" dirty="0">
                <a:latin typeface="Consolas" panose="020B0609020204030204" pitchFamily="49" charset="0"/>
              </a:rPr>
              <a:t>filter()</a:t>
            </a:r>
            <a:endParaRPr lang="en-US" sz="3200" dirty="0">
              <a:latin typeface="Consolas" panose="020B0609020204030204" pitchFamily="49" charset="0"/>
            </a:endParaRPr>
          </a:p>
        </p:txBody>
      </p:sp>
      <p:sp>
        <p:nvSpPr>
          <p:cNvPr id="24" name="Content Placeholder 2">
            <a:extLst>
              <a:ext uri="{FF2B5EF4-FFF2-40B4-BE49-F238E27FC236}">
                <a16:creationId xmlns:a16="http://schemas.microsoft.com/office/drawing/2014/main" id="{05EA191B-21B6-A946-8FF4-3846B22FCED1}"/>
              </a:ext>
            </a:extLst>
          </p:cNvPr>
          <p:cNvSpPr txBox="1">
            <a:spLocks/>
          </p:cNvSpPr>
          <p:nvPr/>
        </p:nvSpPr>
        <p:spPr>
          <a:xfrm>
            <a:off x="4187686" y="5115762"/>
            <a:ext cx="7618831" cy="1006074"/>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Font typeface="Tw Cen MT" panose="020B0602020104020603" pitchFamily="34" charset="0"/>
              <a:buNone/>
            </a:pPr>
            <a:r>
              <a:rPr lang="en-US" sz="3200" dirty="0"/>
              <a:t>Create new columns with </a:t>
            </a:r>
            <a:r>
              <a:rPr lang="en-US" sz="2800" dirty="0">
                <a:latin typeface="Consolas" panose="020B0609020204030204" pitchFamily="49" charset="0"/>
              </a:rPr>
              <a:t>mutate()</a:t>
            </a:r>
            <a:endParaRPr lang="en-US" sz="3200" dirty="0">
              <a:latin typeface="Consolas" panose="020B0609020204030204" pitchFamily="49" charset="0"/>
            </a:endParaRPr>
          </a:p>
        </p:txBody>
      </p:sp>
    </p:spTree>
    <p:extLst>
      <p:ext uri="{BB962C8B-B14F-4D97-AF65-F5344CB8AC3E}">
        <p14:creationId xmlns:p14="http://schemas.microsoft.com/office/powerpoint/2010/main" val="294133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10">
            <a:extLst>
              <a:ext uri="{FF2B5EF4-FFF2-40B4-BE49-F238E27FC236}">
                <a16:creationId xmlns:a16="http://schemas.microsoft.com/office/drawing/2014/main" id="{76AF4A87-DBFF-1B44-A044-1B865727C039}"/>
              </a:ext>
            </a:extLst>
          </p:cNvPr>
          <p:cNvSpPr txBox="1"/>
          <p:nvPr/>
        </p:nvSpPr>
        <p:spPr>
          <a:xfrm>
            <a:off x="1765568" y="576094"/>
            <a:ext cx="9018175"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a:latin typeface="Tw Cen MT" panose="020B0602020104020603" pitchFamily="34" charset="77"/>
                <a:cs typeface="Helvetica Neue"/>
              </a:rPr>
              <a:t>Recap</a:t>
            </a:r>
            <a:endParaRPr sz="4400" dirty="0">
              <a:latin typeface="Tw Cen MT" panose="020B0602020104020603" pitchFamily="34" charset="77"/>
              <a:cs typeface="Helvetica Neue"/>
            </a:endParaRPr>
          </a:p>
        </p:txBody>
      </p:sp>
      <p:grpSp>
        <p:nvGrpSpPr>
          <p:cNvPr id="9" name="Group 8">
            <a:extLst>
              <a:ext uri="{FF2B5EF4-FFF2-40B4-BE49-F238E27FC236}">
                <a16:creationId xmlns:a16="http://schemas.microsoft.com/office/drawing/2014/main" id="{580DBB72-7810-C2FD-4B2C-3918E34FD4E6}"/>
              </a:ext>
            </a:extLst>
          </p:cNvPr>
          <p:cNvGrpSpPr/>
          <p:nvPr/>
        </p:nvGrpSpPr>
        <p:grpSpPr>
          <a:xfrm>
            <a:off x="219420" y="1906047"/>
            <a:ext cx="11587096" cy="1006074"/>
            <a:chOff x="219420" y="1906047"/>
            <a:chExt cx="11587096" cy="1006074"/>
          </a:xfrm>
        </p:grpSpPr>
        <p:sp>
          <p:nvSpPr>
            <p:cNvPr id="22" name="Content Placeholder 2">
              <a:extLst>
                <a:ext uri="{FF2B5EF4-FFF2-40B4-BE49-F238E27FC236}">
                  <a16:creationId xmlns:a16="http://schemas.microsoft.com/office/drawing/2014/main" id="{7784CEEB-F171-2F4C-8DD8-1799B30BBA12}"/>
                </a:ext>
              </a:extLst>
            </p:cNvPr>
            <p:cNvSpPr txBox="1">
              <a:spLocks/>
            </p:cNvSpPr>
            <p:nvPr/>
          </p:nvSpPr>
          <p:spPr>
            <a:xfrm>
              <a:off x="4187685" y="1906047"/>
              <a:ext cx="7618831" cy="1006074"/>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Font typeface="Tw Cen MT" panose="020B0602020104020603" pitchFamily="34" charset="0"/>
                <a:buNone/>
              </a:pPr>
              <a:r>
                <a:rPr lang="en-US" sz="3200" dirty="0"/>
                <a:t>Use the </a:t>
              </a:r>
              <a:r>
                <a:rPr lang="en-US" sz="3200" b="1" dirty="0"/>
                <a:t>pipe operator </a:t>
              </a:r>
              <a:r>
                <a:rPr lang="en-US" sz="2800" dirty="0">
                  <a:latin typeface="Consolas" panose="020B0609020204030204" pitchFamily="49" charset="0"/>
                </a:rPr>
                <a:t>%&gt;%</a:t>
              </a:r>
              <a:r>
                <a:rPr lang="en-US" sz="3200" dirty="0"/>
                <a:t> to combine data transformation steps into a pipeline</a:t>
              </a:r>
              <a:endParaRPr lang="en-US" sz="3200" dirty="0">
                <a:latin typeface="Consolas" panose="020B0609020204030204" pitchFamily="49" charset="0"/>
              </a:endParaRPr>
            </a:p>
          </p:txBody>
        </p:sp>
        <p:pic>
          <p:nvPicPr>
            <p:cNvPr id="7" name="Picture 6" descr="Icon&#10;&#10;Description automatically generated with medium confidence">
              <a:extLst>
                <a:ext uri="{FF2B5EF4-FFF2-40B4-BE49-F238E27FC236}">
                  <a16:creationId xmlns:a16="http://schemas.microsoft.com/office/drawing/2014/main" id="{16531B84-256A-9D76-846D-AA2CEE897EB0}"/>
                </a:ext>
              </a:extLst>
            </p:cNvPr>
            <p:cNvPicPr>
              <a:picLocks noChangeAspect="1"/>
            </p:cNvPicPr>
            <p:nvPr/>
          </p:nvPicPr>
          <p:blipFill>
            <a:blip r:embed="rId3"/>
            <a:stretch>
              <a:fillRect/>
            </a:stretch>
          </p:blipFill>
          <p:spPr>
            <a:xfrm>
              <a:off x="219420" y="1988752"/>
              <a:ext cx="3775347" cy="799656"/>
            </a:xfrm>
            <a:prstGeom prst="rect">
              <a:avLst/>
            </a:prstGeom>
          </p:spPr>
        </p:pic>
      </p:grpSp>
      <p:pic>
        <p:nvPicPr>
          <p:cNvPr id="2" name="Picture 1">
            <a:extLst>
              <a:ext uri="{FF2B5EF4-FFF2-40B4-BE49-F238E27FC236}">
                <a16:creationId xmlns:a16="http://schemas.microsoft.com/office/drawing/2014/main" id="{93038C7B-B718-2E4A-7A16-A82E70D9988C}"/>
              </a:ext>
            </a:extLst>
          </p:cNvPr>
          <p:cNvPicPr>
            <a:picLocks noChangeAspect="1"/>
          </p:cNvPicPr>
          <p:nvPr/>
        </p:nvPicPr>
        <p:blipFill rotWithShape="1">
          <a:blip r:embed="rId4"/>
          <a:srcRect r="54023"/>
          <a:stretch/>
        </p:blipFill>
        <p:spPr>
          <a:xfrm>
            <a:off x="162741" y="3428999"/>
            <a:ext cx="3742753" cy="2253343"/>
          </a:xfrm>
          <a:prstGeom prst="rect">
            <a:avLst/>
          </a:prstGeom>
        </p:spPr>
      </p:pic>
      <p:sp>
        <p:nvSpPr>
          <p:cNvPr id="5" name="Rectangle 4">
            <a:extLst>
              <a:ext uri="{FF2B5EF4-FFF2-40B4-BE49-F238E27FC236}">
                <a16:creationId xmlns:a16="http://schemas.microsoft.com/office/drawing/2014/main" id="{2E4279E2-0B52-4112-2C5E-50E646164D1C}"/>
              </a:ext>
            </a:extLst>
          </p:cNvPr>
          <p:cNvSpPr/>
          <p:nvPr/>
        </p:nvSpPr>
        <p:spPr>
          <a:xfrm>
            <a:off x="4187684" y="3945879"/>
            <a:ext cx="7124749" cy="1569660"/>
          </a:xfrm>
          <a:prstGeom prst="rect">
            <a:avLst/>
          </a:prstGeom>
        </p:spPr>
        <p:txBody>
          <a:bodyPr wrap="square">
            <a:spAutoFit/>
          </a:bodyPr>
          <a:lstStyle/>
          <a:p>
            <a:r>
              <a:rPr lang="en-US" sz="3200" dirty="0">
                <a:ea typeface="Courier New"/>
                <a:cs typeface="Consolas" panose="020B0609020204030204" pitchFamily="49" charset="0"/>
                <a:sym typeface="Courier New"/>
              </a:rPr>
              <a:t>Use </a:t>
            </a:r>
            <a:r>
              <a:rPr lang="en-US" sz="3200" b="1" dirty="0" err="1">
                <a:ea typeface="Courier New"/>
                <a:cs typeface="Consolas" panose="020B0609020204030204" pitchFamily="49" charset="0"/>
                <a:sym typeface="Courier New"/>
              </a:rPr>
              <a:t>group_by</a:t>
            </a:r>
            <a:r>
              <a:rPr lang="en-US" sz="3200" b="1" dirty="0">
                <a:ea typeface="Courier New"/>
                <a:cs typeface="Consolas" panose="020B0609020204030204" pitchFamily="49" charset="0"/>
                <a:sym typeface="Courier New"/>
              </a:rPr>
              <a:t> </a:t>
            </a:r>
            <a:r>
              <a:rPr lang="en-US" sz="3200" dirty="0">
                <a:ea typeface="Courier New"/>
                <a:cs typeface="Consolas" panose="020B0609020204030204" pitchFamily="49" charset="0"/>
                <a:sym typeface="Courier New"/>
              </a:rPr>
              <a:t>to create subgroups within your data set and </a:t>
            </a:r>
            <a:r>
              <a:rPr lang="en-US" sz="3200" b="1" dirty="0">
                <a:ea typeface="Courier New"/>
                <a:cs typeface="Consolas" panose="020B0609020204030204" pitchFamily="49" charset="0"/>
                <a:sym typeface="Courier New"/>
              </a:rPr>
              <a:t>summarize</a:t>
            </a:r>
            <a:r>
              <a:rPr lang="en-US" sz="3200" dirty="0">
                <a:ea typeface="Courier New"/>
                <a:cs typeface="Consolas" panose="020B0609020204030204" pitchFamily="49" charset="0"/>
                <a:sym typeface="Courier New"/>
              </a:rPr>
              <a:t> to calculate summary statistics for each group</a:t>
            </a:r>
            <a:endParaRPr lang="en-US" sz="3200" b="1" dirty="0">
              <a:ea typeface="Courier New"/>
              <a:cs typeface="Consolas" panose="020B0609020204030204" pitchFamily="49" charset="0"/>
              <a:sym typeface="Courier New"/>
            </a:endParaRPr>
          </a:p>
        </p:txBody>
      </p:sp>
      <p:sp>
        <p:nvSpPr>
          <p:cNvPr id="8" name="Rectangle 7">
            <a:extLst>
              <a:ext uri="{FF2B5EF4-FFF2-40B4-BE49-F238E27FC236}">
                <a16:creationId xmlns:a16="http://schemas.microsoft.com/office/drawing/2014/main" id="{3DE2C625-E0B7-6582-DB06-A7D88A62032A}"/>
              </a:ext>
            </a:extLst>
          </p:cNvPr>
          <p:cNvSpPr/>
          <p:nvPr/>
        </p:nvSpPr>
        <p:spPr>
          <a:xfrm>
            <a:off x="738730" y="5682342"/>
            <a:ext cx="2464136" cy="923330"/>
          </a:xfrm>
          <a:prstGeom prst="rect">
            <a:avLst/>
          </a:prstGeom>
        </p:spPr>
        <p:txBody>
          <a:bodyPr wrap="none">
            <a:spAutoFit/>
          </a:bodyPr>
          <a:lstStyle/>
          <a:p>
            <a:r>
              <a:rPr lang="en-US" dirty="0">
                <a:solidFill>
                  <a:srgbClr val="0365C0"/>
                </a:solidFill>
                <a:latin typeface="Consolas" panose="020B0609020204030204" pitchFamily="49" charset="0"/>
                <a:ea typeface="Courier New"/>
                <a:cs typeface="Consolas" panose="020B0609020204030204" pitchFamily="49" charset="0"/>
                <a:sym typeface="Courier New"/>
              </a:rPr>
              <a:t>data</a:t>
            </a:r>
            <a:r>
              <a:rPr lang="en-US" dirty="0">
                <a:latin typeface="Consolas" panose="020B0609020204030204" pitchFamily="49" charset="0"/>
                <a:ea typeface="Courier New"/>
                <a:cs typeface="Consolas" panose="020B0609020204030204" pitchFamily="49" charset="0"/>
                <a:sym typeface="Courier New"/>
              </a:rPr>
              <a:t> |&gt;</a:t>
            </a:r>
          </a:p>
          <a:p>
            <a:r>
              <a:rPr lang="en-US" dirty="0">
                <a:latin typeface="Consolas" panose="020B0609020204030204" pitchFamily="49" charset="0"/>
                <a:cs typeface="Consolas" panose="020B0609020204030204" pitchFamily="49" charset="0"/>
                <a:sym typeface="Courier New"/>
              </a:rPr>
              <a:t>  </a:t>
            </a:r>
            <a:r>
              <a:rPr lang="en-US" dirty="0" err="1">
                <a:latin typeface="Consolas" panose="020B0609020204030204" pitchFamily="49" charset="0"/>
                <a:cs typeface="Consolas" panose="020B0609020204030204" pitchFamily="49" charset="0"/>
                <a:sym typeface="Courier New"/>
              </a:rPr>
              <a:t>group_by</a:t>
            </a:r>
            <a:r>
              <a:rPr lang="en-US" dirty="0">
                <a:latin typeface="Consolas" panose="020B0609020204030204" pitchFamily="49" charset="0"/>
                <a:cs typeface="Consolas" panose="020B0609020204030204" pitchFamily="49" charset="0"/>
                <a:sym typeface="Courier New"/>
              </a:rPr>
              <a:t>(...) |&gt;</a:t>
            </a:r>
          </a:p>
          <a:p>
            <a:r>
              <a:rPr lang="en-US" dirty="0">
                <a:latin typeface="Consolas" panose="020B0609020204030204" pitchFamily="49" charset="0"/>
                <a:cs typeface="Consolas" panose="020B0609020204030204" pitchFamily="49" charset="0"/>
                <a:sym typeface="Courier New"/>
              </a:rPr>
              <a:t>  summarize(...)</a:t>
            </a:r>
            <a:endParaRPr lang="en-US" dirty="0"/>
          </a:p>
        </p:txBody>
      </p:sp>
    </p:spTree>
    <p:extLst>
      <p:ext uri="{BB962C8B-B14F-4D97-AF65-F5344CB8AC3E}">
        <p14:creationId xmlns:p14="http://schemas.microsoft.com/office/powerpoint/2010/main" val="275769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What else?</a:t>
            </a:r>
          </a:p>
        </p:txBody>
      </p:sp>
    </p:spTree>
    <p:extLst>
      <p:ext uri="{BB962C8B-B14F-4D97-AF65-F5344CB8AC3E}">
        <p14:creationId xmlns:p14="http://schemas.microsoft.com/office/powerpoint/2010/main" val="32971113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55AE5-C055-6740-927D-18D532C9730D}"/>
              </a:ext>
            </a:extLst>
          </p:cNvPr>
          <p:cNvSpPr>
            <a:spLocks noGrp="1"/>
          </p:cNvSpPr>
          <p:nvPr>
            <p:ph type="title"/>
          </p:nvPr>
        </p:nvSpPr>
        <p:spPr/>
        <p:txBody>
          <a:bodyPr/>
          <a:lstStyle/>
          <a:p>
            <a:r>
              <a:rPr lang="en-US" dirty="0"/>
              <a:t>More </a:t>
            </a:r>
            <a:r>
              <a:rPr lang="en-US" dirty="0" err="1"/>
              <a:t>dplyr</a:t>
            </a:r>
            <a:r>
              <a:rPr lang="en-US" dirty="0"/>
              <a:t> functions</a:t>
            </a:r>
          </a:p>
        </p:txBody>
      </p:sp>
      <p:pic>
        <p:nvPicPr>
          <p:cNvPr id="4" name="Picture 3">
            <a:extLst>
              <a:ext uri="{FF2B5EF4-FFF2-40B4-BE49-F238E27FC236}">
                <a16:creationId xmlns:a16="http://schemas.microsoft.com/office/drawing/2014/main" id="{528ACD5A-F658-7849-8C41-93BE132AEE1E}"/>
              </a:ext>
            </a:extLst>
          </p:cNvPr>
          <p:cNvPicPr>
            <a:picLocks noChangeAspect="1"/>
          </p:cNvPicPr>
          <p:nvPr/>
        </p:nvPicPr>
        <p:blipFill>
          <a:blip r:embed="rId3"/>
          <a:stretch>
            <a:fillRect/>
          </a:stretch>
        </p:blipFill>
        <p:spPr>
          <a:xfrm>
            <a:off x="1024128" y="2045739"/>
            <a:ext cx="1397000" cy="1155700"/>
          </a:xfrm>
          <a:prstGeom prst="rect">
            <a:avLst/>
          </a:prstGeom>
        </p:spPr>
      </p:pic>
      <p:pic>
        <p:nvPicPr>
          <p:cNvPr id="5" name="Picture 4">
            <a:extLst>
              <a:ext uri="{FF2B5EF4-FFF2-40B4-BE49-F238E27FC236}">
                <a16:creationId xmlns:a16="http://schemas.microsoft.com/office/drawing/2014/main" id="{D12AE40E-9A4A-5840-8048-B1C3115E8DFF}"/>
              </a:ext>
            </a:extLst>
          </p:cNvPr>
          <p:cNvPicPr>
            <a:picLocks noChangeAspect="1"/>
          </p:cNvPicPr>
          <p:nvPr/>
        </p:nvPicPr>
        <p:blipFill>
          <a:blip r:embed="rId4"/>
          <a:stretch>
            <a:fillRect/>
          </a:stretch>
        </p:blipFill>
        <p:spPr>
          <a:xfrm>
            <a:off x="1036828" y="3674330"/>
            <a:ext cx="1371600" cy="990600"/>
          </a:xfrm>
          <a:prstGeom prst="rect">
            <a:avLst/>
          </a:prstGeom>
        </p:spPr>
      </p:pic>
      <p:pic>
        <p:nvPicPr>
          <p:cNvPr id="6" name="Picture 5">
            <a:extLst>
              <a:ext uri="{FF2B5EF4-FFF2-40B4-BE49-F238E27FC236}">
                <a16:creationId xmlns:a16="http://schemas.microsoft.com/office/drawing/2014/main" id="{2FA9DBEB-A864-6542-8C52-EE21B72264D6}"/>
              </a:ext>
            </a:extLst>
          </p:cNvPr>
          <p:cNvPicPr>
            <a:picLocks noChangeAspect="1"/>
          </p:cNvPicPr>
          <p:nvPr/>
        </p:nvPicPr>
        <p:blipFill>
          <a:blip r:embed="rId5"/>
          <a:stretch>
            <a:fillRect/>
          </a:stretch>
        </p:blipFill>
        <p:spPr>
          <a:xfrm>
            <a:off x="6238485" y="2045739"/>
            <a:ext cx="2971800" cy="1054100"/>
          </a:xfrm>
          <a:prstGeom prst="rect">
            <a:avLst/>
          </a:prstGeom>
        </p:spPr>
      </p:pic>
      <p:pic>
        <p:nvPicPr>
          <p:cNvPr id="7" name="Picture 6">
            <a:extLst>
              <a:ext uri="{FF2B5EF4-FFF2-40B4-BE49-F238E27FC236}">
                <a16:creationId xmlns:a16="http://schemas.microsoft.com/office/drawing/2014/main" id="{7D9CAD0F-1AE3-F747-A011-A1325107C914}"/>
              </a:ext>
            </a:extLst>
          </p:cNvPr>
          <p:cNvPicPr>
            <a:picLocks noChangeAspect="1"/>
          </p:cNvPicPr>
          <p:nvPr/>
        </p:nvPicPr>
        <p:blipFill>
          <a:blip r:embed="rId6"/>
          <a:stretch>
            <a:fillRect/>
          </a:stretch>
        </p:blipFill>
        <p:spPr>
          <a:xfrm>
            <a:off x="8041674" y="3519600"/>
            <a:ext cx="774700" cy="863600"/>
          </a:xfrm>
          <a:prstGeom prst="rect">
            <a:avLst/>
          </a:prstGeom>
        </p:spPr>
      </p:pic>
      <p:sp>
        <p:nvSpPr>
          <p:cNvPr id="9" name="Rectangle 8">
            <a:extLst>
              <a:ext uri="{FF2B5EF4-FFF2-40B4-BE49-F238E27FC236}">
                <a16:creationId xmlns:a16="http://schemas.microsoft.com/office/drawing/2014/main" id="{00258249-2A46-AC41-B2C6-031FF806911E}"/>
              </a:ext>
            </a:extLst>
          </p:cNvPr>
          <p:cNvSpPr/>
          <p:nvPr/>
        </p:nvSpPr>
        <p:spPr>
          <a:xfrm>
            <a:off x="2616001" y="2239423"/>
            <a:ext cx="2464136" cy="369332"/>
          </a:xfrm>
          <a:prstGeom prst="rect">
            <a:avLst/>
          </a:prstGeom>
        </p:spPr>
        <p:txBody>
          <a:bodyPr wrap="none">
            <a:spAutoFit/>
          </a:bodyPr>
          <a:lstStyle/>
          <a:p>
            <a:r>
              <a:rPr lang="en-US" dirty="0">
                <a:latin typeface="Consolas" panose="020B0609020204030204" pitchFamily="49" charset="0"/>
                <a:ea typeface="Courier New"/>
                <a:cs typeface="Consolas" panose="020B0609020204030204" pitchFamily="49" charset="0"/>
                <a:sym typeface="Courier New"/>
              </a:rPr>
              <a:t>arrange(</a:t>
            </a:r>
            <a:r>
              <a:rPr lang="en-US" dirty="0">
                <a:solidFill>
                  <a:srgbClr val="0365C0"/>
                </a:solidFill>
                <a:latin typeface="Consolas" panose="020B0609020204030204" pitchFamily="49" charset="0"/>
                <a:ea typeface="Courier New"/>
                <a:cs typeface="Consolas" panose="020B0609020204030204" pitchFamily="49" charset="0"/>
                <a:sym typeface="Courier New"/>
              </a:rPr>
              <a:t>data, </a:t>
            </a:r>
            <a:r>
              <a:rPr lang="en-US" dirty="0">
                <a:solidFill>
                  <a:srgbClr val="9BBB59"/>
                </a:solidFill>
                <a:latin typeface="Consolas" panose="020B0609020204030204" pitchFamily="49" charset="0"/>
                <a:ea typeface="Courier New"/>
                <a:cs typeface="Consolas" panose="020B0609020204030204" pitchFamily="49" charset="0"/>
                <a:sym typeface="Courier New"/>
              </a:rPr>
              <a:t>...</a:t>
            </a:r>
            <a:r>
              <a:rPr lang="en-US" dirty="0">
                <a:latin typeface="Consolas" panose="020B0609020204030204" pitchFamily="49" charset="0"/>
                <a:ea typeface="Courier New"/>
                <a:cs typeface="Consolas" panose="020B0609020204030204" pitchFamily="49" charset="0"/>
                <a:sym typeface="Courier New"/>
              </a:rPr>
              <a:t>)</a:t>
            </a:r>
            <a:endParaRPr lang="en-US" sz="1100" dirty="0"/>
          </a:p>
        </p:txBody>
      </p:sp>
      <p:sp>
        <p:nvSpPr>
          <p:cNvPr id="10" name="Rectangle 9">
            <a:extLst>
              <a:ext uri="{FF2B5EF4-FFF2-40B4-BE49-F238E27FC236}">
                <a16:creationId xmlns:a16="http://schemas.microsoft.com/office/drawing/2014/main" id="{B7D23C40-037E-DC43-A139-973B5FDE9101}"/>
              </a:ext>
            </a:extLst>
          </p:cNvPr>
          <p:cNvSpPr/>
          <p:nvPr/>
        </p:nvSpPr>
        <p:spPr>
          <a:xfrm>
            <a:off x="2616001" y="3691304"/>
            <a:ext cx="2464136" cy="369332"/>
          </a:xfrm>
          <a:prstGeom prst="rect">
            <a:avLst/>
          </a:prstGeom>
        </p:spPr>
        <p:txBody>
          <a:bodyPr wrap="none">
            <a:spAutoFit/>
          </a:bodyPr>
          <a:lstStyle/>
          <a:p>
            <a:r>
              <a:rPr lang="en-US" dirty="0" err="1">
                <a:latin typeface="Consolas" panose="020B0609020204030204" pitchFamily="49" charset="0"/>
                <a:ea typeface="Courier New"/>
                <a:cs typeface="Consolas" panose="020B0609020204030204" pitchFamily="49" charset="0"/>
                <a:sym typeface="Courier New"/>
              </a:rPr>
              <a:t>add_row</a:t>
            </a:r>
            <a:r>
              <a:rPr lang="en-US" dirty="0">
                <a:latin typeface="Consolas" panose="020B0609020204030204" pitchFamily="49" charset="0"/>
                <a:ea typeface="Courier New"/>
                <a:cs typeface="Consolas" panose="020B0609020204030204" pitchFamily="49" charset="0"/>
                <a:sym typeface="Courier New"/>
              </a:rPr>
              <a:t>(</a:t>
            </a:r>
            <a:r>
              <a:rPr lang="en-US" dirty="0">
                <a:solidFill>
                  <a:srgbClr val="0365C0"/>
                </a:solidFill>
                <a:latin typeface="Consolas" panose="020B0609020204030204" pitchFamily="49" charset="0"/>
                <a:ea typeface="Courier New"/>
                <a:cs typeface="Consolas" panose="020B0609020204030204" pitchFamily="49" charset="0"/>
                <a:sym typeface="Courier New"/>
              </a:rPr>
              <a:t>data, </a:t>
            </a:r>
            <a:r>
              <a:rPr lang="en-US" dirty="0">
                <a:solidFill>
                  <a:srgbClr val="9BBB59"/>
                </a:solidFill>
                <a:latin typeface="Consolas" panose="020B0609020204030204" pitchFamily="49" charset="0"/>
                <a:ea typeface="Courier New"/>
                <a:cs typeface="Consolas" panose="020B0609020204030204" pitchFamily="49" charset="0"/>
                <a:sym typeface="Courier New"/>
              </a:rPr>
              <a:t>...</a:t>
            </a:r>
            <a:r>
              <a:rPr lang="en-US" dirty="0">
                <a:latin typeface="Consolas" panose="020B0609020204030204" pitchFamily="49" charset="0"/>
                <a:ea typeface="Courier New"/>
                <a:cs typeface="Consolas" panose="020B0609020204030204" pitchFamily="49" charset="0"/>
                <a:sym typeface="Courier New"/>
              </a:rPr>
              <a:t>)</a:t>
            </a:r>
            <a:endParaRPr lang="en-US" sz="1100" dirty="0"/>
          </a:p>
        </p:txBody>
      </p:sp>
      <p:sp>
        <p:nvSpPr>
          <p:cNvPr id="12" name="Rectangle 11">
            <a:extLst>
              <a:ext uri="{FF2B5EF4-FFF2-40B4-BE49-F238E27FC236}">
                <a16:creationId xmlns:a16="http://schemas.microsoft.com/office/drawing/2014/main" id="{1F0D84D7-96D9-FA4F-B3AB-7B4DE9DC82BF}"/>
              </a:ext>
            </a:extLst>
          </p:cNvPr>
          <p:cNvSpPr/>
          <p:nvPr/>
        </p:nvSpPr>
        <p:spPr>
          <a:xfrm>
            <a:off x="9210285" y="2045739"/>
            <a:ext cx="1957587" cy="646331"/>
          </a:xfrm>
          <a:prstGeom prst="rect">
            <a:avLst/>
          </a:prstGeom>
        </p:spPr>
        <p:txBody>
          <a:bodyPr wrap="none">
            <a:spAutoFit/>
          </a:bodyPr>
          <a:lstStyle/>
          <a:p>
            <a:r>
              <a:rPr lang="en-US" dirty="0">
                <a:solidFill>
                  <a:srgbClr val="0365C0"/>
                </a:solidFill>
                <a:latin typeface="Consolas" panose="020B0609020204030204" pitchFamily="49" charset="0"/>
                <a:ea typeface="Courier New"/>
                <a:cs typeface="Consolas" panose="020B0609020204030204" pitchFamily="49" charset="0"/>
                <a:sym typeface="Courier New"/>
              </a:rPr>
              <a:t>x</a:t>
            </a:r>
            <a:r>
              <a:rPr lang="en-US" dirty="0">
                <a:latin typeface="Consolas" panose="020B0609020204030204" pitchFamily="49" charset="0"/>
                <a:ea typeface="Courier New"/>
                <a:cs typeface="Consolas" panose="020B0609020204030204" pitchFamily="49" charset="0"/>
                <a:sym typeface="Courier New"/>
              </a:rPr>
              <a:t> |&gt;</a:t>
            </a:r>
          </a:p>
          <a:p>
            <a:r>
              <a:rPr lang="en-US" dirty="0">
                <a:latin typeface="Consolas" panose="020B0609020204030204" pitchFamily="49" charset="0"/>
                <a:cs typeface="Consolas" panose="020B0609020204030204" pitchFamily="49" charset="0"/>
                <a:sym typeface="Courier New"/>
              </a:rPr>
              <a:t>  </a:t>
            </a:r>
            <a:r>
              <a:rPr lang="en-US" dirty="0" err="1">
                <a:latin typeface="Consolas" panose="020B0609020204030204" pitchFamily="49" charset="0"/>
                <a:cs typeface="Consolas" panose="020B0609020204030204" pitchFamily="49" charset="0"/>
                <a:sym typeface="Courier New"/>
              </a:rPr>
              <a:t>bind_cols</a:t>
            </a:r>
            <a:r>
              <a:rPr lang="en-US" dirty="0">
                <a:latin typeface="Consolas" panose="020B0609020204030204" pitchFamily="49" charset="0"/>
                <a:cs typeface="Consolas" panose="020B0609020204030204" pitchFamily="49" charset="0"/>
                <a:sym typeface="Courier New"/>
              </a:rPr>
              <a:t>(</a:t>
            </a:r>
            <a:r>
              <a:rPr lang="en-US" dirty="0">
                <a:solidFill>
                  <a:srgbClr val="0070C0"/>
                </a:solidFill>
                <a:latin typeface="Consolas" panose="020B0609020204030204" pitchFamily="49" charset="0"/>
                <a:cs typeface="Consolas" panose="020B0609020204030204" pitchFamily="49" charset="0"/>
                <a:sym typeface="Courier New"/>
              </a:rPr>
              <a:t>y</a:t>
            </a:r>
            <a:r>
              <a:rPr lang="en-US" dirty="0">
                <a:latin typeface="Consolas" panose="020B0609020204030204" pitchFamily="49" charset="0"/>
                <a:cs typeface="Consolas" panose="020B0609020204030204" pitchFamily="49" charset="0"/>
                <a:sym typeface="Courier New"/>
              </a:rPr>
              <a:t>)</a:t>
            </a:r>
            <a:endParaRPr lang="en-US" dirty="0"/>
          </a:p>
        </p:txBody>
      </p:sp>
      <p:sp>
        <p:nvSpPr>
          <p:cNvPr id="13" name="Rectangle 12">
            <a:extLst>
              <a:ext uri="{FF2B5EF4-FFF2-40B4-BE49-F238E27FC236}">
                <a16:creationId xmlns:a16="http://schemas.microsoft.com/office/drawing/2014/main" id="{61A0ED64-3928-EB47-84A0-4E7A2724EA39}"/>
              </a:ext>
            </a:extLst>
          </p:cNvPr>
          <p:cNvSpPr/>
          <p:nvPr/>
        </p:nvSpPr>
        <p:spPr>
          <a:xfrm>
            <a:off x="9210285" y="3519600"/>
            <a:ext cx="1957587" cy="646331"/>
          </a:xfrm>
          <a:prstGeom prst="rect">
            <a:avLst/>
          </a:prstGeom>
        </p:spPr>
        <p:txBody>
          <a:bodyPr wrap="none">
            <a:spAutoFit/>
          </a:bodyPr>
          <a:lstStyle/>
          <a:p>
            <a:r>
              <a:rPr lang="en-US" dirty="0">
                <a:solidFill>
                  <a:srgbClr val="0365C0"/>
                </a:solidFill>
                <a:latin typeface="Consolas" panose="020B0609020204030204" pitchFamily="49" charset="0"/>
                <a:ea typeface="Courier New"/>
                <a:cs typeface="Consolas" panose="020B0609020204030204" pitchFamily="49" charset="0"/>
                <a:sym typeface="Courier New"/>
              </a:rPr>
              <a:t>x</a:t>
            </a:r>
            <a:r>
              <a:rPr lang="en-US" dirty="0">
                <a:latin typeface="Consolas" panose="020B0609020204030204" pitchFamily="49" charset="0"/>
                <a:ea typeface="Courier New"/>
                <a:cs typeface="Consolas" panose="020B0609020204030204" pitchFamily="49" charset="0"/>
                <a:sym typeface="Courier New"/>
              </a:rPr>
              <a:t> |&gt;</a:t>
            </a:r>
          </a:p>
          <a:p>
            <a:r>
              <a:rPr lang="en-US" dirty="0">
                <a:latin typeface="Consolas" panose="020B0609020204030204" pitchFamily="49" charset="0"/>
                <a:cs typeface="Consolas" panose="020B0609020204030204" pitchFamily="49" charset="0"/>
                <a:sym typeface="Courier New"/>
              </a:rPr>
              <a:t>  </a:t>
            </a:r>
            <a:r>
              <a:rPr lang="en-US" dirty="0" err="1">
                <a:latin typeface="Consolas" panose="020B0609020204030204" pitchFamily="49" charset="0"/>
                <a:cs typeface="Consolas" panose="020B0609020204030204" pitchFamily="49" charset="0"/>
                <a:sym typeface="Courier New"/>
              </a:rPr>
              <a:t>left_join</a:t>
            </a:r>
            <a:r>
              <a:rPr lang="en-US" dirty="0">
                <a:latin typeface="Consolas" panose="020B0609020204030204" pitchFamily="49" charset="0"/>
                <a:cs typeface="Consolas" panose="020B0609020204030204" pitchFamily="49" charset="0"/>
                <a:sym typeface="Courier New"/>
              </a:rPr>
              <a:t>(</a:t>
            </a:r>
            <a:r>
              <a:rPr lang="en-US" dirty="0">
                <a:solidFill>
                  <a:srgbClr val="0070C0"/>
                </a:solidFill>
                <a:latin typeface="Consolas" panose="020B0609020204030204" pitchFamily="49" charset="0"/>
                <a:cs typeface="Consolas" panose="020B0609020204030204" pitchFamily="49" charset="0"/>
                <a:sym typeface="Courier New"/>
              </a:rPr>
              <a:t>y</a:t>
            </a:r>
            <a:r>
              <a:rPr lang="en-US" dirty="0">
                <a:latin typeface="Consolas" panose="020B0609020204030204" pitchFamily="49" charset="0"/>
                <a:cs typeface="Consolas" panose="020B0609020204030204" pitchFamily="49" charset="0"/>
                <a:sym typeface="Courier New"/>
              </a:rPr>
              <a:t>)</a:t>
            </a:r>
            <a:endParaRPr lang="en-US" dirty="0"/>
          </a:p>
        </p:txBody>
      </p:sp>
    </p:spTree>
    <p:extLst>
      <p:ext uri="{BB962C8B-B14F-4D97-AF65-F5344CB8AC3E}">
        <p14:creationId xmlns:p14="http://schemas.microsoft.com/office/powerpoint/2010/main" val="3712345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99226A-1113-674C-A787-6FC5B2ED2F0D}"/>
              </a:ext>
            </a:extLst>
          </p:cNvPr>
          <p:cNvPicPr>
            <a:picLocks noChangeAspect="1"/>
          </p:cNvPicPr>
          <p:nvPr/>
        </p:nvPicPr>
        <p:blipFill>
          <a:blip r:embed="rId3"/>
          <a:stretch>
            <a:fillRect/>
          </a:stretch>
        </p:blipFill>
        <p:spPr>
          <a:xfrm>
            <a:off x="1296650" y="1126273"/>
            <a:ext cx="9598699" cy="7105786"/>
          </a:xfrm>
          <a:prstGeom prst="rect">
            <a:avLst/>
          </a:prstGeom>
        </p:spPr>
      </p:pic>
      <p:sp>
        <p:nvSpPr>
          <p:cNvPr id="3" name="Rectangle 2"/>
          <p:cNvSpPr/>
          <p:nvPr/>
        </p:nvSpPr>
        <p:spPr>
          <a:xfrm>
            <a:off x="1296650" y="1126273"/>
            <a:ext cx="9598699" cy="7772400"/>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62166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1B11FDD-EFA9-6944-904E-E5C6FA8D89E8}"/>
              </a:ext>
            </a:extLst>
          </p:cNvPr>
          <p:cNvGrpSpPr/>
          <p:nvPr/>
        </p:nvGrpSpPr>
        <p:grpSpPr>
          <a:xfrm>
            <a:off x="2151353" y="801153"/>
            <a:ext cx="7889294" cy="5255693"/>
            <a:chOff x="2104549" y="830314"/>
            <a:chExt cx="7889294" cy="5255693"/>
          </a:xfrm>
        </p:grpSpPr>
        <p:grpSp>
          <p:nvGrpSpPr>
            <p:cNvPr id="11" name="Group 10">
              <a:extLst>
                <a:ext uri="{FF2B5EF4-FFF2-40B4-BE49-F238E27FC236}">
                  <a16:creationId xmlns:a16="http://schemas.microsoft.com/office/drawing/2014/main" id="{C8DCDED1-AAA1-8349-A8CD-800A703C32B3}"/>
                </a:ext>
              </a:extLst>
            </p:cNvPr>
            <p:cNvGrpSpPr/>
            <p:nvPr/>
          </p:nvGrpSpPr>
          <p:grpSpPr>
            <a:xfrm>
              <a:off x="2104549" y="830315"/>
              <a:ext cx="6582683" cy="5255692"/>
              <a:chOff x="-176095" y="3589988"/>
              <a:chExt cx="4589764" cy="3664522"/>
            </a:xfrm>
          </p:grpSpPr>
          <p:pic>
            <p:nvPicPr>
              <p:cNvPr id="3" name="Picture 2">
                <a:extLst>
                  <a:ext uri="{FF2B5EF4-FFF2-40B4-BE49-F238E27FC236}">
                    <a16:creationId xmlns:a16="http://schemas.microsoft.com/office/drawing/2014/main" id="{B716C1E9-5D77-2840-9A8A-A811A6548D29}"/>
                  </a:ext>
                </a:extLst>
              </p:cNvPr>
              <p:cNvPicPr>
                <a:picLocks noChangeAspect="1"/>
              </p:cNvPicPr>
              <p:nvPr/>
            </p:nvPicPr>
            <p:blipFill>
              <a:blip r:embed="rId3"/>
              <a:stretch>
                <a:fillRect/>
              </a:stretch>
            </p:blipFill>
            <p:spPr>
              <a:xfrm>
                <a:off x="-176095" y="3596338"/>
                <a:ext cx="1765300" cy="2032000"/>
              </a:xfrm>
              <a:prstGeom prst="rect">
                <a:avLst/>
              </a:prstGeom>
            </p:spPr>
          </p:pic>
          <p:pic>
            <p:nvPicPr>
              <p:cNvPr id="4" name="Picture 3">
                <a:extLst>
                  <a:ext uri="{FF2B5EF4-FFF2-40B4-BE49-F238E27FC236}">
                    <a16:creationId xmlns:a16="http://schemas.microsoft.com/office/drawing/2014/main" id="{F328C1AA-0C23-E048-B252-8E41D2EE6A41}"/>
                  </a:ext>
                </a:extLst>
              </p:cNvPr>
              <p:cNvPicPr>
                <a:picLocks noChangeAspect="1"/>
              </p:cNvPicPr>
              <p:nvPr/>
            </p:nvPicPr>
            <p:blipFill>
              <a:blip r:embed="rId4"/>
              <a:stretch>
                <a:fillRect/>
              </a:stretch>
            </p:blipFill>
            <p:spPr>
              <a:xfrm>
                <a:off x="759376" y="5209810"/>
                <a:ext cx="1765300" cy="2044700"/>
              </a:xfrm>
              <a:prstGeom prst="rect">
                <a:avLst/>
              </a:prstGeom>
            </p:spPr>
          </p:pic>
          <p:pic>
            <p:nvPicPr>
              <p:cNvPr id="5" name="Picture 4">
                <a:extLst>
                  <a:ext uri="{FF2B5EF4-FFF2-40B4-BE49-F238E27FC236}">
                    <a16:creationId xmlns:a16="http://schemas.microsoft.com/office/drawing/2014/main" id="{59A2579C-BC64-2D46-A734-E675DF6084C6}"/>
                  </a:ext>
                </a:extLst>
              </p:cNvPr>
              <p:cNvPicPr>
                <a:picLocks noChangeAspect="1"/>
              </p:cNvPicPr>
              <p:nvPr/>
            </p:nvPicPr>
            <p:blipFill>
              <a:blip r:embed="rId5"/>
              <a:stretch>
                <a:fillRect/>
              </a:stretch>
            </p:blipFill>
            <p:spPr>
              <a:xfrm>
                <a:off x="1691654" y="3589988"/>
                <a:ext cx="1765300" cy="2044700"/>
              </a:xfrm>
              <a:prstGeom prst="rect">
                <a:avLst/>
              </a:prstGeom>
            </p:spPr>
          </p:pic>
          <p:pic>
            <p:nvPicPr>
              <p:cNvPr id="6" name="Picture 5">
                <a:extLst>
                  <a:ext uri="{FF2B5EF4-FFF2-40B4-BE49-F238E27FC236}">
                    <a16:creationId xmlns:a16="http://schemas.microsoft.com/office/drawing/2014/main" id="{D328831E-2B01-F543-80FB-1D3F1D7A6244}"/>
                  </a:ext>
                </a:extLst>
              </p:cNvPr>
              <p:cNvPicPr>
                <a:picLocks noChangeAspect="1"/>
              </p:cNvPicPr>
              <p:nvPr/>
            </p:nvPicPr>
            <p:blipFill>
              <a:blip r:embed="rId6"/>
              <a:stretch>
                <a:fillRect/>
              </a:stretch>
            </p:blipFill>
            <p:spPr>
              <a:xfrm>
                <a:off x="2648369" y="5209810"/>
                <a:ext cx="1765300" cy="2032000"/>
              </a:xfrm>
              <a:prstGeom prst="rect">
                <a:avLst/>
              </a:prstGeom>
            </p:spPr>
          </p:pic>
        </p:grpSp>
        <p:pic>
          <p:nvPicPr>
            <p:cNvPr id="2" name="Picture 1">
              <a:extLst>
                <a:ext uri="{FF2B5EF4-FFF2-40B4-BE49-F238E27FC236}">
                  <a16:creationId xmlns:a16="http://schemas.microsoft.com/office/drawing/2014/main" id="{10439D8A-D781-5745-9C7C-A4CA1858EDC1}"/>
                </a:ext>
              </a:extLst>
            </p:cNvPr>
            <p:cNvPicPr>
              <a:picLocks noChangeAspect="1"/>
            </p:cNvPicPr>
            <p:nvPr/>
          </p:nvPicPr>
          <p:blipFill>
            <a:blip r:embed="rId7"/>
            <a:stretch>
              <a:fillRect/>
            </a:stretch>
          </p:blipFill>
          <p:spPr>
            <a:xfrm>
              <a:off x="7462034" y="830314"/>
              <a:ext cx="2531809" cy="2932527"/>
            </a:xfrm>
            <a:prstGeom prst="rect">
              <a:avLst/>
            </a:prstGeom>
          </p:spPr>
        </p:pic>
      </p:grpSp>
    </p:spTree>
    <p:extLst>
      <p:ext uri="{BB962C8B-B14F-4D97-AF65-F5344CB8AC3E}">
        <p14:creationId xmlns:p14="http://schemas.microsoft.com/office/powerpoint/2010/main" val="8872176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14306</TotalTime>
  <Words>4087</Words>
  <Application>Microsoft Macintosh PowerPoint</Application>
  <PresentationFormat>Widescreen</PresentationFormat>
  <Paragraphs>599</Paragraphs>
  <Slides>48</Slides>
  <Notes>47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48</vt:i4>
      </vt:variant>
    </vt:vector>
  </HeadingPairs>
  <TitlesOfParts>
    <vt:vector size="60" baseType="lpstr">
      <vt:lpstr>Trebuchet MS</vt:lpstr>
      <vt:lpstr>Wingdings 3</vt:lpstr>
      <vt:lpstr>Wingdings</vt:lpstr>
      <vt:lpstr>Times New Roman</vt:lpstr>
      <vt:lpstr>Courier New</vt:lpstr>
      <vt:lpstr>Arial</vt:lpstr>
      <vt:lpstr>Consolas</vt:lpstr>
      <vt:lpstr>Tw Cen MT</vt:lpstr>
      <vt:lpstr>Tw Cen MT Condensed</vt:lpstr>
      <vt:lpstr>Calibri</vt:lpstr>
      <vt:lpstr>Verdana</vt:lpstr>
      <vt:lpstr>Integral</vt:lpstr>
      <vt:lpstr>Transform</vt:lpstr>
      <vt:lpstr>PowerPoint Presentation</vt:lpstr>
      <vt:lpstr>PowerPoint Presentation</vt:lpstr>
      <vt:lpstr>PowerPoint Presentation</vt:lpstr>
      <vt:lpstr>Select existing columns</vt:lpstr>
      <vt:lpstr>select()</vt:lpstr>
      <vt:lpstr>select()</vt:lpstr>
      <vt:lpstr>select()</vt:lpstr>
      <vt:lpstr>Pop Quiz</vt:lpstr>
      <vt:lpstr>Filter rows by logical criteria</vt:lpstr>
      <vt:lpstr>filter()</vt:lpstr>
      <vt:lpstr>filter()</vt:lpstr>
      <vt:lpstr>filter()</vt:lpstr>
      <vt:lpstr>PowerPoint Presentation</vt:lpstr>
      <vt:lpstr>PowerPoint Presentation</vt:lpstr>
      <vt:lpstr>filter()</vt:lpstr>
      <vt:lpstr>Logical tests</vt:lpstr>
      <vt:lpstr>Pop Quiz</vt:lpstr>
      <vt:lpstr>The pipe operator %&gt;%</vt:lpstr>
      <vt:lpstr>The Pipe Operator %&gt;%</vt:lpstr>
      <vt:lpstr>PowerPoint Presentation</vt:lpstr>
      <vt:lpstr>PowerPoint Presentation</vt:lpstr>
      <vt:lpstr>Pop Quiz</vt:lpstr>
      <vt:lpstr>Create new columns</vt:lpstr>
      <vt:lpstr>mutate()</vt:lpstr>
      <vt:lpstr>mutate()</vt:lpstr>
      <vt:lpstr>mutate()</vt:lpstr>
      <vt:lpstr>Your Turn #1</vt:lpstr>
      <vt:lpstr>Grouping your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Turn #2</vt:lpstr>
      <vt:lpstr>PowerPoint Presentation</vt:lpstr>
      <vt:lpstr>PowerPoint Presentation</vt:lpstr>
      <vt:lpstr>What else?</vt:lpstr>
      <vt:lpstr>More dplyr functions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Medical Doctors  Reproducible Clinical Data Analysis</dc:title>
  <dc:creator>Kadauke, Stephan,M.D.</dc:creator>
  <cp:lastModifiedBy>Hanna, Richard S</cp:lastModifiedBy>
  <cp:revision>596</cp:revision>
  <cp:lastPrinted>2019-02-19T22:36:37Z</cp:lastPrinted>
  <dcterms:created xsi:type="dcterms:W3CDTF">2018-02-01T22:00:01Z</dcterms:created>
  <dcterms:modified xsi:type="dcterms:W3CDTF">2026-03-20T12:56:50Z</dcterms:modified>
</cp:coreProperties>
</file>