
<file path=[Content_Types].xml><?xml version="1.0" encoding="utf-8"?>
<Types xmlns="http://schemas.openxmlformats.org/package/2006/content-types">
  <Default Extension="emf" ContentType="image/x-emf"/>
  <Default Extension="fntdata" ContentType="application/x-fontdata"/>
  <Default Extension="jpeg" ContentType="image/jpeg"/>
  <Default Extension="mov" ContentType="video/quicktime"/>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60" r:id="rId1"/>
  </p:sldMasterIdLst>
  <p:notesMasterIdLst>
    <p:notesMasterId r:id="rId50"/>
  </p:notesMasterIdLst>
  <p:handoutMasterIdLst>
    <p:handoutMasterId r:id="rId51"/>
  </p:handoutMasterIdLst>
  <p:sldIdLst>
    <p:sldId id="303" r:id="rId2"/>
    <p:sldId id="487" r:id="rId3"/>
    <p:sldId id="565" r:id="rId4"/>
    <p:sldId id="265" r:id="rId5"/>
    <p:sldId id="551" r:id="rId6"/>
    <p:sldId id="269" r:id="rId7"/>
    <p:sldId id="270" r:id="rId8"/>
    <p:sldId id="291" r:id="rId9"/>
    <p:sldId id="571" r:id="rId10"/>
    <p:sldId id="566" r:id="rId11"/>
    <p:sldId id="340" r:id="rId12"/>
    <p:sldId id="281" r:id="rId13"/>
    <p:sldId id="426" r:id="rId14"/>
    <p:sldId id="295" r:id="rId15"/>
    <p:sldId id="297" r:id="rId16"/>
    <p:sldId id="387" r:id="rId17"/>
    <p:sldId id="285" r:id="rId18"/>
    <p:sldId id="578" r:id="rId19"/>
    <p:sldId id="570" r:id="rId20"/>
    <p:sldId id="311" r:id="rId21"/>
    <p:sldId id="312" r:id="rId22"/>
    <p:sldId id="313" r:id="rId23"/>
    <p:sldId id="575" r:id="rId24"/>
    <p:sldId id="567" r:id="rId25"/>
    <p:sldId id="336" r:id="rId26"/>
    <p:sldId id="324" r:id="rId27"/>
    <p:sldId id="331" r:id="rId28"/>
    <p:sldId id="572" r:id="rId29"/>
    <p:sldId id="335" r:id="rId30"/>
    <p:sldId id="579" r:id="rId31"/>
    <p:sldId id="337" r:id="rId32"/>
    <p:sldId id="338" r:id="rId33"/>
    <p:sldId id="350" r:id="rId34"/>
    <p:sldId id="264" r:id="rId35"/>
    <p:sldId id="328" r:id="rId36"/>
    <p:sldId id="329" r:id="rId37"/>
    <p:sldId id="330" r:id="rId38"/>
    <p:sldId id="592" r:id="rId39"/>
    <p:sldId id="341" r:id="rId40"/>
    <p:sldId id="351" r:id="rId41"/>
    <p:sldId id="352" r:id="rId42"/>
    <p:sldId id="595" r:id="rId43"/>
    <p:sldId id="561" r:id="rId44"/>
    <p:sldId id="594" r:id="rId45"/>
    <p:sldId id="541" r:id="rId46"/>
    <p:sldId id="577" r:id="rId47"/>
    <p:sldId id="492" r:id="rId48"/>
    <p:sldId id="576" r:id="rId49"/>
  </p:sldIdLst>
  <p:sldSz cx="12192000" cy="6858000"/>
  <p:notesSz cx="9144000" cy="6858000"/>
  <p:embeddedFontLst>
    <p:embeddedFont>
      <p:font typeface="Consolas" panose="020B0609020204030204" pitchFamily="49" charset="0"/>
      <p:regular r:id="rId52"/>
      <p:bold r:id="rId53"/>
      <p:italic r:id="rId54"/>
      <p:boldItalic r:id="rId55"/>
    </p:embeddedFont>
    <p:embeddedFont>
      <p:font typeface="Trebuchet MS" panose="020B0703020202090204" pitchFamily="34" charset="0"/>
      <p:regular r:id="rId56"/>
      <p:bold r:id="rId57"/>
      <p:italic r:id="rId58"/>
      <p:boldItalic r:id="rId59"/>
    </p:embeddedFont>
    <p:embeddedFont>
      <p:font typeface="Tw Cen MT" panose="020B0602020104020603" pitchFamily="34" charset="77"/>
      <p:regular r:id="rId60"/>
      <p:bold r:id="rId61"/>
      <p:italic r:id="rId62"/>
      <p:boldItalic r:id="rId63"/>
    </p:embeddedFont>
    <p:embeddedFont>
      <p:font typeface="Tw Cen MT Condensed" panose="020B0606020104020203" pitchFamily="34" charset="77"/>
      <p:regular r:id="rId64"/>
      <p:bold r:id="rId65"/>
    </p:embeddedFont>
    <p:embeddedFont>
      <p:font typeface="Verdana" panose="020B0604030504040204" pitchFamily="34" charset="0"/>
      <p:regular r:id="rId66"/>
      <p:bold r:id="rId67"/>
      <p:italic r:id="rId68"/>
      <p:boldItalic r:id="rId69"/>
    </p:embeddedFont>
    <p:embeddedFont>
      <p:font typeface="Wingdings 3" pitchFamily="2" charset="2"/>
      <p:regular r:id="rId7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E6F2"/>
    <a:srgbClr val="A0C283"/>
    <a:srgbClr val="FF2600"/>
    <a:srgbClr val="FF2F92"/>
    <a:srgbClr val="AB7942"/>
    <a:srgbClr val="FFD579"/>
    <a:srgbClr val="7A81FF"/>
    <a:srgbClr val="D883FF"/>
    <a:srgbClr val="FF85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8603FDC-E32A-4AB5-989C-0864C3EAD2B8}" styleName="Themed Style 2 - Accent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38B1855-1B75-4FBE-930C-398BA8C253C6}" styleName="Themed Style 2 - Accent 6">
    <a:tblBg>
      <a:fillRef idx="3">
        <a:schemeClr val="accent6"/>
      </a:fillRef>
      <a:effectRef idx="3">
        <a:schemeClr val="accent6"/>
      </a:effectRef>
    </a:tblBg>
    <a:wholeTbl>
      <a:tcTxStyle>
        <a:fontRef idx="minor">
          <a:scrgbClr r="0" g="0" b="0"/>
        </a:fontRef>
        <a:schemeClr val="lt1"/>
      </a:tcTxStyle>
      <a:tcStyle>
        <a:tcBdr>
          <a:left>
            <a:lnRef idx="1">
              <a:schemeClr val="accent6">
                <a:tint val="50000"/>
              </a:schemeClr>
            </a:lnRef>
          </a:left>
          <a:right>
            <a:lnRef idx="1">
              <a:schemeClr val="accent6">
                <a:tint val="50000"/>
              </a:schemeClr>
            </a:lnRef>
          </a:right>
          <a:top>
            <a:lnRef idx="1">
              <a:schemeClr val="accent6">
                <a:tint val="50000"/>
              </a:schemeClr>
            </a:lnRef>
          </a:top>
          <a:bottom>
            <a:lnRef idx="1">
              <a:schemeClr val="accent6">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46F890A9-2807-4EBB-B81D-B2AA78EC7F39}" styleName="Dark Style 2 - Accent 5/Accent 6">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5">
              <a:tint val="20000"/>
            </a:schemeClr>
          </a:solidFill>
        </a:fill>
      </a:tcStyle>
    </a:lastRow>
    <a:firstRow>
      <a:tcTxStyle b="on">
        <a:fontRef idx="minor">
          <a:scrgbClr r="0" g="0" b="0"/>
        </a:fontRef>
        <a:schemeClr val="lt1"/>
      </a:tcTxStyle>
      <a:tcStyle>
        <a:tcBdr/>
        <a:fill>
          <a:solidFill>
            <a:schemeClr val="accent6"/>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715"/>
    <p:restoredTop sz="77534" autoAdjust="0"/>
  </p:normalViewPr>
  <p:slideViewPr>
    <p:cSldViewPr snapToGrid="0" snapToObjects="1">
      <p:cViewPr varScale="1">
        <p:scale>
          <a:sx n="92" d="100"/>
          <a:sy n="92" d="100"/>
        </p:scale>
        <p:origin x="2208" y="192"/>
      </p:cViewPr>
      <p:guideLst>
        <p:guide orient="horz" pos="2160"/>
        <p:guide pos="3840"/>
      </p:guideLst>
    </p:cSldViewPr>
  </p:slideViewPr>
  <p:notesTextViewPr>
    <p:cViewPr>
      <p:scale>
        <a:sx n="150" d="100"/>
        <a:sy n="150" d="100"/>
      </p:scale>
      <p:origin x="0" y="0"/>
    </p:cViewPr>
  </p:notesTextViewPr>
  <p:notesViewPr>
    <p:cSldViewPr snapToGrid="0" snapToObjects="1">
      <p:cViewPr varScale="1">
        <p:scale>
          <a:sx n="99" d="100"/>
          <a:sy n="99" d="100"/>
        </p:scale>
        <p:origin x="3160" y="184"/>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font" Target="fonts/font12.fntdata"/><Relationship Id="rId68" Type="http://schemas.openxmlformats.org/officeDocument/2006/relationships/font" Target="fonts/font17.fntdata"/><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font" Target="fonts/font2.fntdata"/><Relationship Id="rId58" Type="http://schemas.openxmlformats.org/officeDocument/2006/relationships/font" Target="fonts/font7.fntdata"/><Relationship Id="rId66" Type="http://schemas.openxmlformats.org/officeDocument/2006/relationships/font" Target="fonts/font15.fntdata"/><Relationship Id="rId74"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font" Target="fonts/font10.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font" Target="fonts/font5.fntdata"/><Relationship Id="rId64" Type="http://schemas.openxmlformats.org/officeDocument/2006/relationships/font" Target="fonts/font13.fntdata"/><Relationship Id="rId69" Type="http://schemas.openxmlformats.org/officeDocument/2006/relationships/font" Target="fonts/font18.fntdata"/><Relationship Id="rId8" Type="http://schemas.openxmlformats.org/officeDocument/2006/relationships/slide" Target="slides/slide7.xml"/><Relationship Id="rId51" Type="http://schemas.openxmlformats.org/officeDocument/2006/relationships/handoutMaster" Target="handoutMasters/handoutMaster1.xml"/><Relationship Id="rId72"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font" Target="fonts/font8.fntdata"/><Relationship Id="rId67" Type="http://schemas.openxmlformats.org/officeDocument/2006/relationships/font" Target="fonts/font16.fntdata"/><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3.fntdata"/><Relationship Id="rId62" Type="http://schemas.openxmlformats.org/officeDocument/2006/relationships/font" Target="fonts/font11.fntdata"/><Relationship Id="rId70" Type="http://schemas.openxmlformats.org/officeDocument/2006/relationships/font" Target="fonts/font19.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font" Target="fonts/font6.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font" Target="fonts/font1.fntdata"/><Relationship Id="rId60" Type="http://schemas.openxmlformats.org/officeDocument/2006/relationships/font" Target="fonts/font9.fntdata"/><Relationship Id="rId65" Type="http://schemas.openxmlformats.org/officeDocument/2006/relationships/font" Target="fonts/font14.fntdata"/><Relationship Id="rId73"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notesMaster" Target="notesMasters/notesMaster1.xml"/><Relationship Id="rId55" Type="http://schemas.openxmlformats.org/officeDocument/2006/relationships/font" Target="fonts/font4.fntdata"/><Relationship Id="rId7" Type="http://schemas.openxmlformats.org/officeDocument/2006/relationships/slide" Target="slides/slide6.xml"/><Relationship Id="rId71"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5179484" y="0"/>
            <a:ext cx="3962400" cy="344091"/>
          </a:xfrm>
          <a:prstGeom prst="rect">
            <a:avLst/>
          </a:prstGeom>
        </p:spPr>
        <p:txBody>
          <a:bodyPr vert="horz" lIns="91440" tIns="45720" rIns="91440" bIns="45720" rtlCol="0"/>
          <a:lstStyle>
            <a:lvl1pPr algn="r">
              <a:defRPr sz="1200"/>
            </a:lvl1pPr>
          </a:lstStyle>
          <a:p>
            <a:fld id="{88389790-147C-7748-A8A1-65FAC8A20F72}" type="datetimeFigureOut">
              <a:rPr lang="en-US" smtClean="0"/>
              <a:t>5/4/26</a:t>
            </a:fld>
            <a:endParaRPr lang="en-US"/>
          </a:p>
        </p:txBody>
      </p:sp>
      <p:sp>
        <p:nvSpPr>
          <p:cNvPr id="4" name="Footer Placeholder 3"/>
          <p:cNvSpPr>
            <a:spLocks noGrp="1"/>
          </p:cNvSpPr>
          <p:nvPr>
            <p:ph type="ftr" sz="quarter" idx="2"/>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5179484" y="6513910"/>
            <a:ext cx="3962400" cy="344090"/>
          </a:xfrm>
          <a:prstGeom prst="rect">
            <a:avLst/>
          </a:prstGeom>
        </p:spPr>
        <p:txBody>
          <a:bodyPr vert="horz" lIns="91440" tIns="45720" rIns="91440" bIns="45720" rtlCol="0" anchor="b"/>
          <a:lstStyle>
            <a:lvl1pPr algn="r">
              <a:defRPr sz="1200"/>
            </a:lvl1pPr>
          </a:lstStyle>
          <a:p>
            <a:fld id="{31187C3C-3B4A-A94C-9469-5678414FBFB8}" type="slidenum">
              <a:rPr lang="en-US" smtClean="0"/>
              <a:t>‹#›</a:t>
            </a:fld>
            <a:endParaRPr lang="en-US"/>
          </a:p>
        </p:txBody>
      </p:sp>
    </p:spTree>
    <p:extLst>
      <p:ext uri="{BB962C8B-B14F-4D97-AF65-F5344CB8AC3E}">
        <p14:creationId xmlns:p14="http://schemas.microsoft.com/office/powerpoint/2010/main" val="8209896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48CB77B6-7185-9642-B594-FCD5D893C7A0}" type="datetimeFigureOut">
              <a:rPr lang="en-US" smtClean="0"/>
              <a:t>5/4/26</a:t>
            </a:fld>
            <a:endParaRPr lang="en-US"/>
          </a:p>
        </p:txBody>
      </p:sp>
      <p:sp>
        <p:nvSpPr>
          <p:cNvPr id="4" name="Slide Image Placeholder 3"/>
          <p:cNvSpPr>
            <a:spLocks noGrp="1" noRot="1" noChangeAspect="1"/>
          </p:cNvSpPr>
          <p:nvPr>
            <p:ph type="sldImg" idx="2"/>
          </p:nvPr>
        </p:nvSpPr>
        <p:spPr>
          <a:xfrm>
            <a:off x="2514600" y="857250"/>
            <a:ext cx="41148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0A193586-FEB5-7C43-8F44-7EFAE4EECA28}" type="slidenum">
              <a:rPr lang="en-US" smtClean="0"/>
              <a:t>‹#›</a:t>
            </a:fld>
            <a:endParaRPr lang="en-US"/>
          </a:p>
        </p:txBody>
      </p:sp>
    </p:spTree>
    <p:extLst>
      <p:ext uri="{BB962C8B-B14F-4D97-AF65-F5344CB8AC3E}">
        <p14:creationId xmlns:p14="http://schemas.microsoft.com/office/powerpoint/2010/main" val="2811076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sym typeface="Wingdings" pitchFamily="2" charset="2"/>
            </a:endParaRPr>
          </a:p>
        </p:txBody>
      </p:sp>
      <p:sp>
        <p:nvSpPr>
          <p:cNvPr id="4" name="Slide Number Placeholder 3"/>
          <p:cNvSpPr>
            <a:spLocks noGrp="1"/>
          </p:cNvSpPr>
          <p:nvPr>
            <p:ph type="sldNum" sz="quarter" idx="10"/>
          </p:nvPr>
        </p:nvSpPr>
        <p:spPr/>
        <p:txBody>
          <a:bodyPr/>
          <a:lstStyle/>
          <a:p>
            <a:fld id="{DD65BEC1-91A9-F040-80A2-A1EC33E8D6DB}" type="slidenum">
              <a:rPr lang="en-US" smtClean="0">
                <a:solidFill>
                  <a:prstClr val="black"/>
                </a:solidFill>
              </a:rPr>
              <a:pPr/>
              <a:t>1</a:t>
            </a:fld>
            <a:endParaRPr lang="en-US">
              <a:solidFill>
                <a:prstClr val="black"/>
              </a:solidFill>
            </a:endParaRPr>
          </a:p>
        </p:txBody>
      </p:sp>
    </p:spTree>
    <p:extLst>
      <p:ext uri="{BB962C8B-B14F-4D97-AF65-F5344CB8AC3E}">
        <p14:creationId xmlns:p14="http://schemas.microsoft.com/office/powerpoint/2010/main" val="14429181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generalized data science pipeline</a:t>
            </a:r>
            <a:r>
              <a:rPr lang="en-US" baseline="0" dirty="0"/>
              <a:t> that was introduced to you earlier today. The functions we'll be learning about fit specifically in the "tidy" and "transform" portions of this workflow. </a:t>
            </a:r>
            <a:endParaRPr lang="en-US" dirty="0"/>
          </a:p>
          <a:p>
            <a:endParaRPr lang="en-US" dirty="0"/>
          </a:p>
        </p:txBody>
      </p:sp>
      <p:sp>
        <p:nvSpPr>
          <p:cNvPr id="4" name="Slide Number Placeholder 3"/>
          <p:cNvSpPr>
            <a:spLocks noGrp="1"/>
          </p:cNvSpPr>
          <p:nvPr>
            <p:ph type="sldNum" sz="quarter" idx="5"/>
          </p:nvPr>
        </p:nvSpPr>
        <p:spPr/>
        <p:txBody>
          <a:bodyPr/>
          <a:lstStyle/>
          <a:p>
            <a:fld id="{1FCC21F6-288D-5A4B-ACA3-285287681776}" type="slidenum">
              <a:rPr lang="en-US" smtClean="0"/>
              <a:t>2</a:t>
            </a:fld>
            <a:endParaRPr lang="en-US"/>
          </a:p>
        </p:txBody>
      </p:sp>
    </p:spTree>
    <p:extLst>
      <p:ext uri="{BB962C8B-B14F-4D97-AF65-F5344CB8AC3E}">
        <p14:creationId xmlns:p14="http://schemas.microsoft.com/office/powerpoint/2010/main" val="6629968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dirty="0"/>
              <a:t>In</a:t>
            </a:r>
            <a:r>
              <a:rPr lang="en-US" baseline="0" dirty="0"/>
              <a:t> this session we'll be using functions that are part of the </a:t>
            </a:r>
            <a:r>
              <a:rPr lang="en-US" baseline="0" dirty="0" err="1"/>
              <a:t>dplyr</a:t>
            </a:r>
            <a:r>
              <a:rPr lang="en-US" baseline="0" dirty="0"/>
              <a:t> package. The </a:t>
            </a:r>
            <a:r>
              <a:rPr lang="en-US" baseline="0" dirty="0" err="1"/>
              <a:t>dplyr</a:t>
            </a:r>
            <a:r>
              <a:rPr lang="en-US" baseline="0" dirty="0"/>
              <a:t> package is part of the </a:t>
            </a:r>
            <a:r>
              <a:rPr lang="en-US" baseline="0" dirty="0" err="1"/>
              <a:t>tidyverse</a:t>
            </a:r>
            <a:r>
              <a:rPr lang="en-US" baseline="0" dirty="0"/>
              <a:t> meta-package and a workhorse for data transformation.</a:t>
            </a:r>
            <a:endParaRPr lang="en-US" dirty="0"/>
          </a:p>
          <a:p>
            <a:pPr marL="0" indent="0">
              <a:buNone/>
            </a:pPr>
            <a:endParaRPr lang="en-US" dirty="0"/>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3</a:t>
            </a:fld>
            <a:endParaRPr lang="en-US"/>
          </a:p>
        </p:txBody>
      </p:sp>
    </p:spTree>
    <p:extLst>
      <p:ext uri="{BB962C8B-B14F-4D97-AF65-F5344CB8AC3E}">
        <p14:creationId xmlns:p14="http://schemas.microsoft.com/office/powerpoint/2010/main" val="31453399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10: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600" dirty="0"/>
              <a:t>Now</a:t>
            </a:r>
            <a:r>
              <a:rPr lang="en-US" sz="600" baseline="0" dirty="0"/>
              <a:t> dplyr isn't just a haphazard collection of functions. It takes a holistic almost philosophical approach to the transformation of data and implements it in an organized lexicon or grammar for programmatically transforming data.</a:t>
            </a:r>
            <a:endParaRPr lang="en-US" sz="600" dirty="0"/>
          </a:p>
          <a:p>
            <a:pPr marL="0" indent="0">
              <a:buNone/>
            </a:pPr>
            <a:endParaRPr lang="en-US" sz="60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700" dirty="0"/>
              <a:t>What I mean when</a:t>
            </a:r>
            <a:r>
              <a:rPr lang="en-US" sz="700" baseline="0" dirty="0"/>
              <a:t> I say </a:t>
            </a:r>
            <a:r>
              <a:rPr lang="en-US" sz="700" dirty="0"/>
              <a:t>a grammar for transforming data really relates to 2 characteristics of the dplyr approach. </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700" dirty="0"/>
              <a:t>#1</a:t>
            </a:r>
            <a:r>
              <a:rPr lang="en-US" sz="700" baseline="0" dirty="0"/>
              <a:t> </a:t>
            </a:r>
            <a:r>
              <a:rPr lang="en-US" sz="700" dirty="0"/>
              <a:t>In a similar way to how verbs operate on nouns, dplyr functions operate on a data frames.</a:t>
            </a:r>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sz="700" dirty="0"/>
              <a:t>#2</a:t>
            </a:r>
            <a:r>
              <a:rPr lang="en-US" sz="700" baseline="0" dirty="0"/>
              <a:t> </a:t>
            </a:r>
            <a:r>
              <a:rPr lang="en-US" sz="700" dirty="0"/>
              <a:t>Dplyr</a:t>
            </a:r>
            <a:r>
              <a:rPr lang="en-US" sz="700" baseline="0" dirty="0"/>
              <a:t> functions </a:t>
            </a:r>
            <a:r>
              <a:rPr lang="en-US" sz="700" dirty="0"/>
              <a:t>use a consistent syntax which</a:t>
            </a:r>
            <a:r>
              <a:rPr lang="en-US" sz="700" baseline="0" dirty="0"/>
              <a:t> minimizes cognitive load so once you understand the dplyr approach with one function its easier to learn new functions</a:t>
            </a:r>
            <a:endParaRPr lang="en-US" sz="700" dirty="0"/>
          </a:p>
          <a:p>
            <a:pPr marL="0" indent="0">
              <a:buNone/>
            </a:pPr>
            <a:endParaRPr lang="en-US" sz="600" dirty="0"/>
          </a:p>
          <a:p>
            <a:pPr marL="0" indent="0">
              <a:buNone/>
            </a:pPr>
            <a:endParaRPr lang="en-US" sz="600" dirty="0"/>
          </a:p>
        </p:txBody>
      </p:sp>
      <p:sp>
        <p:nvSpPr>
          <p:cNvPr id="120" name="Google Shape;120;p10: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986289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a:t>
            </a:r>
            <a:r>
              <a:rPr lang="en-US" baseline="0" dirty="0"/>
              <a:t> function we'll talk about provides tools for narrowing down a </a:t>
            </a:r>
            <a:r>
              <a:rPr lang="en-US" baseline="0" dirty="0" err="1"/>
              <a:t>dataframe</a:t>
            </a:r>
            <a:r>
              <a:rPr lang="en-US" baseline="0" dirty="0"/>
              <a:t> to just the columns you need for an analysis</a:t>
            </a:r>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5</a:t>
            </a:fld>
            <a:endParaRPr lang="en-US"/>
          </a:p>
        </p:txBody>
      </p:sp>
    </p:spTree>
    <p:extLst>
      <p:ext uri="{BB962C8B-B14F-4D97-AF65-F5344CB8AC3E}">
        <p14:creationId xmlns:p14="http://schemas.microsoft.com/office/powerpoint/2010/main" val="18262823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
        <p:cNvGrpSpPr/>
        <p:nvPr/>
      </p:nvGrpSpPr>
      <p:grpSpPr>
        <a:xfrm>
          <a:off x="0" y="0"/>
          <a:ext cx="0" cy="0"/>
          <a:chOff x="0" y="0"/>
          <a:chExt cx="0" cy="0"/>
        </a:xfrm>
      </p:grpSpPr>
      <p:sp>
        <p:nvSpPr>
          <p:cNvPr id="164" name="Google Shape;164;p1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1100" dirty="0">
                <a:solidFill>
                  <a:schemeClr val="dk1"/>
                </a:solidFill>
                <a:latin typeface="Calibri"/>
                <a:ea typeface="Calibri"/>
                <a:cs typeface="Calibri"/>
                <a:sym typeface="Calibri"/>
              </a:rPr>
              <a:t>This</a:t>
            </a:r>
            <a:r>
              <a:rPr lang="en-US" sz="1100" baseline="0" dirty="0">
                <a:solidFill>
                  <a:schemeClr val="dk1"/>
                </a:solidFill>
                <a:latin typeface="Calibri"/>
                <a:ea typeface="Calibri"/>
                <a:cs typeface="Calibri"/>
                <a:sym typeface="Calibri"/>
              </a:rPr>
              <a:t> is done with the select function</a:t>
            </a: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Here you see the graphical framework for how select works. You provide</a:t>
            </a:r>
            <a:r>
              <a:rPr lang="en-US" sz="1100" baseline="0" dirty="0">
                <a:solidFill>
                  <a:schemeClr val="dk1"/>
                </a:solidFill>
                <a:latin typeface="Calibri"/>
                <a:ea typeface="Calibri"/>
                <a:cs typeface="Calibri"/>
                <a:sym typeface="Calibri"/>
              </a:rPr>
              <a:t> the raw data as the input in the form of a data frame.</a:t>
            </a:r>
            <a:endParaRPr lang="en-US" sz="1100" dirty="0">
              <a:solidFill>
                <a:schemeClr val="dk1"/>
              </a:solidFill>
              <a:latin typeface="Calibri"/>
              <a:ea typeface="Calibri"/>
              <a:cs typeface="Calibri"/>
              <a:sym typeface="Calibri"/>
            </a:endParaRP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It will extract the columns of your choosing and return these columns as a new data frame. </a:t>
            </a: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In the output, you will wind up with all the rows that you started with and the columns defined in the select function.</a:t>
            </a:r>
            <a:endParaRPr sz="1100" dirty="0"/>
          </a:p>
        </p:txBody>
      </p:sp>
      <p:sp>
        <p:nvSpPr>
          <p:cNvPr id="165" name="Google Shape;165;p1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70127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600" dirty="0">
                <a:solidFill>
                  <a:schemeClr val="dk1"/>
                </a:solidFill>
                <a:latin typeface="Calibri"/>
                <a:ea typeface="Calibri"/>
                <a:cs typeface="Calibri"/>
                <a:sym typeface="Calibri"/>
              </a:rPr>
              <a:t>You can see here that select() takes the starting data frame as its first argument. In this case it’s the "</a:t>
            </a:r>
            <a:r>
              <a:rPr lang="en-US" sz="600" dirty="0" err="1">
                <a:solidFill>
                  <a:schemeClr val="dk1"/>
                </a:solidFill>
                <a:latin typeface="Calibri"/>
                <a:ea typeface="Calibri"/>
                <a:cs typeface="Calibri"/>
                <a:sym typeface="Calibri"/>
              </a:rPr>
              <a:t>covid_testing</a:t>
            </a:r>
            <a:r>
              <a:rPr lang="en-US" sz="600" dirty="0">
                <a:solidFill>
                  <a:schemeClr val="dk1"/>
                </a:solidFill>
                <a:latin typeface="Calibri"/>
                <a:ea typeface="Calibri"/>
                <a:cs typeface="Calibri"/>
                <a:sym typeface="Calibri"/>
              </a:rPr>
              <a:t>" data frame.</a:t>
            </a:r>
          </a:p>
          <a:p>
            <a:pPr marL="0" indent="0">
              <a:lnSpc>
                <a:spcPct val="115000"/>
              </a:lnSpc>
              <a:buClr>
                <a:schemeClr val="dk1"/>
              </a:buClr>
              <a:buNone/>
            </a:pPr>
            <a:r>
              <a:rPr lang="en-US" sz="600" dirty="0">
                <a:solidFill>
                  <a:schemeClr val="dk1"/>
                </a:solidFill>
                <a:latin typeface="Calibri"/>
                <a:ea typeface="Calibri"/>
                <a:cs typeface="Calibri"/>
                <a:sym typeface="Calibri"/>
              </a:rPr>
              <a:t>After that it takes any number of additional arguments that specify the columns that you want to pick. </a:t>
            </a:r>
          </a:p>
          <a:p>
            <a:pPr marL="0" indent="0">
              <a:lnSpc>
                <a:spcPct val="115000"/>
              </a:lnSpc>
              <a:buClr>
                <a:schemeClr val="dk1"/>
              </a:buClr>
              <a:buNone/>
            </a:pPr>
            <a:r>
              <a:rPr lang="en-US" sz="600" dirty="0">
                <a:solidFill>
                  <a:schemeClr val="dk1"/>
                </a:solidFill>
                <a:latin typeface="Calibri"/>
                <a:ea typeface="Calibri"/>
                <a:cs typeface="Calibri"/>
                <a:sym typeface="Calibri"/>
              </a:rPr>
              <a:t>In it’s simplest form, those additional arguments will just be the names of the columns that you want to select. Like in this case we are indicating that we want to keep the </a:t>
            </a:r>
            <a:r>
              <a:rPr lang="en-US" sz="600" dirty="0" err="1">
                <a:solidFill>
                  <a:schemeClr val="dk1"/>
                </a:solidFill>
                <a:latin typeface="Calibri"/>
                <a:ea typeface="Calibri"/>
                <a:cs typeface="Calibri"/>
                <a:sym typeface="Calibri"/>
              </a:rPr>
              <a:t>mrn</a:t>
            </a:r>
            <a:r>
              <a:rPr lang="en-US" sz="600" dirty="0">
                <a:solidFill>
                  <a:schemeClr val="dk1"/>
                </a:solidFill>
                <a:latin typeface="Calibri"/>
                <a:ea typeface="Calibri"/>
                <a:cs typeface="Calibri"/>
                <a:sym typeface="Calibri"/>
              </a:rPr>
              <a:t> and </a:t>
            </a:r>
            <a:r>
              <a:rPr lang="en-US" sz="600" dirty="0" err="1">
                <a:solidFill>
                  <a:schemeClr val="dk1"/>
                </a:solidFill>
                <a:latin typeface="Calibri"/>
                <a:ea typeface="Calibri"/>
                <a:cs typeface="Calibri"/>
                <a:sym typeface="Calibri"/>
              </a:rPr>
              <a:t>last_name</a:t>
            </a:r>
            <a:r>
              <a:rPr lang="en-US" sz="600" dirty="0">
                <a:solidFill>
                  <a:schemeClr val="dk1"/>
                </a:solidFill>
                <a:latin typeface="Calibri"/>
                <a:ea typeface="Calibri"/>
                <a:cs typeface="Calibri"/>
                <a:sym typeface="Calibri"/>
              </a:rPr>
              <a:t> columns.</a:t>
            </a:r>
          </a:p>
          <a:p>
            <a:pPr marL="0" indent="0">
              <a:lnSpc>
                <a:spcPct val="115000"/>
              </a:lnSpc>
              <a:buClr>
                <a:schemeClr val="dk1"/>
              </a:buClr>
              <a:buNone/>
            </a:pPr>
            <a:r>
              <a:rPr lang="en-US" sz="600" dirty="0">
                <a:solidFill>
                  <a:schemeClr val="dk1"/>
                </a:solidFill>
                <a:latin typeface="Calibri"/>
                <a:ea typeface="Calibri"/>
                <a:cs typeface="Calibri"/>
                <a:sym typeface="Calibri"/>
              </a:rPr>
              <a:t> In very wide datasets, writing out the names of the columns you want just doesn’t scale so dplyr does have additional</a:t>
            </a:r>
            <a:r>
              <a:rPr lang="en-US" sz="600" baseline="0" dirty="0">
                <a:solidFill>
                  <a:schemeClr val="dk1"/>
                </a:solidFill>
                <a:latin typeface="Calibri"/>
                <a:ea typeface="Calibri"/>
                <a:cs typeface="Calibri"/>
                <a:sym typeface="Calibri"/>
              </a:rPr>
              <a:t> </a:t>
            </a:r>
            <a:r>
              <a:rPr lang="en-US" sz="600" dirty="0">
                <a:solidFill>
                  <a:schemeClr val="dk1"/>
                </a:solidFill>
                <a:latin typeface="Calibri"/>
                <a:ea typeface="Calibri"/>
                <a:cs typeface="Calibri"/>
                <a:sym typeface="Calibri"/>
              </a:rPr>
              <a:t>convenience functions that can help you succinctly identify the columns you want. We won't go over these together but they </a:t>
            </a:r>
            <a:r>
              <a:rPr lang="en-US" sz="600" baseline="0" dirty="0">
                <a:solidFill>
                  <a:schemeClr val="dk1"/>
                </a:solidFill>
                <a:latin typeface="Calibri"/>
                <a:ea typeface="Calibri"/>
                <a:cs typeface="Calibri"/>
                <a:sym typeface="Calibri"/>
              </a:rPr>
              <a:t>can be found in the data transformation cheat sheet in the appendix to your </a:t>
            </a:r>
            <a:r>
              <a:rPr lang="en-US" sz="600" baseline="0" dirty="0" err="1">
                <a:solidFill>
                  <a:schemeClr val="dk1"/>
                </a:solidFill>
                <a:latin typeface="Calibri"/>
                <a:ea typeface="Calibri"/>
                <a:cs typeface="Calibri"/>
                <a:sym typeface="Calibri"/>
              </a:rPr>
              <a:t>coursebook</a:t>
            </a:r>
            <a:r>
              <a:rPr lang="en-US" sz="600" baseline="0" dirty="0">
                <a:solidFill>
                  <a:schemeClr val="dk1"/>
                </a:solidFill>
                <a:latin typeface="Calibri"/>
                <a:ea typeface="Calibri"/>
                <a:cs typeface="Calibri"/>
                <a:sym typeface="Calibri"/>
              </a:rPr>
              <a:t>.</a:t>
            </a:r>
            <a:endParaRPr sz="600" dirty="0">
              <a:solidFill>
                <a:schemeClr val="dk1"/>
              </a:solidFill>
              <a:latin typeface="Calibri"/>
              <a:ea typeface="Calibri"/>
              <a:cs typeface="Calibri"/>
              <a:sym typeface="Calibri"/>
            </a:endParaRPr>
          </a:p>
          <a:p>
            <a:pPr marL="0" indent="0">
              <a:buNone/>
            </a:pPr>
            <a:endParaRPr dirty="0"/>
          </a:p>
        </p:txBody>
      </p:sp>
      <p:sp>
        <p:nvSpPr>
          <p:cNvPr id="178" name="Google Shape;178;p14: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021973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14: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sz="600" dirty="0">
                <a:solidFill>
                  <a:schemeClr val="dk1"/>
                </a:solidFill>
                <a:latin typeface="Calibri"/>
                <a:ea typeface="Calibri"/>
                <a:cs typeface="Calibri"/>
                <a:sym typeface="Calibri"/>
              </a:rPr>
              <a:t>So for example, if you were to run the code</a:t>
            </a:r>
            <a:r>
              <a:rPr lang="en-US" sz="600" baseline="0" dirty="0">
                <a:solidFill>
                  <a:schemeClr val="dk1"/>
                </a:solidFill>
                <a:latin typeface="Calibri"/>
                <a:ea typeface="Calibri"/>
                <a:cs typeface="Calibri"/>
                <a:sym typeface="Calibri"/>
              </a:rPr>
              <a:t> you see here</a:t>
            </a:r>
            <a:r>
              <a:rPr lang="en-US" sz="600" dirty="0">
                <a:solidFill>
                  <a:schemeClr val="dk1"/>
                </a:solidFill>
                <a:latin typeface="Calibri"/>
                <a:ea typeface="Calibri"/>
                <a:cs typeface="Calibri"/>
                <a:sym typeface="Calibri"/>
              </a:rPr>
              <a:t>, the snippet of the </a:t>
            </a:r>
            <a:r>
              <a:rPr lang="en-US" sz="600" dirty="0" err="1">
                <a:solidFill>
                  <a:schemeClr val="dk1"/>
                </a:solidFill>
                <a:latin typeface="Calibri"/>
                <a:ea typeface="Calibri"/>
                <a:cs typeface="Calibri"/>
                <a:sym typeface="Calibri"/>
              </a:rPr>
              <a:t>covid_testing</a:t>
            </a:r>
            <a:r>
              <a:rPr lang="en-US" sz="600" dirty="0">
                <a:solidFill>
                  <a:schemeClr val="dk1"/>
                </a:solidFill>
                <a:latin typeface="Calibri"/>
                <a:ea typeface="Calibri"/>
                <a:cs typeface="Calibri"/>
                <a:sym typeface="Calibri"/>
              </a:rPr>
              <a:t> data frame on the left would be accepted as input and a subset of it, the </a:t>
            </a:r>
            <a:r>
              <a:rPr lang="en-US" sz="600" dirty="0" err="1">
                <a:solidFill>
                  <a:schemeClr val="dk1"/>
                </a:solidFill>
                <a:latin typeface="Calibri"/>
                <a:ea typeface="Calibri"/>
                <a:cs typeface="Calibri"/>
                <a:sym typeface="Calibri"/>
              </a:rPr>
              <a:t>mrn</a:t>
            </a:r>
            <a:r>
              <a:rPr lang="en-US" sz="600" dirty="0">
                <a:solidFill>
                  <a:schemeClr val="dk1"/>
                </a:solidFill>
                <a:latin typeface="Calibri"/>
                <a:ea typeface="Calibri"/>
                <a:cs typeface="Calibri"/>
                <a:sym typeface="Calibri"/>
              </a:rPr>
              <a:t> and the </a:t>
            </a:r>
            <a:r>
              <a:rPr lang="en-US" sz="600" dirty="0" err="1">
                <a:solidFill>
                  <a:schemeClr val="dk1"/>
                </a:solidFill>
                <a:latin typeface="Calibri"/>
                <a:ea typeface="Calibri"/>
                <a:cs typeface="Calibri"/>
                <a:sym typeface="Calibri"/>
              </a:rPr>
              <a:t>last_name</a:t>
            </a:r>
            <a:r>
              <a:rPr lang="en-US" sz="600" dirty="0">
                <a:solidFill>
                  <a:schemeClr val="dk1"/>
                </a:solidFill>
                <a:latin typeface="Calibri"/>
                <a:ea typeface="Calibri"/>
                <a:cs typeface="Calibri"/>
                <a:sym typeface="Calibri"/>
              </a:rPr>
              <a:t> would be returned as output </a:t>
            </a:r>
            <a:endParaRPr lang="en-US" sz="600" dirty="0"/>
          </a:p>
        </p:txBody>
      </p:sp>
      <p:sp>
        <p:nvSpPr>
          <p:cNvPr id="178" name="Google Shape;178;p14: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5729262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9</a:t>
            </a:fld>
            <a:endParaRPr lang="en-US"/>
          </a:p>
        </p:txBody>
      </p:sp>
    </p:spTree>
    <p:extLst>
      <p:ext uri="{BB962C8B-B14F-4D97-AF65-F5344CB8AC3E}">
        <p14:creationId xmlns:p14="http://schemas.microsoft.com/office/powerpoint/2010/main" val="3862090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10</a:t>
            </a:fld>
            <a:endParaRPr lang="en-US"/>
          </a:p>
        </p:txBody>
      </p:sp>
    </p:spTree>
    <p:extLst>
      <p:ext uri="{BB962C8B-B14F-4D97-AF65-F5344CB8AC3E}">
        <p14:creationId xmlns:p14="http://schemas.microsoft.com/office/powerpoint/2010/main" val="62496705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11: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1100" dirty="0">
                <a:solidFill>
                  <a:schemeClr val="dk1"/>
                </a:solidFill>
                <a:latin typeface="Calibri"/>
                <a:ea typeface="Calibri"/>
                <a:cs typeface="Calibri"/>
                <a:sym typeface="Calibri"/>
              </a:rPr>
              <a:t>Here you see the graphical framework for how filter works. You provide</a:t>
            </a:r>
            <a:r>
              <a:rPr lang="en-US" sz="1100" baseline="0" dirty="0">
                <a:solidFill>
                  <a:schemeClr val="dk1"/>
                </a:solidFill>
                <a:latin typeface="Calibri"/>
                <a:ea typeface="Calibri"/>
                <a:cs typeface="Calibri"/>
                <a:sym typeface="Calibri"/>
              </a:rPr>
              <a:t> the raw data as the input in the form of a data frame.</a:t>
            </a:r>
            <a:endParaRPr lang="en-US" sz="1100" dirty="0">
              <a:solidFill>
                <a:schemeClr val="dk1"/>
              </a:solidFill>
              <a:latin typeface="Calibri"/>
              <a:ea typeface="Calibri"/>
              <a:cs typeface="Calibri"/>
              <a:sym typeface="Calibri"/>
            </a:endParaRP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Filter will use logical</a:t>
            </a:r>
            <a:r>
              <a:rPr lang="en-US" sz="1100" baseline="0" dirty="0">
                <a:solidFill>
                  <a:schemeClr val="dk1"/>
                </a:solidFill>
                <a:latin typeface="Calibri"/>
                <a:ea typeface="Calibri"/>
                <a:cs typeface="Calibri"/>
                <a:sym typeface="Calibri"/>
              </a:rPr>
              <a:t> criteria you provide in the function to identify the rows </a:t>
            </a:r>
            <a:r>
              <a:rPr lang="en-US" sz="1100" dirty="0">
                <a:solidFill>
                  <a:schemeClr val="dk1"/>
                </a:solidFill>
                <a:latin typeface="Calibri"/>
                <a:ea typeface="Calibri"/>
                <a:cs typeface="Calibri"/>
                <a:sym typeface="Calibri"/>
              </a:rPr>
              <a:t>that are required </a:t>
            </a:r>
          </a:p>
          <a:p>
            <a:pPr marL="0" indent="0">
              <a:lnSpc>
                <a:spcPct val="115000"/>
              </a:lnSpc>
              <a:buClr>
                <a:schemeClr val="dk1"/>
              </a:buClr>
              <a:buNone/>
            </a:pPr>
            <a:endParaRPr lang="en-US" sz="1100" dirty="0">
              <a:solidFill>
                <a:schemeClr val="dk1"/>
              </a:solidFill>
              <a:latin typeface="Calibri"/>
              <a:ea typeface="Calibri"/>
              <a:cs typeface="Calibri"/>
              <a:sym typeface="Calibri"/>
            </a:endParaRPr>
          </a:p>
          <a:p>
            <a:pPr marL="0" indent="0">
              <a:lnSpc>
                <a:spcPct val="115000"/>
              </a:lnSpc>
              <a:buClr>
                <a:schemeClr val="dk1"/>
              </a:buClr>
              <a:buNone/>
            </a:pPr>
            <a:r>
              <a:rPr lang="en-US" sz="1100" dirty="0">
                <a:solidFill>
                  <a:schemeClr val="dk1"/>
                </a:solidFill>
                <a:latin typeface="Calibri"/>
                <a:ea typeface="Calibri"/>
                <a:cs typeface="Calibri"/>
                <a:sym typeface="Calibri"/>
              </a:rPr>
              <a:t>In the output, you will wind up with all the columns that you started with and just the rows defined in the filter function.</a:t>
            </a:r>
            <a:endParaRPr lang="en-US" sz="1100" dirty="0"/>
          </a:p>
          <a:p>
            <a:pPr marL="0" indent="0">
              <a:buNone/>
            </a:pPr>
            <a:endParaRPr dirty="0"/>
          </a:p>
        </p:txBody>
      </p:sp>
      <p:sp>
        <p:nvSpPr>
          <p:cNvPr id="143" name="Google Shape;143;p11: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5590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In filter the first argument again is a data frame from which we will be extracting rows. </a:t>
            </a:r>
          </a:p>
          <a:p>
            <a:pPr marL="0" indent="0">
              <a:buNone/>
            </a:pPr>
            <a:r>
              <a:rPr lang="en-US" dirty="0"/>
              <a:t>Afterwards we can input one more logical tests. R then performs that logical test on each row of the dataset and returns all rows in which the logical test is TRUE. Rows for which the tests are TRUE are returned in the output as a data frame and the rest are removed.</a:t>
            </a:r>
          </a:p>
          <a:p>
            <a:pPr marL="0" indent="0">
              <a:buNone/>
            </a:pPr>
            <a:r>
              <a:rPr lang="en-US" dirty="0"/>
              <a:t>The key point here is that the logical tests are evaluated</a:t>
            </a:r>
            <a:r>
              <a:rPr lang="en-US" baseline="0" dirty="0"/>
              <a:t> row by row, one at a time, independently.</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835375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Let's</a:t>
            </a:r>
            <a:r>
              <a:rPr lang="en-US" baseline="0" dirty="0"/>
              <a:t> zoom in for a second on those logical tests.</a:t>
            </a:r>
          </a:p>
          <a:p>
            <a:pPr marL="0" indent="0">
              <a:buNone/>
            </a:pPr>
            <a:endParaRPr lang="en-US" baseline="0" dirty="0"/>
          </a:p>
          <a:p>
            <a:pPr marL="0" indent="0">
              <a:buNone/>
            </a:pPr>
            <a:r>
              <a:rPr lang="en-US" baseline="0" dirty="0"/>
              <a:t>Generally speaking they will take this form. </a:t>
            </a:r>
          </a:p>
          <a:p>
            <a:pPr marL="0" indent="0">
              <a:buNone/>
            </a:pPr>
            <a:endParaRPr lang="en-US" baseline="0" dirty="0"/>
          </a:p>
          <a:p>
            <a:pPr marL="0" indent="0">
              <a:buNone/>
            </a:pPr>
            <a:r>
              <a:rPr lang="en-US" baseline="0" dirty="0"/>
              <a:t>There will be some column that contains the data you want to filter on, like the clinic name, or the patient MRN.</a:t>
            </a:r>
          </a:p>
          <a:p>
            <a:pPr marL="0" indent="0">
              <a:buNone/>
            </a:pPr>
            <a:endParaRPr lang="en-US" baseline="0" dirty="0"/>
          </a:p>
          <a:p>
            <a:pPr marL="0" indent="0">
              <a:buNone/>
            </a:pPr>
            <a:r>
              <a:rPr lang="en-US" baseline="0" dirty="0"/>
              <a:t>Then there will be a logical test, what you see here is equals, you can also have greater than, less than etc.</a:t>
            </a:r>
          </a:p>
          <a:p>
            <a:pPr marL="0" indent="0">
              <a:buNone/>
            </a:pPr>
            <a:endParaRPr lang="en-US" baseline="0" dirty="0"/>
          </a:p>
          <a:p>
            <a:pPr marL="0" indent="0">
              <a:buNone/>
            </a:pPr>
            <a:r>
              <a:rPr lang="en-US" baseline="0" dirty="0"/>
              <a:t>And then you have the criteria. Equal to what? Greater than what number?</a:t>
            </a:r>
          </a:p>
          <a:p>
            <a:pPr marL="0" indent="0">
              <a:buNone/>
            </a:pPr>
            <a:endParaRPr lang="en-US" baseline="0" dirty="0"/>
          </a:p>
          <a:p>
            <a:pPr marL="0" indent="0">
              <a:buNone/>
            </a:pPr>
            <a:r>
              <a:rPr lang="en-US" baseline="0" dirty="0"/>
              <a:t>OK let's see some real examples </a:t>
            </a:r>
            <a:r>
              <a:rPr lang="en-US" baseline="0" dirty="0">
                <a:sym typeface="Wingdings" panose="05000000000000000000" pitchFamily="2" charset="2"/>
              </a:rPr>
              <a:t></a:t>
            </a:r>
            <a:endParaRPr lang="en-US"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236057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Here's an example.  We supply the </a:t>
            </a:r>
            <a:r>
              <a:rPr lang="en-US" dirty="0" err="1"/>
              <a:t>covid_testing</a:t>
            </a:r>
            <a:r>
              <a:rPr lang="en-US" dirty="0"/>
              <a:t> data frame as the first argument. Afterwards we provide one logical test; we ask filter() to return</a:t>
            </a:r>
            <a:r>
              <a:rPr lang="en-US" baseline="0" dirty="0"/>
              <a:t> rows in which the </a:t>
            </a:r>
            <a:r>
              <a:rPr lang="en-US" baseline="0" dirty="0" err="1"/>
              <a:t>mrn</a:t>
            </a:r>
            <a:r>
              <a:rPr lang="en-US" baseline="0" dirty="0"/>
              <a:t> is </a:t>
            </a:r>
            <a:r>
              <a:rPr lang="en-US" sz="1100" b="0" i="0" u="none" strike="noStrike" cap="none" dirty="0">
                <a:solidFill>
                  <a:srgbClr val="000000"/>
                </a:solidFill>
                <a:effectLst/>
                <a:latin typeface="Arial"/>
                <a:ea typeface="Arial"/>
                <a:cs typeface="Arial"/>
                <a:sym typeface="Arial"/>
              </a:rPr>
              <a:t>5000083</a:t>
            </a:r>
            <a:r>
              <a:rPr lang="en-US" baseline="0" dirty="0"/>
              <a:t>.</a:t>
            </a:r>
          </a:p>
          <a:p>
            <a:pPr marL="0" indent="0">
              <a:buNone/>
            </a:pPr>
            <a:r>
              <a:rPr lang="en-US" baseline="0" dirty="0"/>
              <a:t>Filter will go row by row, starting from the very first row and ask is the value in the </a:t>
            </a:r>
            <a:r>
              <a:rPr lang="en-US" baseline="0" dirty="0" err="1"/>
              <a:t>mrn</a:t>
            </a:r>
            <a:r>
              <a:rPr lang="en-US" baseline="0" dirty="0"/>
              <a:t> column equal to 500083 for that row, as you can see it's not – so it gets an imaginary value of false. </a:t>
            </a:r>
            <a:r>
              <a:rPr lang="en-US" baseline="0" dirty="0">
                <a:sym typeface="Wingdings" panose="05000000000000000000" pitchFamily="2" charset="2"/>
              </a:rPr>
              <a:t></a:t>
            </a:r>
          </a:p>
          <a:p>
            <a:pPr marL="0" indent="0">
              <a:buNone/>
            </a:pPr>
            <a:r>
              <a:rPr lang="en-US" baseline="0" dirty="0">
                <a:sym typeface="Wingdings" panose="05000000000000000000" pitchFamily="2" charset="2"/>
              </a:rPr>
              <a:t>It then goes to the second row, again checks to see if the </a:t>
            </a:r>
            <a:r>
              <a:rPr lang="en-US" baseline="0" dirty="0" err="1">
                <a:sym typeface="Wingdings" panose="05000000000000000000" pitchFamily="2" charset="2"/>
              </a:rPr>
              <a:t>mrn</a:t>
            </a:r>
            <a:r>
              <a:rPr lang="en-US" baseline="0" dirty="0">
                <a:sym typeface="Wingdings" panose="05000000000000000000" pitchFamily="2" charset="2"/>
              </a:rPr>
              <a:t> is a match, it's not so it also get's a false.</a:t>
            </a:r>
          </a:p>
          <a:p>
            <a:pPr marL="0" indent="0">
              <a:buNone/>
            </a:pPr>
            <a:r>
              <a:rPr lang="en-US" baseline="0" dirty="0">
                <a:sym typeface="Wingdings" panose="05000000000000000000" pitchFamily="2" charset="2"/>
              </a:rPr>
              <a:t>And so on for the third </a:t>
            </a:r>
          </a:p>
          <a:p>
            <a:pPr marL="0" indent="0">
              <a:buNone/>
            </a:pPr>
            <a:r>
              <a:rPr lang="en-US" baseline="0" dirty="0">
                <a:sym typeface="Wingdings" panose="05000000000000000000" pitchFamily="2" charset="2"/>
              </a:rPr>
              <a:t>But in the fourth you can see we do have a match – so that gets a TRUE. </a:t>
            </a:r>
          </a:p>
          <a:p>
            <a:pPr marL="0" indent="0">
              <a:buNone/>
            </a:pPr>
            <a:r>
              <a:rPr lang="en-US" baseline="0" dirty="0">
                <a:sym typeface="Wingdings" panose="05000000000000000000" pitchFamily="2" charset="2"/>
              </a:rPr>
              <a:t>So the output of this function is a data frame with the same number of columns but only the rows that resulted in a TRUE based on the criteria in the function</a:t>
            </a:r>
          </a:p>
          <a:p>
            <a:pPr marL="0" indent="0">
              <a:buNone/>
            </a:pPr>
            <a:endParaRPr lang="en-US" baseline="0" dirty="0">
              <a:sym typeface="Wingdings" panose="05000000000000000000" pitchFamily="2" charset="2"/>
            </a:endParaRPr>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838877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defTabSz="492404">
              <a:buNone/>
              <a:defRPr/>
            </a:pPr>
            <a:r>
              <a:rPr lang="en-US" dirty="0"/>
              <a:t>Similarly we can ask filter to return just the rows that represent tests for a specific patient, like stark.</a:t>
            </a:r>
          </a:p>
          <a:p>
            <a:pPr marL="0" indent="0" defTabSz="492404">
              <a:buNone/>
              <a:defRPr/>
            </a:pPr>
            <a:r>
              <a:rPr lang="en-US" dirty="0"/>
              <a:t>In this case the first two rows result in TRUE and so are kept </a:t>
            </a:r>
          </a:p>
          <a:p>
            <a:pPr marL="0" indent="0" defTabSz="492404">
              <a:buNone/>
              <a:defRPr/>
            </a:pPr>
            <a:r>
              <a:rPr lang="en-US" dirty="0"/>
              <a:t> Note that when asking filter to return rows with specific text inside of it, we have to put that text in quotes and it's got to be an exact match, partial matches don't count. </a:t>
            </a:r>
          </a:p>
          <a:p>
            <a:pPr marL="0" indent="0">
              <a:buNone/>
            </a:pPr>
            <a:endParaRPr lang="en-US"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4068306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So what we've seen is that the output of a filter() function is completely</a:t>
            </a:r>
            <a:r>
              <a:rPr lang="en-US" baseline="0" dirty="0"/>
              <a:t> dependent on the logical operators in this green square. Rows in which the logical statement results in a TRUE are returned and those that are FALSE will not be returned. So the next question of course is how do you construct logical statements in R.</a:t>
            </a:r>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06612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7"/>
        <p:cNvGrpSpPr/>
        <p:nvPr/>
      </p:nvGrpSpPr>
      <p:grpSpPr>
        <a:xfrm>
          <a:off x="0" y="0"/>
          <a:ext cx="0" cy="0"/>
          <a:chOff x="0" y="0"/>
          <a:chExt cx="0" cy="0"/>
        </a:xfrm>
      </p:grpSpPr>
      <p:sp>
        <p:nvSpPr>
          <p:cNvPr id="338" name="Google Shape;338;p27: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lnSpc>
                <a:spcPct val="115000"/>
              </a:lnSpc>
              <a:buClr>
                <a:schemeClr val="dk1"/>
              </a:buClr>
              <a:buNone/>
            </a:pPr>
            <a:r>
              <a:rPr lang="en-US" sz="600" dirty="0">
                <a:solidFill>
                  <a:schemeClr val="dk1"/>
                </a:solidFill>
                <a:latin typeface="Calibri"/>
                <a:ea typeface="Calibri"/>
                <a:cs typeface="Calibri"/>
                <a:sym typeface="Calibri"/>
              </a:rPr>
              <a:t>R provides logical operators for</a:t>
            </a:r>
            <a:r>
              <a:rPr lang="en-US" sz="600" baseline="0" dirty="0">
                <a:solidFill>
                  <a:schemeClr val="dk1"/>
                </a:solidFill>
                <a:latin typeface="Calibri"/>
                <a:ea typeface="Calibri"/>
                <a:cs typeface="Calibri"/>
                <a:sym typeface="Calibri"/>
              </a:rPr>
              <a:t> every occasion. </a:t>
            </a:r>
            <a:r>
              <a:rPr lang="en-US" sz="600" dirty="0">
                <a:solidFill>
                  <a:schemeClr val="dk1"/>
                </a:solidFill>
                <a:latin typeface="Calibri"/>
                <a:ea typeface="Calibri"/>
                <a:cs typeface="Calibri"/>
                <a:sym typeface="Calibri"/>
              </a:rPr>
              <a:t>Here are just some of the important logical operators to know about. </a:t>
            </a:r>
          </a:p>
          <a:p>
            <a:pPr marL="0" indent="0">
              <a:lnSpc>
                <a:spcPct val="115000"/>
              </a:lnSpc>
              <a:buClr>
                <a:schemeClr val="dk1"/>
              </a:buClr>
              <a:buNone/>
            </a:pPr>
            <a:endParaRPr sz="600" dirty="0">
              <a:solidFill>
                <a:schemeClr val="dk1"/>
              </a:solidFill>
              <a:latin typeface="Calibri"/>
              <a:ea typeface="Calibri"/>
              <a:cs typeface="Calibri"/>
              <a:sym typeface="Calibri"/>
            </a:endParaRPr>
          </a:p>
          <a:p>
            <a:pPr marL="0" indent="0">
              <a:lnSpc>
                <a:spcPct val="115000"/>
              </a:lnSpc>
              <a:buClr>
                <a:schemeClr val="dk1"/>
              </a:buClr>
              <a:buNone/>
            </a:pPr>
            <a:r>
              <a:rPr lang="en-US" sz="600" dirty="0">
                <a:solidFill>
                  <a:schemeClr val="dk1"/>
                </a:solidFill>
                <a:latin typeface="Calibri"/>
                <a:ea typeface="Calibri"/>
                <a:cs typeface="Calibri"/>
                <a:sym typeface="Calibri"/>
              </a:rPr>
              <a:t>We’ve already seen the double equals. </a:t>
            </a:r>
            <a:r>
              <a:rPr lang="en-US" sz="600" dirty="0" err="1">
                <a:solidFill>
                  <a:schemeClr val="dk1"/>
                </a:solidFill>
                <a:latin typeface="Calibri"/>
                <a:ea typeface="Calibri"/>
                <a:cs typeface="Calibri"/>
                <a:sym typeface="Calibri"/>
              </a:rPr>
              <a:t>Theres</a:t>
            </a:r>
            <a:r>
              <a:rPr lang="en-US" sz="600" dirty="0">
                <a:solidFill>
                  <a:schemeClr val="dk1"/>
                </a:solidFill>
                <a:latin typeface="Calibri"/>
                <a:ea typeface="Calibri"/>
                <a:cs typeface="Calibri"/>
                <a:sym typeface="Calibri"/>
              </a:rPr>
              <a:t> also the less than or and greater than operators. These each also come as “or equal to” versions.</a:t>
            </a:r>
            <a:endParaRPr sz="600" dirty="0">
              <a:solidFill>
                <a:schemeClr val="dk1"/>
              </a:solidFill>
              <a:latin typeface="Calibri"/>
              <a:ea typeface="Calibri"/>
              <a:cs typeface="Calibri"/>
              <a:sym typeface="Calibri"/>
            </a:endParaRPr>
          </a:p>
          <a:p>
            <a:pPr marL="0" indent="0">
              <a:lnSpc>
                <a:spcPct val="115000"/>
              </a:lnSpc>
              <a:buClr>
                <a:schemeClr val="dk1"/>
              </a:buClr>
              <a:buNone/>
            </a:pPr>
            <a:r>
              <a:rPr lang="en-US" sz="600" dirty="0">
                <a:solidFill>
                  <a:schemeClr val="dk1"/>
                </a:solidFill>
                <a:latin typeface="Calibri"/>
                <a:ea typeface="Calibri"/>
                <a:cs typeface="Calibri"/>
                <a:sym typeface="Calibri"/>
              </a:rPr>
              <a:t>Use exclamation point-equals</a:t>
            </a:r>
            <a:r>
              <a:rPr lang="en-US" sz="600" baseline="0" dirty="0">
                <a:solidFill>
                  <a:schemeClr val="dk1"/>
                </a:solidFill>
                <a:latin typeface="Calibri"/>
                <a:ea typeface="Calibri"/>
                <a:cs typeface="Calibri"/>
                <a:sym typeface="Calibri"/>
              </a:rPr>
              <a:t> (</a:t>
            </a:r>
            <a:r>
              <a:rPr lang="en-US" sz="600" dirty="0">
                <a:solidFill>
                  <a:schemeClr val="dk1"/>
                </a:solidFill>
                <a:latin typeface="Calibri"/>
                <a:ea typeface="Calibri"/>
                <a:cs typeface="Calibri"/>
                <a:sym typeface="Calibri"/>
              </a:rPr>
              <a:t>!=) if you want to select rows in which a value is not equal to something else.</a:t>
            </a:r>
            <a:endParaRPr sz="600" dirty="0">
              <a:solidFill>
                <a:schemeClr val="dk1"/>
              </a:solidFill>
              <a:latin typeface="Calibri"/>
              <a:ea typeface="Calibri"/>
              <a:cs typeface="Calibri"/>
              <a:sym typeface="Calibri"/>
            </a:endParaRPr>
          </a:p>
          <a:p>
            <a:pPr marL="0" indent="0">
              <a:buNone/>
            </a:pPr>
            <a:endParaRPr dirty="0"/>
          </a:p>
        </p:txBody>
      </p:sp>
      <p:sp>
        <p:nvSpPr>
          <p:cNvPr id="339" name="Google Shape;339;p27: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509017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18</a:t>
            </a:fld>
            <a:endParaRPr lang="en-US"/>
          </a:p>
        </p:txBody>
      </p:sp>
    </p:spTree>
    <p:extLst>
      <p:ext uri="{BB962C8B-B14F-4D97-AF65-F5344CB8AC3E}">
        <p14:creationId xmlns:p14="http://schemas.microsoft.com/office/powerpoint/2010/main" val="4108668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19</a:t>
            </a:fld>
            <a:endParaRPr lang="en-US"/>
          </a:p>
        </p:txBody>
      </p:sp>
    </p:spTree>
    <p:extLst>
      <p:ext uri="{BB962C8B-B14F-4D97-AF65-F5344CB8AC3E}">
        <p14:creationId xmlns:p14="http://schemas.microsoft.com/office/powerpoint/2010/main" val="372959853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85487" indent="0">
              <a:buNone/>
            </a:pPr>
            <a:r>
              <a:rPr lang="en-US" dirty="0"/>
              <a:t>This is exactly what the pipe operator</a:t>
            </a:r>
            <a:r>
              <a:rPr lang="en-US" baseline="0" dirty="0"/>
              <a:t> does. </a:t>
            </a:r>
          </a:p>
          <a:p>
            <a:pPr marL="85487" indent="0">
              <a:buNone/>
            </a:pPr>
            <a:endParaRPr lang="en-US" baseline="0" dirty="0"/>
          </a:p>
          <a:p>
            <a:pPr marL="85487" indent="0">
              <a:buNone/>
            </a:pPr>
            <a:r>
              <a:rPr lang="en-US" baseline="0" dirty="0"/>
              <a:t>The pipe operator is this percent, greater than, percent symbol. It's a tool that we use to glue the pieces of our analysis together into one pipeline.</a:t>
            </a:r>
          </a:p>
          <a:p>
            <a:pPr marL="85487" indent="0">
              <a:buNone/>
            </a:pPr>
            <a:endParaRPr lang="en-US" baseline="0" dirty="0"/>
          </a:p>
          <a:p>
            <a:pPr marL="85487" indent="0">
              <a:buNone/>
            </a:pPr>
            <a:r>
              <a:rPr lang="en-US" baseline="0" dirty="0"/>
              <a:t>The pipe operator does something very simple but at the same time incredible useful. It takes the product of whatever is on the left and puts it into the function on the right. </a:t>
            </a:r>
          </a:p>
          <a:p>
            <a:pPr marL="85487" indent="0">
              <a:buNone/>
            </a:pPr>
            <a:endParaRPr lang="en-US" baseline="0" dirty="0"/>
          </a:p>
          <a:p>
            <a:pPr marL="85487" indent="0">
              <a:buNone/>
            </a:pPr>
            <a:r>
              <a:rPr lang="en-US" baseline="0" dirty="0"/>
              <a:t>So for example, the two lines of code in the gray box do exactly the same thing. </a:t>
            </a:r>
          </a:p>
          <a:p>
            <a:pPr marL="85487" indent="0">
              <a:buNone/>
            </a:pPr>
            <a:endParaRPr lang="en-US" baseline="0" dirty="0"/>
          </a:p>
          <a:p>
            <a:pPr marL="85487" indent="0">
              <a:buNone/>
            </a:pPr>
            <a:r>
              <a:rPr lang="en-US" baseline="0" dirty="0"/>
              <a:t>There are a whole bunch of reasons as to why this is a useful thing but for me, one of the most important reasons is that it turns computer code into something that is almost legible as human language. </a:t>
            </a:r>
          </a:p>
          <a:p>
            <a:pPr marL="85487" indent="0">
              <a:buNone/>
            </a:pPr>
            <a:endParaRPr lang="en-US" baseline="0" dirty="0"/>
          </a:p>
          <a:p>
            <a:pPr marL="85487" indent="0">
              <a:buNone/>
            </a:pPr>
            <a:r>
              <a:rPr lang="en-US" baseline="0" dirty="0"/>
              <a:t>You could essentially read the second line of code as “Take the </a:t>
            </a:r>
            <a:r>
              <a:rPr lang="en-US" baseline="0" dirty="0" err="1"/>
              <a:t>covid_testing</a:t>
            </a:r>
            <a:r>
              <a:rPr lang="en-US" baseline="0" dirty="0"/>
              <a:t> data frame, and then filter the </a:t>
            </a:r>
            <a:r>
              <a:rPr lang="en-US" baseline="0" dirty="0" err="1"/>
              <a:t>pan_day</a:t>
            </a:r>
            <a:r>
              <a:rPr lang="en-US" baseline="0" dirty="0"/>
              <a:t> column to rows that are less than or equal to 10.”</a:t>
            </a:r>
            <a:endParaRPr lang="en-US" dirty="0"/>
          </a:p>
        </p:txBody>
      </p:sp>
    </p:spTree>
    <p:extLst>
      <p:ext uri="{BB962C8B-B14F-4D97-AF65-F5344CB8AC3E}">
        <p14:creationId xmlns:p14="http://schemas.microsoft.com/office/powerpoint/2010/main" val="85827711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The advantage of this is even more clear when performing</a:t>
            </a:r>
            <a:r>
              <a:rPr lang="en-US" baseline="0" dirty="0"/>
              <a:t> a more complicated analysis such as this one. You can take this code, which is essentially illegible, and transform it into the code on the following slide.</a:t>
            </a:r>
            <a:endParaRPr lang="en-US" dirty="0"/>
          </a:p>
        </p:txBody>
      </p:sp>
    </p:spTree>
    <p:extLst>
      <p:ext uri="{BB962C8B-B14F-4D97-AF65-F5344CB8AC3E}">
        <p14:creationId xmlns:p14="http://schemas.microsoft.com/office/powerpoint/2010/main" val="291004283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The code here is far more succinct. It's essentially self describing since it’s written in a sequential,</a:t>
            </a:r>
            <a:r>
              <a:rPr lang="en-US" baseline="0" dirty="0"/>
              <a:t> essentially human readable format. </a:t>
            </a:r>
          </a:p>
          <a:p>
            <a:pPr marL="0" indent="0">
              <a:buNone/>
            </a:pPr>
            <a:endParaRPr lang="en-US" baseline="0" dirty="0"/>
          </a:p>
          <a:p>
            <a:pPr marL="0" marR="0" lvl="0" indent="0" algn="l" defTabSz="914400" rtl="0" eaLnBrk="1" fontAlgn="auto" latinLnBrk="0" hangingPunct="1">
              <a:lnSpc>
                <a:spcPct val="100000"/>
              </a:lnSpc>
              <a:spcBef>
                <a:spcPts val="0"/>
              </a:spcBef>
              <a:spcAft>
                <a:spcPts val="0"/>
              </a:spcAft>
              <a:buClr>
                <a:srgbClr val="000000"/>
              </a:buClr>
              <a:buSzPts val="1100"/>
              <a:buFont typeface="Arial"/>
              <a:buNone/>
              <a:tabLst/>
              <a:defRPr/>
            </a:pPr>
            <a:r>
              <a:rPr lang="en-US" baseline="0" dirty="0"/>
              <a:t>The pipe operator allows us to form chains that accomplish complicated data transformation operations but which are made up of very simple, self-contained, building blocks. So we're able to make something complex by joining together many simple elements that are easy to understand in isolation.</a:t>
            </a:r>
          </a:p>
          <a:p>
            <a:pPr marL="0" indent="0">
              <a:buNone/>
            </a:pPr>
            <a:endParaRPr lang="en-US" baseline="0" dirty="0"/>
          </a:p>
          <a:p>
            <a:pPr marL="0" indent="0">
              <a:buNone/>
            </a:pPr>
            <a:r>
              <a:rPr lang="en-US" baseline="0" dirty="0"/>
              <a:t>An additional benefit is that it makes it easier to actually write code because it's much easier to translate our thoughts into an analytical pipeline. </a:t>
            </a:r>
          </a:p>
        </p:txBody>
      </p:sp>
    </p:spTree>
    <p:extLst>
      <p:ext uri="{BB962C8B-B14F-4D97-AF65-F5344CB8AC3E}">
        <p14:creationId xmlns:p14="http://schemas.microsoft.com/office/powerpoint/2010/main" val="371694750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23</a:t>
            </a:fld>
            <a:endParaRPr lang="en-US"/>
          </a:p>
        </p:txBody>
      </p:sp>
    </p:spTree>
    <p:extLst>
      <p:ext uri="{BB962C8B-B14F-4D97-AF65-F5344CB8AC3E}">
        <p14:creationId xmlns:p14="http://schemas.microsoft.com/office/powerpoint/2010/main" val="2676543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24</a:t>
            </a:fld>
            <a:endParaRPr lang="en-US"/>
          </a:p>
        </p:txBody>
      </p:sp>
    </p:spTree>
    <p:extLst>
      <p:ext uri="{BB962C8B-B14F-4D97-AF65-F5344CB8AC3E}">
        <p14:creationId xmlns:p14="http://schemas.microsoft.com/office/powerpoint/2010/main" val="333234390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The</a:t>
            </a:r>
            <a:r>
              <a:rPr lang="en-US" baseline="0" dirty="0"/>
              <a:t> goal of mutate() is very simple. You’ll feed it your original data frame and it’s going to kick out the same data frame with one or more new columns tacked onto the end based on calculations that you specify.</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9369066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The syntax is going to look familiar to the functions we saw earlier but with a small change. As before,</a:t>
            </a:r>
            <a:r>
              <a:rPr lang="en-US" baseline="0" dirty="0"/>
              <a:t> the first argument is the original data frame, which gets piped into mutate. Then you specify the name of the new column you want to add, you type of an equals sign, and then you write a calculation. This calculation will be run on each row of your data frame and the result will populate each row of the new column.</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2008994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731517" y="4560556"/>
            <a:ext cx="5852158" cy="4320534"/>
          </a:xfrm>
          <a:prstGeom prst="rect">
            <a:avLst/>
          </a:prstGeom>
        </p:spPr>
        <p:txBody>
          <a:bodyPr spcFirstLastPara="1" wrap="square" lIns="49232" tIns="49232" rIns="49232" bIns="49232" anchor="t" anchorCtr="0">
            <a:noAutofit/>
          </a:bodyPr>
          <a:lstStyle/>
          <a:p>
            <a:pPr marL="0" indent="0">
              <a:buNone/>
            </a:pPr>
            <a:r>
              <a:rPr lang="en-US" dirty="0"/>
              <a:t>For instance, right now the TAT columns are coded in </a:t>
            </a:r>
            <a:r>
              <a:rPr lang="en-US" dirty="0" err="1"/>
              <a:t>hourse</a:t>
            </a:r>
            <a:r>
              <a:rPr lang="en-US" dirty="0"/>
              <a:t>. if we want to calculate the TAT in minutes we could use code</a:t>
            </a:r>
            <a:r>
              <a:rPr lang="en-US" baseline="0" dirty="0"/>
              <a:t> such as this. </a:t>
            </a:r>
          </a:p>
          <a:p>
            <a:pPr marL="0" indent="0">
              <a:buNone/>
            </a:pPr>
            <a:endParaRPr lang="en-US" baseline="0" dirty="0"/>
          </a:p>
          <a:p>
            <a:pPr marL="0" indent="0">
              <a:buNone/>
            </a:pPr>
            <a:r>
              <a:rPr lang="en-US" baseline="0" dirty="0"/>
              <a:t>We take the </a:t>
            </a:r>
            <a:r>
              <a:rPr lang="en-US" baseline="0" dirty="0" err="1"/>
              <a:t>covid_testing</a:t>
            </a:r>
            <a:r>
              <a:rPr lang="en-US" baseline="0" dirty="0"/>
              <a:t> data set and pass it to the mutate function. In the mutate function we will </a:t>
            </a:r>
          </a:p>
          <a:p>
            <a:pPr marL="228600" indent="-228600">
              <a:buAutoNum type="arabicPeriod"/>
            </a:pPr>
            <a:r>
              <a:rPr lang="en-US" baseline="0" dirty="0"/>
              <a:t>Make a name for our new column</a:t>
            </a:r>
          </a:p>
          <a:p>
            <a:pPr marL="228600" indent="-228600">
              <a:buAutoNum type="arabicPeriod"/>
            </a:pPr>
            <a:r>
              <a:rPr lang="en-US" baseline="0" dirty="0"/>
              <a:t>Put an equals sign</a:t>
            </a:r>
          </a:p>
          <a:p>
            <a:pPr marL="228600" indent="-228600">
              <a:buAutoNum type="arabicPeriod"/>
            </a:pPr>
            <a:r>
              <a:rPr lang="en-US" baseline="0" dirty="0"/>
              <a:t>Define the calculation whose result will populated the new column, in this case we can </a:t>
            </a:r>
            <a:r>
              <a:rPr lang="en-US" baseline="0" dirty="0" err="1"/>
              <a:t>directl</a:t>
            </a:r>
            <a:r>
              <a:rPr lang="en-US" baseline="0" dirty="0"/>
              <a:t> reference the </a:t>
            </a:r>
            <a:r>
              <a:rPr lang="en-US" baseline="0" dirty="0" err="1"/>
              <a:t>col_rec_tat</a:t>
            </a:r>
            <a:r>
              <a:rPr lang="en-US" baseline="0" dirty="0"/>
              <a:t> column and multiply by 60.</a:t>
            </a:r>
            <a:endParaRPr dirty="0"/>
          </a:p>
        </p:txBody>
      </p:sp>
      <p:sp>
        <p:nvSpPr>
          <p:cNvPr id="290" name="Google Shape;290;p23:notes"/>
          <p:cNvSpPr>
            <a:spLocks noGrp="1" noRot="1" noChangeAspect="1"/>
          </p:cNvSpPr>
          <p:nvPr>
            <p:ph type="sldImg" idx="2"/>
          </p:nvPr>
        </p:nvSpPr>
        <p:spPr>
          <a:xfrm>
            <a:off x="457200" y="719138"/>
            <a:ext cx="6402388" cy="3602037"/>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622757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28</a:t>
            </a:fld>
            <a:endParaRPr lang="en-US"/>
          </a:p>
        </p:txBody>
      </p:sp>
    </p:spTree>
    <p:extLst>
      <p:ext uri="{BB962C8B-B14F-4D97-AF65-F5344CB8AC3E}">
        <p14:creationId xmlns:p14="http://schemas.microsoft.com/office/powerpoint/2010/main" val="222797782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i="0" baseline="0" dirty="0"/>
              <a:t>To answer this question we need to be able to group data.</a:t>
            </a:r>
            <a:endParaRPr lang="en-US" dirty="0"/>
          </a:p>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29</a:t>
            </a:fld>
            <a:endParaRPr lang="en-US"/>
          </a:p>
        </p:txBody>
      </p:sp>
    </p:spTree>
    <p:extLst>
      <p:ext uri="{BB962C8B-B14F-4D97-AF65-F5344CB8AC3E}">
        <p14:creationId xmlns:p14="http://schemas.microsoft.com/office/powerpoint/2010/main" val="123465577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Group_by</a:t>
            </a:r>
            <a:r>
              <a:rPr lang="en-US" dirty="0"/>
              <a:t> is a challenging</a:t>
            </a:r>
            <a:r>
              <a:rPr lang="en-US" baseline="0" dirty="0"/>
              <a:t> function to master, but </a:t>
            </a:r>
            <a:r>
              <a:rPr lang="en-US" b="1" baseline="0" dirty="0"/>
              <a:t>extremely</a:t>
            </a:r>
            <a:r>
              <a:rPr lang="en-US" baseline="0" dirty="0"/>
              <a:t> powerful. It is one of those tools that once you understand how to use, you cannot possibly go back to live without it.</a:t>
            </a:r>
          </a:p>
          <a:p>
            <a:endParaRPr lang="en-US" baseline="0" dirty="0"/>
          </a:p>
          <a:p>
            <a:r>
              <a:rPr lang="en-US" baseline="0" dirty="0" err="1"/>
              <a:t>Group_by</a:t>
            </a:r>
            <a:r>
              <a:rPr lang="en-US" baseline="0" dirty="0"/>
              <a:t> allows us to take a data frame and break the observations up into several groups.</a:t>
            </a:r>
          </a:p>
          <a:p>
            <a:endParaRPr lang="en-US" baseline="0" dirty="0"/>
          </a:p>
          <a:p>
            <a:r>
              <a:rPr lang="en-US" baseline="0" dirty="0"/>
              <a:t>Then we can “look” at those groups separately.</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30</a:t>
            </a:fld>
            <a:endParaRPr lang="en-US"/>
          </a:p>
        </p:txBody>
      </p:sp>
    </p:spTree>
    <p:extLst>
      <p:ext uri="{BB962C8B-B14F-4D97-AF65-F5344CB8AC3E}">
        <p14:creationId xmlns:p14="http://schemas.microsoft.com/office/powerpoint/2010/main" val="105088399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code construct for grouping.</a:t>
            </a:r>
          </a:p>
          <a:p>
            <a:endParaRPr lang="en-US" dirty="0"/>
          </a:p>
          <a:p>
            <a:r>
              <a:rPr lang="en-US" dirty="0"/>
              <a:t>We pass a data set using pipes to the </a:t>
            </a:r>
            <a:r>
              <a:rPr lang="en-US" dirty="0" err="1"/>
              <a:t>group_by</a:t>
            </a:r>
            <a:r>
              <a:rPr lang="en-US" dirty="0"/>
              <a:t>() function.</a:t>
            </a:r>
          </a:p>
          <a:p>
            <a:endParaRPr lang="en-US" dirty="0"/>
          </a:p>
          <a:p>
            <a:r>
              <a:rPr lang="en-US" dirty="0"/>
              <a:t>Then we specify the variable that we want to define groups.</a:t>
            </a:r>
          </a:p>
        </p:txBody>
      </p:sp>
      <p:sp>
        <p:nvSpPr>
          <p:cNvPr id="4" name="Slide Number Placeholder 3"/>
          <p:cNvSpPr>
            <a:spLocks noGrp="1"/>
          </p:cNvSpPr>
          <p:nvPr>
            <p:ph type="sldNum" sz="quarter" idx="10"/>
          </p:nvPr>
        </p:nvSpPr>
        <p:spPr/>
        <p:txBody>
          <a:bodyPr/>
          <a:lstStyle/>
          <a:p>
            <a:fld id="{0A193586-FEB5-7C43-8F44-7EFAE4EECA28}" type="slidenum">
              <a:rPr lang="en-US" smtClean="0"/>
              <a:t>31</a:t>
            </a:fld>
            <a:endParaRPr lang="en-US"/>
          </a:p>
        </p:txBody>
      </p:sp>
    </p:spTree>
    <p:extLst>
      <p:ext uri="{BB962C8B-B14F-4D97-AF65-F5344CB8AC3E}">
        <p14:creationId xmlns:p14="http://schemas.microsoft.com/office/powerpoint/2010/main" val="352504314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a example of grouping by </a:t>
            </a:r>
            <a:r>
              <a:rPr lang="en-US" dirty="0" err="1"/>
              <a:t>pan_day</a:t>
            </a:r>
            <a:r>
              <a:rPr lang="en-US" dirty="0"/>
              <a:t>.</a:t>
            </a:r>
          </a:p>
          <a:p>
            <a:endParaRPr lang="en-US" dirty="0"/>
          </a:p>
          <a:p>
            <a:r>
              <a:rPr lang="en-US" dirty="0"/>
              <a:t>We can see that the resulting object</a:t>
            </a:r>
            <a:r>
              <a:rPr lang="en-US" baseline="0" dirty="0"/>
              <a:t> has 15,524 rows that are broken up into 102 groups. </a:t>
            </a:r>
          </a:p>
          <a:p>
            <a:endParaRPr lang="en-US" baseline="0" dirty="0"/>
          </a:p>
          <a:p>
            <a:r>
              <a:rPr lang="en-US" baseline="0" dirty="0"/>
              <a:t>This means there are 102 distinct `</a:t>
            </a:r>
            <a:r>
              <a:rPr lang="en-US" baseline="0" dirty="0" err="1"/>
              <a:t>pan_day`’s</a:t>
            </a:r>
            <a:r>
              <a:rPr lang="en-US" baseline="0" dirty="0"/>
              <a:t>. </a:t>
            </a:r>
          </a:p>
          <a:p>
            <a:endParaRPr lang="en-US" baseline="0" dirty="0"/>
          </a:p>
          <a:p>
            <a:r>
              <a:rPr lang="en-US" baseline="0" dirty="0"/>
              <a:t>Some of these groups will have a single observation. Many of these groups will have more than one observation.</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32</a:t>
            </a:fld>
            <a:endParaRPr lang="en-US"/>
          </a:p>
        </p:txBody>
      </p:sp>
    </p:spTree>
    <p:extLst>
      <p:ext uri="{BB962C8B-B14F-4D97-AF65-F5344CB8AC3E}">
        <p14:creationId xmlns:p14="http://schemas.microsoft.com/office/powerpoint/2010/main" val="376140817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can also group by more than one variable.</a:t>
            </a:r>
          </a:p>
          <a:p>
            <a:endParaRPr lang="en-US" dirty="0"/>
          </a:p>
          <a:p>
            <a:r>
              <a:rPr lang="en-US" dirty="0"/>
              <a:t>We can see that the resulting object</a:t>
            </a:r>
            <a:r>
              <a:rPr lang="en-US" baseline="0" dirty="0"/>
              <a:t> has 15,524 rows that are broken up into 2,526 groups. </a:t>
            </a:r>
          </a:p>
          <a:p>
            <a:endParaRPr lang="en-US" baseline="0" dirty="0"/>
          </a:p>
          <a:p>
            <a:r>
              <a:rPr lang="en-US" baseline="0" dirty="0"/>
              <a:t>This means there are 2,526 distinct combinations of `</a:t>
            </a:r>
            <a:r>
              <a:rPr lang="en-US" baseline="0" dirty="0" err="1"/>
              <a:t>pan_day</a:t>
            </a:r>
            <a:r>
              <a:rPr lang="en-US" baseline="0" dirty="0"/>
              <a:t>` and `</a:t>
            </a:r>
            <a:r>
              <a:rPr lang="en-US" baseline="0" dirty="0" err="1"/>
              <a:t>clinic_name</a:t>
            </a:r>
            <a:r>
              <a:rPr lang="en-US" baseline="0" dirty="0"/>
              <a:t>`. </a:t>
            </a:r>
          </a:p>
          <a:p>
            <a:endParaRPr lang="en-US" baseline="0" dirty="0"/>
          </a:p>
          <a:p>
            <a:r>
              <a:rPr lang="en-US" baseline="0" dirty="0"/>
              <a:t>Some of these groups will have a single observation. Many of these groups will have more than one observation. </a:t>
            </a:r>
          </a:p>
          <a:p>
            <a:endParaRPr lang="en-US" baseline="0" dirty="0"/>
          </a:p>
          <a:p>
            <a:r>
              <a:rPr lang="en-US" baseline="0" dirty="0"/>
              <a:t>Also, not all theoretical combinations of `</a:t>
            </a:r>
            <a:r>
              <a:rPr lang="en-US" baseline="0" dirty="0" err="1"/>
              <a:t>pan_day</a:t>
            </a:r>
            <a:r>
              <a:rPr lang="en-US" baseline="0" dirty="0"/>
              <a:t>` and `</a:t>
            </a:r>
            <a:r>
              <a:rPr lang="en-US" baseline="0" dirty="0" err="1"/>
              <a:t>clinic_name</a:t>
            </a:r>
            <a:r>
              <a:rPr lang="en-US" baseline="0" dirty="0"/>
              <a:t>` exist; only 2,526 such combinations exist.</a:t>
            </a:r>
            <a:endParaRPr lang="en-US" dirty="0"/>
          </a:p>
        </p:txBody>
      </p:sp>
      <p:sp>
        <p:nvSpPr>
          <p:cNvPr id="4" name="Slide Number Placeholder 3"/>
          <p:cNvSpPr>
            <a:spLocks noGrp="1"/>
          </p:cNvSpPr>
          <p:nvPr>
            <p:ph type="sldNum" sz="quarter" idx="10"/>
          </p:nvPr>
        </p:nvSpPr>
        <p:spPr/>
        <p:txBody>
          <a:bodyPr/>
          <a:lstStyle/>
          <a:p>
            <a:fld id="{0A193586-FEB5-7C43-8F44-7EFAE4EECA28}" type="slidenum">
              <a:rPr lang="en-US" smtClean="0"/>
              <a:t>33</a:t>
            </a:fld>
            <a:endParaRPr lang="en-US"/>
          </a:p>
        </p:txBody>
      </p:sp>
    </p:spTree>
    <p:extLst>
      <p:ext uri="{BB962C8B-B14F-4D97-AF65-F5344CB8AC3E}">
        <p14:creationId xmlns:p14="http://schemas.microsoft.com/office/powerpoint/2010/main" val="112847359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1507801" y="7162567"/>
            <a:ext cx="12062456" cy="678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Summarize allows us to take a variable (column) of data and apply a function</a:t>
            </a:r>
            <a:r>
              <a:rPr lang="en-US" baseline="0" dirty="0"/>
              <a:t> (or functions)</a:t>
            </a:r>
            <a:r>
              <a:rPr lang="en-US" dirty="0"/>
              <a:t> to all observations.</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Using summarize we can return a single value, or summary.</a:t>
            </a:r>
            <a:endParaRPr dirty="0"/>
          </a:p>
        </p:txBody>
      </p:sp>
      <p:sp>
        <p:nvSpPr>
          <p:cNvPr id="290" name="Google Shape;290;p23:notes"/>
          <p:cNvSpPr>
            <a:spLocks noGrp="1" noRot="1" noChangeAspect="1"/>
          </p:cNvSpPr>
          <p:nvPr>
            <p:ph type="sldImg" idx="2"/>
          </p:nvPr>
        </p:nvSpPr>
        <p:spPr>
          <a:xfrm>
            <a:off x="2513013" y="1130300"/>
            <a:ext cx="10053637" cy="5656263"/>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823948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1507801" y="7162567"/>
            <a:ext cx="12062456" cy="678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To make summaries of our data we use the following code construct.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We pass a data set using pipes to the summarize function.</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Within the summarize function we provide a variable name and set it to a calculation or value that we define.</a:t>
            </a:r>
            <a:endParaRPr dirty="0"/>
          </a:p>
        </p:txBody>
      </p:sp>
      <p:sp>
        <p:nvSpPr>
          <p:cNvPr id="290" name="Google Shape;290;p23:notes"/>
          <p:cNvSpPr>
            <a:spLocks noGrp="1" noRot="1" noChangeAspect="1"/>
          </p:cNvSpPr>
          <p:nvPr>
            <p:ph type="sldImg" idx="2"/>
          </p:nvPr>
        </p:nvSpPr>
        <p:spPr>
          <a:xfrm>
            <a:off x="2513013" y="1130300"/>
            <a:ext cx="10053637" cy="5656263"/>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70901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1507801" y="7162567"/>
            <a:ext cx="12062456" cy="6785600"/>
          </a:xfrm>
          <a:prstGeom prst="rect">
            <a:avLst/>
          </a:prstGeom>
        </p:spPr>
        <p:txBody>
          <a:bodyPr spcFirstLastPara="1" wrap="square" lIns="91425" tIns="91425" rIns="91425" bIns="91425"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Let’s look at a simple example using summarize() to count the number of orders in a data 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a:t>Note, that to simplify the data frame, we first will select 2 variables and include the first 4 observations.</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n()</a:t>
            </a:r>
            <a:r>
              <a:rPr lang="en-US" baseline="0" dirty="0"/>
              <a:t> returns the number of observations or rows for a data frame.</a:t>
            </a:r>
          </a:p>
          <a:p>
            <a:pPr marL="0" lvl="0" indent="0" algn="l" rtl="0">
              <a:spcBef>
                <a:spcPts val="0"/>
              </a:spcBef>
              <a:spcAft>
                <a:spcPts val="0"/>
              </a:spcAft>
              <a:buNone/>
            </a:pPr>
            <a:endParaRPr lang="en-US" baseline="0" dirty="0"/>
          </a:p>
        </p:txBody>
      </p:sp>
      <p:sp>
        <p:nvSpPr>
          <p:cNvPr id="290" name="Google Shape;290;p23:notes"/>
          <p:cNvSpPr>
            <a:spLocks noGrp="1" noRot="1" noChangeAspect="1"/>
          </p:cNvSpPr>
          <p:nvPr>
            <p:ph type="sldImg" idx="2"/>
          </p:nvPr>
        </p:nvSpPr>
        <p:spPr>
          <a:xfrm>
            <a:off x="2513013" y="1130300"/>
            <a:ext cx="10053637" cy="5656263"/>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067533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1507801" y="7162567"/>
            <a:ext cx="12062456" cy="678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n_distinct</a:t>
            </a:r>
            <a:r>
              <a:rPr lang="en-US" dirty="0"/>
              <a:t>() counts the number of distinct,</a:t>
            </a:r>
            <a:r>
              <a:rPr lang="en-US" baseline="0" dirty="0"/>
              <a:t> or unique, observations. So, while there are 4 rows, there are only 3 distinct days</a:t>
            </a:r>
            <a:endParaRPr dirty="0"/>
          </a:p>
        </p:txBody>
      </p:sp>
      <p:sp>
        <p:nvSpPr>
          <p:cNvPr id="290" name="Google Shape;290;p23:notes"/>
          <p:cNvSpPr>
            <a:spLocks noGrp="1" noRot="1" noChangeAspect="1"/>
          </p:cNvSpPr>
          <p:nvPr>
            <p:ph type="sldImg" idx="2"/>
          </p:nvPr>
        </p:nvSpPr>
        <p:spPr>
          <a:xfrm>
            <a:off x="2513013" y="1130300"/>
            <a:ext cx="10053637" cy="5656263"/>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4884558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1507801" y="7162567"/>
            <a:ext cx="12062456" cy="678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n_distinct</a:t>
            </a:r>
            <a:r>
              <a:rPr lang="en-US" dirty="0"/>
              <a:t>() counts the number of distinct,</a:t>
            </a:r>
            <a:r>
              <a:rPr lang="en-US" baseline="0" dirty="0"/>
              <a:t> or unique, observations. So, while there are 4 rows, there are only 3 distinct days</a:t>
            </a:r>
            <a:endParaRPr dirty="0"/>
          </a:p>
        </p:txBody>
      </p:sp>
      <p:sp>
        <p:nvSpPr>
          <p:cNvPr id="290" name="Google Shape;290;p23:notes"/>
          <p:cNvSpPr>
            <a:spLocks noGrp="1" noRot="1" noChangeAspect="1"/>
          </p:cNvSpPr>
          <p:nvPr>
            <p:ph type="sldImg" idx="2"/>
          </p:nvPr>
        </p:nvSpPr>
        <p:spPr>
          <a:xfrm>
            <a:off x="2513013" y="1130300"/>
            <a:ext cx="10053637" cy="5656263"/>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44273729"/>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like we can apply </a:t>
            </a:r>
            <a:r>
              <a:rPr lang="en-US" i="1" dirty="0"/>
              <a:t>summarize()</a:t>
            </a:r>
            <a:r>
              <a:rPr lang="en-US" dirty="0"/>
              <a:t> to a full data</a:t>
            </a:r>
            <a:r>
              <a:rPr lang="en-US" baseline="0" dirty="0"/>
              <a:t> frame, we can apply </a:t>
            </a:r>
            <a:r>
              <a:rPr lang="en-US" i="1" baseline="0" dirty="0"/>
              <a:t>summarize()</a:t>
            </a:r>
            <a:r>
              <a:rPr lang="en-US" i="0" baseline="0" dirty="0"/>
              <a:t> to each group separately.</a:t>
            </a:r>
          </a:p>
          <a:p>
            <a:endParaRPr lang="en-US" i="0" baseline="0" dirty="0"/>
          </a:p>
          <a:p>
            <a:r>
              <a:rPr lang="en-US" i="0" baseline="0" dirty="0"/>
              <a:t>The combination of </a:t>
            </a:r>
            <a:r>
              <a:rPr lang="en-US" i="0" baseline="0" dirty="0" err="1"/>
              <a:t>group_by</a:t>
            </a:r>
            <a:r>
              <a:rPr lang="en-US" i="0" baseline="0" dirty="0"/>
              <a:t>() and summarize() is extremely powerful.</a:t>
            </a:r>
            <a:endParaRPr lang="en-US" i="0" dirty="0"/>
          </a:p>
        </p:txBody>
      </p:sp>
      <p:sp>
        <p:nvSpPr>
          <p:cNvPr id="4" name="Slide Number Placeholder 3"/>
          <p:cNvSpPr>
            <a:spLocks noGrp="1"/>
          </p:cNvSpPr>
          <p:nvPr>
            <p:ph type="sldNum" sz="quarter" idx="10"/>
          </p:nvPr>
        </p:nvSpPr>
        <p:spPr/>
        <p:txBody>
          <a:bodyPr/>
          <a:lstStyle/>
          <a:p>
            <a:fld id="{0A193586-FEB5-7C43-8F44-7EFAE4EECA28}" type="slidenum">
              <a:rPr lang="en-US" smtClean="0"/>
              <a:t>39</a:t>
            </a:fld>
            <a:endParaRPr lang="en-US"/>
          </a:p>
        </p:txBody>
      </p:sp>
    </p:spTree>
    <p:extLst>
      <p:ext uri="{BB962C8B-B14F-4D97-AF65-F5344CB8AC3E}">
        <p14:creationId xmlns:p14="http://schemas.microsoft.com/office/powerpoint/2010/main" val="167212632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1507801" y="7162567"/>
            <a:ext cx="12062456" cy="678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Using summarize() without </a:t>
            </a:r>
            <a:r>
              <a:rPr lang="en-US" dirty="0" err="1"/>
              <a:t>group_by</a:t>
            </a:r>
            <a:r>
              <a:rPr lang="en-US" dirty="0"/>
              <a:t>() we can count how many total rows there are.</a:t>
            </a:r>
            <a:endParaRPr dirty="0"/>
          </a:p>
        </p:txBody>
      </p:sp>
      <p:sp>
        <p:nvSpPr>
          <p:cNvPr id="290" name="Google Shape;290;p23:notes"/>
          <p:cNvSpPr>
            <a:spLocks noGrp="1" noRot="1" noChangeAspect="1"/>
          </p:cNvSpPr>
          <p:nvPr>
            <p:ph type="sldImg" idx="2"/>
          </p:nvPr>
        </p:nvSpPr>
        <p:spPr>
          <a:xfrm>
            <a:off x="2513013" y="1130300"/>
            <a:ext cx="10053637" cy="5656263"/>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5092064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p23:notes"/>
          <p:cNvSpPr txBox="1">
            <a:spLocks noGrp="1"/>
          </p:cNvSpPr>
          <p:nvPr>
            <p:ph type="body" idx="1"/>
          </p:nvPr>
        </p:nvSpPr>
        <p:spPr>
          <a:xfrm>
            <a:off x="1507801" y="7162567"/>
            <a:ext cx="12062456" cy="6785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Adding </a:t>
            </a:r>
            <a:r>
              <a:rPr lang="en-US" dirty="0" err="1"/>
              <a:t>group_by</a:t>
            </a:r>
            <a:r>
              <a:rPr lang="en-US" dirty="0"/>
              <a:t>(), we count how many rows there are for each `</a:t>
            </a:r>
            <a:r>
              <a:rPr lang="en-US" dirty="0" err="1"/>
              <a:t>pan_day</a:t>
            </a:r>
            <a:r>
              <a:rPr lang="en-US" dirty="0"/>
              <a:t>`.</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This is the data that underlies the figure we looked at in Visualize </a:t>
            </a:r>
            <a:r>
              <a:rPr lang="en-US"/>
              <a:t>(slide 7)</a:t>
            </a:r>
            <a:endParaRPr dirty="0"/>
          </a:p>
        </p:txBody>
      </p:sp>
      <p:sp>
        <p:nvSpPr>
          <p:cNvPr id="290" name="Google Shape;290;p23:notes"/>
          <p:cNvSpPr>
            <a:spLocks noGrp="1" noRot="1" noChangeAspect="1"/>
          </p:cNvSpPr>
          <p:nvPr>
            <p:ph type="sldImg" idx="2"/>
          </p:nvPr>
        </p:nvSpPr>
        <p:spPr>
          <a:xfrm>
            <a:off x="2513013" y="1130300"/>
            <a:ext cx="10053637" cy="5656263"/>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571479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To recap what we covered up to this point,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 Analyzing data with with Excel, or similar spreadsheet software, can compromise data quality, and may ultimately lead to patient harm. This is because Excel does not record user interactions and it’s easy to make simple errors that can be very difficult to uncover later.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 Instead, you could use a reproducible workflow in which the entire analysis is automated with computer code, and we looked at how doing that can improve your confidence in the validity of an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 and finally, we defined “computational document” as documents that have executable code inside of them and we went over how computational documents are a key ingredient of reproducible workflows. </a:t>
            </a:r>
          </a:p>
        </p:txBody>
      </p:sp>
      <p:sp>
        <p:nvSpPr>
          <p:cNvPr id="4" name="Slide Number Placeholder 3"/>
          <p:cNvSpPr>
            <a:spLocks noGrp="1"/>
          </p:cNvSpPr>
          <p:nvPr>
            <p:ph type="sldNum" sz="quarter" idx="5"/>
          </p:nvPr>
        </p:nvSpPr>
        <p:spPr/>
        <p:txBody>
          <a:bodyPr/>
          <a:lstStyle/>
          <a:p>
            <a:fld id="{0A193586-FEB5-7C43-8F44-7EFAE4EECA28}" type="slidenum">
              <a:rPr lang="en-US" smtClean="0"/>
              <a:t>43</a:t>
            </a:fld>
            <a:endParaRPr lang="en-US"/>
          </a:p>
        </p:txBody>
      </p:sp>
    </p:spTree>
    <p:extLst>
      <p:ext uri="{BB962C8B-B14F-4D97-AF65-F5344CB8AC3E}">
        <p14:creationId xmlns:p14="http://schemas.microsoft.com/office/powerpoint/2010/main" val="155508905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To recap what we covered up to this point,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 Analyzing data with with Excel, or similar spreadsheet software, can compromise data quality, and may ultimately lead to patient harm. This is because Excel does not record user interactions and it’s easy to make simple errors that can be very difficult to uncover later.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 Instead, you could use a reproducible workflow in which the entire analysis is automated with computer code, and we looked at how doing that can improve your confidence in the validity of an analysis.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 and finally, we defined “computational document” as documents that have executable code inside of them and we went over how computational documents are a key ingredient of reproducible workflows. </a:t>
            </a:r>
          </a:p>
        </p:txBody>
      </p:sp>
      <p:sp>
        <p:nvSpPr>
          <p:cNvPr id="4" name="Slide Number Placeholder 3"/>
          <p:cNvSpPr>
            <a:spLocks noGrp="1"/>
          </p:cNvSpPr>
          <p:nvPr>
            <p:ph type="sldNum" sz="quarter" idx="5"/>
          </p:nvPr>
        </p:nvSpPr>
        <p:spPr/>
        <p:txBody>
          <a:bodyPr/>
          <a:lstStyle/>
          <a:p>
            <a:fld id="{0A193586-FEB5-7C43-8F44-7EFAE4EECA28}" type="slidenum">
              <a:rPr lang="en-US" smtClean="0"/>
              <a:t>44</a:t>
            </a:fld>
            <a:endParaRPr lang="en-US"/>
          </a:p>
        </p:txBody>
      </p:sp>
    </p:spTree>
    <p:extLst>
      <p:ext uri="{BB962C8B-B14F-4D97-AF65-F5344CB8AC3E}">
        <p14:creationId xmlns:p14="http://schemas.microsoft.com/office/powerpoint/2010/main" val="393282790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45</a:t>
            </a:fld>
            <a:endParaRPr lang="en-US"/>
          </a:p>
        </p:txBody>
      </p:sp>
    </p:spTree>
    <p:extLst>
      <p:ext uri="{BB962C8B-B14F-4D97-AF65-F5344CB8AC3E}">
        <p14:creationId xmlns:p14="http://schemas.microsoft.com/office/powerpoint/2010/main" val="2155726748"/>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A193586-FEB5-7C43-8F44-7EFAE4EECA28}" type="slidenum">
              <a:rPr lang="en-US" smtClean="0"/>
              <a:t>46</a:t>
            </a:fld>
            <a:endParaRPr lang="en-US"/>
          </a:p>
        </p:txBody>
      </p:sp>
    </p:spTree>
    <p:extLst>
      <p:ext uri="{BB962C8B-B14F-4D97-AF65-F5344CB8AC3E}">
        <p14:creationId xmlns:p14="http://schemas.microsoft.com/office/powerpoint/2010/main" val="377963399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Cheat sheets would go here</a:t>
            </a:r>
          </a:p>
        </p:txBody>
      </p:sp>
      <p:sp>
        <p:nvSpPr>
          <p:cNvPr id="4" name="Slide Number Placeholder 3"/>
          <p:cNvSpPr>
            <a:spLocks noGrp="1"/>
          </p:cNvSpPr>
          <p:nvPr>
            <p:ph type="sldNum" sz="quarter" idx="10"/>
          </p:nvPr>
        </p:nvSpPr>
        <p:spPr/>
        <p:txBody>
          <a:bodyPr/>
          <a:lstStyle/>
          <a:p>
            <a:fld id="{0A193586-FEB5-7C43-8F44-7EFAE4EECA28}" type="slidenum">
              <a:rPr lang="en-US" smtClean="0"/>
              <a:t>47</a:t>
            </a:fld>
            <a:endParaRPr lang="en-US"/>
          </a:p>
        </p:txBody>
      </p:sp>
    </p:spTree>
    <p:extLst>
      <p:ext uri="{BB962C8B-B14F-4D97-AF65-F5344CB8AC3E}">
        <p14:creationId xmlns:p14="http://schemas.microsoft.com/office/powerpoint/2010/main" val="194931717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Tx/>
              <a:buNone/>
            </a:pPr>
            <a:r>
              <a:rPr lang="en-US" dirty="0"/>
              <a:t>Reference the universe of packages that assist in data processing</a:t>
            </a:r>
          </a:p>
        </p:txBody>
      </p:sp>
      <p:sp>
        <p:nvSpPr>
          <p:cNvPr id="4" name="Slide Number Placeholder 3"/>
          <p:cNvSpPr>
            <a:spLocks noGrp="1"/>
          </p:cNvSpPr>
          <p:nvPr>
            <p:ph type="sldNum" sz="quarter" idx="5"/>
          </p:nvPr>
        </p:nvSpPr>
        <p:spPr/>
        <p:txBody>
          <a:bodyPr/>
          <a:lstStyle/>
          <a:p>
            <a:fld id="{0A193586-FEB5-7C43-8F44-7EFAE4EECA28}" type="slidenum">
              <a:rPr lang="en-US" smtClean="0"/>
              <a:t>48</a:t>
            </a:fld>
            <a:endParaRPr lang="en-US"/>
          </a:p>
        </p:txBody>
      </p:sp>
    </p:spTree>
    <p:extLst>
      <p:ext uri="{BB962C8B-B14F-4D97-AF65-F5344CB8AC3E}">
        <p14:creationId xmlns:p14="http://schemas.microsoft.com/office/powerpoint/2010/main" val="37637209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1.mov"/><Relationship Id="rId1" Type="http://schemas.microsoft.com/office/2007/relationships/media" Target="../media/media1.mov"/><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2.mov"/><Relationship Id="rId1" Type="http://schemas.microsoft.com/office/2007/relationships/media" Target="../media/media2.mov"/><Relationship Id="rId5" Type="http://schemas.openxmlformats.org/officeDocument/2006/relationships/image" Target="../media/image4.pn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3.mov"/><Relationship Id="rId1" Type="http://schemas.microsoft.com/office/2007/relationships/media" Target="../media/media3.mov"/><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video" Target="../media/media4.mov"/><Relationship Id="rId1" Type="http://schemas.microsoft.com/office/2007/relationships/media" Target="../media/media4.mov"/><Relationship Id="rId4"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0" name="Rectangle 9"/>
          <p:cNvSpPr/>
          <p:nvPr/>
        </p:nvSpPr>
        <p:spPr>
          <a:xfrm>
            <a:off x="0" y="0"/>
            <a:ext cx="12192000" cy="4572001"/>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ctrTitle"/>
          </p:nvPr>
        </p:nvSpPr>
        <p:spPr>
          <a:xfrm>
            <a:off x="457200" y="4960137"/>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Subtitle 2"/>
          <p:cNvSpPr>
            <a:spLocks noGrp="1"/>
          </p:cNvSpPr>
          <p:nvPr>
            <p:ph type="subTitle" idx="1"/>
          </p:nvPr>
        </p:nvSpPr>
        <p:spPr>
          <a:xfrm>
            <a:off x="8610600" y="4960137"/>
            <a:ext cx="3200400" cy="1463040"/>
          </a:xfrm>
        </p:spPr>
        <p:txBody>
          <a:bodyPr lIns="91440" rIns="91440" anchor="ctr">
            <a:normAutofit/>
          </a:bodyPr>
          <a:lstStyle>
            <a:lvl1pPr marL="0" indent="0" algn="l">
              <a:lnSpc>
                <a:spcPct val="100000"/>
              </a:lnSpc>
              <a:spcBef>
                <a:spcPts val="0"/>
              </a:spcBef>
              <a:buNone/>
              <a:defRPr sz="1800">
                <a:solidFill>
                  <a:schemeClr val="tx1">
                    <a:lumMod val="95000"/>
                    <a:lumOff val="5000"/>
                  </a:schemeClr>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lvl1pPr algn="l">
              <a:defRPr/>
            </a:lvl1p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9" name="Rectangle 8"/>
          <p:cNvSpPr/>
          <p:nvPr/>
        </p:nvSpPr>
        <p:spPr>
          <a:xfrm>
            <a:off x="0" y="0"/>
            <a:ext cx="12192000" cy="4572001"/>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4960137"/>
            <a:ext cx="7772400" cy="1463040"/>
          </a:xfrm>
        </p:spPr>
        <p:txBody>
          <a:bodyPr anchor="ctr">
            <a:normAutofit/>
          </a:bodyPr>
          <a:lstStyle>
            <a:lvl1pPr algn="r">
              <a:defRPr sz="5000" b="0" spc="200" baseline="0"/>
            </a:lvl1pPr>
          </a:lstStyle>
          <a:p>
            <a:r>
              <a:rPr lang="en-US"/>
              <a:t>Click to edit Master title style</a:t>
            </a:r>
            <a:endParaRPr lang="en-US" dirty="0"/>
          </a:p>
        </p:txBody>
      </p:sp>
      <p:sp>
        <p:nvSpPr>
          <p:cNvPr id="3" name="Text Placeholder 2"/>
          <p:cNvSpPr>
            <a:spLocks noGrp="1"/>
          </p:cNvSpPr>
          <p:nvPr>
            <p:ph type="body" idx="1"/>
          </p:nvPr>
        </p:nvSpPr>
        <p:spPr>
          <a:xfrm>
            <a:off x="8610600" y="4960137"/>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lumMod val="75000"/>
              </a:schemeClr>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Section Header">
    <p:spTree>
      <p:nvGrpSpPr>
        <p:cNvPr id="1" name=""/>
        <p:cNvGrpSpPr/>
        <p:nvPr/>
      </p:nvGrpSpPr>
      <p:grpSpPr>
        <a:xfrm>
          <a:off x="0" y="0"/>
          <a:ext cx="0" cy="0"/>
          <a:chOff x="0" y="0"/>
          <a:chExt cx="0" cy="0"/>
        </a:xfrm>
      </p:grpSpPr>
      <p:sp>
        <p:nvSpPr>
          <p:cNvPr id="9" name="Rectangle 8"/>
          <p:cNvSpPr/>
          <p:nvPr/>
        </p:nvSpPr>
        <p:spPr>
          <a:xfrm>
            <a:off x="0" y="0"/>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1" name="Oval 5"/>
          <p:cNvSpPr/>
          <p:nvPr/>
        </p:nvSpPr>
        <p:spPr>
          <a:xfrm>
            <a:off x="-1" y="0"/>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Title 1"/>
          <p:cNvSpPr>
            <a:spLocks noGrp="1"/>
          </p:cNvSpPr>
          <p:nvPr>
            <p:ph type="title"/>
          </p:nvPr>
        </p:nvSpPr>
        <p:spPr>
          <a:xfrm>
            <a:off x="502443" y="2683193"/>
            <a:ext cx="11187112" cy="1463040"/>
          </a:xfrm>
        </p:spPr>
        <p:txBody>
          <a:bodyPr anchor="ctr">
            <a:normAutofit/>
          </a:bodyPr>
          <a:lstStyle>
            <a:lvl1pPr algn="ctr">
              <a:defRPr sz="5000" b="0" spc="200" baseline="0"/>
            </a:lvl1pPr>
          </a:lstStyle>
          <a:p>
            <a:r>
              <a:rPr lang="en-US"/>
              <a:t>Click to edit Master title style</a:t>
            </a:r>
            <a:endParaRPr lang="en-US" dirty="0"/>
          </a:p>
        </p:txBody>
      </p:sp>
      <p:sp>
        <p:nvSpPr>
          <p:cNvPr id="10" name="Rectangle 9"/>
          <p:cNvSpPr/>
          <p:nvPr userDrawn="1"/>
        </p:nvSpPr>
        <p:spPr>
          <a:xfrm>
            <a:off x="0" y="4617721"/>
            <a:ext cx="12192000" cy="22574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13" name="Oval 5"/>
          <p:cNvSpPr/>
          <p:nvPr userDrawn="1"/>
        </p:nvSpPr>
        <p:spPr>
          <a:xfrm>
            <a:off x="-1" y="4003358"/>
            <a:ext cx="12192000" cy="4572001"/>
          </a:xfrm>
          <a:custGeom>
            <a:avLst/>
            <a:gdLst/>
            <a:ahLst/>
            <a:cxnLst/>
            <a:rect l="l" t="t" r="r" b="b"/>
            <a:pathLst>
              <a:path w="12192000" h="4572001">
                <a:moveTo>
                  <a:pt x="12192000" y="4387986"/>
                </a:moveTo>
                <a:lnTo>
                  <a:pt x="12192000" y="4572001"/>
                </a:lnTo>
                <a:lnTo>
                  <a:pt x="12013927" y="4572001"/>
                </a:lnTo>
                <a:cubicBezTo>
                  <a:pt x="12084901" y="4522707"/>
                  <a:pt x="12145198" y="4460004"/>
                  <a:pt x="12192000" y="4387986"/>
                </a:cubicBezTo>
                <a:close/>
                <a:moveTo>
                  <a:pt x="12192000" y="4041440"/>
                </a:moveTo>
                <a:lnTo>
                  <a:pt x="12192000" y="4174488"/>
                </a:lnTo>
                <a:cubicBezTo>
                  <a:pt x="12005469" y="4244657"/>
                  <a:pt x="11857227" y="4389538"/>
                  <a:pt x="11786673" y="4572001"/>
                </a:cubicBezTo>
                <a:lnTo>
                  <a:pt x="11649784" y="4572001"/>
                </a:lnTo>
                <a:cubicBezTo>
                  <a:pt x="11730542" y="4320085"/>
                  <a:pt x="11933879" y="4121396"/>
                  <a:pt x="12192000" y="4041440"/>
                </a:cubicBezTo>
                <a:close/>
                <a:moveTo>
                  <a:pt x="10767111" y="3999419"/>
                </a:moveTo>
                <a:lnTo>
                  <a:pt x="10784198" y="4001042"/>
                </a:lnTo>
                <a:cubicBezTo>
                  <a:pt x="10816584" y="4001569"/>
                  <a:pt x="10848477" y="4004550"/>
                  <a:pt x="10879660" y="4010107"/>
                </a:cubicBezTo>
                <a:cubicBezTo>
                  <a:pt x="10885236" y="4009688"/>
                  <a:pt x="10890564" y="4010636"/>
                  <a:pt x="10895873" y="4011646"/>
                </a:cubicBezTo>
                <a:lnTo>
                  <a:pt x="10895990" y="4012794"/>
                </a:lnTo>
                <a:cubicBezTo>
                  <a:pt x="11208069" y="4064450"/>
                  <a:pt x="11461298" y="4283539"/>
                  <a:pt x="11554662" y="4572001"/>
                </a:cubicBezTo>
                <a:lnTo>
                  <a:pt x="11417114" y="4572001"/>
                </a:lnTo>
                <a:cubicBezTo>
                  <a:pt x="11333731" y="4357380"/>
                  <a:pt x="11143362" y="4194541"/>
                  <a:pt x="10909360" y="4144250"/>
                </a:cubicBezTo>
                <a:cubicBezTo>
                  <a:pt x="10943854" y="4319651"/>
                  <a:pt x="11046077" y="4471530"/>
                  <a:pt x="11189175" y="4572001"/>
                </a:cubicBezTo>
                <a:lnTo>
                  <a:pt x="10994934" y="4572001"/>
                </a:lnTo>
                <a:cubicBezTo>
                  <a:pt x="10878802" y="4452596"/>
                  <a:pt x="10800240" y="4298519"/>
                  <a:pt x="10775875" y="4127511"/>
                </a:cubicBezTo>
                <a:cubicBezTo>
                  <a:pt x="10775707" y="4127458"/>
                  <a:pt x="10775539" y="4127453"/>
                  <a:pt x="10775369" y="4127448"/>
                </a:cubicBezTo>
                <a:lnTo>
                  <a:pt x="10774831" y="4120772"/>
                </a:lnTo>
                <a:cubicBezTo>
                  <a:pt x="10769772" y="4090522"/>
                  <a:pt x="10767321" y="4059631"/>
                  <a:pt x="10767364" y="4028296"/>
                </a:cubicBezTo>
                <a:cubicBezTo>
                  <a:pt x="10766052" y="4022668"/>
                  <a:pt x="10765993" y="4017001"/>
                  <a:pt x="10765993" y="4011320"/>
                </a:cubicBezTo>
                <a:lnTo>
                  <a:pt x="10766587" y="3999880"/>
                </a:lnTo>
                <a:lnTo>
                  <a:pt x="10767085" y="3999913"/>
                </a:lnTo>
                <a:close/>
                <a:moveTo>
                  <a:pt x="10744358" y="3999419"/>
                </a:moveTo>
                <a:lnTo>
                  <a:pt x="10744384" y="3999913"/>
                </a:lnTo>
                <a:lnTo>
                  <a:pt x="10744882" y="3999880"/>
                </a:lnTo>
                <a:lnTo>
                  <a:pt x="10745476" y="4011320"/>
                </a:lnTo>
                <a:cubicBezTo>
                  <a:pt x="10745476" y="4017001"/>
                  <a:pt x="10745417" y="4022668"/>
                  <a:pt x="10744105" y="4028296"/>
                </a:cubicBezTo>
                <a:cubicBezTo>
                  <a:pt x="10744148" y="4059631"/>
                  <a:pt x="10741697" y="4090522"/>
                  <a:pt x="10736638" y="4120772"/>
                </a:cubicBezTo>
                <a:lnTo>
                  <a:pt x="10736100" y="4127448"/>
                </a:lnTo>
                <a:cubicBezTo>
                  <a:pt x="10735930" y="4127453"/>
                  <a:pt x="10735762" y="4127458"/>
                  <a:pt x="10735594" y="4127511"/>
                </a:cubicBezTo>
                <a:cubicBezTo>
                  <a:pt x="10711229" y="4298519"/>
                  <a:pt x="10632667" y="4452596"/>
                  <a:pt x="10516535" y="4572001"/>
                </a:cubicBezTo>
                <a:lnTo>
                  <a:pt x="10322294" y="4572001"/>
                </a:lnTo>
                <a:cubicBezTo>
                  <a:pt x="10465392" y="4471530"/>
                  <a:pt x="10567615" y="4319650"/>
                  <a:pt x="10602109" y="4144250"/>
                </a:cubicBezTo>
                <a:cubicBezTo>
                  <a:pt x="10368107" y="4194541"/>
                  <a:pt x="10177738" y="4357380"/>
                  <a:pt x="10094355" y="4572001"/>
                </a:cubicBezTo>
                <a:lnTo>
                  <a:pt x="9956808" y="4572001"/>
                </a:lnTo>
                <a:cubicBezTo>
                  <a:pt x="10050171" y="4283539"/>
                  <a:pt x="10303400" y="4064450"/>
                  <a:pt x="10615479" y="4012794"/>
                </a:cubicBezTo>
                <a:lnTo>
                  <a:pt x="10615596" y="4011646"/>
                </a:lnTo>
                <a:cubicBezTo>
                  <a:pt x="10620905" y="4010636"/>
                  <a:pt x="10626233" y="4009688"/>
                  <a:pt x="10631809" y="4010107"/>
                </a:cubicBezTo>
                <a:cubicBezTo>
                  <a:pt x="10662992" y="4004550"/>
                  <a:pt x="10694885" y="4001569"/>
                  <a:pt x="10727271" y="4001042"/>
                </a:cubicBezTo>
                <a:close/>
                <a:moveTo>
                  <a:pt x="9074958" y="3999419"/>
                </a:moveTo>
                <a:lnTo>
                  <a:pt x="9092045" y="4001042"/>
                </a:lnTo>
                <a:cubicBezTo>
                  <a:pt x="9124431" y="4001569"/>
                  <a:pt x="9156324" y="4004550"/>
                  <a:pt x="9187507" y="4010107"/>
                </a:cubicBezTo>
                <a:cubicBezTo>
                  <a:pt x="9193083" y="4009688"/>
                  <a:pt x="9198411" y="4010636"/>
                  <a:pt x="9203720" y="4011646"/>
                </a:cubicBezTo>
                <a:lnTo>
                  <a:pt x="9203837" y="4012794"/>
                </a:lnTo>
                <a:cubicBezTo>
                  <a:pt x="9515916" y="4064450"/>
                  <a:pt x="9769145" y="4283539"/>
                  <a:pt x="9862508" y="4572001"/>
                </a:cubicBezTo>
                <a:lnTo>
                  <a:pt x="9724961" y="4572001"/>
                </a:lnTo>
                <a:cubicBezTo>
                  <a:pt x="9641578" y="4357380"/>
                  <a:pt x="9451209" y="4194541"/>
                  <a:pt x="9217207" y="4144250"/>
                </a:cubicBezTo>
                <a:cubicBezTo>
                  <a:pt x="9251701" y="4319651"/>
                  <a:pt x="9353924" y="4471530"/>
                  <a:pt x="9497022" y="4572001"/>
                </a:cubicBezTo>
                <a:lnTo>
                  <a:pt x="9302781" y="4572001"/>
                </a:lnTo>
                <a:cubicBezTo>
                  <a:pt x="9186649" y="4452596"/>
                  <a:pt x="9108087" y="4298519"/>
                  <a:pt x="9083722" y="4127511"/>
                </a:cubicBezTo>
                <a:cubicBezTo>
                  <a:pt x="9083554" y="4127458"/>
                  <a:pt x="9083386" y="4127453"/>
                  <a:pt x="9083216" y="4127448"/>
                </a:cubicBezTo>
                <a:lnTo>
                  <a:pt x="9082678" y="4120772"/>
                </a:lnTo>
                <a:cubicBezTo>
                  <a:pt x="9077619" y="4090522"/>
                  <a:pt x="9075168" y="4059631"/>
                  <a:pt x="9075211" y="4028296"/>
                </a:cubicBezTo>
                <a:cubicBezTo>
                  <a:pt x="9073899" y="4022668"/>
                  <a:pt x="9073840" y="4017001"/>
                  <a:pt x="9073840" y="4011320"/>
                </a:cubicBezTo>
                <a:lnTo>
                  <a:pt x="9074434" y="3999880"/>
                </a:lnTo>
                <a:lnTo>
                  <a:pt x="9074932" y="3999913"/>
                </a:lnTo>
                <a:close/>
                <a:moveTo>
                  <a:pt x="9052207" y="3999419"/>
                </a:moveTo>
                <a:lnTo>
                  <a:pt x="9052233" y="3999913"/>
                </a:lnTo>
                <a:lnTo>
                  <a:pt x="9052731" y="3999880"/>
                </a:lnTo>
                <a:lnTo>
                  <a:pt x="9053325" y="4011320"/>
                </a:lnTo>
                <a:cubicBezTo>
                  <a:pt x="9053325" y="4017001"/>
                  <a:pt x="9053266" y="4022668"/>
                  <a:pt x="9051954" y="4028296"/>
                </a:cubicBezTo>
                <a:cubicBezTo>
                  <a:pt x="9051997" y="4059631"/>
                  <a:pt x="9049546" y="4090522"/>
                  <a:pt x="9044487" y="4120772"/>
                </a:cubicBezTo>
                <a:lnTo>
                  <a:pt x="9043949" y="4127448"/>
                </a:lnTo>
                <a:cubicBezTo>
                  <a:pt x="9043779" y="4127453"/>
                  <a:pt x="9043611" y="4127458"/>
                  <a:pt x="9043443" y="4127511"/>
                </a:cubicBezTo>
                <a:cubicBezTo>
                  <a:pt x="9019078" y="4298519"/>
                  <a:pt x="8940516" y="4452596"/>
                  <a:pt x="8824384" y="4572001"/>
                </a:cubicBezTo>
                <a:lnTo>
                  <a:pt x="8630143" y="4572001"/>
                </a:lnTo>
                <a:cubicBezTo>
                  <a:pt x="8773241" y="4471530"/>
                  <a:pt x="8875464" y="4319651"/>
                  <a:pt x="8909958" y="4144250"/>
                </a:cubicBezTo>
                <a:cubicBezTo>
                  <a:pt x="8675956" y="4194541"/>
                  <a:pt x="8485587" y="4357380"/>
                  <a:pt x="8402204" y="4572001"/>
                </a:cubicBezTo>
                <a:lnTo>
                  <a:pt x="8264656" y="4572001"/>
                </a:lnTo>
                <a:cubicBezTo>
                  <a:pt x="8358019" y="4283539"/>
                  <a:pt x="8611249" y="4064450"/>
                  <a:pt x="8923328" y="4012794"/>
                </a:cubicBezTo>
                <a:lnTo>
                  <a:pt x="8923445" y="4011646"/>
                </a:lnTo>
                <a:cubicBezTo>
                  <a:pt x="8928754" y="4010636"/>
                  <a:pt x="8934082" y="4009688"/>
                  <a:pt x="8939658" y="4010107"/>
                </a:cubicBezTo>
                <a:cubicBezTo>
                  <a:pt x="8970841" y="4004550"/>
                  <a:pt x="9002734" y="4001569"/>
                  <a:pt x="9035120" y="4001042"/>
                </a:cubicBezTo>
                <a:close/>
                <a:moveTo>
                  <a:pt x="7382807" y="3999419"/>
                </a:moveTo>
                <a:lnTo>
                  <a:pt x="7399895" y="4001042"/>
                </a:lnTo>
                <a:cubicBezTo>
                  <a:pt x="7432280" y="4001569"/>
                  <a:pt x="7464173" y="4004550"/>
                  <a:pt x="7495356" y="4010107"/>
                </a:cubicBezTo>
                <a:cubicBezTo>
                  <a:pt x="7500932" y="4009688"/>
                  <a:pt x="7506260" y="4010636"/>
                  <a:pt x="7511569" y="4011646"/>
                </a:cubicBezTo>
                <a:lnTo>
                  <a:pt x="7511686" y="4012794"/>
                </a:lnTo>
                <a:cubicBezTo>
                  <a:pt x="7823765" y="4064450"/>
                  <a:pt x="8076994" y="4283539"/>
                  <a:pt x="8170358" y="4572001"/>
                </a:cubicBezTo>
                <a:lnTo>
                  <a:pt x="8032809" y="4572001"/>
                </a:lnTo>
                <a:cubicBezTo>
                  <a:pt x="7949426" y="4357380"/>
                  <a:pt x="7759058" y="4194541"/>
                  <a:pt x="7525056" y="4144250"/>
                </a:cubicBezTo>
                <a:cubicBezTo>
                  <a:pt x="7559550" y="4319650"/>
                  <a:pt x="7661773" y="4471530"/>
                  <a:pt x="7804870" y="4572001"/>
                </a:cubicBezTo>
                <a:lnTo>
                  <a:pt x="7610630" y="4572001"/>
                </a:lnTo>
                <a:cubicBezTo>
                  <a:pt x="7494498" y="4452596"/>
                  <a:pt x="7415935" y="4298519"/>
                  <a:pt x="7391571" y="4127511"/>
                </a:cubicBezTo>
                <a:cubicBezTo>
                  <a:pt x="7391403" y="4127458"/>
                  <a:pt x="7391235" y="4127453"/>
                  <a:pt x="7391065" y="4127448"/>
                </a:cubicBezTo>
                <a:lnTo>
                  <a:pt x="7390527" y="4120772"/>
                </a:lnTo>
                <a:cubicBezTo>
                  <a:pt x="7385468" y="4090522"/>
                  <a:pt x="7383018" y="4059631"/>
                  <a:pt x="7383060" y="4028296"/>
                </a:cubicBezTo>
                <a:cubicBezTo>
                  <a:pt x="7381748" y="4022668"/>
                  <a:pt x="7381689" y="4017001"/>
                  <a:pt x="7381689" y="4011320"/>
                </a:cubicBezTo>
                <a:lnTo>
                  <a:pt x="7382283" y="3999880"/>
                </a:lnTo>
                <a:lnTo>
                  <a:pt x="7382781" y="3999913"/>
                </a:lnTo>
                <a:close/>
                <a:moveTo>
                  <a:pt x="7360056" y="3999419"/>
                </a:moveTo>
                <a:lnTo>
                  <a:pt x="7360082" y="3999913"/>
                </a:lnTo>
                <a:lnTo>
                  <a:pt x="7360580" y="3999880"/>
                </a:lnTo>
                <a:lnTo>
                  <a:pt x="7361174" y="4011320"/>
                </a:lnTo>
                <a:cubicBezTo>
                  <a:pt x="7361174" y="4017001"/>
                  <a:pt x="7361115" y="4022668"/>
                  <a:pt x="7359803" y="4028296"/>
                </a:cubicBezTo>
                <a:cubicBezTo>
                  <a:pt x="7359845" y="4059631"/>
                  <a:pt x="7357395" y="4090522"/>
                  <a:pt x="7352336" y="4120772"/>
                </a:cubicBezTo>
                <a:lnTo>
                  <a:pt x="7351798" y="4127448"/>
                </a:lnTo>
                <a:cubicBezTo>
                  <a:pt x="7351628" y="4127453"/>
                  <a:pt x="7351460" y="4127458"/>
                  <a:pt x="7351292" y="4127511"/>
                </a:cubicBezTo>
                <a:cubicBezTo>
                  <a:pt x="7326927" y="4298519"/>
                  <a:pt x="7248364" y="4452596"/>
                  <a:pt x="7132233" y="4572001"/>
                </a:cubicBezTo>
                <a:lnTo>
                  <a:pt x="6937992" y="4572001"/>
                </a:lnTo>
                <a:cubicBezTo>
                  <a:pt x="7081090" y="4471530"/>
                  <a:pt x="7183313" y="4319650"/>
                  <a:pt x="7217807" y="4144250"/>
                </a:cubicBezTo>
                <a:cubicBezTo>
                  <a:pt x="6983804" y="4194541"/>
                  <a:pt x="6793436" y="4357380"/>
                  <a:pt x="6710053" y="4572001"/>
                </a:cubicBezTo>
                <a:lnTo>
                  <a:pt x="6572505" y="4572001"/>
                </a:lnTo>
                <a:cubicBezTo>
                  <a:pt x="6665868" y="4283539"/>
                  <a:pt x="6919098" y="4064450"/>
                  <a:pt x="7231177" y="4012794"/>
                </a:cubicBezTo>
                <a:lnTo>
                  <a:pt x="7231294" y="4011646"/>
                </a:lnTo>
                <a:cubicBezTo>
                  <a:pt x="7236603" y="4010636"/>
                  <a:pt x="7241931" y="4009688"/>
                  <a:pt x="7247507" y="4010107"/>
                </a:cubicBezTo>
                <a:cubicBezTo>
                  <a:pt x="7278690" y="4004550"/>
                  <a:pt x="7310583" y="4001569"/>
                  <a:pt x="7342968" y="4001042"/>
                </a:cubicBezTo>
                <a:close/>
                <a:moveTo>
                  <a:pt x="5690656" y="3999419"/>
                </a:moveTo>
                <a:lnTo>
                  <a:pt x="5707743" y="4001042"/>
                </a:lnTo>
                <a:cubicBezTo>
                  <a:pt x="5740129" y="4001569"/>
                  <a:pt x="5772021" y="4004550"/>
                  <a:pt x="5803205" y="4010107"/>
                </a:cubicBezTo>
                <a:cubicBezTo>
                  <a:pt x="5808781" y="4009688"/>
                  <a:pt x="5814109" y="4010636"/>
                  <a:pt x="5819417" y="4011646"/>
                </a:cubicBezTo>
                <a:lnTo>
                  <a:pt x="5819534" y="4012794"/>
                </a:lnTo>
                <a:cubicBezTo>
                  <a:pt x="6131614" y="4064450"/>
                  <a:pt x="6384843" y="4283539"/>
                  <a:pt x="6478206" y="4572001"/>
                </a:cubicBezTo>
                <a:lnTo>
                  <a:pt x="6340658" y="4572001"/>
                </a:lnTo>
                <a:cubicBezTo>
                  <a:pt x="6257275" y="4357380"/>
                  <a:pt x="6066907" y="4194541"/>
                  <a:pt x="5832905" y="4144250"/>
                </a:cubicBezTo>
                <a:cubicBezTo>
                  <a:pt x="5867399" y="4319651"/>
                  <a:pt x="5969622" y="4471530"/>
                  <a:pt x="6112719" y="4572001"/>
                </a:cubicBezTo>
                <a:lnTo>
                  <a:pt x="5918478" y="4572001"/>
                </a:lnTo>
                <a:cubicBezTo>
                  <a:pt x="5802347" y="4452596"/>
                  <a:pt x="5723784" y="4298519"/>
                  <a:pt x="5699419" y="4127511"/>
                </a:cubicBezTo>
                <a:cubicBezTo>
                  <a:pt x="5699252" y="4127458"/>
                  <a:pt x="5699083" y="4127453"/>
                  <a:pt x="5698914" y="4127448"/>
                </a:cubicBezTo>
                <a:lnTo>
                  <a:pt x="5698375" y="4120772"/>
                </a:lnTo>
                <a:cubicBezTo>
                  <a:pt x="5693317" y="4090522"/>
                  <a:pt x="5690866" y="4059631"/>
                  <a:pt x="5690908" y="4028296"/>
                </a:cubicBezTo>
                <a:cubicBezTo>
                  <a:pt x="5689596" y="4022668"/>
                  <a:pt x="5689538" y="4017001"/>
                  <a:pt x="5689538" y="4011320"/>
                </a:cubicBezTo>
                <a:lnTo>
                  <a:pt x="5690132" y="3999880"/>
                </a:lnTo>
                <a:lnTo>
                  <a:pt x="5690630" y="3999913"/>
                </a:lnTo>
                <a:close/>
                <a:moveTo>
                  <a:pt x="5667905" y="3999419"/>
                </a:moveTo>
                <a:lnTo>
                  <a:pt x="5667931" y="3999913"/>
                </a:lnTo>
                <a:lnTo>
                  <a:pt x="5668429" y="3999880"/>
                </a:lnTo>
                <a:lnTo>
                  <a:pt x="5669023" y="4011320"/>
                </a:lnTo>
                <a:cubicBezTo>
                  <a:pt x="5669023" y="4017001"/>
                  <a:pt x="5668964" y="4022668"/>
                  <a:pt x="5667652" y="4028296"/>
                </a:cubicBezTo>
                <a:cubicBezTo>
                  <a:pt x="5667694" y="4059631"/>
                  <a:pt x="5665244" y="4090522"/>
                  <a:pt x="5660185" y="4120772"/>
                </a:cubicBezTo>
                <a:lnTo>
                  <a:pt x="5659647" y="4127448"/>
                </a:lnTo>
                <a:cubicBezTo>
                  <a:pt x="5659477" y="4127453"/>
                  <a:pt x="5659309" y="4127458"/>
                  <a:pt x="5659141" y="4127511"/>
                </a:cubicBezTo>
                <a:cubicBezTo>
                  <a:pt x="5634776" y="4298519"/>
                  <a:pt x="5556213" y="4452596"/>
                  <a:pt x="5440082" y="4572001"/>
                </a:cubicBezTo>
                <a:lnTo>
                  <a:pt x="5245841" y="4572001"/>
                </a:lnTo>
                <a:cubicBezTo>
                  <a:pt x="5388939" y="4471530"/>
                  <a:pt x="5491162" y="4319651"/>
                  <a:pt x="5525656" y="4144250"/>
                </a:cubicBezTo>
                <a:cubicBezTo>
                  <a:pt x="5291653" y="4194541"/>
                  <a:pt x="5101285" y="4357380"/>
                  <a:pt x="5017902" y="4572001"/>
                </a:cubicBezTo>
                <a:lnTo>
                  <a:pt x="4880354" y="4572001"/>
                </a:lnTo>
                <a:cubicBezTo>
                  <a:pt x="4973717" y="4283539"/>
                  <a:pt x="5226947" y="4064450"/>
                  <a:pt x="5539026" y="4012794"/>
                </a:cubicBezTo>
                <a:lnTo>
                  <a:pt x="5539143" y="4011646"/>
                </a:lnTo>
                <a:cubicBezTo>
                  <a:pt x="5544452" y="4010636"/>
                  <a:pt x="5549780" y="4009688"/>
                  <a:pt x="5555356" y="4010107"/>
                </a:cubicBezTo>
                <a:cubicBezTo>
                  <a:pt x="5586539" y="4004550"/>
                  <a:pt x="5618432" y="4001569"/>
                  <a:pt x="5650817" y="4001042"/>
                </a:cubicBezTo>
                <a:close/>
                <a:moveTo>
                  <a:pt x="3998505" y="3999419"/>
                </a:moveTo>
                <a:lnTo>
                  <a:pt x="4015592" y="4001042"/>
                </a:lnTo>
                <a:cubicBezTo>
                  <a:pt x="4047978" y="4001569"/>
                  <a:pt x="4079870" y="4004550"/>
                  <a:pt x="4111054" y="4010107"/>
                </a:cubicBezTo>
                <a:cubicBezTo>
                  <a:pt x="4116630" y="4009688"/>
                  <a:pt x="4121958" y="4010636"/>
                  <a:pt x="4127266" y="4011646"/>
                </a:cubicBezTo>
                <a:lnTo>
                  <a:pt x="4127384" y="4012794"/>
                </a:lnTo>
                <a:cubicBezTo>
                  <a:pt x="4439463" y="4064450"/>
                  <a:pt x="4692692" y="4283539"/>
                  <a:pt x="4786055" y="4572001"/>
                </a:cubicBezTo>
                <a:lnTo>
                  <a:pt x="4648508" y="4572001"/>
                </a:lnTo>
                <a:cubicBezTo>
                  <a:pt x="4565124" y="4357380"/>
                  <a:pt x="4374756" y="4194541"/>
                  <a:pt x="4140754" y="4144250"/>
                </a:cubicBezTo>
                <a:cubicBezTo>
                  <a:pt x="4175248" y="4319650"/>
                  <a:pt x="4277471" y="4471530"/>
                  <a:pt x="4420568" y="4572001"/>
                </a:cubicBezTo>
                <a:lnTo>
                  <a:pt x="4226327" y="4572001"/>
                </a:lnTo>
                <a:cubicBezTo>
                  <a:pt x="4110196" y="4452596"/>
                  <a:pt x="4031633" y="4298519"/>
                  <a:pt x="4007268" y="4127511"/>
                </a:cubicBezTo>
                <a:cubicBezTo>
                  <a:pt x="4007101" y="4127458"/>
                  <a:pt x="4006932" y="4127453"/>
                  <a:pt x="4006763" y="4127448"/>
                </a:cubicBezTo>
                <a:lnTo>
                  <a:pt x="4006225" y="4120772"/>
                </a:lnTo>
                <a:cubicBezTo>
                  <a:pt x="4001166" y="4090522"/>
                  <a:pt x="3998715" y="4059631"/>
                  <a:pt x="3998757" y="4028296"/>
                </a:cubicBezTo>
                <a:cubicBezTo>
                  <a:pt x="3997445" y="4022668"/>
                  <a:pt x="3997387" y="4017001"/>
                  <a:pt x="3997387" y="4011320"/>
                </a:cubicBezTo>
                <a:lnTo>
                  <a:pt x="3997981" y="3999880"/>
                </a:lnTo>
                <a:lnTo>
                  <a:pt x="3998479" y="3999913"/>
                </a:lnTo>
                <a:close/>
                <a:moveTo>
                  <a:pt x="3975754" y="3999419"/>
                </a:moveTo>
                <a:lnTo>
                  <a:pt x="3975780" y="3999913"/>
                </a:lnTo>
                <a:lnTo>
                  <a:pt x="3976278" y="3999880"/>
                </a:lnTo>
                <a:lnTo>
                  <a:pt x="3976872" y="4011320"/>
                </a:lnTo>
                <a:cubicBezTo>
                  <a:pt x="3976872" y="4017001"/>
                  <a:pt x="3976813" y="4022668"/>
                  <a:pt x="3975501" y="4028296"/>
                </a:cubicBezTo>
                <a:cubicBezTo>
                  <a:pt x="3975543" y="4059631"/>
                  <a:pt x="3973093" y="4090522"/>
                  <a:pt x="3968034" y="4120772"/>
                </a:cubicBezTo>
                <a:lnTo>
                  <a:pt x="3967496" y="4127448"/>
                </a:lnTo>
                <a:cubicBezTo>
                  <a:pt x="3967326" y="4127453"/>
                  <a:pt x="3967158" y="4127458"/>
                  <a:pt x="3966990" y="4127511"/>
                </a:cubicBezTo>
                <a:cubicBezTo>
                  <a:pt x="3942625" y="4298519"/>
                  <a:pt x="3864063" y="4452596"/>
                  <a:pt x="3747931" y="4572001"/>
                </a:cubicBezTo>
                <a:lnTo>
                  <a:pt x="3553690" y="4572001"/>
                </a:lnTo>
                <a:cubicBezTo>
                  <a:pt x="3696788" y="4471530"/>
                  <a:pt x="3799011" y="4319651"/>
                  <a:pt x="3833505" y="4144250"/>
                </a:cubicBezTo>
                <a:cubicBezTo>
                  <a:pt x="3599503" y="4194541"/>
                  <a:pt x="3409134" y="4357380"/>
                  <a:pt x="3325751" y="4572001"/>
                </a:cubicBezTo>
                <a:lnTo>
                  <a:pt x="3188203" y="4572001"/>
                </a:lnTo>
                <a:cubicBezTo>
                  <a:pt x="3281566" y="4283539"/>
                  <a:pt x="3534796" y="4064450"/>
                  <a:pt x="3846875" y="4012794"/>
                </a:cubicBezTo>
                <a:lnTo>
                  <a:pt x="3846992" y="4011646"/>
                </a:lnTo>
                <a:cubicBezTo>
                  <a:pt x="3852301" y="4010636"/>
                  <a:pt x="3857629" y="4009688"/>
                  <a:pt x="3863205" y="4010107"/>
                </a:cubicBezTo>
                <a:cubicBezTo>
                  <a:pt x="3894388" y="4004550"/>
                  <a:pt x="3926281" y="4001569"/>
                  <a:pt x="3958666" y="4001042"/>
                </a:cubicBezTo>
                <a:close/>
                <a:moveTo>
                  <a:pt x="2306354" y="3999419"/>
                </a:moveTo>
                <a:lnTo>
                  <a:pt x="2323441" y="4001042"/>
                </a:lnTo>
                <a:cubicBezTo>
                  <a:pt x="2355827" y="4001569"/>
                  <a:pt x="2387719" y="4004550"/>
                  <a:pt x="2418903" y="4010107"/>
                </a:cubicBezTo>
                <a:cubicBezTo>
                  <a:pt x="2424479" y="4009688"/>
                  <a:pt x="2429807" y="4010636"/>
                  <a:pt x="2435115" y="4011646"/>
                </a:cubicBezTo>
                <a:lnTo>
                  <a:pt x="2435233" y="4012794"/>
                </a:lnTo>
                <a:cubicBezTo>
                  <a:pt x="2747312" y="4064450"/>
                  <a:pt x="3000542" y="4283539"/>
                  <a:pt x="3093904" y="4572001"/>
                </a:cubicBezTo>
                <a:lnTo>
                  <a:pt x="2956357" y="4572001"/>
                </a:lnTo>
                <a:cubicBezTo>
                  <a:pt x="2872974" y="4357380"/>
                  <a:pt x="2682605" y="4194541"/>
                  <a:pt x="2448603" y="4144250"/>
                </a:cubicBezTo>
                <a:cubicBezTo>
                  <a:pt x="2483097" y="4319651"/>
                  <a:pt x="2585320" y="4471530"/>
                  <a:pt x="2728418" y="4572001"/>
                </a:cubicBezTo>
                <a:lnTo>
                  <a:pt x="2534177" y="4572001"/>
                </a:lnTo>
                <a:cubicBezTo>
                  <a:pt x="2418045" y="4452596"/>
                  <a:pt x="2339482" y="4298519"/>
                  <a:pt x="2315117" y="4127511"/>
                </a:cubicBezTo>
                <a:cubicBezTo>
                  <a:pt x="2314950" y="4127458"/>
                  <a:pt x="2314781" y="4127453"/>
                  <a:pt x="2314612" y="4127448"/>
                </a:cubicBezTo>
                <a:lnTo>
                  <a:pt x="2314074" y="4120772"/>
                </a:lnTo>
                <a:cubicBezTo>
                  <a:pt x="2309015" y="4090522"/>
                  <a:pt x="2306564" y="4059631"/>
                  <a:pt x="2306606" y="4028296"/>
                </a:cubicBezTo>
                <a:cubicBezTo>
                  <a:pt x="2305294" y="4022668"/>
                  <a:pt x="2305236" y="4017001"/>
                  <a:pt x="2305236" y="4011320"/>
                </a:cubicBezTo>
                <a:lnTo>
                  <a:pt x="2305830" y="3999880"/>
                </a:lnTo>
                <a:lnTo>
                  <a:pt x="2306328" y="3999913"/>
                </a:lnTo>
                <a:close/>
                <a:moveTo>
                  <a:pt x="2283603" y="3999419"/>
                </a:moveTo>
                <a:lnTo>
                  <a:pt x="2283629" y="3999913"/>
                </a:lnTo>
                <a:lnTo>
                  <a:pt x="2284127" y="3999880"/>
                </a:lnTo>
                <a:lnTo>
                  <a:pt x="2284721" y="4011320"/>
                </a:lnTo>
                <a:cubicBezTo>
                  <a:pt x="2284721" y="4017001"/>
                  <a:pt x="2284662" y="4022668"/>
                  <a:pt x="2283350" y="4028296"/>
                </a:cubicBezTo>
                <a:cubicBezTo>
                  <a:pt x="2283392" y="4059631"/>
                  <a:pt x="2280942" y="4090522"/>
                  <a:pt x="2275883" y="4120772"/>
                </a:cubicBezTo>
                <a:lnTo>
                  <a:pt x="2275345" y="4127448"/>
                </a:lnTo>
                <a:cubicBezTo>
                  <a:pt x="2275175" y="4127453"/>
                  <a:pt x="2275007" y="4127458"/>
                  <a:pt x="2274839" y="4127511"/>
                </a:cubicBezTo>
                <a:cubicBezTo>
                  <a:pt x="2250474" y="4298519"/>
                  <a:pt x="2171912" y="4452596"/>
                  <a:pt x="2055780" y="4572001"/>
                </a:cubicBezTo>
                <a:lnTo>
                  <a:pt x="1861539" y="4572001"/>
                </a:lnTo>
                <a:cubicBezTo>
                  <a:pt x="2004637" y="4471530"/>
                  <a:pt x="2106860" y="4319650"/>
                  <a:pt x="2141354" y="4144250"/>
                </a:cubicBezTo>
                <a:cubicBezTo>
                  <a:pt x="1907352" y="4194541"/>
                  <a:pt x="1716983" y="4357380"/>
                  <a:pt x="1633600" y="4572001"/>
                </a:cubicBezTo>
                <a:lnTo>
                  <a:pt x="1496052" y="4572001"/>
                </a:lnTo>
                <a:cubicBezTo>
                  <a:pt x="1589416" y="4283539"/>
                  <a:pt x="1842645" y="4064450"/>
                  <a:pt x="2154724" y="4012794"/>
                </a:cubicBezTo>
                <a:lnTo>
                  <a:pt x="2154841" y="4011646"/>
                </a:lnTo>
                <a:cubicBezTo>
                  <a:pt x="2160150" y="4010636"/>
                  <a:pt x="2165478" y="4009688"/>
                  <a:pt x="2171054" y="4010107"/>
                </a:cubicBezTo>
                <a:cubicBezTo>
                  <a:pt x="2202237" y="4004550"/>
                  <a:pt x="2234130" y="4001569"/>
                  <a:pt x="2266515" y="4001042"/>
                </a:cubicBezTo>
                <a:close/>
                <a:moveTo>
                  <a:pt x="614203" y="3999419"/>
                </a:moveTo>
                <a:lnTo>
                  <a:pt x="631290" y="4001042"/>
                </a:lnTo>
                <a:cubicBezTo>
                  <a:pt x="663676" y="4001569"/>
                  <a:pt x="695568" y="4004550"/>
                  <a:pt x="726752" y="4010107"/>
                </a:cubicBezTo>
                <a:cubicBezTo>
                  <a:pt x="732328" y="4009688"/>
                  <a:pt x="737656" y="4010636"/>
                  <a:pt x="742964" y="4011646"/>
                </a:cubicBezTo>
                <a:lnTo>
                  <a:pt x="743081" y="4012794"/>
                </a:lnTo>
                <a:cubicBezTo>
                  <a:pt x="1055161" y="4064450"/>
                  <a:pt x="1308390" y="4283539"/>
                  <a:pt x="1401754" y="4572001"/>
                </a:cubicBezTo>
                <a:lnTo>
                  <a:pt x="1264205" y="4572001"/>
                </a:lnTo>
                <a:cubicBezTo>
                  <a:pt x="1180823" y="4357380"/>
                  <a:pt x="990454" y="4194541"/>
                  <a:pt x="756452" y="4144250"/>
                </a:cubicBezTo>
                <a:cubicBezTo>
                  <a:pt x="790946" y="4319651"/>
                  <a:pt x="893169" y="4471530"/>
                  <a:pt x="1036266" y="4572001"/>
                </a:cubicBezTo>
                <a:lnTo>
                  <a:pt x="842026" y="4572001"/>
                </a:lnTo>
                <a:cubicBezTo>
                  <a:pt x="725894" y="4452596"/>
                  <a:pt x="647331" y="4298519"/>
                  <a:pt x="622966" y="4127511"/>
                </a:cubicBezTo>
                <a:cubicBezTo>
                  <a:pt x="622799" y="4127458"/>
                  <a:pt x="622630" y="4127453"/>
                  <a:pt x="622461" y="4127448"/>
                </a:cubicBezTo>
                <a:lnTo>
                  <a:pt x="621923" y="4120772"/>
                </a:lnTo>
                <a:cubicBezTo>
                  <a:pt x="616864" y="4090522"/>
                  <a:pt x="614413" y="4059631"/>
                  <a:pt x="614455" y="4028296"/>
                </a:cubicBezTo>
                <a:cubicBezTo>
                  <a:pt x="613143" y="4022668"/>
                  <a:pt x="613085" y="4017001"/>
                  <a:pt x="613085" y="4011320"/>
                </a:cubicBezTo>
                <a:lnTo>
                  <a:pt x="613679" y="3999880"/>
                </a:lnTo>
                <a:lnTo>
                  <a:pt x="614177" y="3999913"/>
                </a:lnTo>
                <a:close/>
                <a:moveTo>
                  <a:pt x="591452" y="3999419"/>
                </a:moveTo>
                <a:lnTo>
                  <a:pt x="591478" y="3999913"/>
                </a:lnTo>
                <a:lnTo>
                  <a:pt x="591976" y="3999880"/>
                </a:lnTo>
                <a:lnTo>
                  <a:pt x="592570" y="4011320"/>
                </a:lnTo>
                <a:cubicBezTo>
                  <a:pt x="592570" y="4017001"/>
                  <a:pt x="592511" y="4022668"/>
                  <a:pt x="591199" y="4028296"/>
                </a:cubicBezTo>
                <a:cubicBezTo>
                  <a:pt x="591242" y="4059631"/>
                  <a:pt x="588791" y="4090522"/>
                  <a:pt x="583732" y="4120772"/>
                </a:cubicBezTo>
                <a:lnTo>
                  <a:pt x="583194" y="4127448"/>
                </a:lnTo>
                <a:cubicBezTo>
                  <a:pt x="583024" y="4127453"/>
                  <a:pt x="582856" y="4127458"/>
                  <a:pt x="582689" y="4127511"/>
                </a:cubicBezTo>
                <a:cubicBezTo>
                  <a:pt x="558275" y="4298863"/>
                  <a:pt x="479445" y="4453216"/>
                  <a:pt x="362360" y="4572001"/>
                </a:cubicBezTo>
                <a:lnTo>
                  <a:pt x="169811" y="4572001"/>
                </a:lnTo>
                <a:cubicBezTo>
                  <a:pt x="312603" y="4471357"/>
                  <a:pt x="414729" y="4319551"/>
                  <a:pt x="449203" y="4144250"/>
                </a:cubicBezTo>
                <a:cubicBezTo>
                  <a:pt x="258971" y="4185134"/>
                  <a:pt x="97576" y="4300399"/>
                  <a:pt x="0" y="4458139"/>
                </a:cubicBezTo>
                <a:lnTo>
                  <a:pt x="0" y="4251345"/>
                </a:lnTo>
                <a:cubicBezTo>
                  <a:pt x="121484" y="4128438"/>
                  <a:pt x="282199" y="4042650"/>
                  <a:pt x="462573" y="4012794"/>
                </a:cubicBezTo>
                <a:lnTo>
                  <a:pt x="462690" y="4011646"/>
                </a:lnTo>
                <a:cubicBezTo>
                  <a:pt x="467999" y="4010636"/>
                  <a:pt x="473327" y="4009688"/>
                  <a:pt x="478903" y="4010107"/>
                </a:cubicBezTo>
                <a:cubicBezTo>
                  <a:pt x="510086" y="4004550"/>
                  <a:pt x="541979" y="4001569"/>
                  <a:pt x="574365" y="4001042"/>
                </a:cubicBezTo>
                <a:close/>
                <a:moveTo>
                  <a:pt x="11452667" y="3304913"/>
                </a:moveTo>
                <a:cubicBezTo>
                  <a:pt x="11177477" y="3363591"/>
                  <a:pt x="10962633" y="3576701"/>
                  <a:pt x="10909358" y="3845480"/>
                </a:cubicBezTo>
                <a:cubicBezTo>
                  <a:pt x="11184548" y="3786801"/>
                  <a:pt x="11399391" y="3573691"/>
                  <a:pt x="11452667" y="3304913"/>
                </a:cubicBezTo>
                <a:close/>
                <a:moveTo>
                  <a:pt x="10058800" y="3304913"/>
                </a:moveTo>
                <a:cubicBezTo>
                  <a:pt x="10112076" y="3573691"/>
                  <a:pt x="10326919" y="3786801"/>
                  <a:pt x="10602109" y="3845480"/>
                </a:cubicBezTo>
                <a:cubicBezTo>
                  <a:pt x="10548834" y="3576701"/>
                  <a:pt x="10333990" y="3363591"/>
                  <a:pt x="10058800" y="3304913"/>
                </a:cubicBezTo>
                <a:close/>
                <a:moveTo>
                  <a:pt x="9760514" y="3304913"/>
                </a:moveTo>
                <a:cubicBezTo>
                  <a:pt x="9485324" y="3363591"/>
                  <a:pt x="9270480" y="3576701"/>
                  <a:pt x="9217205" y="3845480"/>
                </a:cubicBezTo>
                <a:cubicBezTo>
                  <a:pt x="9492395" y="3786801"/>
                  <a:pt x="9707238" y="3573691"/>
                  <a:pt x="9760514" y="3304913"/>
                </a:cubicBezTo>
                <a:close/>
                <a:moveTo>
                  <a:pt x="8366649" y="3304913"/>
                </a:moveTo>
                <a:cubicBezTo>
                  <a:pt x="8419925" y="3573691"/>
                  <a:pt x="8634768" y="3786801"/>
                  <a:pt x="8909958" y="3845480"/>
                </a:cubicBezTo>
                <a:cubicBezTo>
                  <a:pt x="8856683" y="3576701"/>
                  <a:pt x="8641839" y="3363591"/>
                  <a:pt x="8366649" y="3304913"/>
                </a:cubicBezTo>
                <a:close/>
                <a:moveTo>
                  <a:pt x="8068363" y="3304913"/>
                </a:moveTo>
                <a:cubicBezTo>
                  <a:pt x="7793173" y="3363591"/>
                  <a:pt x="7578329" y="3576701"/>
                  <a:pt x="7525054" y="3845480"/>
                </a:cubicBezTo>
                <a:cubicBezTo>
                  <a:pt x="7800244" y="3786801"/>
                  <a:pt x="8015087" y="3573691"/>
                  <a:pt x="8068363" y="3304913"/>
                </a:cubicBezTo>
                <a:close/>
                <a:moveTo>
                  <a:pt x="6674498" y="3304913"/>
                </a:moveTo>
                <a:cubicBezTo>
                  <a:pt x="6727774" y="3573691"/>
                  <a:pt x="6942617" y="3786801"/>
                  <a:pt x="7217807" y="3845480"/>
                </a:cubicBezTo>
                <a:cubicBezTo>
                  <a:pt x="7164532" y="3576701"/>
                  <a:pt x="6949688" y="3363591"/>
                  <a:pt x="6674498" y="3304913"/>
                </a:cubicBezTo>
                <a:close/>
                <a:moveTo>
                  <a:pt x="6376212" y="3304913"/>
                </a:moveTo>
                <a:cubicBezTo>
                  <a:pt x="6101022" y="3363591"/>
                  <a:pt x="5886178" y="3576701"/>
                  <a:pt x="5832903" y="3845480"/>
                </a:cubicBezTo>
                <a:cubicBezTo>
                  <a:pt x="6108093" y="3786801"/>
                  <a:pt x="6322936" y="3573691"/>
                  <a:pt x="6376212" y="3304913"/>
                </a:cubicBezTo>
                <a:close/>
                <a:moveTo>
                  <a:pt x="4982347" y="3304913"/>
                </a:moveTo>
                <a:cubicBezTo>
                  <a:pt x="5035623" y="3573691"/>
                  <a:pt x="5250466" y="3786801"/>
                  <a:pt x="5525656" y="3845480"/>
                </a:cubicBezTo>
                <a:cubicBezTo>
                  <a:pt x="5472381" y="3576701"/>
                  <a:pt x="5257537" y="3363591"/>
                  <a:pt x="4982347" y="3304913"/>
                </a:cubicBezTo>
                <a:close/>
                <a:moveTo>
                  <a:pt x="4684061" y="3304913"/>
                </a:moveTo>
                <a:cubicBezTo>
                  <a:pt x="4408871" y="3363591"/>
                  <a:pt x="4194027" y="3576701"/>
                  <a:pt x="4140752" y="3845480"/>
                </a:cubicBezTo>
                <a:cubicBezTo>
                  <a:pt x="4415942" y="3786801"/>
                  <a:pt x="4630785" y="3573691"/>
                  <a:pt x="4684061" y="3304913"/>
                </a:cubicBezTo>
                <a:close/>
                <a:moveTo>
                  <a:pt x="3290196" y="3304913"/>
                </a:moveTo>
                <a:cubicBezTo>
                  <a:pt x="3343472" y="3573691"/>
                  <a:pt x="3558315" y="3786801"/>
                  <a:pt x="3833505" y="3845480"/>
                </a:cubicBezTo>
                <a:cubicBezTo>
                  <a:pt x="3780230" y="3576701"/>
                  <a:pt x="3565386" y="3363591"/>
                  <a:pt x="3290196" y="3304913"/>
                </a:cubicBezTo>
                <a:close/>
                <a:moveTo>
                  <a:pt x="2991910" y="3304913"/>
                </a:moveTo>
                <a:cubicBezTo>
                  <a:pt x="2716720" y="3363591"/>
                  <a:pt x="2501876" y="3576701"/>
                  <a:pt x="2448601" y="3845480"/>
                </a:cubicBezTo>
                <a:cubicBezTo>
                  <a:pt x="2723791" y="3786801"/>
                  <a:pt x="2938634" y="3573691"/>
                  <a:pt x="2991910" y="3304913"/>
                </a:cubicBezTo>
                <a:close/>
                <a:moveTo>
                  <a:pt x="1598045" y="3304913"/>
                </a:moveTo>
                <a:cubicBezTo>
                  <a:pt x="1651321" y="3573691"/>
                  <a:pt x="1866164" y="3786801"/>
                  <a:pt x="2141354" y="3845480"/>
                </a:cubicBezTo>
                <a:cubicBezTo>
                  <a:pt x="2088079" y="3576701"/>
                  <a:pt x="1873235" y="3363591"/>
                  <a:pt x="1598045" y="3304913"/>
                </a:cubicBezTo>
                <a:close/>
                <a:moveTo>
                  <a:pt x="1299759" y="3304913"/>
                </a:moveTo>
                <a:cubicBezTo>
                  <a:pt x="1024569" y="3363591"/>
                  <a:pt x="809725" y="3576701"/>
                  <a:pt x="756450" y="3845480"/>
                </a:cubicBezTo>
                <a:cubicBezTo>
                  <a:pt x="1031640" y="3786801"/>
                  <a:pt x="1246483" y="3573691"/>
                  <a:pt x="1299759" y="3304913"/>
                </a:cubicBezTo>
                <a:close/>
                <a:moveTo>
                  <a:pt x="0" y="3200906"/>
                </a:moveTo>
                <a:cubicBezTo>
                  <a:pt x="306658" y="3291386"/>
                  <a:pt x="537576" y="3547942"/>
                  <a:pt x="582690" y="3862087"/>
                </a:cubicBezTo>
                <a:cubicBezTo>
                  <a:pt x="582857" y="3862140"/>
                  <a:pt x="583026" y="3862145"/>
                  <a:pt x="583195" y="3862150"/>
                </a:cubicBezTo>
                <a:lnTo>
                  <a:pt x="583735" y="3868787"/>
                </a:lnTo>
                <a:cubicBezTo>
                  <a:pt x="588792" y="3898794"/>
                  <a:pt x="591242" y="3929436"/>
                  <a:pt x="591199" y="3960518"/>
                </a:cubicBezTo>
                <a:cubicBezTo>
                  <a:pt x="592511" y="3966104"/>
                  <a:pt x="592570" y="3971728"/>
                  <a:pt x="592570" y="3977366"/>
                </a:cubicBezTo>
                <a:cubicBezTo>
                  <a:pt x="592570" y="3981158"/>
                  <a:pt x="592543" y="3984944"/>
                  <a:pt x="591977" y="3988716"/>
                </a:cubicBezTo>
                <a:lnTo>
                  <a:pt x="591478" y="3988683"/>
                </a:lnTo>
                <a:lnTo>
                  <a:pt x="591452" y="3989174"/>
                </a:lnTo>
                <a:lnTo>
                  <a:pt x="574334" y="3987561"/>
                </a:lnTo>
                <a:cubicBezTo>
                  <a:pt x="541959" y="3987038"/>
                  <a:pt x="510079" y="3984080"/>
                  <a:pt x="478907" y="3978570"/>
                </a:cubicBezTo>
                <a:cubicBezTo>
                  <a:pt x="473330" y="3978986"/>
                  <a:pt x="468001" y="3978045"/>
                  <a:pt x="462690" y="3977042"/>
                </a:cubicBezTo>
                <a:lnTo>
                  <a:pt x="462574" y="3975903"/>
                </a:lnTo>
                <a:cubicBezTo>
                  <a:pt x="282200" y="3946281"/>
                  <a:pt x="121485" y="3861168"/>
                  <a:pt x="0" y="3739225"/>
                </a:cubicBezTo>
                <a:lnTo>
                  <a:pt x="0" y="3534056"/>
                </a:lnTo>
                <a:cubicBezTo>
                  <a:pt x="97584" y="3690562"/>
                  <a:pt x="258975" y="3804918"/>
                  <a:pt x="449203" y="3845480"/>
                </a:cubicBezTo>
                <a:cubicBezTo>
                  <a:pt x="402182" y="3608252"/>
                  <a:pt x="229297" y="3414390"/>
                  <a:pt x="0" y="3332205"/>
                </a:cubicBezTo>
                <a:close/>
                <a:moveTo>
                  <a:pt x="11608704" y="3161219"/>
                </a:moveTo>
                <a:lnTo>
                  <a:pt x="11625791" y="3162829"/>
                </a:lnTo>
                <a:cubicBezTo>
                  <a:pt x="11658177" y="3163352"/>
                  <a:pt x="11690070" y="3166310"/>
                  <a:pt x="11721253" y="3171823"/>
                </a:cubicBezTo>
                <a:cubicBezTo>
                  <a:pt x="11726829" y="3171407"/>
                  <a:pt x="11732157" y="3172348"/>
                  <a:pt x="11737466" y="3173350"/>
                </a:cubicBezTo>
                <a:lnTo>
                  <a:pt x="11737583" y="3174489"/>
                </a:lnTo>
                <a:cubicBezTo>
                  <a:pt x="11914088" y="3203476"/>
                  <a:pt x="12071767" y="3285599"/>
                  <a:pt x="12192000" y="3403667"/>
                </a:cubicBezTo>
                <a:lnTo>
                  <a:pt x="12192000" y="3603658"/>
                </a:lnTo>
                <a:cubicBezTo>
                  <a:pt x="12093732" y="3453636"/>
                  <a:pt x="11935983" y="3344367"/>
                  <a:pt x="11750953" y="3304913"/>
                </a:cubicBezTo>
                <a:cubicBezTo>
                  <a:pt x="11797422" y="3539349"/>
                  <a:pt x="11966808" y="3731433"/>
                  <a:pt x="12192000" y="3815480"/>
                </a:cubicBezTo>
                <a:lnTo>
                  <a:pt x="12192000" y="3947482"/>
                </a:lnTo>
                <a:cubicBezTo>
                  <a:pt x="11889465" y="3854506"/>
                  <a:pt x="11662185" y="3599697"/>
                  <a:pt x="11617468" y="3288305"/>
                </a:cubicBezTo>
                <a:cubicBezTo>
                  <a:pt x="11617300" y="3288253"/>
                  <a:pt x="11617132" y="3288248"/>
                  <a:pt x="11616962" y="3288243"/>
                </a:cubicBezTo>
                <a:lnTo>
                  <a:pt x="11616424" y="3281619"/>
                </a:lnTo>
                <a:cubicBezTo>
                  <a:pt x="11611365" y="3251607"/>
                  <a:pt x="11608914" y="3220958"/>
                  <a:pt x="11608957" y="3189869"/>
                </a:cubicBezTo>
                <a:cubicBezTo>
                  <a:pt x="11607645" y="3184286"/>
                  <a:pt x="11607586" y="3178663"/>
                  <a:pt x="11607586" y="3173027"/>
                </a:cubicBezTo>
                <a:lnTo>
                  <a:pt x="11608180" y="3161677"/>
                </a:lnTo>
                <a:lnTo>
                  <a:pt x="11608678" y="3161709"/>
                </a:lnTo>
                <a:close/>
                <a:moveTo>
                  <a:pt x="11594916" y="3161219"/>
                </a:moveTo>
                <a:lnTo>
                  <a:pt x="11594942" y="3161709"/>
                </a:lnTo>
                <a:lnTo>
                  <a:pt x="11595440" y="3161677"/>
                </a:lnTo>
                <a:lnTo>
                  <a:pt x="11596034" y="3173027"/>
                </a:lnTo>
                <a:cubicBezTo>
                  <a:pt x="11596034" y="3178663"/>
                  <a:pt x="11595975" y="3184286"/>
                  <a:pt x="11594663" y="3189869"/>
                </a:cubicBezTo>
                <a:cubicBezTo>
                  <a:pt x="11594706" y="3220958"/>
                  <a:pt x="11592255" y="3251607"/>
                  <a:pt x="11587196" y="3281619"/>
                </a:cubicBezTo>
                <a:lnTo>
                  <a:pt x="11586658" y="3288243"/>
                </a:lnTo>
                <a:cubicBezTo>
                  <a:pt x="11586488" y="3288248"/>
                  <a:pt x="11586320" y="3288253"/>
                  <a:pt x="11586152" y="3288305"/>
                </a:cubicBezTo>
                <a:cubicBezTo>
                  <a:pt x="11535877" y="3638399"/>
                  <a:pt x="11254838" y="3916971"/>
                  <a:pt x="10895987" y="3975903"/>
                </a:cubicBezTo>
                <a:lnTo>
                  <a:pt x="10895871" y="3977042"/>
                </a:lnTo>
                <a:cubicBezTo>
                  <a:pt x="10890560" y="3978045"/>
                  <a:pt x="10885231" y="3978986"/>
                  <a:pt x="10879654" y="3978570"/>
                </a:cubicBezTo>
                <a:cubicBezTo>
                  <a:pt x="10848482" y="3984080"/>
                  <a:pt x="10816602" y="3987038"/>
                  <a:pt x="10784227" y="3987561"/>
                </a:cubicBezTo>
                <a:lnTo>
                  <a:pt x="10767109" y="3989174"/>
                </a:lnTo>
                <a:lnTo>
                  <a:pt x="10767083" y="3988683"/>
                </a:lnTo>
                <a:lnTo>
                  <a:pt x="10766584" y="3988716"/>
                </a:lnTo>
                <a:cubicBezTo>
                  <a:pt x="10766018" y="3984944"/>
                  <a:pt x="10765991" y="3981158"/>
                  <a:pt x="10765991" y="3977366"/>
                </a:cubicBezTo>
                <a:cubicBezTo>
                  <a:pt x="10765991" y="3971728"/>
                  <a:pt x="10766050" y="3966104"/>
                  <a:pt x="10767362" y="3960518"/>
                </a:cubicBezTo>
                <a:cubicBezTo>
                  <a:pt x="10767319" y="3929436"/>
                  <a:pt x="10769769" y="3898794"/>
                  <a:pt x="10774826" y="3868787"/>
                </a:cubicBezTo>
                <a:lnTo>
                  <a:pt x="10775366" y="3862150"/>
                </a:lnTo>
                <a:cubicBezTo>
                  <a:pt x="10775535" y="3862145"/>
                  <a:pt x="10775704" y="3862140"/>
                  <a:pt x="10775872" y="3862087"/>
                </a:cubicBezTo>
                <a:cubicBezTo>
                  <a:pt x="10826148" y="3511992"/>
                  <a:pt x="11107187" y="3233421"/>
                  <a:pt x="11466037" y="3174489"/>
                </a:cubicBezTo>
                <a:lnTo>
                  <a:pt x="11466154" y="3173350"/>
                </a:lnTo>
                <a:cubicBezTo>
                  <a:pt x="11471463" y="3172348"/>
                  <a:pt x="11476791" y="3171407"/>
                  <a:pt x="11482367" y="3171823"/>
                </a:cubicBezTo>
                <a:cubicBezTo>
                  <a:pt x="11513550" y="3166310"/>
                  <a:pt x="11545443" y="3163352"/>
                  <a:pt x="11577829" y="3162829"/>
                </a:cubicBezTo>
                <a:close/>
                <a:moveTo>
                  <a:pt x="9916551" y="3161219"/>
                </a:moveTo>
                <a:lnTo>
                  <a:pt x="9933638" y="3162829"/>
                </a:lnTo>
                <a:cubicBezTo>
                  <a:pt x="9966024" y="3163352"/>
                  <a:pt x="9997917" y="3166310"/>
                  <a:pt x="10029100" y="3171823"/>
                </a:cubicBezTo>
                <a:cubicBezTo>
                  <a:pt x="10034676" y="3171407"/>
                  <a:pt x="10040004" y="3172348"/>
                  <a:pt x="10045313" y="3173350"/>
                </a:cubicBezTo>
                <a:lnTo>
                  <a:pt x="10045430" y="3174489"/>
                </a:lnTo>
                <a:cubicBezTo>
                  <a:pt x="10404280" y="3233421"/>
                  <a:pt x="10685319" y="3511992"/>
                  <a:pt x="10735596" y="3862087"/>
                </a:cubicBezTo>
                <a:cubicBezTo>
                  <a:pt x="10735763" y="3862140"/>
                  <a:pt x="10735932" y="3862145"/>
                  <a:pt x="10736101" y="3862150"/>
                </a:cubicBezTo>
                <a:lnTo>
                  <a:pt x="10736641" y="3868787"/>
                </a:lnTo>
                <a:cubicBezTo>
                  <a:pt x="10741698" y="3898794"/>
                  <a:pt x="10744148" y="3929436"/>
                  <a:pt x="10744105" y="3960518"/>
                </a:cubicBezTo>
                <a:cubicBezTo>
                  <a:pt x="10745417" y="3966104"/>
                  <a:pt x="10745476" y="3971728"/>
                  <a:pt x="10745476" y="3977366"/>
                </a:cubicBezTo>
                <a:cubicBezTo>
                  <a:pt x="10745476" y="3981158"/>
                  <a:pt x="10745449" y="3984944"/>
                  <a:pt x="10744883" y="3988716"/>
                </a:cubicBezTo>
                <a:lnTo>
                  <a:pt x="10744384" y="3988683"/>
                </a:lnTo>
                <a:lnTo>
                  <a:pt x="10744358" y="3989174"/>
                </a:lnTo>
                <a:lnTo>
                  <a:pt x="10727240" y="3987561"/>
                </a:lnTo>
                <a:cubicBezTo>
                  <a:pt x="10694865" y="3987038"/>
                  <a:pt x="10662985" y="3984080"/>
                  <a:pt x="10631813" y="3978570"/>
                </a:cubicBezTo>
                <a:cubicBezTo>
                  <a:pt x="10626236" y="3978986"/>
                  <a:pt x="10620907" y="3978045"/>
                  <a:pt x="10615596" y="3977042"/>
                </a:cubicBezTo>
                <a:lnTo>
                  <a:pt x="10615480" y="3975903"/>
                </a:lnTo>
                <a:cubicBezTo>
                  <a:pt x="10256629" y="3916971"/>
                  <a:pt x="9975590" y="3638399"/>
                  <a:pt x="9925315" y="3288305"/>
                </a:cubicBezTo>
                <a:cubicBezTo>
                  <a:pt x="9925147" y="3288253"/>
                  <a:pt x="9924979" y="3288248"/>
                  <a:pt x="9924809" y="3288243"/>
                </a:cubicBezTo>
                <a:lnTo>
                  <a:pt x="9924271" y="3281619"/>
                </a:lnTo>
                <a:cubicBezTo>
                  <a:pt x="9919212" y="3251607"/>
                  <a:pt x="9916761" y="3220958"/>
                  <a:pt x="9916804" y="3189869"/>
                </a:cubicBezTo>
                <a:cubicBezTo>
                  <a:pt x="9915492" y="3184286"/>
                  <a:pt x="9915433" y="3178663"/>
                  <a:pt x="9915433" y="3173027"/>
                </a:cubicBezTo>
                <a:lnTo>
                  <a:pt x="9916027" y="3161677"/>
                </a:lnTo>
                <a:lnTo>
                  <a:pt x="9916525" y="3161709"/>
                </a:lnTo>
                <a:close/>
                <a:moveTo>
                  <a:pt x="9902763" y="3161219"/>
                </a:moveTo>
                <a:lnTo>
                  <a:pt x="9902789" y="3161709"/>
                </a:lnTo>
                <a:lnTo>
                  <a:pt x="9903287" y="3161677"/>
                </a:lnTo>
                <a:lnTo>
                  <a:pt x="9903881" y="3173027"/>
                </a:lnTo>
                <a:cubicBezTo>
                  <a:pt x="9903881" y="3178663"/>
                  <a:pt x="9903822" y="3184286"/>
                  <a:pt x="9902510" y="3189869"/>
                </a:cubicBezTo>
                <a:cubicBezTo>
                  <a:pt x="9902553" y="3220958"/>
                  <a:pt x="9900102" y="3251607"/>
                  <a:pt x="9895043" y="3281619"/>
                </a:cubicBezTo>
                <a:lnTo>
                  <a:pt x="9894505" y="3288243"/>
                </a:lnTo>
                <a:cubicBezTo>
                  <a:pt x="9894335" y="3288248"/>
                  <a:pt x="9894167" y="3288253"/>
                  <a:pt x="9893999" y="3288305"/>
                </a:cubicBezTo>
                <a:cubicBezTo>
                  <a:pt x="9843724" y="3638399"/>
                  <a:pt x="9562685" y="3916971"/>
                  <a:pt x="9203834" y="3975903"/>
                </a:cubicBezTo>
                <a:lnTo>
                  <a:pt x="9203718" y="3977042"/>
                </a:lnTo>
                <a:cubicBezTo>
                  <a:pt x="9198407" y="3978045"/>
                  <a:pt x="9193078" y="3978986"/>
                  <a:pt x="9187501" y="3978570"/>
                </a:cubicBezTo>
                <a:cubicBezTo>
                  <a:pt x="9156329" y="3984080"/>
                  <a:pt x="9124449" y="3987038"/>
                  <a:pt x="9092074" y="3987561"/>
                </a:cubicBezTo>
                <a:lnTo>
                  <a:pt x="9074956" y="3989174"/>
                </a:lnTo>
                <a:lnTo>
                  <a:pt x="9074930" y="3988683"/>
                </a:lnTo>
                <a:lnTo>
                  <a:pt x="9074431" y="3988716"/>
                </a:lnTo>
                <a:cubicBezTo>
                  <a:pt x="9073865" y="3984944"/>
                  <a:pt x="9073838" y="3981158"/>
                  <a:pt x="9073838" y="3977366"/>
                </a:cubicBezTo>
                <a:cubicBezTo>
                  <a:pt x="9073838" y="3971728"/>
                  <a:pt x="9073897" y="3966104"/>
                  <a:pt x="9075209" y="3960518"/>
                </a:cubicBezTo>
                <a:cubicBezTo>
                  <a:pt x="9075166" y="3929436"/>
                  <a:pt x="9077616" y="3898794"/>
                  <a:pt x="9082673" y="3868787"/>
                </a:cubicBezTo>
                <a:lnTo>
                  <a:pt x="9083213" y="3862150"/>
                </a:lnTo>
                <a:cubicBezTo>
                  <a:pt x="9083382" y="3862145"/>
                  <a:pt x="9083551" y="3862140"/>
                  <a:pt x="9083718" y="3862087"/>
                </a:cubicBezTo>
                <a:cubicBezTo>
                  <a:pt x="9133995" y="3511992"/>
                  <a:pt x="9415034" y="3233421"/>
                  <a:pt x="9773884" y="3174489"/>
                </a:cubicBezTo>
                <a:lnTo>
                  <a:pt x="9774001" y="3173350"/>
                </a:lnTo>
                <a:cubicBezTo>
                  <a:pt x="9779310" y="3172348"/>
                  <a:pt x="9784638" y="3171407"/>
                  <a:pt x="9790214" y="3171823"/>
                </a:cubicBezTo>
                <a:cubicBezTo>
                  <a:pt x="9821397" y="3166310"/>
                  <a:pt x="9853290" y="3163352"/>
                  <a:pt x="9885676" y="3162829"/>
                </a:cubicBezTo>
                <a:close/>
                <a:moveTo>
                  <a:pt x="8224400" y="3161219"/>
                </a:moveTo>
                <a:lnTo>
                  <a:pt x="8241488" y="3162829"/>
                </a:lnTo>
                <a:cubicBezTo>
                  <a:pt x="8273873" y="3163352"/>
                  <a:pt x="8305766" y="3166310"/>
                  <a:pt x="8336949" y="3171823"/>
                </a:cubicBezTo>
                <a:cubicBezTo>
                  <a:pt x="8342525" y="3171407"/>
                  <a:pt x="8347853" y="3172348"/>
                  <a:pt x="8353162" y="3173350"/>
                </a:cubicBezTo>
                <a:lnTo>
                  <a:pt x="8353279" y="3174489"/>
                </a:lnTo>
                <a:cubicBezTo>
                  <a:pt x="8712129" y="3233421"/>
                  <a:pt x="8993168" y="3511992"/>
                  <a:pt x="9043444" y="3862087"/>
                </a:cubicBezTo>
                <a:cubicBezTo>
                  <a:pt x="9043612" y="3862140"/>
                  <a:pt x="9043781" y="3862145"/>
                  <a:pt x="9043950" y="3862150"/>
                </a:cubicBezTo>
                <a:lnTo>
                  <a:pt x="9044490" y="3868787"/>
                </a:lnTo>
                <a:cubicBezTo>
                  <a:pt x="9049547" y="3898794"/>
                  <a:pt x="9051997" y="3929436"/>
                  <a:pt x="9051954" y="3960518"/>
                </a:cubicBezTo>
                <a:cubicBezTo>
                  <a:pt x="9053266" y="3966104"/>
                  <a:pt x="9053325" y="3971728"/>
                  <a:pt x="9053325" y="3977366"/>
                </a:cubicBezTo>
                <a:cubicBezTo>
                  <a:pt x="9053325" y="3981158"/>
                  <a:pt x="9053298" y="3984944"/>
                  <a:pt x="9052732" y="3988716"/>
                </a:cubicBezTo>
                <a:lnTo>
                  <a:pt x="9052233" y="3988683"/>
                </a:lnTo>
                <a:lnTo>
                  <a:pt x="9052207" y="3989174"/>
                </a:lnTo>
                <a:lnTo>
                  <a:pt x="9035089" y="3987561"/>
                </a:lnTo>
                <a:cubicBezTo>
                  <a:pt x="9002714" y="3987038"/>
                  <a:pt x="8970834" y="3984080"/>
                  <a:pt x="8939662" y="3978570"/>
                </a:cubicBezTo>
                <a:cubicBezTo>
                  <a:pt x="8934085" y="3978986"/>
                  <a:pt x="8928756" y="3978045"/>
                  <a:pt x="8923445" y="3977042"/>
                </a:cubicBezTo>
                <a:lnTo>
                  <a:pt x="8923329" y="3975903"/>
                </a:lnTo>
                <a:cubicBezTo>
                  <a:pt x="8564478" y="3916971"/>
                  <a:pt x="8283439" y="3638399"/>
                  <a:pt x="8233164" y="3288305"/>
                </a:cubicBezTo>
                <a:cubicBezTo>
                  <a:pt x="8232996" y="3288253"/>
                  <a:pt x="8232828" y="3288248"/>
                  <a:pt x="8232658" y="3288243"/>
                </a:cubicBezTo>
                <a:lnTo>
                  <a:pt x="8232120" y="3281619"/>
                </a:lnTo>
                <a:cubicBezTo>
                  <a:pt x="8227061" y="3251607"/>
                  <a:pt x="8224611" y="3220958"/>
                  <a:pt x="8224653" y="3189869"/>
                </a:cubicBezTo>
                <a:cubicBezTo>
                  <a:pt x="8223341" y="3184286"/>
                  <a:pt x="8223282" y="3178663"/>
                  <a:pt x="8223282" y="3173027"/>
                </a:cubicBezTo>
                <a:lnTo>
                  <a:pt x="8223876" y="3161677"/>
                </a:lnTo>
                <a:lnTo>
                  <a:pt x="8224374" y="3161709"/>
                </a:lnTo>
                <a:close/>
                <a:moveTo>
                  <a:pt x="8210612" y="3161219"/>
                </a:moveTo>
                <a:lnTo>
                  <a:pt x="8210638" y="3161709"/>
                </a:lnTo>
                <a:lnTo>
                  <a:pt x="8211136" y="3161677"/>
                </a:lnTo>
                <a:lnTo>
                  <a:pt x="8211730" y="3173027"/>
                </a:lnTo>
                <a:cubicBezTo>
                  <a:pt x="8211730" y="3178663"/>
                  <a:pt x="8211672" y="3184286"/>
                  <a:pt x="8210360" y="3189869"/>
                </a:cubicBezTo>
                <a:cubicBezTo>
                  <a:pt x="8210402" y="3220958"/>
                  <a:pt x="8207951" y="3251607"/>
                  <a:pt x="8202893" y="3281619"/>
                </a:cubicBezTo>
                <a:lnTo>
                  <a:pt x="8202354" y="3288243"/>
                </a:lnTo>
                <a:cubicBezTo>
                  <a:pt x="8202185" y="3288248"/>
                  <a:pt x="8202016" y="3288253"/>
                  <a:pt x="8201849" y="3288305"/>
                </a:cubicBezTo>
                <a:cubicBezTo>
                  <a:pt x="8151573" y="3638399"/>
                  <a:pt x="7870534" y="3916971"/>
                  <a:pt x="7511683" y="3975903"/>
                </a:cubicBezTo>
                <a:lnTo>
                  <a:pt x="7511567" y="3977042"/>
                </a:lnTo>
                <a:cubicBezTo>
                  <a:pt x="7506256" y="3978045"/>
                  <a:pt x="7500927" y="3978986"/>
                  <a:pt x="7495350" y="3978570"/>
                </a:cubicBezTo>
                <a:cubicBezTo>
                  <a:pt x="7464178" y="3984080"/>
                  <a:pt x="7432298" y="3987038"/>
                  <a:pt x="7399924" y="3987561"/>
                </a:cubicBezTo>
                <a:lnTo>
                  <a:pt x="7382805" y="3989174"/>
                </a:lnTo>
                <a:lnTo>
                  <a:pt x="7382779" y="3988683"/>
                </a:lnTo>
                <a:lnTo>
                  <a:pt x="7382280" y="3988716"/>
                </a:lnTo>
                <a:cubicBezTo>
                  <a:pt x="7381714" y="3984944"/>
                  <a:pt x="7381687" y="3981158"/>
                  <a:pt x="7381687" y="3977366"/>
                </a:cubicBezTo>
                <a:cubicBezTo>
                  <a:pt x="7381687" y="3971728"/>
                  <a:pt x="7381746" y="3966104"/>
                  <a:pt x="7383058" y="3960518"/>
                </a:cubicBezTo>
                <a:cubicBezTo>
                  <a:pt x="7383016" y="3929436"/>
                  <a:pt x="7385465" y="3898794"/>
                  <a:pt x="7390522" y="3868787"/>
                </a:cubicBezTo>
                <a:lnTo>
                  <a:pt x="7391062" y="3862150"/>
                </a:lnTo>
                <a:cubicBezTo>
                  <a:pt x="7391231" y="3862145"/>
                  <a:pt x="7391400" y="3862140"/>
                  <a:pt x="7391568" y="3862087"/>
                </a:cubicBezTo>
                <a:cubicBezTo>
                  <a:pt x="7441844" y="3511992"/>
                  <a:pt x="7722883" y="3233421"/>
                  <a:pt x="8081734" y="3174489"/>
                </a:cubicBezTo>
                <a:lnTo>
                  <a:pt x="8081851" y="3173350"/>
                </a:lnTo>
                <a:cubicBezTo>
                  <a:pt x="8087159" y="3172348"/>
                  <a:pt x="8092487" y="3171407"/>
                  <a:pt x="8098063" y="3171823"/>
                </a:cubicBezTo>
                <a:cubicBezTo>
                  <a:pt x="8129247" y="3166310"/>
                  <a:pt x="8161139" y="3163352"/>
                  <a:pt x="8193525" y="3162829"/>
                </a:cubicBezTo>
                <a:close/>
                <a:moveTo>
                  <a:pt x="6532249" y="3161219"/>
                </a:moveTo>
                <a:lnTo>
                  <a:pt x="6549337" y="3162829"/>
                </a:lnTo>
                <a:cubicBezTo>
                  <a:pt x="6581722" y="3163352"/>
                  <a:pt x="6613615" y="3166310"/>
                  <a:pt x="6644798" y="3171823"/>
                </a:cubicBezTo>
                <a:cubicBezTo>
                  <a:pt x="6650374" y="3171407"/>
                  <a:pt x="6655702" y="3172348"/>
                  <a:pt x="6661011" y="3173350"/>
                </a:cubicBezTo>
                <a:lnTo>
                  <a:pt x="6661128" y="3174489"/>
                </a:lnTo>
                <a:cubicBezTo>
                  <a:pt x="7019978" y="3233421"/>
                  <a:pt x="7301017" y="3511992"/>
                  <a:pt x="7351294" y="3862087"/>
                </a:cubicBezTo>
                <a:cubicBezTo>
                  <a:pt x="7351461" y="3862140"/>
                  <a:pt x="7351631" y="3862145"/>
                  <a:pt x="7351799" y="3862150"/>
                </a:cubicBezTo>
                <a:lnTo>
                  <a:pt x="7352340" y="3868787"/>
                </a:lnTo>
                <a:cubicBezTo>
                  <a:pt x="7357396" y="3898794"/>
                  <a:pt x="7359846" y="3929436"/>
                  <a:pt x="7359804" y="3960518"/>
                </a:cubicBezTo>
                <a:cubicBezTo>
                  <a:pt x="7361116" y="3966104"/>
                  <a:pt x="7361174" y="3971728"/>
                  <a:pt x="7361174" y="3977366"/>
                </a:cubicBezTo>
                <a:cubicBezTo>
                  <a:pt x="7361174" y="3981158"/>
                  <a:pt x="7361147" y="3984944"/>
                  <a:pt x="7360581" y="3988716"/>
                </a:cubicBezTo>
                <a:lnTo>
                  <a:pt x="7360082" y="3988683"/>
                </a:lnTo>
                <a:lnTo>
                  <a:pt x="7360056" y="3989174"/>
                </a:lnTo>
                <a:lnTo>
                  <a:pt x="7342938" y="3987561"/>
                </a:lnTo>
                <a:cubicBezTo>
                  <a:pt x="7310564" y="3987038"/>
                  <a:pt x="7278683" y="3984080"/>
                  <a:pt x="7247511" y="3978570"/>
                </a:cubicBezTo>
                <a:cubicBezTo>
                  <a:pt x="7241934" y="3978986"/>
                  <a:pt x="7236605" y="3978045"/>
                  <a:pt x="7231295" y="3977042"/>
                </a:cubicBezTo>
                <a:lnTo>
                  <a:pt x="7231179" y="3975903"/>
                </a:lnTo>
                <a:cubicBezTo>
                  <a:pt x="6872327" y="3916971"/>
                  <a:pt x="6591288" y="3638399"/>
                  <a:pt x="6541013" y="3288305"/>
                </a:cubicBezTo>
                <a:cubicBezTo>
                  <a:pt x="6540845" y="3288253"/>
                  <a:pt x="6540677" y="3288248"/>
                  <a:pt x="6540507" y="3288243"/>
                </a:cubicBezTo>
                <a:lnTo>
                  <a:pt x="6539969" y="3281619"/>
                </a:lnTo>
                <a:cubicBezTo>
                  <a:pt x="6534910" y="3251607"/>
                  <a:pt x="6532460" y="3220958"/>
                  <a:pt x="6532502" y="3189869"/>
                </a:cubicBezTo>
                <a:cubicBezTo>
                  <a:pt x="6531190" y="3184286"/>
                  <a:pt x="6531131" y="3178663"/>
                  <a:pt x="6531131" y="3173027"/>
                </a:cubicBezTo>
                <a:lnTo>
                  <a:pt x="6531725" y="3161677"/>
                </a:lnTo>
                <a:lnTo>
                  <a:pt x="6532223" y="3161709"/>
                </a:lnTo>
                <a:close/>
                <a:moveTo>
                  <a:pt x="6518461" y="3161219"/>
                </a:moveTo>
                <a:lnTo>
                  <a:pt x="6518487" y="3161709"/>
                </a:lnTo>
                <a:lnTo>
                  <a:pt x="6518985" y="3161677"/>
                </a:lnTo>
                <a:lnTo>
                  <a:pt x="6519579" y="3173027"/>
                </a:lnTo>
                <a:cubicBezTo>
                  <a:pt x="6519579" y="3178663"/>
                  <a:pt x="6519520" y="3184286"/>
                  <a:pt x="6518208" y="3189869"/>
                </a:cubicBezTo>
                <a:cubicBezTo>
                  <a:pt x="6518250" y="3220958"/>
                  <a:pt x="6515800" y="3251607"/>
                  <a:pt x="6510741" y="3281619"/>
                </a:cubicBezTo>
                <a:lnTo>
                  <a:pt x="6510203" y="3288243"/>
                </a:lnTo>
                <a:cubicBezTo>
                  <a:pt x="6510033" y="3288248"/>
                  <a:pt x="6509865" y="3288253"/>
                  <a:pt x="6509697" y="3288305"/>
                </a:cubicBezTo>
                <a:cubicBezTo>
                  <a:pt x="6459422" y="3638399"/>
                  <a:pt x="6178383" y="3916971"/>
                  <a:pt x="5819531" y="3975903"/>
                </a:cubicBezTo>
                <a:lnTo>
                  <a:pt x="5819415" y="3977042"/>
                </a:lnTo>
                <a:cubicBezTo>
                  <a:pt x="5814105" y="3978045"/>
                  <a:pt x="5808776" y="3978986"/>
                  <a:pt x="5803199" y="3978570"/>
                </a:cubicBezTo>
                <a:cubicBezTo>
                  <a:pt x="5772027" y="3984080"/>
                  <a:pt x="5740146" y="3987038"/>
                  <a:pt x="5707772" y="3987561"/>
                </a:cubicBezTo>
                <a:lnTo>
                  <a:pt x="5690654" y="3989174"/>
                </a:lnTo>
                <a:lnTo>
                  <a:pt x="5690628" y="3988683"/>
                </a:lnTo>
                <a:lnTo>
                  <a:pt x="5690129" y="3988716"/>
                </a:lnTo>
                <a:cubicBezTo>
                  <a:pt x="5689563" y="3984944"/>
                  <a:pt x="5689536" y="3981158"/>
                  <a:pt x="5689536" y="3977366"/>
                </a:cubicBezTo>
                <a:cubicBezTo>
                  <a:pt x="5689536" y="3971728"/>
                  <a:pt x="5689594" y="3966104"/>
                  <a:pt x="5690906" y="3960518"/>
                </a:cubicBezTo>
                <a:cubicBezTo>
                  <a:pt x="5690864" y="3929436"/>
                  <a:pt x="5693314" y="3898794"/>
                  <a:pt x="5698370" y="3868787"/>
                </a:cubicBezTo>
                <a:lnTo>
                  <a:pt x="5698911" y="3862150"/>
                </a:lnTo>
                <a:cubicBezTo>
                  <a:pt x="5699079" y="3862145"/>
                  <a:pt x="5699249" y="3862140"/>
                  <a:pt x="5699416" y="3862087"/>
                </a:cubicBezTo>
                <a:cubicBezTo>
                  <a:pt x="5749693" y="3511992"/>
                  <a:pt x="6030732" y="3233421"/>
                  <a:pt x="6389582" y="3174489"/>
                </a:cubicBezTo>
                <a:lnTo>
                  <a:pt x="6389699" y="3173350"/>
                </a:lnTo>
                <a:cubicBezTo>
                  <a:pt x="6395008" y="3172348"/>
                  <a:pt x="6400336" y="3171407"/>
                  <a:pt x="6405912" y="3171823"/>
                </a:cubicBezTo>
                <a:cubicBezTo>
                  <a:pt x="6437095" y="3166310"/>
                  <a:pt x="6468988" y="3163352"/>
                  <a:pt x="6501373" y="3162829"/>
                </a:cubicBezTo>
                <a:close/>
                <a:moveTo>
                  <a:pt x="4840098" y="3161219"/>
                </a:moveTo>
                <a:lnTo>
                  <a:pt x="4857185" y="3162829"/>
                </a:lnTo>
                <a:cubicBezTo>
                  <a:pt x="4889571" y="3163352"/>
                  <a:pt x="4921463" y="3166310"/>
                  <a:pt x="4952647" y="3171823"/>
                </a:cubicBezTo>
                <a:cubicBezTo>
                  <a:pt x="4958223" y="3171407"/>
                  <a:pt x="4963551" y="3172348"/>
                  <a:pt x="4968859" y="3173350"/>
                </a:cubicBezTo>
                <a:lnTo>
                  <a:pt x="4968976" y="3174489"/>
                </a:lnTo>
                <a:cubicBezTo>
                  <a:pt x="5327827" y="3233421"/>
                  <a:pt x="5608866" y="3511992"/>
                  <a:pt x="5659142" y="3862087"/>
                </a:cubicBezTo>
                <a:cubicBezTo>
                  <a:pt x="5659310" y="3862140"/>
                  <a:pt x="5659479" y="3862145"/>
                  <a:pt x="5659648" y="3862150"/>
                </a:cubicBezTo>
                <a:lnTo>
                  <a:pt x="5660188" y="3868787"/>
                </a:lnTo>
                <a:cubicBezTo>
                  <a:pt x="5665245" y="3898794"/>
                  <a:pt x="5667694" y="3929436"/>
                  <a:pt x="5667652" y="3960518"/>
                </a:cubicBezTo>
                <a:cubicBezTo>
                  <a:pt x="5668964" y="3966104"/>
                  <a:pt x="5669023" y="3971728"/>
                  <a:pt x="5669023" y="3977366"/>
                </a:cubicBezTo>
                <a:cubicBezTo>
                  <a:pt x="5669023" y="3981158"/>
                  <a:pt x="5668996" y="3984944"/>
                  <a:pt x="5668430" y="3988716"/>
                </a:cubicBezTo>
                <a:lnTo>
                  <a:pt x="5667931" y="3988683"/>
                </a:lnTo>
                <a:lnTo>
                  <a:pt x="5667905" y="3989174"/>
                </a:lnTo>
                <a:lnTo>
                  <a:pt x="5650786" y="3987561"/>
                </a:lnTo>
                <a:cubicBezTo>
                  <a:pt x="5618412" y="3987038"/>
                  <a:pt x="5586532" y="3984080"/>
                  <a:pt x="5555360" y="3978570"/>
                </a:cubicBezTo>
                <a:cubicBezTo>
                  <a:pt x="5549783" y="3978986"/>
                  <a:pt x="5544454" y="3978045"/>
                  <a:pt x="5539143" y="3977042"/>
                </a:cubicBezTo>
                <a:lnTo>
                  <a:pt x="5539027" y="3975903"/>
                </a:lnTo>
                <a:cubicBezTo>
                  <a:pt x="5180176" y="3916971"/>
                  <a:pt x="4899137" y="3638399"/>
                  <a:pt x="4848861" y="3288305"/>
                </a:cubicBezTo>
                <a:cubicBezTo>
                  <a:pt x="4848694" y="3288253"/>
                  <a:pt x="4848525" y="3288248"/>
                  <a:pt x="4848356" y="3288243"/>
                </a:cubicBezTo>
                <a:lnTo>
                  <a:pt x="4847817" y="3281619"/>
                </a:lnTo>
                <a:cubicBezTo>
                  <a:pt x="4842759" y="3251607"/>
                  <a:pt x="4840308" y="3220958"/>
                  <a:pt x="4840350" y="3189869"/>
                </a:cubicBezTo>
                <a:cubicBezTo>
                  <a:pt x="4839038" y="3184286"/>
                  <a:pt x="4838980" y="3178663"/>
                  <a:pt x="4838980" y="3173027"/>
                </a:cubicBezTo>
                <a:lnTo>
                  <a:pt x="4839574" y="3161677"/>
                </a:lnTo>
                <a:lnTo>
                  <a:pt x="4840072" y="3161709"/>
                </a:lnTo>
                <a:close/>
                <a:moveTo>
                  <a:pt x="4826310" y="3161219"/>
                </a:moveTo>
                <a:lnTo>
                  <a:pt x="4826336" y="3161709"/>
                </a:lnTo>
                <a:lnTo>
                  <a:pt x="4826834" y="3161677"/>
                </a:lnTo>
                <a:lnTo>
                  <a:pt x="4827428" y="3173027"/>
                </a:lnTo>
                <a:cubicBezTo>
                  <a:pt x="4827428" y="3178663"/>
                  <a:pt x="4827369" y="3184286"/>
                  <a:pt x="4826057" y="3189869"/>
                </a:cubicBezTo>
                <a:cubicBezTo>
                  <a:pt x="4826099" y="3220958"/>
                  <a:pt x="4823649" y="3251607"/>
                  <a:pt x="4818590" y="3281619"/>
                </a:cubicBezTo>
                <a:lnTo>
                  <a:pt x="4818052" y="3288243"/>
                </a:lnTo>
                <a:cubicBezTo>
                  <a:pt x="4817882" y="3288248"/>
                  <a:pt x="4817714" y="3288253"/>
                  <a:pt x="4817546" y="3288305"/>
                </a:cubicBezTo>
                <a:cubicBezTo>
                  <a:pt x="4767271" y="3638399"/>
                  <a:pt x="4486232" y="3916971"/>
                  <a:pt x="4127381" y="3975903"/>
                </a:cubicBezTo>
                <a:lnTo>
                  <a:pt x="4127264" y="3977042"/>
                </a:lnTo>
                <a:cubicBezTo>
                  <a:pt x="4121954" y="3978045"/>
                  <a:pt x="4116625" y="3978986"/>
                  <a:pt x="4111048" y="3978570"/>
                </a:cubicBezTo>
                <a:cubicBezTo>
                  <a:pt x="4079876" y="3984080"/>
                  <a:pt x="4047996" y="3987038"/>
                  <a:pt x="4015621" y="3987561"/>
                </a:cubicBezTo>
                <a:lnTo>
                  <a:pt x="3998503" y="3989174"/>
                </a:lnTo>
                <a:lnTo>
                  <a:pt x="3998477" y="3988683"/>
                </a:lnTo>
                <a:lnTo>
                  <a:pt x="3997978" y="3988716"/>
                </a:lnTo>
                <a:cubicBezTo>
                  <a:pt x="3997412" y="3984944"/>
                  <a:pt x="3997385" y="3981158"/>
                  <a:pt x="3997385" y="3977366"/>
                </a:cubicBezTo>
                <a:cubicBezTo>
                  <a:pt x="3997385" y="3971728"/>
                  <a:pt x="3997443" y="3966104"/>
                  <a:pt x="3998755" y="3960518"/>
                </a:cubicBezTo>
                <a:cubicBezTo>
                  <a:pt x="3998713" y="3929436"/>
                  <a:pt x="4001163" y="3898794"/>
                  <a:pt x="4006219" y="3868787"/>
                </a:cubicBezTo>
                <a:lnTo>
                  <a:pt x="4006760" y="3862150"/>
                </a:lnTo>
                <a:cubicBezTo>
                  <a:pt x="4006928" y="3862145"/>
                  <a:pt x="4007098" y="3862140"/>
                  <a:pt x="4007265" y="3862087"/>
                </a:cubicBezTo>
                <a:cubicBezTo>
                  <a:pt x="4057542" y="3511992"/>
                  <a:pt x="4338581" y="3233421"/>
                  <a:pt x="4697431" y="3174489"/>
                </a:cubicBezTo>
                <a:lnTo>
                  <a:pt x="4697548" y="3173350"/>
                </a:lnTo>
                <a:cubicBezTo>
                  <a:pt x="4702857" y="3172348"/>
                  <a:pt x="4708185" y="3171407"/>
                  <a:pt x="4713761" y="3171823"/>
                </a:cubicBezTo>
                <a:cubicBezTo>
                  <a:pt x="4744944" y="3166310"/>
                  <a:pt x="4776837" y="3163352"/>
                  <a:pt x="4809222" y="3162829"/>
                </a:cubicBezTo>
                <a:close/>
                <a:moveTo>
                  <a:pt x="3147947" y="3161219"/>
                </a:moveTo>
                <a:lnTo>
                  <a:pt x="3165034" y="3162829"/>
                </a:lnTo>
                <a:cubicBezTo>
                  <a:pt x="3197420" y="3163352"/>
                  <a:pt x="3229312" y="3166310"/>
                  <a:pt x="3260496" y="3171823"/>
                </a:cubicBezTo>
                <a:cubicBezTo>
                  <a:pt x="3266072" y="3171407"/>
                  <a:pt x="3271400" y="3172348"/>
                  <a:pt x="3276708" y="3173350"/>
                </a:cubicBezTo>
                <a:lnTo>
                  <a:pt x="3276826" y="3174489"/>
                </a:lnTo>
                <a:cubicBezTo>
                  <a:pt x="3635676" y="3233421"/>
                  <a:pt x="3916715" y="3511992"/>
                  <a:pt x="3966991" y="3862087"/>
                </a:cubicBezTo>
                <a:cubicBezTo>
                  <a:pt x="3967159" y="3862140"/>
                  <a:pt x="3967328" y="3862145"/>
                  <a:pt x="3967497" y="3862150"/>
                </a:cubicBezTo>
                <a:lnTo>
                  <a:pt x="3968037" y="3868787"/>
                </a:lnTo>
                <a:cubicBezTo>
                  <a:pt x="3973094" y="3898794"/>
                  <a:pt x="3975543" y="3929436"/>
                  <a:pt x="3975501" y="3960518"/>
                </a:cubicBezTo>
                <a:cubicBezTo>
                  <a:pt x="3976813" y="3966104"/>
                  <a:pt x="3976872" y="3971728"/>
                  <a:pt x="3976872" y="3977366"/>
                </a:cubicBezTo>
                <a:cubicBezTo>
                  <a:pt x="3976872" y="3981158"/>
                  <a:pt x="3976845" y="3984944"/>
                  <a:pt x="3976279" y="3988716"/>
                </a:cubicBezTo>
                <a:lnTo>
                  <a:pt x="3975780" y="3988683"/>
                </a:lnTo>
                <a:lnTo>
                  <a:pt x="3975754" y="3989174"/>
                </a:lnTo>
                <a:lnTo>
                  <a:pt x="3958635" y="3987561"/>
                </a:lnTo>
                <a:cubicBezTo>
                  <a:pt x="3926261" y="3987038"/>
                  <a:pt x="3894381" y="3984080"/>
                  <a:pt x="3863209" y="3978570"/>
                </a:cubicBezTo>
                <a:cubicBezTo>
                  <a:pt x="3857632" y="3978986"/>
                  <a:pt x="3852303" y="3978045"/>
                  <a:pt x="3846992" y="3977042"/>
                </a:cubicBezTo>
                <a:lnTo>
                  <a:pt x="3846876" y="3975903"/>
                </a:lnTo>
                <a:cubicBezTo>
                  <a:pt x="3488025" y="3916971"/>
                  <a:pt x="3206986" y="3638399"/>
                  <a:pt x="3156710" y="3288305"/>
                </a:cubicBezTo>
                <a:cubicBezTo>
                  <a:pt x="3156543" y="3288253"/>
                  <a:pt x="3156374" y="3288248"/>
                  <a:pt x="3156205" y="3288243"/>
                </a:cubicBezTo>
                <a:lnTo>
                  <a:pt x="3155667" y="3281619"/>
                </a:lnTo>
                <a:cubicBezTo>
                  <a:pt x="3150608" y="3251607"/>
                  <a:pt x="3148157" y="3220958"/>
                  <a:pt x="3148199" y="3189869"/>
                </a:cubicBezTo>
                <a:cubicBezTo>
                  <a:pt x="3146887" y="3184286"/>
                  <a:pt x="3146829" y="3178663"/>
                  <a:pt x="3146829" y="3173027"/>
                </a:cubicBezTo>
                <a:lnTo>
                  <a:pt x="3147423" y="3161677"/>
                </a:lnTo>
                <a:lnTo>
                  <a:pt x="3147921" y="3161709"/>
                </a:lnTo>
                <a:close/>
                <a:moveTo>
                  <a:pt x="3134159" y="3161219"/>
                </a:moveTo>
                <a:lnTo>
                  <a:pt x="3134185" y="3161709"/>
                </a:lnTo>
                <a:lnTo>
                  <a:pt x="3134683" y="3161677"/>
                </a:lnTo>
                <a:lnTo>
                  <a:pt x="3135277" y="3173027"/>
                </a:lnTo>
                <a:cubicBezTo>
                  <a:pt x="3135277" y="3178663"/>
                  <a:pt x="3135218" y="3184286"/>
                  <a:pt x="3133906" y="3189869"/>
                </a:cubicBezTo>
                <a:cubicBezTo>
                  <a:pt x="3133948" y="3220958"/>
                  <a:pt x="3131498" y="3251607"/>
                  <a:pt x="3126439" y="3281619"/>
                </a:cubicBezTo>
                <a:lnTo>
                  <a:pt x="3125901" y="3288243"/>
                </a:lnTo>
                <a:cubicBezTo>
                  <a:pt x="3125731" y="3288248"/>
                  <a:pt x="3125563" y="3288253"/>
                  <a:pt x="3125395" y="3288305"/>
                </a:cubicBezTo>
                <a:cubicBezTo>
                  <a:pt x="3075120" y="3638399"/>
                  <a:pt x="2794081" y="3916971"/>
                  <a:pt x="2435230" y="3975903"/>
                </a:cubicBezTo>
                <a:lnTo>
                  <a:pt x="2435113" y="3977042"/>
                </a:lnTo>
                <a:cubicBezTo>
                  <a:pt x="2429803" y="3978045"/>
                  <a:pt x="2424474" y="3978986"/>
                  <a:pt x="2418897" y="3978570"/>
                </a:cubicBezTo>
                <a:cubicBezTo>
                  <a:pt x="2387725" y="3984080"/>
                  <a:pt x="2355845" y="3987038"/>
                  <a:pt x="2323470" y="3987561"/>
                </a:cubicBezTo>
                <a:lnTo>
                  <a:pt x="2306352" y="3989174"/>
                </a:lnTo>
                <a:lnTo>
                  <a:pt x="2306326" y="3988683"/>
                </a:lnTo>
                <a:lnTo>
                  <a:pt x="2305827" y="3988716"/>
                </a:lnTo>
                <a:cubicBezTo>
                  <a:pt x="2305261" y="3984944"/>
                  <a:pt x="2305234" y="3981158"/>
                  <a:pt x="2305234" y="3977366"/>
                </a:cubicBezTo>
                <a:cubicBezTo>
                  <a:pt x="2305234" y="3971728"/>
                  <a:pt x="2305292" y="3966104"/>
                  <a:pt x="2306604" y="3960518"/>
                </a:cubicBezTo>
                <a:cubicBezTo>
                  <a:pt x="2306562" y="3929436"/>
                  <a:pt x="2309012" y="3898794"/>
                  <a:pt x="2314068" y="3868787"/>
                </a:cubicBezTo>
                <a:lnTo>
                  <a:pt x="2314609" y="3862150"/>
                </a:lnTo>
                <a:cubicBezTo>
                  <a:pt x="2314777" y="3862145"/>
                  <a:pt x="2314947" y="3862140"/>
                  <a:pt x="2315114" y="3862087"/>
                </a:cubicBezTo>
                <a:cubicBezTo>
                  <a:pt x="2365391" y="3511992"/>
                  <a:pt x="2646430" y="3233421"/>
                  <a:pt x="3005280" y="3174489"/>
                </a:cubicBezTo>
                <a:lnTo>
                  <a:pt x="3005397" y="3173350"/>
                </a:lnTo>
                <a:cubicBezTo>
                  <a:pt x="3010706" y="3172348"/>
                  <a:pt x="3016034" y="3171407"/>
                  <a:pt x="3021610" y="3171823"/>
                </a:cubicBezTo>
                <a:cubicBezTo>
                  <a:pt x="3052793" y="3166310"/>
                  <a:pt x="3084686" y="3163352"/>
                  <a:pt x="3117071" y="3162829"/>
                </a:cubicBezTo>
                <a:close/>
                <a:moveTo>
                  <a:pt x="1455796" y="3161219"/>
                </a:moveTo>
                <a:lnTo>
                  <a:pt x="1472883" y="3162829"/>
                </a:lnTo>
                <a:cubicBezTo>
                  <a:pt x="1505269" y="3163352"/>
                  <a:pt x="1537161" y="3166310"/>
                  <a:pt x="1568345" y="3171823"/>
                </a:cubicBezTo>
                <a:cubicBezTo>
                  <a:pt x="1573921" y="3171407"/>
                  <a:pt x="1579249" y="3172348"/>
                  <a:pt x="1584557" y="3173350"/>
                </a:cubicBezTo>
                <a:lnTo>
                  <a:pt x="1584675" y="3174489"/>
                </a:lnTo>
                <a:cubicBezTo>
                  <a:pt x="1943525" y="3233421"/>
                  <a:pt x="2224564" y="3511992"/>
                  <a:pt x="2274840" y="3862087"/>
                </a:cubicBezTo>
                <a:cubicBezTo>
                  <a:pt x="2275008" y="3862140"/>
                  <a:pt x="2275177" y="3862145"/>
                  <a:pt x="2275346" y="3862150"/>
                </a:cubicBezTo>
                <a:lnTo>
                  <a:pt x="2275886" y="3868787"/>
                </a:lnTo>
                <a:cubicBezTo>
                  <a:pt x="2280943" y="3898794"/>
                  <a:pt x="2283392" y="3929436"/>
                  <a:pt x="2283350" y="3960518"/>
                </a:cubicBezTo>
                <a:cubicBezTo>
                  <a:pt x="2284662" y="3966104"/>
                  <a:pt x="2284721" y="3971728"/>
                  <a:pt x="2284721" y="3977366"/>
                </a:cubicBezTo>
                <a:cubicBezTo>
                  <a:pt x="2284721" y="3981158"/>
                  <a:pt x="2284694" y="3984944"/>
                  <a:pt x="2284128" y="3988716"/>
                </a:cubicBezTo>
                <a:lnTo>
                  <a:pt x="2283629" y="3988683"/>
                </a:lnTo>
                <a:lnTo>
                  <a:pt x="2283603" y="3989174"/>
                </a:lnTo>
                <a:lnTo>
                  <a:pt x="2266484" y="3987561"/>
                </a:lnTo>
                <a:cubicBezTo>
                  <a:pt x="2234110" y="3987038"/>
                  <a:pt x="2202230" y="3984080"/>
                  <a:pt x="2171058" y="3978570"/>
                </a:cubicBezTo>
                <a:cubicBezTo>
                  <a:pt x="2165481" y="3978986"/>
                  <a:pt x="2160152" y="3978045"/>
                  <a:pt x="2154841" y="3977042"/>
                </a:cubicBezTo>
                <a:lnTo>
                  <a:pt x="2154725" y="3975903"/>
                </a:lnTo>
                <a:cubicBezTo>
                  <a:pt x="1795874" y="3916971"/>
                  <a:pt x="1514835" y="3638399"/>
                  <a:pt x="1464559" y="3288305"/>
                </a:cubicBezTo>
                <a:cubicBezTo>
                  <a:pt x="1464392" y="3288253"/>
                  <a:pt x="1464223" y="3288248"/>
                  <a:pt x="1464054" y="3288243"/>
                </a:cubicBezTo>
                <a:lnTo>
                  <a:pt x="1463515" y="3281619"/>
                </a:lnTo>
                <a:cubicBezTo>
                  <a:pt x="1458457" y="3251607"/>
                  <a:pt x="1456006" y="3220958"/>
                  <a:pt x="1456048" y="3189869"/>
                </a:cubicBezTo>
                <a:cubicBezTo>
                  <a:pt x="1454736" y="3184286"/>
                  <a:pt x="1454678" y="3178663"/>
                  <a:pt x="1454678" y="3173027"/>
                </a:cubicBezTo>
                <a:lnTo>
                  <a:pt x="1455272" y="3161677"/>
                </a:lnTo>
                <a:lnTo>
                  <a:pt x="1455770" y="3161709"/>
                </a:lnTo>
                <a:close/>
                <a:moveTo>
                  <a:pt x="1442008" y="3161219"/>
                </a:moveTo>
                <a:lnTo>
                  <a:pt x="1442034" y="3161709"/>
                </a:lnTo>
                <a:lnTo>
                  <a:pt x="1442532" y="3161677"/>
                </a:lnTo>
                <a:lnTo>
                  <a:pt x="1443126" y="3173027"/>
                </a:lnTo>
                <a:cubicBezTo>
                  <a:pt x="1443126" y="3178663"/>
                  <a:pt x="1443067" y="3184286"/>
                  <a:pt x="1441755" y="3189869"/>
                </a:cubicBezTo>
                <a:cubicBezTo>
                  <a:pt x="1441797" y="3220958"/>
                  <a:pt x="1439347" y="3251607"/>
                  <a:pt x="1434288" y="3281619"/>
                </a:cubicBezTo>
                <a:lnTo>
                  <a:pt x="1433750" y="3288243"/>
                </a:lnTo>
                <a:cubicBezTo>
                  <a:pt x="1433580" y="3288248"/>
                  <a:pt x="1433412" y="3288253"/>
                  <a:pt x="1433244" y="3288305"/>
                </a:cubicBezTo>
                <a:cubicBezTo>
                  <a:pt x="1382969" y="3638399"/>
                  <a:pt x="1101930" y="3916971"/>
                  <a:pt x="743079" y="3975903"/>
                </a:cubicBezTo>
                <a:lnTo>
                  <a:pt x="742962" y="3977042"/>
                </a:lnTo>
                <a:cubicBezTo>
                  <a:pt x="737652" y="3978045"/>
                  <a:pt x="732323" y="3978986"/>
                  <a:pt x="726746" y="3978570"/>
                </a:cubicBezTo>
                <a:cubicBezTo>
                  <a:pt x="695574" y="3984080"/>
                  <a:pt x="663693" y="3987038"/>
                  <a:pt x="631319" y="3987561"/>
                </a:cubicBezTo>
                <a:lnTo>
                  <a:pt x="614201" y="3989174"/>
                </a:lnTo>
                <a:lnTo>
                  <a:pt x="614175" y="3988683"/>
                </a:lnTo>
                <a:lnTo>
                  <a:pt x="613676" y="3988716"/>
                </a:lnTo>
                <a:cubicBezTo>
                  <a:pt x="613110" y="3984944"/>
                  <a:pt x="613083" y="3981158"/>
                  <a:pt x="613083" y="3977366"/>
                </a:cubicBezTo>
                <a:cubicBezTo>
                  <a:pt x="613083" y="3971728"/>
                  <a:pt x="613141" y="3966104"/>
                  <a:pt x="614453" y="3960518"/>
                </a:cubicBezTo>
                <a:cubicBezTo>
                  <a:pt x="614411" y="3929436"/>
                  <a:pt x="616861" y="3898794"/>
                  <a:pt x="621917" y="3868787"/>
                </a:cubicBezTo>
                <a:lnTo>
                  <a:pt x="622458" y="3862150"/>
                </a:lnTo>
                <a:cubicBezTo>
                  <a:pt x="622626" y="3862145"/>
                  <a:pt x="622796" y="3862140"/>
                  <a:pt x="622963" y="3862087"/>
                </a:cubicBezTo>
                <a:cubicBezTo>
                  <a:pt x="673240" y="3511992"/>
                  <a:pt x="954279" y="3233421"/>
                  <a:pt x="1313129" y="3174489"/>
                </a:cubicBezTo>
                <a:lnTo>
                  <a:pt x="1313246" y="3173350"/>
                </a:lnTo>
                <a:cubicBezTo>
                  <a:pt x="1318555" y="3172348"/>
                  <a:pt x="1323883" y="3171407"/>
                  <a:pt x="1329459" y="3171823"/>
                </a:cubicBezTo>
                <a:cubicBezTo>
                  <a:pt x="1360642" y="3166310"/>
                  <a:pt x="1392535" y="3163352"/>
                  <a:pt x="1424920" y="3162829"/>
                </a:cubicBezTo>
                <a:close/>
                <a:moveTo>
                  <a:pt x="10909360" y="2447425"/>
                </a:moveTo>
                <a:cubicBezTo>
                  <a:pt x="10962636" y="2718331"/>
                  <a:pt x="11177479" y="2933128"/>
                  <a:pt x="11452669" y="2992271"/>
                </a:cubicBezTo>
                <a:cubicBezTo>
                  <a:pt x="11399394" y="2721365"/>
                  <a:pt x="11184550" y="2506568"/>
                  <a:pt x="10909360" y="2447425"/>
                </a:cubicBezTo>
                <a:close/>
                <a:moveTo>
                  <a:pt x="10602109" y="2447425"/>
                </a:moveTo>
                <a:cubicBezTo>
                  <a:pt x="10326919" y="2506568"/>
                  <a:pt x="10112075" y="2721365"/>
                  <a:pt x="10058800" y="2992271"/>
                </a:cubicBezTo>
                <a:cubicBezTo>
                  <a:pt x="10333990" y="2933128"/>
                  <a:pt x="10548833" y="2718331"/>
                  <a:pt x="10602109" y="2447425"/>
                </a:cubicBezTo>
                <a:close/>
                <a:moveTo>
                  <a:pt x="9217207" y="2447425"/>
                </a:moveTo>
                <a:cubicBezTo>
                  <a:pt x="9270483" y="2718331"/>
                  <a:pt x="9485326" y="2933128"/>
                  <a:pt x="9760516" y="2992271"/>
                </a:cubicBezTo>
                <a:cubicBezTo>
                  <a:pt x="9707241" y="2721365"/>
                  <a:pt x="9492397" y="2506568"/>
                  <a:pt x="9217207" y="2447425"/>
                </a:cubicBezTo>
                <a:close/>
                <a:moveTo>
                  <a:pt x="8909958" y="2447425"/>
                </a:moveTo>
                <a:cubicBezTo>
                  <a:pt x="8634768" y="2506568"/>
                  <a:pt x="8419924" y="2721365"/>
                  <a:pt x="8366649" y="2992271"/>
                </a:cubicBezTo>
                <a:cubicBezTo>
                  <a:pt x="8641839" y="2933128"/>
                  <a:pt x="8856682" y="2718331"/>
                  <a:pt x="8909958" y="2447425"/>
                </a:cubicBezTo>
                <a:close/>
                <a:moveTo>
                  <a:pt x="7525056" y="2447425"/>
                </a:moveTo>
                <a:cubicBezTo>
                  <a:pt x="7578332" y="2718331"/>
                  <a:pt x="7793175" y="2933128"/>
                  <a:pt x="8068365" y="2992271"/>
                </a:cubicBezTo>
                <a:cubicBezTo>
                  <a:pt x="8015090" y="2721365"/>
                  <a:pt x="7800246" y="2506568"/>
                  <a:pt x="7525056" y="2447425"/>
                </a:cubicBezTo>
                <a:close/>
                <a:moveTo>
                  <a:pt x="7217807" y="2447425"/>
                </a:moveTo>
                <a:cubicBezTo>
                  <a:pt x="6942617" y="2506568"/>
                  <a:pt x="6727773" y="2721365"/>
                  <a:pt x="6674498" y="2992271"/>
                </a:cubicBezTo>
                <a:cubicBezTo>
                  <a:pt x="6949688" y="2933128"/>
                  <a:pt x="7164531" y="2718331"/>
                  <a:pt x="7217807" y="2447425"/>
                </a:cubicBezTo>
                <a:close/>
                <a:moveTo>
                  <a:pt x="5832905" y="2447425"/>
                </a:moveTo>
                <a:cubicBezTo>
                  <a:pt x="5886181" y="2718331"/>
                  <a:pt x="6101024" y="2933128"/>
                  <a:pt x="6376214" y="2992271"/>
                </a:cubicBezTo>
                <a:cubicBezTo>
                  <a:pt x="6322939" y="2721365"/>
                  <a:pt x="6108095" y="2506568"/>
                  <a:pt x="5832905" y="2447425"/>
                </a:cubicBezTo>
                <a:close/>
                <a:moveTo>
                  <a:pt x="5525656" y="2447425"/>
                </a:moveTo>
                <a:cubicBezTo>
                  <a:pt x="5250466" y="2506568"/>
                  <a:pt x="5035622" y="2721365"/>
                  <a:pt x="4982347" y="2992271"/>
                </a:cubicBezTo>
                <a:cubicBezTo>
                  <a:pt x="5257537" y="2933128"/>
                  <a:pt x="5472380" y="2718331"/>
                  <a:pt x="5525656" y="2447425"/>
                </a:cubicBezTo>
                <a:close/>
                <a:moveTo>
                  <a:pt x="4140754" y="2447425"/>
                </a:moveTo>
                <a:cubicBezTo>
                  <a:pt x="4194030" y="2718331"/>
                  <a:pt x="4408873" y="2933128"/>
                  <a:pt x="4684063" y="2992271"/>
                </a:cubicBezTo>
                <a:cubicBezTo>
                  <a:pt x="4630788" y="2721365"/>
                  <a:pt x="4415944" y="2506568"/>
                  <a:pt x="4140754" y="2447425"/>
                </a:cubicBezTo>
                <a:close/>
                <a:moveTo>
                  <a:pt x="3833505" y="2447425"/>
                </a:moveTo>
                <a:cubicBezTo>
                  <a:pt x="3558315" y="2506568"/>
                  <a:pt x="3343471" y="2721365"/>
                  <a:pt x="3290196" y="2992271"/>
                </a:cubicBezTo>
                <a:cubicBezTo>
                  <a:pt x="3565386" y="2933128"/>
                  <a:pt x="3780229" y="2718331"/>
                  <a:pt x="3833505" y="2447425"/>
                </a:cubicBezTo>
                <a:close/>
                <a:moveTo>
                  <a:pt x="2448603" y="2447425"/>
                </a:moveTo>
                <a:cubicBezTo>
                  <a:pt x="2501879" y="2718331"/>
                  <a:pt x="2716722" y="2933128"/>
                  <a:pt x="2991912" y="2992271"/>
                </a:cubicBezTo>
                <a:cubicBezTo>
                  <a:pt x="2938637" y="2721365"/>
                  <a:pt x="2723793" y="2506568"/>
                  <a:pt x="2448603" y="2447425"/>
                </a:cubicBezTo>
                <a:close/>
                <a:moveTo>
                  <a:pt x="2141354" y="2447425"/>
                </a:moveTo>
                <a:cubicBezTo>
                  <a:pt x="1866164" y="2506568"/>
                  <a:pt x="1651320" y="2721365"/>
                  <a:pt x="1598045" y="2992271"/>
                </a:cubicBezTo>
                <a:cubicBezTo>
                  <a:pt x="1873235" y="2933128"/>
                  <a:pt x="2088078" y="2718331"/>
                  <a:pt x="2141354" y="2447425"/>
                </a:cubicBezTo>
                <a:close/>
                <a:moveTo>
                  <a:pt x="756452" y="2447425"/>
                </a:moveTo>
                <a:cubicBezTo>
                  <a:pt x="809728" y="2718331"/>
                  <a:pt x="1024571" y="2933128"/>
                  <a:pt x="1299761" y="2992271"/>
                </a:cubicBezTo>
                <a:cubicBezTo>
                  <a:pt x="1246486" y="2721365"/>
                  <a:pt x="1031642" y="2506568"/>
                  <a:pt x="756452" y="2447425"/>
                </a:cubicBezTo>
                <a:close/>
                <a:moveTo>
                  <a:pt x="12192000" y="2344615"/>
                </a:moveTo>
                <a:lnTo>
                  <a:pt x="12192000" y="2477663"/>
                </a:lnTo>
                <a:cubicBezTo>
                  <a:pt x="11966807" y="2562375"/>
                  <a:pt x="11797421" y="2755980"/>
                  <a:pt x="11750953" y="2992271"/>
                </a:cubicBezTo>
                <a:cubicBezTo>
                  <a:pt x="11935988" y="2952504"/>
                  <a:pt x="12093739" y="2842365"/>
                  <a:pt x="12192000" y="2691161"/>
                </a:cubicBezTo>
                <a:lnTo>
                  <a:pt x="12192000" y="2892735"/>
                </a:lnTo>
                <a:cubicBezTo>
                  <a:pt x="12071770" y="3011736"/>
                  <a:pt x="11914089" y="3094511"/>
                  <a:pt x="11737582" y="3123727"/>
                </a:cubicBezTo>
                <a:lnTo>
                  <a:pt x="11737466" y="3124875"/>
                </a:lnTo>
                <a:cubicBezTo>
                  <a:pt x="11732155" y="3125886"/>
                  <a:pt x="11726826" y="3126834"/>
                  <a:pt x="11721249" y="3126415"/>
                </a:cubicBezTo>
                <a:cubicBezTo>
                  <a:pt x="11690077" y="3131969"/>
                  <a:pt x="11658197" y="3134950"/>
                  <a:pt x="11625822" y="3135477"/>
                </a:cubicBezTo>
                <a:lnTo>
                  <a:pt x="11608704" y="3137103"/>
                </a:lnTo>
                <a:lnTo>
                  <a:pt x="11608678" y="3136608"/>
                </a:lnTo>
                <a:lnTo>
                  <a:pt x="11608179" y="3136641"/>
                </a:lnTo>
                <a:cubicBezTo>
                  <a:pt x="11607613" y="3132839"/>
                  <a:pt x="11607586" y="3129023"/>
                  <a:pt x="11607586" y="3125201"/>
                </a:cubicBezTo>
                <a:cubicBezTo>
                  <a:pt x="11607586" y="3119519"/>
                  <a:pt x="11607645" y="3113850"/>
                  <a:pt x="11608957" y="3108220"/>
                </a:cubicBezTo>
                <a:cubicBezTo>
                  <a:pt x="11608914" y="3076892"/>
                  <a:pt x="11611364" y="3046007"/>
                  <a:pt x="11616421" y="3015763"/>
                </a:cubicBezTo>
                <a:lnTo>
                  <a:pt x="11616961" y="3009073"/>
                </a:lnTo>
                <a:cubicBezTo>
                  <a:pt x="11617130" y="3009068"/>
                  <a:pt x="11617299" y="3009063"/>
                  <a:pt x="11617466" y="3009010"/>
                </a:cubicBezTo>
                <a:cubicBezTo>
                  <a:pt x="11662185" y="2695154"/>
                  <a:pt x="11889463" y="2438329"/>
                  <a:pt x="12192000" y="2344615"/>
                </a:cubicBezTo>
                <a:close/>
                <a:moveTo>
                  <a:pt x="10767111" y="2302594"/>
                </a:moveTo>
                <a:lnTo>
                  <a:pt x="10784198" y="2304217"/>
                </a:lnTo>
                <a:cubicBezTo>
                  <a:pt x="10816584" y="2304744"/>
                  <a:pt x="10848477" y="2307725"/>
                  <a:pt x="10879660" y="2313282"/>
                </a:cubicBezTo>
                <a:cubicBezTo>
                  <a:pt x="10885236" y="2312863"/>
                  <a:pt x="10890564" y="2313811"/>
                  <a:pt x="10895873" y="2314821"/>
                </a:cubicBezTo>
                <a:lnTo>
                  <a:pt x="10895990" y="2315969"/>
                </a:lnTo>
                <a:cubicBezTo>
                  <a:pt x="11254840" y="2375367"/>
                  <a:pt x="11535879" y="2656144"/>
                  <a:pt x="11586156" y="3009010"/>
                </a:cubicBezTo>
                <a:cubicBezTo>
                  <a:pt x="11586323" y="3009063"/>
                  <a:pt x="11586492" y="3009068"/>
                  <a:pt x="11586661" y="3009073"/>
                </a:cubicBezTo>
                <a:lnTo>
                  <a:pt x="11587201" y="3015763"/>
                </a:lnTo>
                <a:cubicBezTo>
                  <a:pt x="11592258" y="3046007"/>
                  <a:pt x="11594708" y="3076892"/>
                  <a:pt x="11594665" y="3108220"/>
                </a:cubicBezTo>
                <a:cubicBezTo>
                  <a:pt x="11595977" y="3113850"/>
                  <a:pt x="11596036" y="3119519"/>
                  <a:pt x="11596036" y="3125201"/>
                </a:cubicBezTo>
                <a:cubicBezTo>
                  <a:pt x="11596036" y="3129023"/>
                  <a:pt x="11596009" y="3132839"/>
                  <a:pt x="11595443" y="3136641"/>
                </a:cubicBezTo>
                <a:lnTo>
                  <a:pt x="11594944" y="3136608"/>
                </a:lnTo>
                <a:lnTo>
                  <a:pt x="11594918" y="3137103"/>
                </a:lnTo>
                <a:lnTo>
                  <a:pt x="11577800" y="3135477"/>
                </a:lnTo>
                <a:cubicBezTo>
                  <a:pt x="11545425" y="3134950"/>
                  <a:pt x="11513545" y="3131969"/>
                  <a:pt x="11482373" y="3126415"/>
                </a:cubicBezTo>
                <a:cubicBezTo>
                  <a:pt x="11476796" y="3126834"/>
                  <a:pt x="11471467" y="3125886"/>
                  <a:pt x="11466156" y="3124875"/>
                </a:cubicBezTo>
                <a:lnTo>
                  <a:pt x="11466040" y="3123727"/>
                </a:lnTo>
                <a:cubicBezTo>
                  <a:pt x="11107189" y="3064328"/>
                  <a:pt x="10826150" y="2783551"/>
                  <a:pt x="10775875" y="2430686"/>
                </a:cubicBezTo>
                <a:cubicBezTo>
                  <a:pt x="10775707" y="2430633"/>
                  <a:pt x="10775539" y="2430628"/>
                  <a:pt x="10775369" y="2430623"/>
                </a:cubicBezTo>
                <a:lnTo>
                  <a:pt x="10774831" y="2423947"/>
                </a:lnTo>
                <a:cubicBezTo>
                  <a:pt x="10769772" y="2393697"/>
                  <a:pt x="10767321" y="2362806"/>
                  <a:pt x="10767364" y="2331471"/>
                </a:cubicBezTo>
                <a:cubicBezTo>
                  <a:pt x="10766052" y="2325843"/>
                  <a:pt x="10765993" y="2320176"/>
                  <a:pt x="10765993" y="2314495"/>
                </a:cubicBezTo>
                <a:lnTo>
                  <a:pt x="10766587" y="2303055"/>
                </a:lnTo>
                <a:lnTo>
                  <a:pt x="10767085" y="2303088"/>
                </a:lnTo>
                <a:close/>
                <a:moveTo>
                  <a:pt x="10744358" y="2302594"/>
                </a:moveTo>
                <a:lnTo>
                  <a:pt x="10744384" y="2303088"/>
                </a:lnTo>
                <a:lnTo>
                  <a:pt x="10744882" y="2303055"/>
                </a:lnTo>
                <a:lnTo>
                  <a:pt x="10745476" y="2314495"/>
                </a:lnTo>
                <a:cubicBezTo>
                  <a:pt x="10745476" y="2320176"/>
                  <a:pt x="10745417" y="2325843"/>
                  <a:pt x="10744105" y="2331471"/>
                </a:cubicBezTo>
                <a:cubicBezTo>
                  <a:pt x="10744148" y="2362806"/>
                  <a:pt x="10741697" y="2393697"/>
                  <a:pt x="10736638" y="2423947"/>
                </a:cubicBezTo>
                <a:lnTo>
                  <a:pt x="10736100" y="2430623"/>
                </a:lnTo>
                <a:cubicBezTo>
                  <a:pt x="10735930" y="2430628"/>
                  <a:pt x="10735762" y="2430633"/>
                  <a:pt x="10735594" y="2430686"/>
                </a:cubicBezTo>
                <a:cubicBezTo>
                  <a:pt x="10685319" y="2783551"/>
                  <a:pt x="10404280" y="3064328"/>
                  <a:pt x="10045429" y="3123727"/>
                </a:cubicBezTo>
                <a:lnTo>
                  <a:pt x="10045313" y="3124875"/>
                </a:lnTo>
                <a:cubicBezTo>
                  <a:pt x="10040002" y="3125886"/>
                  <a:pt x="10034673" y="3126834"/>
                  <a:pt x="10029096" y="3126415"/>
                </a:cubicBezTo>
                <a:cubicBezTo>
                  <a:pt x="9997924" y="3131969"/>
                  <a:pt x="9966044" y="3134950"/>
                  <a:pt x="9933669" y="3135477"/>
                </a:cubicBezTo>
                <a:lnTo>
                  <a:pt x="9916551" y="3137103"/>
                </a:lnTo>
                <a:lnTo>
                  <a:pt x="9916525" y="3136608"/>
                </a:lnTo>
                <a:lnTo>
                  <a:pt x="9916026" y="3136641"/>
                </a:lnTo>
                <a:cubicBezTo>
                  <a:pt x="9915460" y="3132839"/>
                  <a:pt x="9915433" y="3129023"/>
                  <a:pt x="9915433" y="3125201"/>
                </a:cubicBezTo>
                <a:cubicBezTo>
                  <a:pt x="9915433" y="3119519"/>
                  <a:pt x="9915492" y="3113850"/>
                  <a:pt x="9916804" y="3108220"/>
                </a:cubicBezTo>
                <a:cubicBezTo>
                  <a:pt x="9916761" y="3076892"/>
                  <a:pt x="9919211" y="3046007"/>
                  <a:pt x="9924268" y="3015763"/>
                </a:cubicBezTo>
                <a:lnTo>
                  <a:pt x="9924808" y="3009073"/>
                </a:lnTo>
                <a:cubicBezTo>
                  <a:pt x="9924977" y="3009068"/>
                  <a:pt x="9925146" y="3009063"/>
                  <a:pt x="9925314" y="3009010"/>
                </a:cubicBezTo>
                <a:cubicBezTo>
                  <a:pt x="9975590" y="2656144"/>
                  <a:pt x="10256629" y="2375367"/>
                  <a:pt x="10615479" y="2315969"/>
                </a:cubicBezTo>
                <a:lnTo>
                  <a:pt x="10615596" y="2314821"/>
                </a:lnTo>
                <a:cubicBezTo>
                  <a:pt x="10620905" y="2313811"/>
                  <a:pt x="10626233" y="2312863"/>
                  <a:pt x="10631809" y="2313282"/>
                </a:cubicBezTo>
                <a:cubicBezTo>
                  <a:pt x="10662992" y="2307725"/>
                  <a:pt x="10694885" y="2304744"/>
                  <a:pt x="10727271" y="2304217"/>
                </a:cubicBezTo>
                <a:close/>
                <a:moveTo>
                  <a:pt x="9074958" y="2302594"/>
                </a:moveTo>
                <a:lnTo>
                  <a:pt x="9092045" y="2304217"/>
                </a:lnTo>
                <a:cubicBezTo>
                  <a:pt x="9124431" y="2304744"/>
                  <a:pt x="9156324" y="2307725"/>
                  <a:pt x="9187507" y="2313282"/>
                </a:cubicBezTo>
                <a:cubicBezTo>
                  <a:pt x="9193083" y="2312863"/>
                  <a:pt x="9198411" y="2313811"/>
                  <a:pt x="9203720" y="2314821"/>
                </a:cubicBezTo>
                <a:lnTo>
                  <a:pt x="9203837" y="2315969"/>
                </a:lnTo>
                <a:cubicBezTo>
                  <a:pt x="9562687" y="2375367"/>
                  <a:pt x="9843726" y="2656144"/>
                  <a:pt x="9894002" y="3009010"/>
                </a:cubicBezTo>
                <a:cubicBezTo>
                  <a:pt x="9894170" y="3009063"/>
                  <a:pt x="9894339" y="3009068"/>
                  <a:pt x="9894508" y="3009073"/>
                </a:cubicBezTo>
                <a:lnTo>
                  <a:pt x="9895048" y="3015763"/>
                </a:lnTo>
                <a:cubicBezTo>
                  <a:pt x="9900105" y="3046007"/>
                  <a:pt x="9902555" y="3076892"/>
                  <a:pt x="9902512" y="3108220"/>
                </a:cubicBezTo>
                <a:cubicBezTo>
                  <a:pt x="9903824" y="3113850"/>
                  <a:pt x="9903883" y="3119519"/>
                  <a:pt x="9903883" y="3125201"/>
                </a:cubicBezTo>
                <a:cubicBezTo>
                  <a:pt x="9903883" y="3129023"/>
                  <a:pt x="9903856" y="3132839"/>
                  <a:pt x="9903290" y="3136641"/>
                </a:cubicBezTo>
                <a:lnTo>
                  <a:pt x="9902791" y="3136608"/>
                </a:lnTo>
                <a:lnTo>
                  <a:pt x="9902765" y="3137103"/>
                </a:lnTo>
                <a:lnTo>
                  <a:pt x="9885647" y="3135477"/>
                </a:lnTo>
                <a:cubicBezTo>
                  <a:pt x="9853272" y="3134950"/>
                  <a:pt x="9821392" y="3131969"/>
                  <a:pt x="9790220" y="3126415"/>
                </a:cubicBezTo>
                <a:cubicBezTo>
                  <a:pt x="9784643" y="3126834"/>
                  <a:pt x="9779314" y="3125886"/>
                  <a:pt x="9774003" y="3124875"/>
                </a:cubicBezTo>
                <a:lnTo>
                  <a:pt x="9773887" y="3123727"/>
                </a:lnTo>
                <a:cubicBezTo>
                  <a:pt x="9415036" y="3064328"/>
                  <a:pt x="9133997" y="2783551"/>
                  <a:pt x="9083722" y="2430686"/>
                </a:cubicBezTo>
                <a:cubicBezTo>
                  <a:pt x="9083554" y="2430633"/>
                  <a:pt x="9083386" y="2430628"/>
                  <a:pt x="9083216" y="2430623"/>
                </a:cubicBezTo>
                <a:lnTo>
                  <a:pt x="9082678" y="2423947"/>
                </a:lnTo>
                <a:cubicBezTo>
                  <a:pt x="9077619" y="2393697"/>
                  <a:pt x="9075168" y="2362806"/>
                  <a:pt x="9075211" y="2331471"/>
                </a:cubicBezTo>
                <a:cubicBezTo>
                  <a:pt x="9073899" y="2325843"/>
                  <a:pt x="9073840" y="2320176"/>
                  <a:pt x="9073840" y="2314495"/>
                </a:cubicBezTo>
                <a:lnTo>
                  <a:pt x="9074434" y="2303055"/>
                </a:lnTo>
                <a:lnTo>
                  <a:pt x="9074932" y="2303088"/>
                </a:lnTo>
                <a:close/>
                <a:moveTo>
                  <a:pt x="9052207" y="2302594"/>
                </a:moveTo>
                <a:lnTo>
                  <a:pt x="9052233" y="2303088"/>
                </a:lnTo>
                <a:lnTo>
                  <a:pt x="9052731" y="2303055"/>
                </a:lnTo>
                <a:lnTo>
                  <a:pt x="9053325" y="2314495"/>
                </a:lnTo>
                <a:cubicBezTo>
                  <a:pt x="9053325" y="2320176"/>
                  <a:pt x="9053266" y="2325843"/>
                  <a:pt x="9051954" y="2331471"/>
                </a:cubicBezTo>
                <a:cubicBezTo>
                  <a:pt x="9051997" y="2362806"/>
                  <a:pt x="9049546" y="2393697"/>
                  <a:pt x="9044487" y="2423947"/>
                </a:cubicBezTo>
                <a:lnTo>
                  <a:pt x="9043949" y="2430623"/>
                </a:lnTo>
                <a:cubicBezTo>
                  <a:pt x="9043779" y="2430628"/>
                  <a:pt x="9043611" y="2430633"/>
                  <a:pt x="9043443" y="2430686"/>
                </a:cubicBezTo>
                <a:cubicBezTo>
                  <a:pt x="8993168" y="2783551"/>
                  <a:pt x="8712129" y="3064328"/>
                  <a:pt x="8353278" y="3123727"/>
                </a:cubicBezTo>
                <a:lnTo>
                  <a:pt x="8353162" y="3124875"/>
                </a:lnTo>
                <a:cubicBezTo>
                  <a:pt x="8347851" y="3125886"/>
                  <a:pt x="8342522" y="3126834"/>
                  <a:pt x="8336945" y="3126415"/>
                </a:cubicBezTo>
                <a:cubicBezTo>
                  <a:pt x="8305773" y="3131969"/>
                  <a:pt x="8273893" y="3134950"/>
                  <a:pt x="8241519" y="3135477"/>
                </a:cubicBezTo>
                <a:lnTo>
                  <a:pt x="8224400" y="3137103"/>
                </a:lnTo>
                <a:lnTo>
                  <a:pt x="8224374" y="3136608"/>
                </a:lnTo>
                <a:lnTo>
                  <a:pt x="8223875" y="3136641"/>
                </a:lnTo>
                <a:cubicBezTo>
                  <a:pt x="8223309" y="3132839"/>
                  <a:pt x="8223282" y="3129023"/>
                  <a:pt x="8223282" y="3125201"/>
                </a:cubicBezTo>
                <a:cubicBezTo>
                  <a:pt x="8223282" y="3119519"/>
                  <a:pt x="8223341" y="3113850"/>
                  <a:pt x="8224653" y="3108220"/>
                </a:cubicBezTo>
                <a:cubicBezTo>
                  <a:pt x="8224611" y="3076892"/>
                  <a:pt x="8227060" y="3046007"/>
                  <a:pt x="8232117" y="3015763"/>
                </a:cubicBezTo>
                <a:lnTo>
                  <a:pt x="8232657" y="3009073"/>
                </a:lnTo>
                <a:cubicBezTo>
                  <a:pt x="8232826" y="3009068"/>
                  <a:pt x="8232995" y="3009063"/>
                  <a:pt x="8233163" y="3009010"/>
                </a:cubicBezTo>
                <a:cubicBezTo>
                  <a:pt x="8283439" y="2656144"/>
                  <a:pt x="8564478" y="2375367"/>
                  <a:pt x="8923328" y="2315969"/>
                </a:cubicBezTo>
                <a:lnTo>
                  <a:pt x="8923445" y="2314821"/>
                </a:lnTo>
                <a:cubicBezTo>
                  <a:pt x="8928754" y="2313811"/>
                  <a:pt x="8934082" y="2312863"/>
                  <a:pt x="8939658" y="2313282"/>
                </a:cubicBezTo>
                <a:cubicBezTo>
                  <a:pt x="8970841" y="2307725"/>
                  <a:pt x="9002734" y="2304744"/>
                  <a:pt x="9035120" y="2304217"/>
                </a:cubicBezTo>
                <a:close/>
                <a:moveTo>
                  <a:pt x="7382807" y="2302594"/>
                </a:moveTo>
                <a:lnTo>
                  <a:pt x="7399895" y="2304217"/>
                </a:lnTo>
                <a:cubicBezTo>
                  <a:pt x="7432280" y="2304744"/>
                  <a:pt x="7464173" y="2307725"/>
                  <a:pt x="7495356" y="2313282"/>
                </a:cubicBezTo>
                <a:cubicBezTo>
                  <a:pt x="7500932" y="2312863"/>
                  <a:pt x="7506260" y="2313811"/>
                  <a:pt x="7511569" y="2314821"/>
                </a:cubicBezTo>
                <a:lnTo>
                  <a:pt x="7511686" y="2315969"/>
                </a:lnTo>
                <a:cubicBezTo>
                  <a:pt x="7870536" y="2375367"/>
                  <a:pt x="8151575" y="2656144"/>
                  <a:pt x="8201852" y="3009010"/>
                </a:cubicBezTo>
                <a:cubicBezTo>
                  <a:pt x="8202019" y="3009063"/>
                  <a:pt x="8202189" y="3009068"/>
                  <a:pt x="8202357" y="3009073"/>
                </a:cubicBezTo>
                <a:lnTo>
                  <a:pt x="8202898" y="3015763"/>
                </a:lnTo>
                <a:cubicBezTo>
                  <a:pt x="8207954" y="3046007"/>
                  <a:pt x="8210404" y="3076892"/>
                  <a:pt x="8210362" y="3108220"/>
                </a:cubicBezTo>
                <a:cubicBezTo>
                  <a:pt x="8211674" y="3113850"/>
                  <a:pt x="8211732" y="3119519"/>
                  <a:pt x="8211732" y="3125201"/>
                </a:cubicBezTo>
                <a:cubicBezTo>
                  <a:pt x="8211732" y="3129023"/>
                  <a:pt x="8211705" y="3132839"/>
                  <a:pt x="8211139" y="3136641"/>
                </a:cubicBezTo>
                <a:lnTo>
                  <a:pt x="8210640" y="3136608"/>
                </a:lnTo>
                <a:lnTo>
                  <a:pt x="8210614" y="3137103"/>
                </a:lnTo>
                <a:lnTo>
                  <a:pt x="8193496" y="3135477"/>
                </a:lnTo>
                <a:cubicBezTo>
                  <a:pt x="8161122" y="3134950"/>
                  <a:pt x="8129241" y="3131969"/>
                  <a:pt x="8098069" y="3126415"/>
                </a:cubicBezTo>
                <a:cubicBezTo>
                  <a:pt x="8092492" y="3126834"/>
                  <a:pt x="8087163" y="3125886"/>
                  <a:pt x="8081853" y="3124875"/>
                </a:cubicBezTo>
                <a:lnTo>
                  <a:pt x="8081737" y="3123727"/>
                </a:lnTo>
                <a:cubicBezTo>
                  <a:pt x="7722885" y="3064328"/>
                  <a:pt x="7441846" y="2783551"/>
                  <a:pt x="7391571" y="2430686"/>
                </a:cubicBezTo>
                <a:cubicBezTo>
                  <a:pt x="7391403" y="2430633"/>
                  <a:pt x="7391235" y="2430628"/>
                  <a:pt x="7391065" y="2430623"/>
                </a:cubicBezTo>
                <a:lnTo>
                  <a:pt x="7390527" y="2423947"/>
                </a:lnTo>
                <a:cubicBezTo>
                  <a:pt x="7385468" y="2393697"/>
                  <a:pt x="7383018" y="2362806"/>
                  <a:pt x="7383060" y="2331471"/>
                </a:cubicBezTo>
                <a:cubicBezTo>
                  <a:pt x="7381748" y="2325843"/>
                  <a:pt x="7381689" y="2320176"/>
                  <a:pt x="7381689" y="2314495"/>
                </a:cubicBezTo>
                <a:lnTo>
                  <a:pt x="7382283" y="2303055"/>
                </a:lnTo>
                <a:lnTo>
                  <a:pt x="7382781" y="2303088"/>
                </a:lnTo>
                <a:close/>
                <a:moveTo>
                  <a:pt x="7360056" y="2302594"/>
                </a:moveTo>
                <a:lnTo>
                  <a:pt x="7360082" y="2303088"/>
                </a:lnTo>
                <a:lnTo>
                  <a:pt x="7360580" y="2303055"/>
                </a:lnTo>
                <a:lnTo>
                  <a:pt x="7361174" y="2314495"/>
                </a:lnTo>
                <a:cubicBezTo>
                  <a:pt x="7361174" y="2320176"/>
                  <a:pt x="7361116" y="2325843"/>
                  <a:pt x="7359804" y="2331471"/>
                </a:cubicBezTo>
                <a:cubicBezTo>
                  <a:pt x="7359846" y="2362806"/>
                  <a:pt x="7357395" y="2393697"/>
                  <a:pt x="7352337" y="2423947"/>
                </a:cubicBezTo>
                <a:lnTo>
                  <a:pt x="7351798" y="2430623"/>
                </a:lnTo>
                <a:cubicBezTo>
                  <a:pt x="7351629" y="2430628"/>
                  <a:pt x="7351460" y="2430633"/>
                  <a:pt x="7351293" y="2430686"/>
                </a:cubicBezTo>
                <a:cubicBezTo>
                  <a:pt x="7301017" y="2783551"/>
                  <a:pt x="7019978" y="3064328"/>
                  <a:pt x="6661127" y="3123727"/>
                </a:cubicBezTo>
                <a:lnTo>
                  <a:pt x="6661011" y="3124875"/>
                </a:lnTo>
                <a:cubicBezTo>
                  <a:pt x="6655700" y="3125886"/>
                  <a:pt x="6650371" y="3126834"/>
                  <a:pt x="6644794" y="3126415"/>
                </a:cubicBezTo>
                <a:cubicBezTo>
                  <a:pt x="6613622" y="3131969"/>
                  <a:pt x="6581742" y="3134950"/>
                  <a:pt x="6549368" y="3135477"/>
                </a:cubicBezTo>
                <a:lnTo>
                  <a:pt x="6532249" y="3137103"/>
                </a:lnTo>
                <a:lnTo>
                  <a:pt x="6532223" y="3136608"/>
                </a:lnTo>
                <a:lnTo>
                  <a:pt x="6531724" y="3136641"/>
                </a:lnTo>
                <a:cubicBezTo>
                  <a:pt x="6531158" y="3132839"/>
                  <a:pt x="6531131" y="3129023"/>
                  <a:pt x="6531131" y="3125201"/>
                </a:cubicBezTo>
                <a:cubicBezTo>
                  <a:pt x="6531131" y="3119519"/>
                  <a:pt x="6531190" y="3113850"/>
                  <a:pt x="6532502" y="3108220"/>
                </a:cubicBezTo>
                <a:cubicBezTo>
                  <a:pt x="6532460" y="3076892"/>
                  <a:pt x="6534909" y="3046007"/>
                  <a:pt x="6539966" y="3015763"/>
                </a:cubicBezTo>
                <a:lnTo>
                  <a:pt x="6540506" y="3009073"/>
                </a:lnTo>
                <a:cubicBezTo>
                  <a:pt x="6540675" y="3009068"/>
                  <a:pt x="6540844" y="3009063"/>
                  <a:pt x="6541012" y="3009010"/>
                </a:cubicBezTo>
                <a:cubicBezTo>
                  <a:pt x="6591288" y="2656144"/>
                  <a:pt x="6872327" y="2375367"/>
                  <a:pt x="7231178" y="2315969"/>
                </a:cubicBezTo>
                <a:lnTo>
                  <a:pt x="7231295" y="2314821"/>
                </a:lnTo>
                <a:cubicBezTo>
                  <a:pt x="7236603" y="2313811"/>
                  <a:pt x="7241931" y="2312863"/>
                  <a:pt x="7247507" y="2313282"/>
                </a:cubicBezTo>
                <a:cubicBezTo>
                  <a:pt x="7278691" y="2307725"/>
                  <a:pt x="7310583" y="2304744"/>
                  <a:pt x="7342969" y="2304217"/>
                </a:cubicBezTo>
                <a:close/>
                <a:moveTo>
                  <a:pt x="5690656" y="2302594"/>
                </a:moveTo>
                <a:lnTo>
                  <a:pt x="5707743" y="2304217"/>
                </a:lnTo>
                <a:cubicBezTo>
                  <a:pt x="5740129" y="2304744"/>
                  <a:pt x="5772021" y="2307725"/>
                  <a:pt x="5803205" y="2313282"/>
                </a:cubicBezTo>
                <a:cubicBezTo>
                  <a:pt x="5808781" y="2312863"/>
                  <a:pt x="5814109" y="2313811"/>
                  <a:pt x="5819417" y="2314821"/>
                </a:cubicBezTo>
                <a:lnTo>
                  <a:pt x="5819534" y="2315969"/>
                </a:lnTo>
                <a:cubicBezTo>
                  <a:pt x="6178385" y="2375367"/>
                  <a:pt x="6459424" y="2656144"/>
                  <a:pt x="6509700" y="3009010"/>
                </a:cubicBezTo>
                <a:cubicBezTo>
                  <a:pt x="6509868" y="3009063"/>
                  <a:pt x="6510037" y="3009068"/>
                  <a:pt x="6510206" y="3009073"/>
                </a:cubicBezTo>
                <a:lnTo>
                  <a:pt x="6510746" y="3015763"/>
                </a:lnTo>
                <a:cubicBezTo>
                  <a:pt x="6515803" y="3046007"/>
                  <a:pt x="6518252" y="3076892"/>
                  <a:pt x="6518210" y="3108220"/>
                </a:cubicBezTo>
                <a:cubicBezTo>
                  <a:pt x="6519522" y="3113850"/>
                  <a:pt x="6519581" y="3119519"/>
                  <a:pt x="6519581" y="3125201"/>
                </a:cubicBezTo>
                <a:cubicBezTo>
                  <a:pt x="6519581" y="3129023"/>
                  <a:pt x="6519554" y="3132839"/>
                  <a:pt x="6518988" y="3136641"/>
                </a:cubicBezTo>
                <a:lnTo>
                  <a:pt x="6518489" y="3136608"/>
                </a:lnTo>
                <a:lnTo>
                  <a:pt x="6518463" y="3137103"/>
                </a:lnTo>
                <a:lnTo>
                  <a:pt x="6501344" y="3135477"/>
                </a:lnTo>
                <a:cubicBezTo>
                  <a:pt x="6468970" y="3134950"/>
                  <a:pt x="6437090" y="3131969"/>
                  <a:pt x="6405918" y="3126415"/>
                </a:cubicBezTo>
                <a:cubicBezTo>
                  <a:pt x="6400341" y="3126834"/>
                  <a:pt x="6395012" y="3125886"/>
                  <a:pt x="6389701" y="3124875"/>
                </a:cubicBezTo>
                <a:lnTo>
                  <a:pt x="6389585" y="3123727"/>
                </a:lnTo>
                <a:cubicBezTo>
                  <a:pt x="6030734" y="3064328"/>
                  <a:pt x="5749695" y="2783551"/>
                  <a:pt x="5699419" y="2430686"/>
                </a:cubicBezTo>
                <a:cubicBezTo>
                  <a:pt x="5699252" y="2430633"/>
                  <a:pt x="5699083" y="2430628"/>
                  <a:pt x="5698914" y="2430623"/>
                </a:cubicBezTo>
                <a:lnTo>
                  <a:pt x="5698375" y="2423947"/>
                </a:lnTo>
                <a:cubicBezTo>
                  <a:pt x="5693317" y="2393697"/>
                  <a:pt x="5690866" y="2362806"/>
                  <a:pt x="5690908" y="2331471"/>
                </a:cubicBezTo>
                <a:cubicBezTo>
                  <a:pt x="5689596" y="2325843"/>
                  <a:pt x="5689538" y="2320176"/>
                  <a:pt x="5689538" y="2314495"/>
                </a:cubicBezTo>
                <a:lnTo>
                  <a:pt x="5690132" y="2303055"/>
                </a:lnTo>
                <a:lnTo>
                  <a:pt x="5690630" y="2303088"/>
                </a:lnTo>
                <a:close/>
                <a:moveTo>
                  <a:pt x="5667905" y="2302594"/>
                </a:moveTo>
                <a:lnTo>
                  <a:pt x="5667931" y="2303088"/>
                </a:lnTo>
                <a:lnTo>
                  <a:pt x="5668429" y="2303055"/>
                </a:lnTo>
                <a:lnTo>
                  <a:pt x="5669023" y="2314495"/>
                </a:lnTo>
                <a:cubicBezTo>
                  <a:pt x="5669023" y="2320176"/>
                  <a:pt x="5668964" y="2325843"/>
                  <a:pt x="5667652" y="2331471"/>
                </a:cubicBezTo>
                <a:cubicBezTo>
                  <a:pt x="5667694" y="2362806"/>
                  <a:pt x="5665244" y="2393697"/>
                  <a:pt x="5660185" y="2423947"/>
                </a:cubicBezTo>
                <a:lnTo>
                  <a:pt x="5659647" y="2430623"/>
                </a:lnTo>
                <a:cubicBezTo>
                  <a:pt x="5659477" y="2430628"/>
                  <a:pt x="5659309" y="2430633"/>
                  <a:pt x="5659141" y="2430686"/>
                </a:cubicBezTo>
                <a:cubicBezTo>
                  <a:pt x="5608866" y="2783551"/>
                  <a:pt x="5327827" y="3064328"/>
                  <a:pt x="4968975" y="3123727"/>
                </a:cubicBezTo>
                <a:lnTo>
                  <a:pt x="4968859" y="3124875"/>
                </a:lnTo>
                <a:cubicBezTo>
                  <a:pt x="4963549" y="3125886"/>
                  <a:pt x="4958220" y="3126834"/>
                  <a:pt x="4952643" y="3126415"/>
                </a:cubicBezTo>
                <a:cubicBezTo>
                  <a:pt x="4921471" y="3131969"/>
                  <a:pt x="4889590" y="3134950"/>
                  <a:pt x="4857216" y="3135477"/>
                </a:cubicBezTo>
                <a:lnTo>
                  <a:pt x="4840098" y="3137103"/>
                </a:lnTo>
                <a:lnTo>
                  <a:pt x="4840072" y="3136608"/>
                </a:lnTo>
                <a:lnTo>
                  <a:pt x="4839573" y="3136641"/>
                </a:lnTo>
                <a:cubicBezTo>
                  <a:pt x="4839007" y="3132839"/>
                  <a:pt x="4838980" y="3129023"/>
                  <a:pt x="4838980" y="3125201"/>
                </a:cubicBezTo>
                <a:cubicBezTo>
                  <a:pt x="4838980" y="3119519"/>
                  <a:pt x="4839038" y="3113850"/>
                  <a:pt x="4840350" y="3108220"/>
                </a:cubicBezTo>
                <a:cubicBezTo>
                  <a:pt x="4840308" y="3076892"/>
                  <a:pt x="4842758" y="3046007"/>
                  <a:pt x="4847814" y="3015763"/>
                </a:cubicBezTo>
                <a:lnTo>
                  <a:pt x="4848355" y="3009073"/>
                </a:lnTo>
                <a:cubicBezTo>
                  <a:pt x="4848523" y="3009068"/>
                  <a:pt x="4848693" y="3009063"/>
                  <a:pt x="4848860" y="3009010"/>
                </a:cubicBezTo>
                <a:cubicBezTo>
                  <a:pt x="4899137" y="2656144"/>
                  <a:pt x="5180176" y="2375367"/>
                  <a:pt x="5539026" y="2315969"/>
                </a:cubicBezTo>
                <a:lnTo>
                  <a:pt x="5539143" y="2314821"/>
                </a:lnTo>
                <a:cubicBezTo>
                  <a:pt x="5544452" y="2313811"/>
                  <a:pt x="5549780" y="2312863"/>
                  <a:pt x="5555356" y="2313282"/>
                </a:cubicBezTo>
                <a:cubicBezTo>
                  <a:pt x="5586539" y="2307725"/>
                  <a:pt x="5618432" y="2304744"/>
                  <a:pt x="5650817" y="2304217"/>
                </a:cubicBezTo>
                <a:close/>
                <a:moveTo>
                  <a:pt x="3998505" y="2302594"/>
                </a:moveTo>
                <a:lnTo>
                  <a:pt x="4015592" y="2304217"/>
                </a:lnTo>
                <a:cubicBezTo>
                  <a:pt x="4047978" y="2304744"/>
                  <a:pt x="4079870" y="2307725"/>
                  <a:pt x="4111054" y="2313282"/>
                </a:cubicBezTo>
                <a:cubicBezTo>
                  <a:pt x="4116630" y="2312863"/>
                  <a:pt x="4121958" y="2313811"/>
                  <a:pt x="4127266" y="2314821"/>
                </a:cubicBezTo>
                <a:lnTo>
                  <a:pt x="4127384" y="2315969"/>
                </a:lnTo>
                <a:cubicBezTo>
                  <a:pt x="4486234" y="2375367"/>
                  <a:pt x="4767273" y="2656144"/>
                  <a:pt x="4817549" y="3009010"/>
                </a:cubicBezTo>
                <a:cubicBezTo>
                  <a:pt x="4817717" y="3009063"/>
                  <a:pt x="4817886" y="3009068"/>
                  <a:pt x="4818055" y="3009073"/>
                </a:cubicBezTo>
                <a:lnTo>
                  <a:pt x="4818595" y="3015763"/>
                </a:lnTo>
                <a:cubicBezTo>
                  <a:pt x="4823652" y="3046007"/>
                  <a:pt x="4826101" y="3076892"/>
                  <a:pt x="4826059" y="3108220"/>
                </a:cubicBezTo>
                <a:cubicBezTo>
                  <a:pt x="4827371" y="3113850"/>
                  <a:pt x="4827430" y="3119519"/>
                  <a:pt x="4827430" y="3125201"/>
                </a:cubicBezTo>
                <a:cubicBezTo>
                  <a:pt x="4827430" y="3129023"/>
                  <a:pt x="4827403" y="3132839"/>
                  <a:pt x="4826837" y="3136641"/>
                </a:cubicBezTo>
                <a:lnTo>
                  <a:pt x="4826338" y="3136608"/>
                </a:lnTo>
                <a:lnTo>
                  <a:pt x="4826312" y="3137103"/>
                </a:lnTo>
                <a:lnTo>
                  <a:pt x="4809193" y="3135477"/>
                </a:lnTo>
                <a:cubicBezTo>
                  <a:pt x="4776819" y="3134950"/>
                  <a:pt x="4744939" y="3131969"/>
                  <a:pt x="4713767" y="3126415"/>
                </a:cubicBezTo>
                <a:cubicBezTo>
                  <a:pt x="4708190" y="3126834"/>
                  <a:pt x="4702861" y="3125886"/>
                  <a:pt x="4697550" y="3124875"/>
                </a:cubicBezTo>
                <a:lnTo>
                  <a:pt x="4697434" y="3123727"/>
                </a:lnTo>
                <a:cubicBezTo>
                  <a:pt x="4338583" y="3064328"/>
                  <a:pt x="4057544" y="2783551"/>
                  <a:pt x="4007268" y="2430686"/>
                </a:cubicBezTo>
                <a:cubicBezTo>
                  <a:pt x="4007101" y="2430633"/>
                  <a:pt x="4006932" y="2430628"/>
                  <a:pt x="4006763" y="2430623"/>
                </a:cubicBezTo>
                <a:lnTo>
                  <a:pt x="4006225" y="2423947"/>
                </a:lnTo>
                <a:cubicBezTo>
                  <a:pt x="4001166" y="2393697"/>
                  <a:pt x="3998715" y="2362806"/>
                  <a:pt x="3998757" y="2331471"/>
                </a:cubicBezTo>
                <a:cubicBezTo>
                  <a:pt x="3997445" y="2325843"/>
                  <a:pt x="3997387" y="2320176"/>
                  <a:pt x="3997387" y="2314495"/>
                </a:cubicBezTo>
                <a:lnTo>
                  <a:pt x="3997981" y="2303055"/>
                </a:lnTo>
                <a:lnTo>
                  <a:pt x="3998479" y="2303088"/>
                </a:lnTo>
                <a:close/>
                <a:moveTo>
                  <a:pt x="3975754" y="2302594"/>
                </a:moveTo>
                <a:lnTo>
                  <a:pt x="3975780" y="2303088"/>
                </a:lnTo>
                <a:lnTo>
                  <a:pt x="3976278" y="2303055"/>
                </a:lnTo>
                <a:lnTo>
                  <a:pt x="3976872" y="2314495"/>
                </a:lnTo>
                <a:cubicBezTo>
                  <a:pt x="3976872" y="2320176"/>
                  <a:pt x="3976813" y="2325843"/>
                  <a:pt x="3975501" y="2331471"/>
                </a:cubicBezTo>
                <a:cubicBezTo>
                  <a:pt x="3975543" y="2362806"/>
                  <a:pt x="3973093" y="2393697"/>
                  <a:pt x="3968034" y="2423947"/>
                </a:cubicBezTo>
                <a:lnTo>
                  <a:pt x="3967496" y="2430623"/>
                </a:lnTo>
                <a:cubicBezTo>
                  <a:pt x="3967326" y="2430628"/>
                  <a:pt x="3967158" y="2430633"/>
                  <a:pt x="3966990" y="2430686"/>
                </a:cubicBezTo>
                <a:cubicBezTo>
                  <a:pt x="3916715" y="2783551"/>
                  <a:pt x="3635676" y="3064328"/>
                  <a:pt x="3276825" y="3123727"/>
                </a:cubicBezTo>
                <a:lnTo>
                  <a:pt x="3276708" y="3124875"/>
                </a:lnTo>
                <a:cubicBezTo>
                  <a:pt x="3271398" y="3125886"/>
                  <a:pt x="3266069" y="3126834"/>
                  <a:pt x="3260492" y="3126415"/>
                </a:cubicBezTo>
                <a:cubicBezTo>
                  <a:pt x="3229320" y="3131969"/>
                  <a:pt x="3197440" y="3134950"/>
                  <a:pt x="3165065" y="3135477"/>
                </a:cubicBezTo>
                <a:lnTo>
                  <a:pt x="3147947" y="3137103"/>
                </a:lnTo>
                <a:lnTo>
                  <a:pt x="3147921" y="3136608"/>
                </a:lnTo>
                <a:lnTo>
                  <a:pt x="3147422" y="3136641"/>
                </a:lnTo>
                <a:cubicBezTo>
                  <a:pt x="3146856" y="3132839"/>
                  <a:pt x="3146829" y="3129023"/>
                  <a:pt x="3146829" y="3125201"/>
                </a:cubicBezTo>
                <a:cubicBezTo>
                  <a:pt x="3146829" y="3119519"/>
                  <a:pt x="3146887" y="3113850"/>
                  <a:pt x="3148199" y="3108220"/>
                </a:cubicBezTo>
                <a:cubicBezTo>
                  <a:pt x="3148157" y="3076892"/>
                  <a:pt x="3150607" y="3046007"/>
                  <a:pt x="3155663" y="3015763"/>
                </a:cubicBezTo>
                <a:lnTo>
                  <a:pt x="3156204" y="3009073"/>
                </a:lnTo>
                <a:cubicBezTo>
                  <a:pt x="3156372" y="3009068"/>
                  <a:pt x="3156542" y="3009063"/>
                  <a:pt x="3156709" y="3009010"/>
                </a:cubicBezTo>
                <a:cubicBezTo>
                  <a:pt x="3206986" y="2656144"/>
                  <a:pt x="3488025" y="2375367"/>
                  <a:pt x="3846875" y="2315969"/>
                </a:cubicBezTo>
                <a:lnTo>
                  <a:pt x="3846992" y="2314821"/>
                </a:lnTo>
                <a:cubicBezTo>
                  <a:pt x="3852301" y="2313811"/>
                  <a:pt x="3857629" y="2312863"/>
                  <a:pt x="3863205" y="2313282"/>
                </a:cubicBezTo>
                <a:cubicBezTo>
                  <a:pt x="3894388" y="2307725"/>
                  <a:pt x="3926281" y="2304744"/>
                  <a:pt x="3958666" y="2304217"/>
                </a:cubicBezTo>
                <a:close/>
                <a:moveTo>
                  <a:pt x="2306354" y="2302594"/>
                </a:moveTo>
                <a:lnTo>
                  <a:pt x="2323441" y="2304217"/>
                </a:lnTo>
                <a:cubicBezTo>
                  <a:pt x="2355827" y="2304744"/>
                  <a:pt x="2387719" y="2307725"/>
                  <a:pt x="2418903" y="2313282"/>
                </a:cubicBezTo>
                <a:cubicBezTo>
                  <a:pt x="2424479" y="2312863"/>
                  <a:pt x="2429807" y="2313811"/>
                  <a:pt x="2435115" y="2314821"/>
                </a:cubicBezTo>
                <a:lnTo>
                  <a:pt x="2435233" y="2315969"/>
                </a:lnTo>
                <a:cubicBezTo>
                  <a:pt x="2794083" y="2375367"/>
                  <a:pt x="3075122" y="2656144"/>
                  <a:pt x="3125398" y="3009010"/>
                </a:cubicBezTo>
                <a:cubicBezTo>
                  <a:pt x="3125566" y="3009063"/>
                  <a:pt x="3125735" y="3009068"/>
                  <a:pt x="3125904" y="3009073"/>
                </a:cubicBezTo>
                <a:lnTo>
                  <a:pt x="3126444" y="3015763"/>
                </a:lnTo>
                <a:cubicBezTo>
                  <a:pt x="3131501" y="3046007"/>
                  <a:pt x="3133950" y="3076892"/>
                  <a:pt x="3133908" y="3108220"/>
                </a:cubicBezTo>
                <a:cubicBezTo>
                  <a:pt x="3135220" y="3113850"/>
                  <a:pt x="3135279" y="3119519"/>
                  <a:pt x="3135279" y="3125201"/>
                </a:cubicBezTo>
                <a:cubicBezTo>
                  <a:pt x="3135279" y="3129023"/>
                  <a:pt x="3135252" y="3132839"/>
                  <a:pt x="3134686" y="3136641"/>
                </a:cubicBezTo>
                <a:lnTo>
                  <a:pt x="3134187" y="3136608"/>
                </a:lnTo>
                <a:lnTo>
                  <a:pt x="3134161" y="3137103"/>
                </a:lnTo>
                <a:lnTo>
                  <a:pt x="3117042" y="3135477"/>
                </a:lnTo>
                <a:cubicBezTo>
                  <a:pt x="3084668" y="3134950"/>
                  <a:pt x="3052788" y="3131969"/>
                  <a:pt x="3021616" y="3126415"/>
                </a:cubicBezTo>
                <a:cubicBezTo>
                  <a:pt x="3016039" y="3126834"/>
                  <a:pt x="3010710" y="3125886"/>
                  <a:pt x="3005399" y="3124875"/>
                </a:cubicBezTo>
                <a:lnTo>
                  <a:pt x="3005283" y="3123727"/>
                </a:lnTo>
                <a:cubicBezTo>
                  <a:pt x="2646432" y="3064328"/>
                  <a:pt x="2365393" y="2783551"/>
                  <a:pt x="2315117" y="2430686"/>
                </a:cubicBezTo>
                <a:cubicBezTo>
                  <a:pt x="2314950" y="2430633"/>
                  <a:pt x="2314781" y="2430628"/>
                  <a:pt x="2314612" y="2430623"/>
                </a:cubicBezTo>
                <a:lnTo>
                  <a:pt x="2314074" y="2423947"/>
                </a:lnTo>
                <a:cubicBezTo>
                  <a:pt x="2309015" y="2393697"/>
                  <a:pt x="2306564" y="2362806"/>
                  <a:pt x="2306606" y="2331471"/>
                </a:cubicBezTo>
                <a:cubicBezTo>
                  <a:pt x="2305294" y="2325843"/>
                  <a:pt x="2305236" y="2320176"/>
                  <a:pt x="2305236" y="2314495"/>
                </a:cubicBezTo>
                <a:lnTo>
                  <a:pt x="2305830" y="2303055"/>
                </a:lnTo>
                <a:lnTo>
                  <a:pt x="2306328" y="2303088"/>
                </a:lnTo>
                <a:close/>
                <a:moveTo>
                  <a:pt x="2283603" y="2302594"/>
                </a:moveTo>
                <a:lnTo>
                  <a:pt x="2283629" y="2303088"/>
                </a:lnTo>
                <a:lnTo>
                  <a:pt x="2284127" y="2303055"/>
                </a:lnTo>
                <a:lnTo>
                  <a:pt x="2284721" y="2314495"/>
                </a:lnTo>
                <a:cubicBezTo>
                  <a:pt x="2284721" y="2320176"/>
                  <a:pt x="2284662" y="2325843"/>
                  <a:pt x="2283350" y="2331471"/>
                </a:cubicBezTo>
                <a:cubicBezTo>
                  <a:pt x="2283392" y="2362806"/>
                  <a:pt x="2280942" y="2393697"/>
                  <a:pt x="2275883" y="2423947"/>
                </a:cubicBezTo>
                <a:lnTo>
                  <a:pt x="2275345" y="2430623"/>
                </a:lnTo>
                <a:cubicBezTo>
                  <a:pt x="2275175" y="2430628"/>
                  <a:pt x="2275007" y="2430633"/>
                  <a:pt x="2274839" y="2430686"/>
                </a:cubicBezTo>
                <a:cubicBezTo>
                  <a:pt x="2224564" y="2783551"/>
                  <a:pt x="1943525" y="3064328"/>
                  <a:pt x="1584673" y="3123727"/>
                </a:cubicBezTo>
                <a:lnTo>
                  <a:pt x="1584557" y="3124875"/>
                </a:lnTo>
                <a:cubicBezTo>
                  <a:pt x="1579247" y="3125886"/>
                  <a:pt x="1573918" y="3126834"/>
                  <a:pt x="1568341" y="3126415"/>
                </a:cubicBezTo>
                <a:cubicBezTo>
                  <a:pt x="1537169" y="3131969"/>
                  <a:pt x="1505289" y="3134950"/>
                  <a:pt x="1472914" y="3135477"/>
                </a:cubicBezTo>
                <a:lnTo>
                  <a:pt x="1455796" y="3137103"/>
                </a:lnTo>
                <a:lnTo>
                  <a:pt x="1455770" y="3136608"/>
                </a:lnTo>
                <a:lnTo>
                  <a:pt x="1455271" y="3136641"/>
                </a:lnTo>
                <a:cubicBezTo>
                  <a:pt x="1454705" y="3132839"/>
                  <a:pt x="1454678" y="3129023"/>
                  <a:pt x="1454678" y="3125201"/>
                </a:cubicBezTo>
                <a:cubicBezTo>
                  <a:pt x="1454678" y="3119519"/>
                  <a:pt x="1454736" y="3113850"/>
                  <a:pt x="1456048" y="3108220"/>
                </a:cubicBezTo>
                <a:cubicBezTo>
                  <a:pt x="1456006" y="3076892"/>
                  <a:pt x="1458456" y="3046007"/>
                  <a:pt x="1463513" y="3015763"/>
                </a:cubicBezTo>
                <a:lnTo>
                  <a:pt x="1464053" y="3009073"/>
                </a:lnTo>
                <a:cubicBezTo>
                  <a:pt x="1464221" y="3009068"/>
                  <a:pt x="1464391" y="3009063"/>
                  <a:pt x="1464558" y="3009010"/>
                </a:cubicBezTo>
                <a:cubicBezTo>
                  <a:pt x="1514835" y="2656144"/>
                  <a:pt x="1795874" y="2375367"/>
                  <a:pt x="2154724" y="2315969"/>
                </a:cubicBezTo>
                <a:lnTo>
                  <a:pt x="2154841" y="2314821"/>
                </a:lnTo>
                <a:cubicBezTo>
                  <a:pt x="2160150" y="2313811"/>
                  <a:pt x="2165478" y="2312863"/>
                  <a:pt x="2171054" y="2313282"/>
                </a:cubicBezTo>
                <a:cubicBezTo>
                  <a:pt x="2202237" y="2307725"/>
                  <a:pt x="2234130" y="2304744"/>
                  <a:pt x="2266515" y="2304217"/>
                </a:cubicBezTo>
                <a:close/>
                <a:moveTo>
                  <a:pt x="614203" y="2302594"/>
                </a:moveTo>
                <a:lnTo>
                  <a:pt x="631290" y="2304217"/>
                </a:lnTo>
                <a:cubicBezTo>
                  <a:pt x="663676" y="2304744"/>
                  <a:pt x="695568" y="2307725"/>
                  <a:pt x="726752" y="2313282"/>
                </a:cubicBezTo>
                <a:cubicBezTo>
                  <a:pt x="732328" y="2312863"/>
                  <a:pt x="737656" y="2313811"/>
                  <a:pt x="742964" y="2314821"/>
                </a:cubicBezTo>
                <a:lnTo>
                  <a:pt x="743081" y="2315969"/>
                </a:lnTo>
                <a:cubicBezTo>
                  <a:pt x="1101932" y="2375367"/>
                  <a:pt x="1382971" y="2656144"/>
                  <a:pt x="1433247" y="3009010"/>
                </a:cubicBezTo>
                <a:cubicBezTo>
                  <a:pt x="1433415" y="3009063"/>
                  <a:pt x="1433584" y="3009068"/>
                  <a:pt x="1433753" y="3009073"/>
                </a:cubicBezTo>
                <a:lnTo>
                  <a:pt x="1434293" y="3015763"/>
                </a:lnTo>
                <a:cubicBezTo>
                  <a:pt x="1439350" y="3046007"/>
                  <a:pt x="1441799" y="3076892"/>
                  <a:pt x="1441757" y="3108220"/>
                </a:cubicBezTo>
                <a:cubicBezTo>
                  <a:pt x="1443069" y="3113850"/>
                  <a:pt x="1443128" y="3119519"/>
                  <a:pt x="1443128" y="3125201"/>
                </a:cubicBezTo>
                <a:cubicBezTo>
                  <a:pt x="1443128" y="3129023"/>
                  <a:pt x="1443101" y="3132839"/>
                  <a:pt x="1442535" y="3136641"/>
                </a:cubicBezTo>
                <a:lnTo>
                  <a:pt x="1442036" y="3136608"/>
                </a:lnTo>
                <a:lnTo>
                  <a:pt x="1442010" y="3137103"/>
                </a:lnTo>
                <a:lnTo>
                  <a:pt x="1424891" y="3135477"/>
                </a:lnTo>
                <a:cubicBezTo>
                  <a:pt x="1392517" y="3134950"/>
                  <a:pt x="1360637" y="3131969"/>
                  <a:pt x="1329465" y="3126415"/>
                </a:cubicBezTo>
                <a:cubicBezTo>
                  <a:pt x="1323888" y="3126834"/>
                  <a:pt x="1318559" y="3125886"/>
                  <a:pt x="1313248" y="3124875"/>
                </a:cubicBezTo>
                <a:lnTo>
                  <a:pt x="1313132" y="3123727"/>
                </a:lnTo>
                <a:cubicBezTo>
                  <a:pt x="954281" y="3064328"/>
                  <a:pt x="673242" y="2783551"/>
                  <a:pt x="622966" y="2430686"/>
                </a:cubicBezTo>
                <a:cubicBezTo>
                  <a:pt x="622799" y="2430633"/>
                  <a:pt x="622630" y="2430628"/>
                  <a:pt x="622461" y="2430623"/>
                </a:cubicBezTo>
                <a:lnTo>
                  <a:pt x="621923" y="2423947"/>
                </a:lnTo>
                <a:cubicBezTo>
                  <a:pt x="616864" y="2393697"/>
                  <a:pt x="614413" y="2362806"/>
                  <a:pt x="614455" y="2331471"/>
                </a:cubicBezTo>
                <a:cubicBezTo>
                  <a:pt x="613143" y="2325843"/>
                  <a:pt x="613085" y="2320176"/>
                  <a:pt x="613085" y="2314495"/>
                </a:cubicBezTo>
                <a:lnTo>
                  <a:pt x="613679" y="2303055"/>
                </a:lnTo>
                <a:lnTo>
                  <a:pt x="614177" y="2303088"/>
                </a:lnTo>
                <a:close/>
                <a:moveTo>
                  <a:pt x="591452" y="2302594"/>
                </a:moveTo>
                <a:lnTo>
                  <a:pt x="591478" y="2303088"/>
                </a:lnTo>
                <a:lnTo>
                  <a:pt x="591976" y="2303055"/>
                </a:lnTo>
                <a:lnTo>
                  <a:pt x="592570" y="2314495"/>
                </a:lnTo>
                <a:cubicBezTo>
                  <a:pt x="592570" y="2320176"/>
                  <a:pt x="592511" y="2325843"/>
                  <a:pt x="591199" y="2331471"/>
                </a:cubicBezTo>
                <a:cubicBezTo>
                  <a:pt x="591242" y="2362806"/>
                  <a:pt x="588791" y="2393697"/>
                  <a:pt x="583732" y="2423947"/>
                </a:cubicBezTo>
                <a:lnTo>
                  <a:pt x="583194" y="2430623"/>
                </a:lnTo>
                <a:cubicBezTo>
                  <a:pt x="583024" y="2430628"/>
                  <a:pt x="582856" y="2430633"/>
                  <a:pt x="582689" y="2430686"/>
                </a:cubicBezTo>
                <a:cubicBezTo>
                  <a:pt x="537576" y="2747315"/>
                  <a:pt x="306662" y="3005901"/>
                  <a:pt x="0" y="3097101"/>
                </a:cubicBezTo>
                <a:lnTo>
                  <a:pt x="0" y="2964763"/>
                </a:lnTo>
                <a:cubicBezTo>
                  <a:pt x="229298" y="2881926"/>
                  <a:pt x="402181" y="2686530"/>
                  <a:pt x="449203" y="2447425"/>
                </a:cubicBezTo>
                <a:cubicBezTo>
                  <a:pt x="258971" y="2488309"/>
                  <a:pt x="97576" y="2603574"/>
                  <a:pt x="0" y="2761314"/>
                </a:cubicBezTo>
                <a:lnTo>
                  <a:pt x="0" y="2554520"/>
                </a:lnTo>
                <a:cubicBezTo>
                  <a:pt x="121484" y="2431613"/>
                  <a:pt x="282199" y="2345825"/>
                  <a:pt x="462573" y="2315969"/>
                </a:cubicBezTo>
                <a:lnTo>
                  <a:pt x="462690" y="2314821"/>
                </a:lnTo>
                <a:cubicBezTo>
                  <a:pt x="467999" y="2313811"/>
                  <a:pt x="473327" y="2312863"/>
                  <a:pt x="478903" y="2313282"/>
                </a:cubicBezTo>
                <a:cubicBezTo>
                  <a:pt x="510086" y="2307725"/>
                  <a:pt x="541979" y="2304744"/>
                  <a:pt x="574365" y="2304217"/>
                </a:cubicBezTo>
                <a:close/>
                <a:moveTo>
                  <a:pt x="11452667" y="1608087"/>
                </a:moveTo>
                <a:cubicBezTo>
                  <a:pt x="11177477" y="1666766"/>
                  <a:pt x="10962633" y="1879876"/>
                  <a:pt x="10909358" y="2148655"/>
                </a:cubicBezTo>
                <a:cubicBezTo>
                  <a:pt x="11184548" y="2089976"/>
                  <a:pt x="11399391" y="1876866"/>
                  <a:pt x="11452667" y="1608087"/>
                </a:cubicBezTo>
                <a:close/>
                <a:moveTo>
                  <a:pt x="10058800" y="1608087"/>
                </a:moveTo>
                <a:cubicBezTo>
                  <a:pt x="10112076" y="1876866"/>
                  <a:pt x="10326919" y="2089976"/>
                  <a:pt x="10602109" y="2148655"/>
                </a:cubicBezTo>
                <a:cubicBezTo>
                  <a:pt x="10548834" y="1879876"/>
                  <a:pt x="10333990" y="1666766"/>
                  <a:pt x="10058800" y="1608087"/>
                </a:cubicBezTo>
                <a:close/>
                <a:moveTo>
                  <a:pt x="9760514" y="1608087"/>
                </a:moveTo>
                <a:cubicBezTo>
                  <a:pt x="9485324" y="1666766"/>
                  <a:pt x="9270480" y="1879876"/>
                  <a:pt x="9217205" y="2148655"/>
                </a:cubicBezTo>
                <a:cubicBezTo>
                  <a:pt x="9492395" y="2089976"/>
                  <a:pt x="9707238" y="1876866"/>
                  <a:pt x="9760514" y="1608087"/>
                </a:cubicBezTo>
                <a:close/>
                <a:moveTo>
                  <a:pt x="8366649" y="1608087"/>
                </a:moveTo>
                <a:cubicBezTo>
                  <a:pt x="8419925" y="1876866"/>
                  <a:pt x="8634768" y="2089976"/>
                  <a:pt x="8909958" y="2148655"/>
                </a:cubicBezTo>
                <a:cubicBezTo>
                  <a:pt x="8856683" y="1879876"/>
                  <a:pt x="8641839" y="1666766"/>
                  <a:pt x="8366649" y="1608087"/>
                </a:cubicBezTo>
                <a:close/>
                <a:moveTo>
                  <a:pt x="8068363" y="1608087"/>
                </a:moveTo>
                <a:cubicBezTo>
                  <a:pt x="7793173" y="1666766"/>
                  <a:pt x="7578329" y="1879876"/>
                  <a:pt x="7525054" y="2148655"/>
                </a:cubicBezTo>
                <a:cubicBezTo>
                  <a:pt x="7800244" y="2089976"/>
                  <a:pt x="8015087" y="1876866"/>
                  <a:pt x="8068363" y="1608087"/>
                </a:cubicBezTo>
                <a:close/>
                <a:moveTo>
                  <a:pt x="6674498" y="1608087"/>
                </a:moveTo>
                <a:cubicBezTo>
                  <a:pt x="6727774" y="1876866"/>
                  <a:pt x="6942617" y="2089976"/>
                  <a:pt x="7217807" y="2148655"/>
                </a:cubicBezTo>
                <a:cubicBezTo>
                  <a:pt x="7164532" y="1879876"/>
                  <a:pt x="6949688" y="1666766"/>
                  <a:pt x="6674498" y="1608087"/>
                </a:cubicBezTo>
                <a:close/>
                <a:moveTo>
                  <a:pt x="6376212" y="1608087"/>
                </a:moveTo>
                <a:cubicBezTo>
                  <a:pt x="6101022" y="1666766"/>
                  <a:pt x="5886178" y="1879876"/>
                  <a:pt x="5832903" y="2148655"/>
                </a:cubicBezTo>
                <a:cubicBezTo>
                  <a:pt x="6108093" y="2089976"/>
                  <a:pt x="6322936" y="1876866"/>
                  <a:pt x="6376212" y="1608087"/>
                </a:cubicBezTo>
                <a:close/>
                <a:moveTo>
                  <a:pt x="4982347" y="1608087"/>
                </a:moveTo>
                <a:cubicBezTo>
                  <a:pt x="5035623" y="1876866"/>
                  <a:pt x="5250466" y="2089976"/>
                  <a:pt x="5525656" y="2148655"/>
                </a:cubicBezTo>
                <a:cubicBezTo>
                  <a:pt x="5472381" y="1879876"/>
                  <a:pt x="5257537" y="1666766"/>
                  <a:pt x="4982347" y="1608087"/>
                </a:cubicBezTo>
                <a:close/>
                <a:moveTo>
                  <a:pt x="4684061" y="1608087"/>
                </a:moveTo>
                <a:cubicBezTo>
                  <a:pt x="4408871" y="1666766"/>
                  <a:pt x="4194027" y="1879876"/>
                  <a:pt x="4140752" y="2148655"/>
                </a:cubicBezTo>
                <a:cubicBezTo>
                  <a:pt x="4415942" y="2089976"/>
                  <a:pt x="4630785" y="1876866"/>
                  <a:pt x="4684061" y="1608087"/>
                </a:cubicBezTo>
                <a:close/>
                <a:moveTo>
                  <a:pt x="3290196" y="1608087"/>
                </a:moveTo>
                <a:cubicBezTo>
                  <a:pt x="3343472" y="1876866"/>
                  <a:pt x="3558315" y="2089976"/>
                  <a:pt x="3833505" y="2148655"/>
                </a:cubicBezTo>
                <a:cubicBezTo>
                  <a:pt x="3780230" y="1879876"/>
                  <a:pt x="3565386" y="1666766"/>
                  <a:pt x="3290196" y="1608087"/>
                </a:cubicBezTo>
                <a:close/>
                <a:moveTo>
                  <a:pt x="2991910" y="1608087"/>
                </a:moveTo>
                <a:cubicBezTo>
                  <a:pt x="2716720" y="1666766"/>
                  <a:pt x="2501876" y="1879876"/>
                  <a:pt x="2448601" y="2148655"/>
                </a:cubicBezTo>
                <a:cubicBezTo>
                  <a:pt x="2723791" y="2089976"/>
                  <a:pt x="2938634" y="1876866"/>
                  <a:pt x="2991910" y="1608087"/>
                </a:cubicBezTo>
                <a:close/>
                <a:moveTo>
                  <a:pt x="1598045" y="1608087"/>
                </a:moveTo>
                <a:cubicBezTo>
                  <a:pt x="1651321" y="1876866"/>
                  <a:pt x="1866164" y="2089976"/>
                  <a:pt x="2141354" y="2148655"/>
                </a:cubicBezTo>
                <a:cubicBezTo>
                  <a:pt x="2088079" y="1879876"/>
                  <a:pt x="1873235" y="1666766"/>
                  <a:pt x="1598045" y="1608087"/>
                </a:cubicBezTo>
                <a:close/>
                <a:moveTo>
                  <a:pt x="1299759" y="1608087"/>
                </a:moveTo>
                <a:cubicBezTo>
                  <a:pt x="1024569" y="1666766"/>
                  <a:pt x="809725" y="1879876"/>
                  <a:pt x="756450" y="2148655"/>
                </a:cubicBezTo>
                <a:cubicBezTo>
                  <a:pt x="1031640" y="2089976"/>
                  <a:pt x="1246483" y="1876866"/>
                  <a:pt x="1299759" y="1608087"/>
                </a:cubicBezTo>
                <a:close/>
                <a:moveTo>
                  <a:pt x="0" y="1504081"/>
                </a:moveTo>
                <a:cubicBezTo>
                  <a:pt x="306658" y="1594561"/>
                  <a:pt x="537576" y="1851117"/>
                  <a:pt x="582690" y="2165262"/>
                </a:cubicBezTo>
                <a:cubicBezTo>
                  <a:pt x="582857" y="2165315"/>
                  <a:pt x="583026" y="2165320"/>
                  <a:pt x="583195" y="2165325"/>
                </a:cubicBezTo>
                <a:lnTo>
                  <a:pt x="583735" y="2171962"/>
                </a:lnTo>
                <a:cubicBezTo>
                  <a:pt x="588792" y="2201969"/>
                  <a:pt x="591242" y="2232611"/>
                  <a:pt x="591199" y="2263693"/>
                </a:cubicBezTo>
                <a:cubicBezTo>
                  <a:pt x="592511" y="2269279"/>
                  <a:pt x="592570" y="2274903"/>
                  <a:pt x="592570" y="2280541"/>
                </a:cubicBezTo>
                <a:cubicBezTo>
                  <a:pt x="592570" y="2284333"/>
                  <a:pt x="592543" y="2288119"/>
                  <a:pt x="591977" y="2291891"/>
                </a:cubicBezTo>
                <a:lnTo>
                  <a:pt x="591478" y="2291858"/>
                </a:lnTo>
                <a:lnTo>
                  <a:pt x="591452" y="2292349"/>
                </a:lnTo>
                <a:lnTo>
                  <a:pt x="574334" y="2290736"/>
                </a:lnTo>
                <a:cubicBezTo>
                  <a:pt x="541959" y="2290213"/>
                  <a:pt x="510079" y="2287255"/>
                  <a:pt x="478907" y="2281745"/>
                </a:cubicBezTo>
                <a:cubicBezTo>
                  <a:pt x="473330" y="2282161"/>
                  <a:pt x="468001" y="2281220"/>
                  <a:pt x="462690" y="2280217"/>
                </a:cubicBezTo>
                <a:lnTo>
                  <a:pt x="462574" y="2279078"/>
                </a:lnTo>
                <a:cubicBezTo>
                  <a:pt x="282200" y="2249456"/>
                  <a:pt x="121485" y="2164343"/>
                  <a:pt x="0" y="2042401"/>
                </a:cubicBezTo>
                <a:lnTo>
                  <a:pt x="0" y="1837231"/>
                </a:lnTo>
                <a:cubicBezTo>
                  <a:pt x="97584" y="1993737"/>
                  <a:pt x="258975" y="2108093"/>
                  <a:pt x="449203" y="2148655"/>
                </a:cubicBezTo>
                <a:cubicBezTo>
                  <a:pt x="402182" y="1911427"/>
                  <a:pt x="229297" y="1717565"/>
                  <a:pt x="0" y="1635380"/>
                </a:cubicBezTo>
                <a:close/>
                <a:moveTo>
                  <a:pt x="11608704" y="1464394"/>
                </a:moveTo>
                <a:lnTo>
                  <a:pt x="11625791" y="1466004"/>
                </a:lnTo>
                <a:cubicBezTo>
                  <a:pt x="11658177" y="1466527"/>
                  <a:pt x="11690070" y="1469485"/>
                  <a:pt x="11721253" y="1474998"/>
                </a:cubicBezTo>
                <a:cubicBezTo>
                  <a:pt x="11726829" y="1474582"/>
                  <a:pt x="11732157" y="1475523"/>
                  <a:pt x="11737466" y="1476525"/>
                </a:cubicBezTo>
                <a:lnTo>
                  <a:pt x="11737583" y="1477664"/>
                </a:lnTo>
                <a:cubicBezTo>
                  <a:pt x="11914088" y="1506650"/>
                  <a:pt x="12071767" y="1588774"/>
                  <a:pt x="12192000" y="1706842"/>
                </a:cubicBezTo>
                <a:lnTo>
                  <a:pt x="12192000" y="1906833"/>
                </a:lnTo>
                <a:cubicBezTo>
                  <a:pt x="12093732" y="1756811"/>
                  <a:pt x="11935983" y="1647542"/>
                  <a:pt x="11750953" y="1608088"/>
                </a:cubicBezTo>
                <a:cubicBezTo>
                  <a:pt x="11797422" y="1842524"/>
                  <a:pt x="11966808" y="2034608"/>
                  <a:pt x="12192000" y="2118654"/>
                </a:cubicBezTo>
                <a:lnTo>
                  <a:pt x="12192000" y="2250657"/>
                </a:lnTo>
                <a:cubicBezTo>
                  <a:pt x="11889465" y="2157681"/>
                  <a:pt x="11662185" y="1902872"/>
                  <a:pt x="11617468" y="1591480"/>
                </a:cubicBezTo>
                <a:cubicBezTo>
                  <a:pt x="11617300" y="1591427"/>
                  <a:pt x="11617132" y="1591423"/>
                  <a:pt x="11616962" y="1591418"/>
                </a:cubicBezTo>
                <a:lnTo>
                  <a:pt x="11616424" y="1584794"/>
                </a:lnTo>
                <a:cubicBezTo>
                  <a:pt x="11611365" y="1554782"/>
                  <a:pt x="11608914" y="1524133"/>
                  <a:pt x="11608957" y="1493044"/>
                </a:cubicBezTo>
                <a:cubicBezTo>
                  <a:pt x="11607645" y="1487460"/>
                  <a:pt x="11607586" y="1481838"/>
                  <a:pt x="11607586" y="1476202"/>
                </a:cubicBezTo>
                <a:lnTo>
                  <a:pt x="11608180" y="1464851"/>
                </a:lnTo>
                <a:lnTo>
                  <a:pt x="11608678" y="1464884"/>
                </a:lnTo>
                <a:close/>
                <a:moveTo>
                  <a:pt x="11594916" y="1464394"/>
                </a:moveTo>
                <a:lnTo>
                  <a:pt x="11594942" y="1464884"/>
                </a:lnTo>
                <a:lnTo>
                  <a:pt x="11595440" y="1464852"/>
                </a:lnTo>
                <a:lnTo>
                  <a:pt x="11596034" y="1476202"/>
                </a:lnTo>
                <a:cubicBezTo>
                  <a:pt x="11596034" y="1481838"/>
                  <a:pt x="11595975" y="1487460"/>
                  <a:pt x="11594663" y="1493044"/>
                </a:cubicBezTo>
                <a:cubicBezTo>
                  <a:pt x="11594706" y="1524133"/>
                  <a:pt x="11592255" y="1554782"/>
                  <a:pt x="11587196" y="1584794"/>
                </a:cubicBezTo>
                <a:lnTo>
                  <a:pt x="11586658" y="1591418"/>
                </a:lnTo>
                <a:cubicBezTo>
                  <a:pt x="11586488" y="1591423"/>
                  <a:pt x="11586320" y="1591427"/>
                  <a:pt x="11586152" y="1591480"/>
                </a:cubicBezTo>
                <a:cubicBezTo>
                  <a:pt x="11535877" y="1941574"/>
                  <a:pt x="11254838" y="2220146"/>
                  <a:pt x="10895987" y="2279078"/>
                </a:cubicBezTo>
                <a:lnTo>
                  <a:pt x="10895871" y="2280217"/>
                </a:lnTo>
                <a:cubicBezTo>
                  <a:pt x="10890560" y="2281220"/>
                  <a:pt x="10885231" y="2282161"/>
                  <a:pt x="10879654" y="2281745"/>
                </a:cubicBezTo>
                <a:cubicBezTo>
                  <a:pt x="10848482" y="2287255"/>
                  <a:pt x="10816602" y="2290213"/>
                  <a:pt x="10784227" y="2290736"/>
                </a:cubicBezTo>
                <a:lnTo>
                  <a:pt x="10767109" y="2292349"/>
                </a:lnTo>
                <a:lnTo>
                  <a:pt x="10767083" y="2291858"/>
                </a:lnTo>
                <a:lnTo>
                  <a:pt x="10766584" y="2291891"/>
                </a:lnTo>
                <a:cubicBezTo>
                  <a:pt x="10766018" y="2288119"/>
                  <a:pt x="10765991" y="2284333"/>
                  <a:pt x="10765991" y="2280541"/>
                </a:cubicBezTo>
                <a:cubicBezTo>
                  <a:pt x="10765991" y="2274903"/>
                  <a:pt x="10766050" y="2269279"/>
                  <a:pt x="10767362" y="2263693"/>
                </a:cubicBezTo>
                <a:cubicBezTo>
                  <a:pt x="10767319" y="2232611"/>
                  <a:pt x="10769769" y="2201969"/>
                  <a:pt x="10774826" y="2171962"/>
                </a:cubicBezTo>
                <a:lnTo>
                  <a:pt x="10775366" y="2165325"/>
                </a:lnTo>
                <a:cubicBezTo>
                  <a:pt x="10775535" y="2165320"/>
                  <a:pt x="10775704" y="2165315"/>
                  <a:pt x="10775872" y="2165262"/>
                </a:cubicBezTo>
                <a:cubicBezTo>
                  <a:pt x="10826148" y="1815167"/>
                  <a:pt x="11107187" y="1536596"/>
                  <a:pt x="11466037" y="1477664"/>
                </a:cubicBezTo>
                <a:lnTo>
                  <a:pt x="11466154" y="1476525"/>
                </a:lnTo>
                <a:cubicBezTo>
                  <a:pt x="11471463" y="1475523"/>
                  <a:pt x="11476791" y="1474582"/>
                  <a:pt x="11482367" y="1474998"/>
                </a:cubicBezTo>
                <a:cubicBezTo>
                  <a:pt x="11513550" y="1469485"/>
                  <a:pt x="11545443" y="1466527"/>
                  <a:pt x="11577829" y="1466004"/>
                </a:cubicBezTo>
                <a:close/>
                <a:moveTo>
                  <a:pt x="9916551" y="1464394"/>
                </a:moveTo>
                <a:lnTo>
                  <a:pt x="9933638" y="1466004"/>
                </a:lnTo>
                <a:cubicBezTo>
                  <a:pt x="9966024" y="1466527"/>
                  <a:pt x="9997917" y="1469485"/>
                  <a:pt x="10029100" y="1474998"/>
                </a:cubicBezTo>
                <a:cubicBezTo>
                  <a:pt x="10034676" y="1474582"/>
                  <a:pt x="10040004" y="1475523"/>
                  <a:pt x="10045313" y="1476525"/>
                </a:cubicBezTo>
                <a:lnTo>
                  <a:pt x="10045430" y="1477664"/>
                </a:lnTo>
                <a:cubicBezTo>
                  <a:pt x="10404280" y="1536596"/>
                  <a:pt x="10685319" y="1815167"/>
                  <a:pt x="10735596" y="2165262"/>
                </a:cubicBezTo>
                <a:cubicBezTo>
                  <a:pt x="10735763" y="2165315"/>
                  <a:pt x="10735932" y="2165320"/>
                  <a:pt x="10736101" y="2165325"/>
                </a:cubicBezTo>
                <a:lnTo>
                  <a:pt x="10736641" y="2171962"/>
                </a:lnTo>
                <a:cubicBezTo>
                  <a:pt x="10741698" y="2201969"/>
                  <a:pt x="10744148" y="2232611"/>
                  <a:pt x="10744105" y="2263693"/>
                </a:cubicBezTo>
                <a:cubicBezTo>
                  <a:pt x="10745417" y="2269279"/>
                  <a:pt x="10745476" y="2274903"/>
                  <a:pt x="10745476" y="2280541"/>
                </a:cubicBezTo>
                <a:cubicBezTo>
                  <a:pt x="10745476" y="2284333"/>
                  <a:pt x="10745449" y="2288119"/>
                  <a:pt x="10744883" y="2291891"/>
                </a:cubicBezTo>
                <a:lnTo>
                  <a:pt x="10744384" y="2291858"/>
                </a:lnTo>
                <a:lnTo>
                  <a:pt x="10744358" y="2292349"/>
                </a:lnTo>
                <a:lnTo>
                  <a:pt x="10727240" y="2290736"/>
                </a:lnTo>
                <a:cubicBezTo>
                  <a:pt x="10694865" y="2290213"/>
                  <a:pt x="10662985" y="2287255"/>
                  <a:pt x="10631813" y="2281745"/>
                </a:cubicBezTo>
                <a:cubicBezTo>
                  <a:pt x="10626236" y="2282161"/>
                  <a:pt x="10620907" y="2281220"/>
                  <a:pt x="10615596" y="2280217"/>
                </a:cubicBezTo>
                <a:lnTo>
                  <a:pt x="10615480" y="2279078"/>
                </a:lnTo>
                <a:cubicBezTo>
                  <a:pt x="10256629" y="2220146"/>
                  <a:pt x="9975590" y="1941574"/>
                  <a:pt x="9925315" y="1591480"/>
                </a:cubicBezTo>
                <a:cubicBezTo>
                  <a:pt x="9925147" y="1591427"/>
                  <a:pt x="9924979" y="1591423"/>
                  <a:pt x="9924809" y="1591418"/>
                </a:cubicBezTo>
                <a:lnTo>
                  <a:pt x="9924271" y="1584794"/>
                </a:lnTo>
                <a:cubicBezTo>
                  <a:pt x="9919212" y="1554782"/>
                  <a:pt x="9916761" y="1524133"/>
                  <a:pt x="9916804" y="1493044"/>
                </a:cubicBezTo>
                <a:cubicBezTo>
                  <a:pt x="9915492" y="1487460"/>
                  <a:pt x="9915433" y="1481838"/>
                  <a:pt x="9915433" y="1476202"/>
                </a:cubicBezTo>
                <a:lnTo>
                  <a:pt x="9916027" y="1464852"/>
                </a:lnTo>
                <a:lnTo>
                  <a:pt x="9916525" y="1464884"/>
                </a:lnTo>
                <a:close/>
                <a:moveTo>
                  <a:pt x="9902763" y="1464394"/>
                </a:moveTo>
                <a:lnTo>
                  <a:pt x="9902789" y="1464884"/>
                </a:lnTo>
                <a:lnTo>
                  <a:pt x="9903287" y="1464852"/>
                </a:lnTo>
                <a:lnTo>
                  <a:pt x="9903881" y="1476202"/>
                </a:lnTo>
                <a:cubicBezTo>
                  <a:pt x="9903881" y="1481838"/>
                  <a:pt x="9903822" y="1487460"/>
                  <a:pt x="9902510" y="1493044"/>
                </a:cubicBezTo>
                <a:cubicBezTo>
                  <a:pt x="9902553" y="1524133"/>
                  <a:pt x="9900102" y="1554782"/>
                  <a:pt x="9895043" y="1584794"/>
                </a:cubicBezTo>
                <a:lnTo>
                  <a:pt x="9894505" y="1591418"/>
                </a:lnTo>
                <a:cubicBezTo>
                  <a:pt x="9894335" y="1591423"/>
                  <a:pt x="9894167" y="1591427"/>
                  <a:pt x="9893999" y="1591480"/>
                </a:cubicBezTo>
                <a:cubicBezTo>
                  <a:pt x="9843724" y="1941574"/>
                  <a:pt x="9562685" y="2220146"/>
                  <a:pt x="9203834" y="2279078"/>
                </a:cubicBezTo>
                <a:lnTo>
                  <a:pt x="9203718" y="2280217"/>
                </a:lnTo>
                <a:cubicBezTo>
                  <a:pt x="9198407" y="2281220"/>
                  <a:pt x="9193078" y="2282161"/>
                  <a:pt x="9187501" y="2281745"/>
                </a:cubicBezTo>
                <a:cubicBezTo>
                  <a:pt x="9156329" y="2287255"/>
                  <a:pt x="9124449" y="2290213"/>
                  <a:pt x="9092074" y="2290736"/>
                </a:cubicBezTo>
                <a:lnTo>
                  <a:pt x="9074956" y="2292349"/>
                </a:lnTo>
                <a:lnTo>
                  <a:pt x="9074930" y="2291858"/>
                </a:lnTo>
                <a:lnTo>
                  <a:pt x="9074431" y="2291891"/>
                </a:lnTo>
                <a:cubicBezTo>
                  <a:pt x="9073865" y="2288119"/>
                  <a:pt x="9073838" y="2284333"/>
                  <a:pt x="9073838" y="2280541"/>
                </a:cubicBezTo>
                <a:cubicBezTo>
                  <a:pt x="9073838" y="2274903"/>
                  <a:pt x="9073897" y="2269279"/>
                  <a:pt x="9075209" y="2263693"/>
                </a:cubicBezTo>
                <a:cubicBezTo>
                  <a:pt x="9075166" y="2232611"/>
                  <a:pt x="9077616" y="2201969"/>
                  <a:pt x="9082673" y="2171962"/>
                </a:cubicBezTo>
                <a:lnTo>
                  <a:pt x="9083213" y="2165325"/>
                </a:lnTo>
                <a:cubicBezTo>
                  <a:pt x="9083382" y="2165320"/>
                  <a:pt x="9083551" y="2165315"/>
                  <a:pt x="9083718" y="2165262"/>
                </a:cubicBezTo>
                <a:cubicBezTo>
                  <a:pt x="9133995" y="1815167"/>
                  <a:pt x="9415034" y="1536596"/>
                  <a:pt x="9773884" y="1477664"/>
                </a:cubicBezTo>
                <a:lnTo>
                  <a:pt x="9774001" y="1476525"/>
                </a:lnTo>
                <a:cubicBezTo>
                  <a:pt x="9779310" y="1475523"/>
                  <a:pt x="9784638" y="1474582"/>
                  <a:pt x="9790214" y="1474998"/>
                </a:cubicBezTo>
                <a:cubicBezTo>
                  <a:pt x="9821397" y="1469485"/>
                  <a:pt x="9853290" y="1466527"/>
                  <a:pt x="9885676" y="1466004"/>
                </a:cubicBezTo>
                <a:close/>
                <a:moveTo>
                  <a:pt x="8224400" y="1464394"/>
                </a:moveTo>
                <a:lnTo>
                  <a:pt x="8241488" y="1466004"/>
                </a:lnTo>
                <a:cubicBezTo>
                  <a:pt x="8273873" y="1466527"/>
                  <a:pt x="8305766" y="1469485"/>
                  <a:pt x="8336949" y="1474998"/>
                </a:cubicBezTo>
                <a:cubicBezTo>
                  <a:pt x="8342525" y="1474582"/>
                  <a:pt x="8347853" y="1475523"/>
                  <a:pt x="8353162" y="1476525"/>
                </a:cubicBezTo>
                <a:lnTo>
                  <a:pt x="8353279" y="1477664"/>
                </a:lnTo>
                <a:cubicBezTo>
                  <a:pt x="8712129" y="1536596"/>
                  <a:pt x="8993168" y="1815167"/>
                  <a:pt x="9043444" y="2165262"/>
                </a:cubicBezTo>
                <a:cubicBezTo>
                  <a:pt x="9043612" y="2165315"/>
                  <a:pt x="9043781" y="2165320"/>
                  <a:pt x="9043950" y="2165325"/>
                </a:cubicBezTo>
                <a:lnTo>
                  <a:pt x="9044490" y="2171962"/>
                </a:lnTo>
                <a:cubicBezTo>
                  <a:pt x="9049547" y="2201969"/>
                  <a:pt x="9051997" y="2232611"/>
                  <a:pt x="9051954" y="2263693"/>
                </a:cubicBezTo>
                <a:cubicBezTo>
                  <a:pt x="9053266" y="2269279"/>
                  <a:pt x="9053325" y="2274903"/>
                  <a:pt x="9053325" y="2280541"/>
                </a:cubicBezTo>
                <a:cubicBezTo>
                  <a:pt x="9053325" y="2284333"/>
                  <a:pt x="9053298" y="2288119"/>
                  <a:pt x="9052732" y="2291891"/>
                </a:cubicBezTo>
                <a:lnTo>
                  <a:pt x="9052233" y="2291858"/>
                </a:lnTo>
                <a:lnTo>
                  <a:pt x="9052207" y="2292349"/>
                </a:lnTo>
                <a:lnTo>
                  <a:pt x="9035089" y="2290736"/>
                </a:lnTo>
                <a:cubicBezTo>
                  <a:pt x="9002714" y="2290213"/>
                  <a:pt x="8970834" y="2287255"/>
                  <a:pt x="8939662" y="2281745"/>
                </a:cubicBezTo>
                <a:cubicBezTo>
                  <a:pt x="8934085" y="2282161"/>
                  <a:pt x="8928756" y="2281220"/>
                  <a:pt x="8923445" y="2280217"/>
                </a:cubicBezTo>
                <a:lnTo>
                  <a:pt x="8923329" y="2279078"/>
                </a:lnTo>
                <a:cubicBezTo>
                  <a:pt x="8564478" y="2220146"/>
                  <a:pt x="8283439" y="1941574"/>
                  <a:pt x="8233164" y="1591480"/>
                </a:cubicBezTo>
                <a:cubicBezTo>
                  <a:pt x="8232996" y="1591427"/>
                  <a:pt x="8232828" y="1591423"/>
                  <a:pt x="8232658" y="1591418"/>
                </a:cubicBezTo>
                <a:lnTo>
                  <a:pt x="8232120" y="1584794"/>
                </a:lnTo>
                <a:cubicBezTo>
                  <a:pt x="8227061" y="1554782"/>
                  <a:pt x="8224611" y="1524133"/>
                  <a:pt x="8224653" y="1493044"/>
                </a:cubicBezTo>
                <a:cubicBezTo>
                  <a:pt x="8223341" y="1487460"/>
                  <a:pt x="8223282" y="1481838"/>
                  <a:pt x="8223282" y="1476202"/>
                </a:cubicBezTo>
                <a:lnTo>
                  <a:pt x="8223876" y="1464852"/>
                </a:lnTo>
                <a:lnTo>
                  <a:pt x="8224374" y="1464884"/>
                </a:lnTo>
                <a:close/>
                <a:moveTo>
                  <a:pt x="8210612" y="1464394"/>
                </a:moveTo>
                <a:lnTo>
                  <a:pt x="8210638" y="1464884"/>
                </a:lnTo>
                <a:lnTo>
                  <a:pt x="8211136" y="1464852"/>
                </a:lnTo>
                <a:lnTo>
                  <a:pt x="8211730" y="1476202"/>
                </a:lnTo>
                <a:cubicBezTo>
                  <a:pt x="8211730" y="1481838"/>
                  <a:pt x="8211672" y="1487460"/>
                  <a:pt x="8210360" y="1493044"/>
                </a:cubicBezTo>
                <a:cubicBezTo>
                  <a:pt x="8210402" y="1524133"/>
                  <a:pt x="8207951" y="1554782"/>
                  <a:pt x="8202893" y="1584794"/>
                </a:cubicBezTo>
                <a:lnTo>
                  <a:pt x="8202354" y="1591418"/>
                </a:lnTo>
                <a:cubicBezTo>
                  <a:pt x="8202185" y="1591423"/>
                  <a:pt x="8202016" y="1591427"/>
                  <a:pt x="8201849" y="1591480"/>
                </a:cubicBezTo>
                <a:cubicBezTo>
                  <a:pt x="8151573" y="1941574"/>
                  <a:pt x="7870534" y="2220146"/>
                  <a:pt x="7511683" y="2279078"/>
                </a:cubicBezTo>
                <a:lnTo>
                  <a:pt x="7511567" y="2280217"/>
                </a:lnTo>
                <a:cubicBezTo>
                  <a:pt x="7506256" y="2281220"/>
                  <a:pt x="7500927" y="2282161"/>
                  <a:pt x="7495350" y="2281745"/>
                </a:cubicBezTo>
                <a:cubicBezTo>
                  <a:pt x="7464178" y="2287255"/>
                  <a:pt x="7432298" y="2290213"/>
                  <a:pt x="7399924" y="2290736"/>
                </a:cubicBezTo>
                <a:lnTo>
                  <a:pt x="7382805" y="2292349"/>
                </a:lnTo>
                <a:lnTo>
                  <a:pt x="7382779" y="2291858"/>
                </a:lnTo>
                <a:lnTo>
                  <a:pt x="7382280" y="2291891"/>
                </a:lnTo>
                <a:cubicBezTo>
                  <a:pt x="7381714" y="2288119"/>
                  <a:pt x="7381687" y="2284333"/>
                  <a:pt x="7381687" y="2280541"/>
                </a:cubicBezTo>
                <a:cubicBezTo>
                  <a:pt x="7381687" y="2274903"/>
                  <a:pt x="7381746" y="2269279"/>
                  <a:pt x="7383058" y="2263693"/>
                </a:cubicBezTo>
                <a:cubicBezTo>
                  <a:pt x="7383016" y="2232611"/>
                  <a:pt x="7385465" y="2201969"/>
                  <a:pt x="7390522" y="2171962"/>
                </a:cubicBezTo>
                <a:lnTo>
                  <a:pt x="7391062" y="2165325"/>
                </a:lnTo>
                <a:cubicBezTo>
                  <a:pt x="7391231" y="2165320"/>
                  <a:pt x="7391400" y="2165315"/>
                  <a:pt x="7391568" y="2165262"/>
                </a:cubicBezTo>
                <a:cubicBezTo>
                  <a:pt x="7441844" y="1815167"/>
                  <a:pt x="7722883" y="1536596"/>
                  <a:pt x="8081734" y="1477664"/>
                </a:cubicBezTo>
                <a:lnTo>
                  <a:pt x="8081851" y="1476525"/>
                </a:lnTo>
                <a:cubicBezTo>
                  <a:pt x="8087159" y="1475523"/>
                  <a:pt x="8092487" y="1474582"/>
                  <a:pt x="8098063" y="1474998"/>
                </a:cubicBezTo>
                <a:cubicBezTo>
                  <a:pt x="8129247" y="1469485"/>
                  <a:pt x="8161139" y="1466527"/>
                  <a:pt x="8193525" y="1466004"/>
                </a:cubicBezTo>
                <a:close/>
                <a:moveTo>
                  <a:pt x="6532249" y="1464394"/>
                </a:moveTo>
                <a:lnTo>
                  <a:pt x="6549337" y="1466004"/>
                </a:lnTo>
                <a:cubicBezTo>
                  <a:pt x="6581722" y="1466527"/>
                  <a:pt x="6613615" y="1469485"/>
                  <a:pt x="6644798" y="1474998"/>
                </a:cubicBezTo>
                <a:cubicBezTo>
                  <a:pt x="6650374" y="1474582"/>
                  <a:pt x="6655702" y="1475523"/>
                  <a:pt x="6661011" y="1476525"/>
                </a:cubicBezTo>
                <a:lnTo>
                  <a:pt x="6661128" y="1477664"/>
                </a:lnTo>
                <a:cubicBezTo>
                  <a:pt x="7019978" y="1536596"/>
                  <a:pt x="7301017" y="1815167"/>
                  <a:pt x="7351294" y="2165262"/>
                </a:cubicBezTo>
                <a:cubicBezTo>
                  <a:pt x="7351461" y="2165315"/>
                  <a:pt x="7351631" y="2165320"/>
                  <a:pt x="7351799" y="2165325"/>
                </a:cubicBezTo>
                <a:lnTo>
                  <a:pt x="7352340" y="2171962"/>
                </a:lnTo>
                <a:cubicBezTo>
                  <a:pt x="7357396" y="2201969"/>
                  <a:pt x="7359846" y="2232611"/>
                  <a:pt x="7359804" y="2263693"/>
                </a:cubicBezTo>
                <a:cubicBezTo>
                  <a:pt x="7361116" y="2269279"/>
                  <a:pt x="7361174" y="2274903"/>
                  <a:pt x="7361174" y="2280541"/>
                </a:cubicBezTo>
                <a:cubicBezTo>
                  <a:pt x="7361174" y="2284333"/>
                  <a:pt x="7361147" y="2288119"/>
                  <a:pt x="7360581" y="2291891"/>
                </a:cubicBezTo>
                <a:lnTo>
                  <a:pt x="7360082" y="2291858"/>
                </a:lnTo>
                <a:lnTo>
                  <a:pt x="7360056" y="2292349"/>
                </a:lnTo>
                <a:lnTo>
                  <a:pt x="7342938" y="2290736"/>
                </a:lnTo>
                <a:cubicBezTo>
                  <a:pt x="7310564" y="2290213"/>
                  <a:pt x="7278683" y="2287255"/>
                  <a:pt x="7247511" y="2281745"/>
                </a:cubicBezTo>
                <a:cubicBezTo>
                  <a:pt x="7241934" y="2282161"/>
                  <a:pt x="7236605" y="2281220"/>
                  <a:pt x="7231295" y="2280217"/>
                </a:cubicBezTo>
                <a:lnTo>
                  <a:pt x="7231179" y="2279078"/>
                </a:lnTo>
                <a:cubicBezTo>
                  <a:pt x="6872327" y="2220146"/>
                  <a:pt x="6591288" y="1941574"/>
                  <a:pt x="6541013" y="1591480"/>
                </a:cubicBezTo>
                <a:cubicBezTo>
                  <a:pt x="6540845" y="1591427"/>
                  <a:pt x="6540677" y="1591423"/>
                  <a:pt x="6540507" y="1591418"/>
                </a:cubicBezTo>
                <a:lnTo>
                  <a:pt x="6539969" y="1584794"/>
                </a:lnTo>
                <a:cubicBezTo>
                  <a:pt x="6534910" y="1554782"/>
                  <a:pt x="6532460" y="1524133"/>
                  <a:pt x="6532502" y="1493044"/>
                </a:cubicBezTo>
                <a:cubicBezTo>
                  <a:pt x="6531190" y="1487460"/>
                  <a:pt x="6531131" y="1481838"/>
                  <a:pt x="6531131" y="1476202"/>
                </a:cubicBezTo>
                <a:lnTo>
                  <a:pt x="6531725" y="1464852"/>
                </a:lnTo>
                <a:lnTo>
                  <a:pt x="6532223" y="1464884"/>
                </a:lnTo>
                <a:close/>
                <a:moveTo>
                  <a:pt x="6518461" y="1464394"/>
                </a:moveTo>
                <a:lnTo>
                  <a:pt x="6518487" y="1464884"/>
                </a:lnTo>
                <a:lnTo>
                  <a:pt x="6518985" y="1464852"/>
                </a:lnTo>
                <a:lnTo>
                  <a:pt x="6519579" y="1476202"/>
                </a:lnTo>
                <a:cubicBezTo>
                  <a:pt x="6519579" y="1481838"/>
                  <a:pt x="6519520" y="1487460"/>
                  <a:pt x="6518208" y="1493044"/>
                </a:cubicBezTo>
                <a:cubicBezTo>
                  <a:pt x="6518250" y="1524133"/>
                  <a:pt x="6515800" y="1554782"/>
                  <a:pt x="6510741" y="1584794"/>
                </a:cubicBezTo>
                <a:lnTo>
                  <a:pt x="6510203" y="1591418"/>
                </a:lnTo>
                <a:cubicBezTo>
                  <a:pt x="6510033" y="1591423"/>
                  <a:pt x="6509865" y="1591427"/>
                  <a:pt x="6509697" y="1591480"/>
                </a:cubicBezTo>
                <a:cubicBezTo>
                  <a:pt x="6459422" y="1941574"/>
                  <a:pt x="6178383" y="2220146"/>
                  <a:pt x="5819531" y="2279078"/>
                </a:cubicBezTo>
                <a:lnTo>
                  <a:pt x="5819415" y="2280217"/>
                </a:lnTo>
                <a:cubicBezTo>
                  <a:pt x="5814105" y="2281220"/>
                  <a:pt x="5808776" y="2282161"/>
                  <a:pt x="5803199" y="2281745"/>
                </a:cubicBezTo>
                <a:cubicBezTo>
                  <a:pt x="5772027" y="2287255"/>
                  <a:pt x="5740146" y="2290213"/>
                  <a:pt x="5707772" y="2290736"/>
                </a:cubicBezTo>
                <a:lnTo>
                  <a:pt x="5690654" y="2292349"/>
                </a:lnTo>
                <a:lnTo>
                  <a:pt x="5690628" y="2291858"/>
                </a:lnTo>
                <a:lnTo>
                  <a:pt x="5690129" y="2291891"/>
                </a:lnTo>
                <a:cubicBezTo>
                  <a:pt x="5689563" y="2288119"/>
                  <a:pt x="5689536" y="2284333"/>
                  <a:pt x="5689536" y="2280541"/>
                </a:cubicBezTo>
                <a:cubicBezTo>
                  <a:pt x="5689536" y="2274903"/>
                  <a:pt x="5689594" y="2269279"/>
                  <a:pt x="5690906" y="2263693"/>
                </a:cubicBezTo>
                <a:cubicBezTo>
                  <a:pt x="5690864" y="2232611"/>
                  <a:pt x="5693314" y="2201969"/>
                  <a:pt x="5698370" y="2171962"/>
                </a:cubicBezTo>
                <a:lnTo>
                  <a:pt x="5698911" y="2165325"/>
                </a:lnTo>
                <a:cubicBezTo>
                  <a:pt x="5699079" y="2165320"/>
                  <a:pt x="5699249" y="2165315"/>
                  <a:pt x="5699416" y="2165262"/>
                </a:cubicBezTo>
                <a:cubicBezTo>
                  <a:pt x="5749693" y="1815167"/>
                  <a:pt x="6030732" y="1536596"/>
                  <a:pt x="6389582" y="1477664"/>
                </a:cubicBezTo>
                <a:lnTo>
                  <a:pt x="6389699" y="1476525"/>
                </a:lnTo>
                <a:cubicBezTo>
                  <a:pt x="6395008" y="1475523"/>
                  <a:pt x="6400336" y="1474582"/>
                  <a:pt x="6405912" y="1474998"/>
                </a:cubicBezTo>
                <a:cubicBezTo>
                  <a:pt x="6437095" y="1469485"/>
                  <a:pt x="6468988" y="1466527"/>
                  <a:pt x="6501373" y="1466004"/>
                </a:cubicBezTo>
                <a:close/>
                <a:moveTo>
                  <a:pt x="4840098" y="1464394"/>
                </a:moveTo>
                <a:lnTo>
                  <a:pt x="4857185" y="1466004"/>
                </a:lnTo>
                <a:cubicBezTo>
                  <a:pt x="4889571" y="1466527"/>
                  <a:pt x="4921463" y="1469485"/>
                  <a:pt x="4952647" y="1474998"/>
                </a:cubicBezTo>
                <a:cubicBezTo>
                  <a:pt x="4958223" y="1474582"/>
                  <a:pt x="4963551" y="1475523"/>
                  <a:pt x="4968859" y="1476525"/>
                </a:cubicBezTo>
                <a:lnTo>
                  <a:pt x="4968976" y="1477664"/>
                </a:lnTo>
                <a:cubicBezTo>
                  <a:pt x="5327827" y="1536596"/>
                  <a:pt x="5608866" y="1815167"/>
                  <a:pt x="5659142" y="2165262"/>
                </a:cubicBezTo>
                <a:cubicBezTo>
                  <a:pt x="5659310" y="2165315"/>
                  <a:pt x="5659479" y="2165320"/>
                  <a:pt x="5659648" y="2165325"/>
                </a:cubicBezTo>
                <a:lnTo>
                  <a:pt x="5660188" y="2171962"/>
                </a:lnTo>
                <a:cubicBezTo>
                  <a:pt x="5665245" y="2201969"/>
                  <a:pt x="5667694" y="2232611"/>
                  <a:pt x="5667652" y="2263693"/>
                </a:cubicBezTo>
                <a:cubicBezTo>
                  <a:pt x="5668964" y="2269279"/>
                  <a:pt x="5669023" y="2274903"/>
                  <a:pt x="5669023" y="2280541"/>
                </a:cubicBezTo>
                <a:cubicBezTo>
                  <a:pt x="5669023" y="2284333"/>
                  <a:pt x="5668996" y="2288119"/>
                  <a:pt x="5668430" y="2291891"/>
                </a:cubicBezTo>
                <a:lnTo>
                  <a:pt x="5667931" y="2291858"/>
                </a:lnTo>
                <a:lnTo>
                  <a:pt x="5667905" y="2292349"/>
                </a:lnTo>
                <a:lnTo>
                  <a:pt x="5650786" y="2290736"/>
                </a:lnTo>
                <a:cubicBezTo>
                  <a:pt x="5618412" y="2290213"/>
                  <a:pt x="5586532" y="2287255"/>
                  <a:pt x="5555360" y="2281745"/>
                </a:cubicBezTo>
                <a:cubicBezTo>
                  <a:pt x="5549783" y="2282161"/>
                  <a:pt x="5544454" y="2281220"/>
                  <a:pt x="5539143" y="2280217"/>
                </a:cubicBezTo>
                <a:lnTo>
                  <a:pt x="5539027" y="2279078"/>
                </a:lnTo>
                <a:cubicBezTo>
                  <a:pt x="5180176" y="2220146"/>
                  <a:pt x="4899137" y="1941574"/>
                  <a:pt x="4848861" y="1591480"/>
                </a:cubicBezTo>
                <a:cubicBezTo>
                  <a:pt x="4848694" y="1591427"/>
                  <a:pt x="4848525" y="1591423"/>
                  <a:pt x="4848356" y="1591418"/>
                </a:cubicBezTo>
                <a:lnTo>
                  <a:pt x="4847817" y="1584794"/>
                </a:lnTo>
                <a:cubicBezTo>
                  <a:pt x="4842759" y="1554782"/>
                  <a:pt x="4840308" y="1524133"/>
                  <a:pt x="4840350" y="1493044"/>
                </a:cubicBezTo>
                <a:cubicBezTo>
                  <a:pt x="4839038" y="1487460"/>
                  <a:pt x="4838980" y="1481838"/>
                  <a:pt x="4838980" y="1476202"/>
                </a:cubicBezTo>
                <a:lnTo>
                  <a:pt x="4839574" y="1464852"/>
                </a:lnTo>
                <a:lnTo>
                  <a:pt x="4840072" y="1464884"/>
                </a:lnTo>
                <a:close/>
                <a:moveTo>
                  <a:pt x="4826310" y="1464394"/>
                </a:moveTo>
                <a:lnTo>
                  <a:pt x="4826336" y="1464884"/>
                </a:lnTo>
                <a:lnTo>
                  <a:pt x="4826834" y="1464852"/>
                </a:lnTo>
                <a:lnTo>
                  <a:pt x="4827428" y="1476202"/>
                </a:lnTo>
                <a:cubicBezTo>
                  <a:pt x="4827428" y="1481838"/>
                  <a:pt x="4827369" y="1487460"/>
                  <a:pt x="4826057" y="1493044"/>
                </a:cubicBezTo>
                <a:cubicBezTo>
                  <a:pt x="4826099" y="1524133"/>
                  <a:pt x="4823649" y="1554782"/>
                  <a:pt x="4818590" y="1584794"/>
                </a:cubicBezTo>
                <a:lnTo>
                  <a:pt x="4818052" y="1591418"/>
                </a:lnTo>
                <a:cubicBezTo>
                  <a:pt x="4817882" y="1591423"/>
                  <a:pt x="4817714" y="1591427"/>
                  <a:pt x="4817546" y="1591480"/>
                </a:cubicBezTo>
                <a:cubicBezTo>
                  <a:pt x="4767271" y="1941574"/>
                  <a:pt x="4486232" y="2220146"/>
                  <a:pt x="4127381" y="2279078"/>
                </a:cubicBezTo>
                <a:lnTo>
                  <a:pt x="4127264" y="2280217"/>
                </a:lnTo>
                <a:cubicBezTo>
                  <a:pt x="4121954" y="2281220"/>
                  <a:pt x="4116625" y="2282161"/>
                  <a:pt x="4111048" y="2281745"/>
                </a:cubicBezTo>
                <a:cubicBezTo>
                  <a:pt x="4079876" y="2287255"/>
                  <a:pt x="4047996" y="2290213"/>
                  <a:pt x="4015621" y="2290736"/>
                </a:cubicBezTo>
                <a:lnTo>
                  <a:pt x="3998503" y="2292349"/>
                </a:lnTo>
                <a:lnTo>
                  <a:pt x="3998477" y="2291858"/>
                </a:lnTo>
                <a:lnTo>
                  <a:pt x="3997978" y="2291891"/>
                </a:lnTo>
                <a:cubicBezTo>
                  <a:pt x="3997412" y="2288119"/>
                  <a:pt x="3997385" y="2284333"/>
                  <a:pt x="3997385" y="2280541"/>
                </a:cubicBezTo>
                <a:cubicBezTo>
                  <a:pt x="3997385" y="2274903"/>
                  <a:pt x="3997443" y="2269279"/>
                  <a:pt x="3998755" y="2263693"/>
                </a:cubicBezTo>
                <a:cubicBezTo>
                  <a:pt x="3998713" y="2232611"/>
                  <a:pt x="4001163" y="2201969"/>
                  <a:pt x="4006219" y="2171962"/>
                </a:cubicBezTo>
                <a:lnTo>
                  <a:pt x="4006760" y="2165325"/>
                </a:lnTo>
                <a:cubicBezTo>
                  <a:pt x="4006928" y="2165320"/>
                  <a:pt x="4007098" y="2165315"/>
                  <a:pt x="4007265" y="2165262"/>
                </a:cubicBezTo>
                <a:cubicBezTo>
                  <a:pt x="4057542" y="1815167"/>
                  <a:pt x="4338581" y="1536596"/>
                  <a:pt x="4697431" y="1477664"/>
                </a:cubicBezTo>
                <a:lnTo>
                  <a:pt x="4697548" y="1476525"/>
                </a:lnTo>
                <a:cubicBezTo>
                  <a:pt x="4702857" y="1475523"/>
                  <a:pt x="4708185" y="1474582"/>
                  <a:pt x="4713761" y="1474998"/>
                </a:cubicBezTo>
                <a:cubicBezTo>
                  <a:pt x="4744944" y="1469485"/>
                  <a:pt x="4776837" y="1466527"/>
                  <a:pt x="4809222" y="1466004"/>
                </a:cubicBezTo>
                <a:close/>
                <a:moveTo>
                  <a:pt x="3147947" y="1464394"/>
                </a:moveTo>
                <a:lnTo>
                  <a:pt x="3165034" y="1466004"/>
                </a:lnTo>
                <a:cubicBezTo>
                  <a:pt x="3197420" y="1466527"/>
                  <a:pt x="3229312" y="1469485"/>
                  <a:pt x="3260496" y="1474998"/>
                </a:cubicBezTo>
                <a:cubicBezTo>
                  <a:pt x="3266072" y="1474582"/>
                  <a:pt x="3271400" y="1475523"/>
                  <a:pt x="3276708" y="1476525"/>
                </a:cubicBezTo>
                <a:lnTo>
                  <a:pt x="3276826" y="1477664"/>
                </a:lnTo>
                <a:cubicBezTo>
                  <a:pt x="3635676" y="1536596"/>
                  <a:pt x="3916715" y="1815167"/>
                  <a:pt x="3966991" y="2165262"/>
                </a:cubicBezTo>
                <a:cubicBezTo>
                  <a:pt x="3967159" y="2165315"/>
                  <a:pt x="3967328" y="2165320"/>
                  <a:pt x="3967497" y="2165325"/>
                </a:cubicBezTo>
                <a:lnTo>
                  <a:pt x="3968037" y="2171962"/>
                </a:lnTo>
                <a:cubicBezTo>
                  <a:pt x="3973094" y="2201969"/>
                  <a:pt x="3975543" y="2232611"/>
                  <a:pt x="3975501" y="2263693"/>
                </a:cubicBezTo>
                <a:cubicBezTo>
                  <a:pt x="3976813" y="2269279"/>
                  <a:pt x="3976872" y="2274903"/>
                  <a:pt x="3976872" y="2280541"/>
                </a:cubicBezTo>
                <a:cubicBezTo>
                  <a:pt x="3976872" y="2284333"/>
                  <a:pt x="3976845" y="2288119"/>
                  <a:pt x="3976279" y="2291891"/>
                </a:cubicBezTo>
                <a:lnTo>
                  <a:pt x="3975780" y="2291858"/>
                </a:lnTo>
                <a:lnTo>
                  <a:pt x="3975754" y="2292349"/>
                </a:lnTo>
                <a:lnTo>
                  <a:pt x="3958635" y="2290736"/>
                </a:lnTo>
                <a:cubicBezTo>
                  <a:pt x="3926261" y="2290213"/>
                  <a:pt x="3894381" y="2287255"/>
                  <a:pt x="3863209" y="2281745"/>
                </a:cubicBezTo>
                <a:cubicBezTo>
                  <a:pt x="3857632" y="2282161"/>
                  <a:pt x="3852303" y="2281220"/>
                  <a:pt x="3846992" y="2280217"/>
                </a:cubicBezTo>
                <a:lnTo>
                  <a:pt x="3846876" y="2279078"/>
                </a:lnTo>
                <a:cubicBezTo>
                  <a:pt x="3488025" y="2220146"/>
                  <a:pt x="3206986" y="1941574"/>
                  <a:pt x="3156710" y="1591480"/>
                </a:cubicBezTo>
                <a:cubicBezTo>
                  <a:pt x="3156543" y="1591427"/>
                  <a:pt x="3156374" y="1591423"/>
                  <a:pt x="3156205" y="1591418"/>
                </a:cubicBezTo>
                <a:lnTo>
                  <a:pt x="3155667" y="1584794"/>
                </a:lnTo>
                <a:cubicBezTo>
                  <a:pt x="3150608" y="1554782"/>
                  <a:pt x="3148157" y="1524133"/>
                  <a:pt x="3148199" y="1493044"/>
                </a:cubicBezTo>
                <a:cubicBezTo>
                  <a:pt x="3146887" y="1487460"/>
                  <a:pt x="3146829" y="1481838"/>
                  <a:pt x="3146829" y="1476202"/>
                </a:cubicBezTo>
                <a:lnTo>
                  <a:pt x="3147423" y="1464852"/>
                </a:lnTo>
                <a:lnTo>
                  <a:pt x="3147921" y="1464884"/>
                </a:lnTo>
                <a:close/>
                <a:moveTo>
                  <a:pt x="3134159" y="1464394"/>
                </a:moveTo>
                <a:lnTo>
                  <a:pt x="3134185" y="1464884"/>
                </a:lnTo>
                <a:lnTo>
                  <a:pt x="3134683" y="1464852"/>
                </a:lnTo>
                <a:lnTo>
                  <a:pt x="3135277" y="1476202"/>
                </a:lnTo>
                <a:cubicBezTo>
                  <a:pt x="3135277" y="1481838"/>
                  <a:pt x="3135218" y="1487460"/>
                  <a:pt x="3133906" y="1493044"/>
                </a:cubicBezTo>
                <a:cubicBezTo>
                  <a:pt x="3133948" y="1524133"/>
                  <a:pt x="3131498" y="1554782"/>
                  <a:pt x="3126439" y="1584794"/>
                </a:cubicBezTo>
                <a:lnTo>
                  <a:pt x="3125901" y="1591418"/>
                </a:lnTo>
                <a:cubicBezTo>
                  <a:pt x="3125731" y="1591423"/>
                  <a:pt x="3125563" y="1591427"/>
                  <a:pt x="3125395" y="1591480"/>
                </a:cubicBezTo>
                <a:cubicBezTo>
                  <a:pt x="3075120" y="1941574"/>
                  <a:pt x="2794081" y="2220146"/>
                  <a:pt x="2435230" y="2279078"/>
                </a:cubicBezTo>
                <a:lnTo>
                  <a:pt x="2435113" y="2280217"/>
                </a:lnTo>
                <a:cubicBezTo>
                  <a:pt x="2429803" y="2281220"/>
                  <a:pt x="2424474" y="2282161"/>
                  <a:pt x="2418897" y="2281745"/>
                </a:cubicBezTo>
                <a:cubicBezTo>
                  <a:pt x="2387725" y="2287255"/>
                  <a:pt x="2355845" y="2290213"/>
                  <a:pt x="2323470" y="2290736"/>
                </a:cubicBezTo>
                <a:lnTo>
                  <a:pt x="2306352" y="2292349"/>
                </a:lnTo>
                <a:lnTo>
                  <a:pt x="2306326" y="2291858"/>
                </a:lnTo>
                <a:lnTo>
                  <a:pt x="2305827" y="2291891"/>
                </a:lnTo>
                <a:cubicBezTo>
                  <a:pt x="2305261" y="2288119"/>
                  <a:pt x="2305234" y="2284333"/>
                  <a:pt x="2305234" y="2280541"/>
                </a:cubicBezTo>
                <a:cubicBezTo>
                  <a:pt x="2305234" y="2274903"/>
                  <a:pt x="2305292" y="2269279"/>
                  <a:pt x="2306604" y="2263693"/>
                </a:cubicBezTo>
                <a:cubicBezTo>
                  <a:pt x="2306562" y="2232611"/>
                  <a:pt x="2309012" y="2201969"/>
                  <a:pt x="2314068" y="2171962"/>
                </a:cubicBezTo>
                <a:lnTo>
                  <a:pt x="2314609" y="2165325"/>
                </a:lnTo>
                <a:cubicBezTo>
                  <a:pt x="2314777" y="2165320"/>
                  <a:pt x="2314947" y="2165315"/>
                  <a:pt x="2315114" y="2165262"/>
                </a:cubicBezTo>
                <a:cubicBezTo>
                  <a:pt x="2365391" y="1815167"/>
                  <a:pt x="2646430" y="1536596"/>
                  <a:pt x="3005280" y="1477664"/>
                </a:cubicBezTo>
                <a:lnTo>
                  <a:pt x="3005397" y="1476525"/>
                </a:lnTo>
                <a:cubicBezTo>
                  <a:pt x="3010706" y="1475523"/>
                  <a:pt x="3016034" y="1474582"/>
                  <a:pt x="3021610" y="1474998"/>
                </a:cubicBezTo>
                <a:cubicBezTo>
                  <a:pt x="3052793" y="1469485"/>
                  <a:pt x="3084686" y="1466527"/>
                  <a:pt x="3117071" y="1466004"/>
                </a:cubicBezTo>
                <a:close/>
                <a:moveTo>
                  <a:pt x="1455796" y="1464394"/>
                </a:moveTo>
                <a:lnTo>
                  <a:pt x="1472883" y="1466004"/>
                </a:lnTo>
                <a:cubicBezTo>
                  <a:pt x="1505269" y="1466527"/>
                  <a:pt x="1537161" y="1469485"/>
                  <a:pt x="1568345" y="1474998"/>
                </a:cubicBezTo>
                <a:cubicBezTo>
                  <a:pt x="1573921" y="1474582"/>
                  <a:pt x="1579249" y="1475523"/>
                  <a:pt x="1584557" y="1476525"/>
                </a:cubicBezTo>
                <a:lnTo>
                  <a:pt x="1584675" y="1477664"/>
                </a:lnTo>
                <a:cubicBezTo>
                  <a:pt x="1943525" y="1536596"/>
                  <a:pt x="2224564" y="1815167"/>
                  <a:pt x="2274840" y="2165262"/>
                </a:cubicBezTo>
                <a:cubicBezTo>
                  <a:pt x="2275008" y="2165315"/>
                  <a:pt x="2275177" y="2165320"/>
                  <a:pt x="2275346" y="2165325"/>
                </a:cubicBezTo>
                <a:lnTo>
                  <a:pt x="2275886" y="2171962"/>
                </a:lnTo>
                <a:cubicBezTo>
                  <a:pt x="2280943" y="2201969"/>
                  <a:pt x="2283392" y="2232611"/>
                  <a:pt x="2283350" y="2263693"/>
                </a:cubicBezTo>
                <a:cubicBezTo>
                  <a:pt x="2284662" y="2269279"/>
                  <a:pt x="2284721" y="2274903"/>
                  <a:pt x="2284721" y="2280541"/>
                </a:cubicBezTo>
                <a:cubicBezTo>
                  <a:pt x="2284721" y="2284333"/>
                  <a:pt x="2284694" y="2288119"/>
                  <a:pt x="2284128" y="2291891"/>
                </a:cubicBezTo>
                <a:lnTo>
                  <a:pt x="2283629" y="2291858"/>
                </a:lnTo>
                <a:lnTo>
                  <a:pt x="2283603" y="2292349"/>
                </a:lnTo>
                <a:lnTo>
                  <a:pt x="2266484" y="2290736"/>
                </a:lnTo>
                <a:cubicBezTo>
                  <a:pt x="2234110" y="2290213"/>
                  <a:pt x="2202230" y="2287255"/>
                  <a:pt x="2171058" y="2281745"/>
                </a:cubicBezTo>
                <a:cubicBezTo>
                  <a:pt x="2165481" y="2282161"/>
                  <a:pt x="2160152" y="2281220"/>
                  <a:pt x="2154841" y="2280217"/>
                </a:cubicBezTo>
                <a:lnTo>
                  <a:pt x="2154725" y="2279078"/>
                </a:lnTo>
                <a:cubicBezTo>
                  <a:pt x="1795874" y="2220146"/>
                  <a:pt x="1514835" y="1941574"/>
                  <a:pt x="1464559" y="1591480"/>
                </a:cubicBezTo>
                <a:cubicBezTo>
                  <a:pt x="1464392" y="1591427"/>
                  <a:pt x="1464223" y="1591423"/>
                  <a:pt x="1464054" y="1591418"/>
                </a:cubicBezTo>
                <a:lnTo>
                  <a:pt x="1463515" y="1584794"/>
                </a:lnTo>
                <a:cubicBezTo>
                  <a:pt x="1458457" y="1554782"/>
                  <a:pt x="1456006" y="1524133"/>
                  <a:pt x="1456048" y="1493044"/>
                </a:cubicBezTo>
                <a:cubicBezTo>
                  <a:pt x="1454736" y="1487460"/>
                  <a:pt x="1454678" y="1481838"/>
                  <a:pt x="1454678" y="1476202"/>
                </a:cubicBezTo>
                <a:lnTo>
                  <a:pt x="1455272" y="1464852"/>
                </a:lnTo>
                <a:lnTo>
                  <a:pt x="1455770" y="1464884"/>
                </a:lnTo>
                <a:close/>
                <a:moveTo>
                  <a:pt x="1442008" y="1464394"/>
                </a:moveTo>
                <a:lnTo>
                  <a:pt x="1442034" y="1464884"/>
                </a:lnTo>
                <a:lnTo>
                  <a:pt x="1442532" y="1464852"/>
                </a:lnTo>
                <a:lnTo>
                  <a:pt x="1443126" y="1476202"/>
                </a:lnTo>
                <a:cubicBezTo>
                  <a:pt x="1443126" y="1481838"/>
                  <a:pt x="1443067" y="1487460"/>
                  <a:pt x="1441755" y="1493044"/>
                </a:cubicBezTo>
                <a:cubicBezTo>
                  <a:pt x="1441797" y="1524133"/>
                  <a:pt x="1439347" y="1554782"/>
                  <a:pt x="1434288" y="1584794"/>
                </a:cubicBezTo>
                <a:lnTo>
                  <a:pt x="1433750" y="1591418"/>
                </a:lnTo>
                <a:cubicBezTo>
                  <a:pt x="1433580" y="1591423"/>
                  <a:pt x="1433412" y="1591427"/>
                  <a:pt x="1433244" y="1591480"/>
                </a:cubicBezTo>
                <a:cubicBezTo>
                  <a:pt x="1382969" y="1941574"/>
                  <a:pt x="1101930" y="2220146"/>
                  <a:pt x="743079" y="2279078"/>
                </a:cubicBezTo>
                <a:lnTo>
                  <a:pt x="742962" y="2280217"/>
                </a:lnTo>
                <a:cubicBezTo>
                  <a:pt x="737652" y="2281220"/>
                  <a:pt x="732323" y="2282161"/>
                  <a:pt x="726746" y="2281745"/>
                </a:cubicBezTo>
                <a:cubicBezTo>
                  <a:pt x="695574" y="2287255"/>
                  <a:pt x="663693" y="2290213"/>
                  <a:pt x="631319" y="2290736"/>
                </a:cubicBezTo>
                <a:lnTo>
                  <a:pt x="614201" y="2292349"/>
                </a:lnTo>
                <a:lnTo>
                  <a:pt x="614175" y="2291858"/>
                </a:lnTo>
                <a:lnTo>
                  <a:pt x="613676" y="2291891"/>
                </a:lnTo>
                <a:cubicBezTo>
                  <a:pt x="613110" y="2288119"/>
                  <a:pt x="613083" y="2284333"/>
                  <a:pt x="613083" y="2280541"/>
                </a:cubicBezTo>
                <a:cubicBezTo>
                  <a:pt x="613083" y="2274903"/>
                  <a:pt x="613141" y="2269279"/>
                  <a:pt x="614453" y="2263693"/>
                </a:cubicBezTo>
                <a:cubicBezTo>
                  <a:pt x="614411" y="2232611"/>
                  <a:pt x="616861" y="2201969"/>
                  <a:pt x="621917" y="2171962"/>
                </a:cubicBezTo>
                <a:lnTo>
                  <a:pt x="622458" y="2165325"/>
                </a:lnTo>
                <a:cubicBezTo>
                  <a:pt x="622626" y="2165320"/>
                  <a:pt x="622796" y="2165315"/>
                  <a:pt x="622963" y="2165262"/>
                </a:cubicBezTo>
                <a:cubicBezTo>
                  <a:pt x="673240" y="1815167"/>
                  <a:pt x="954279" y="1536596"/>
                  <a:pt x="1313129" y="1477664"/>
                </a:cubicBezTo>
                <a:lnTo>
                  <a:pt x="1313246" y="1476525"/>
                </a:lnTo>
                <a:cubicBezTo>
                  <a:pt x="1318555" y="1475523"/>
                  <a:pt x="1323883" y="1474582"/>
                  <a:pt x="1329459" y="1474998"/>
                </a:cubicBezTo>
                <a:cubicBezTo>
                  <a:pt x="1360642" y="1469485"/>
                  <a:pt x="1392535" y="1466527"/>
                  <a:pt x="1424920" y="1466004"/>
                </a:cubicBezTo>
                <a:close/>
                <a:moveTo>
                  <a:pt x="10909360" y="750600"/>
                </a:moveTo>
                <a:cubicBezTo>
                  <a:pt x="10962636" y="1021506"/>
                  <a:pt x="11177479" y="1236303"/>
                  <a:pt x="11452669" y="1295446"/>
                </a:cubicBezTo>
                <a:cubicBezTo>
                  <a:pt x="11399394" y="1024540"/>
                  <a:pt x="11184550" y="809743"/>
                  <a:pt x="10909360" y="750600"/>
                </a:cubicBezTo>
                <a:close/>
                <a:moveTo>
                  <a:pt x="10602109" y="750600"/>
                </a:moveTo>
                <a:cubicBezTo>
                  <a:pt x="10326919" y="809743"/>
                  <a:pt x="10112075" y="1024540"/>
                  <a:pt x="10058800" y="1295446"/>
                </a:cubicBezTo>
                <a:cubicBezTo>
                  <a:pt x="10333990" y="1236303"/>
                  <a:pt x="10548833" y="1021506"/>
                  <a:pt x="10602109" y="750600"/>
                </a:cubicBezTo>
                <a:close/>
                <a:moveTo>
                  <a:pt x="9217207" y="750600"/>
                </a:moveTo>
                <a:cubicBezTo>
                  <a:pt x="9270483" y="1021506"/>
                  <a:pt x="9485326" y="1236303"/>
                  <a:pt x="9760516" y="1295446"/>
                </a:cubicBezTo>
                <a:cubicBezTo>
                  <a:pt x="9707241" y="1024540"/>
                  <a:pt x="9492397" y="809743"/>
                  <a:pt x="9217207" y="750600"/>
                </a:cubicBezTo>
                <a:close/>
                <a:moveTo>
                  <a:pt x="8909958" y="750600"/>
                </a:moveTo>
                <a:cubicBezTo>
                  <a:pt x="8634768" y="809743"/>
                  <a:pt x="8419924" y="1024540"/>
                  <a:pt x="8366649" y="1295446"/>
                </a:cubicBezTo>
                <a:cubicBezTo>
                  <a:pt x="8641839" y="1236303"/>
                  <a:pt x="8856682" y="1021506"/>
                  <a:pt x="8909958" y="750600"/>
                </a:cubicBezTo>
                <a:close/>
                <a:moveTo>
                  <a:pt x="7525056" y="750600"/>
                </a:moveTo>
                <a:cubicBezTo>
                  <a:pt x="7578332" y="1021506"/>
                  <a:pt x="7793175" y="1236303"/>
                  <a:pt x="8068365" y="1295446"/>
                </a:cubicBezTo>
                <a:cubicBezTo>
                  <a:pt x="8015090" y="1024540"/>
                  <a:pt x="7800246" y="809743"/>
                  <a:pt x="7525056" y="750600"/>
                </a:cubicBezTo>
                <a:close/>
                <a:moveTo>
                  <a:pt x="7217807" y="750600"/>
                </a:moveTo>
                <a:cubicBezTo>
                  <a:pt x="6942617" y="809743"/>
                  <a:pt x="6727773" y="1024540"/>
                  <a:pt x="6674498" y="1295446"/>
                </a:cubicBezTo>
                <a:cubicBezTo>
                  <a:pt x="6949688" y="1236303"/>
                  <a:pt x="7164531" y="1021506"/>
                  <a:pt x="7217807" y="750600"/>
                </a:cubicBezTo>
                <a:close/>
                <a:moveTo>
                  <a:pt x="5832905" y="750600"/>
                </a:moveTo>
                <a:cubicBezTo>
                  <a:pt x="5886181" y="1021506"/>
                  <a:pt x="6101024" y="1236303"/>
                  <a:pt x="6376214" y="1295446"/>
                </a:cubicBezTo>
                <a:cubicBezTo>
                  <a:pt x="6322939" y="1024540"/>
                  <a:pt x="6108095" y="809743"/>
                  <a:pt x="5832905" y="750600"/>
                </a:cubicBezTo>
                <a:close/>
                <a:moveTo>
                  <a:pt x="5525656" y="750600"/>
                </a:moveTo>
                <a:cubicBezTo>
                  <a:pt x="5250466" y="809743"/>
                  <a:pt x="5035622" y="1024540"/>
                  <a:pt x="4982347" y="1295446"/>
                </a:cubicBezTo>
                <a:cubicBezTo>
                  <a:pt x="5257537" y="1236303"/>
                  <a:pt x="5472380" y="1021506"/>
                  <a:pt x="5525656" y="750600"/>
                </a:cubicBezTo>
                <a:close/>
                <a:moveTo>
                  <a:pt x="4140754" y="750600"/>
                </a:moveTo>
                <a:cubicBezTo>
                  <a:pt x="4194030" y="1021506"/>
                  <a:pt x="4408873" y="1236303"/>
                  <a:pt x="4684063" y="1295446"/>
                </a:cubicBezTo>
                <a:cubicBezTo>
                  <a:pt x="4630788" y="1024540"/>
                  <a:pt x="4415944" y="809743"/>
                  <a:pt x="4140754" y="750600"/>
                </a:cubicBezTo>
                <a:close/>
                <a:moveTo>
                  <a:pt x="3833505" y="750600"/>
                </a:moveTo>
                <a:cubicBezTo>
                  <a:pt x="3558315" y="809743"/>
                  <a:pt x="3343471" y="1024540"/>
                  <a:pt x="3290196" y="1295446"/>
                </a:cubicBezTo>
                <a:cubicBezTo>
                  <a:pt x="3565386" y="1236303"/>
                  <a:pt x="3780229" y="1021506"/>
                  <a:pt x="3833505" y="750600"/>
                </a:cubicBezTo>
                <a:close/>
                <a:moveTo>
                  <a:pt x="2448603" y="750600"/>
                </a:moveTo>
                <a:cubicBezTo>
                  <a:pt x="2501879" y="1021506"/>
                  <a:pt x="2716722" y="1236303"/>
                  <a:pt x="2991912" y="1295446"/>
                </a:cubicBezTo>
                <a:cubicBezTo>
                  <a:pt x="2938637" y="1024540"/>
                  <a:pt x="2723793" y="809743"/>
                  <a:pt x="2448603" y="750600"/>
                </a:cubicBezTo>
                <a:close/>
                <a:moveTo>
                  <a:pt x="2141354" y="750600"/>
                </a:moveTo>
                <a:cubicBezTo>
                  <a:pt x="1866164" y="809743"/>
                  <a:pt x="1651320" y="1024540"/>
                  <a:pt x="1598045" y="1295446"/>
                </a:cubicBezTo>
                <a:cubicBezTo>
                  <a:pt x="1873235" y="1236303"/>
                  <a:pt x="2088078" y="1021506"/>
                  <a:pt x="2141354" y="750600"/>
                </a:cubicBezTo>
                <a:close/>
                <a:moveTo>
                  <a:pt x="756452" y="750600"/>
                </a:moveTo>
                <a:cubicBezTo>
                  <a:pt x="809728" y="1021506"/>
                  <a:pt x="1024571" y="1236303"/>
                  <a:pt x="1299761" y="1295446"/>
                </a:cubicBezTo>
                <a:cubicBezTo>
                  <a:pt x="1246486" y="1024540"/>
                  <a:pt x="1031642" y="809743"/>
                  <a:pt x="756452" y="750600"/>
                </a:cubicBezTo>
                <a:close/>
                <a:moveTo>
                  <a:pt x="12192000" y="647790"/>
                </a:moveTo>
                <a:lnTo>
                  <a:pt x="12192000" y="780838"/>
                </a:lnTo>
                <a:cubicBezTo>
                  <a:pt x="11966807" y="865550"/>
                  <a:pt x="11797421" y="1059155"/>
                  <a:pt x="11750953" y="1295446"/>
                </a:cubicBezTo>
                <a:cubicBezTo>
                  <a:pt x="11935988" y="1255679"/>
                  <a:pt x="12093739" y="1145540"/>
                  <a:pt x="12192000" y="994335"/>
                </a:cubicBezTo>
                <a:lnTo>
                  <a:pt x="12192000" y="1195909"/>
                </a:lnTo>
                <a:cubicBezTo>
                  <a:pt x="12071770" y="1314911"/>
                  <a:pt x="11914089" y="1397686"/>
                  <a:pt x="11737582" y="1426902"/>
                </a:cubicBezTo>
                <a:lnTo>
                  <a:pt x="11737466" y="1428050"/>
                </a:lnTo>
                <a:cubicBezTo>
                  <a:pt x="11732155" y="1429061"/>
                  <a:pt x="11726826" y="1430009"/>
                  <a:pt x="11721249" y="1429590"/>
                </a:cubicBezTo>
                <a:cubicBezTo>
                  <a:pt x="11690077" y="1435144"/>
                  <a:pt x="11658197" y="1438125"/>
                  <a:pt x="11625822" y="1438652"/>
                </a:cubicBezTo>
                <a:lnTo>
                  <a:pt x="11608704" y="1440278"/>
                </a:lnTo>
                <a:lnTo>
                  <a:pt x="11608678" y="1439783"/>
                </a:lnTo>
                <a:lnTo>
                  <a:pt x="11608179" y="1439816"/>
                </a:lnTo>
                <a:cubicBezTo>
                  <a:pt x="11607613" y="1436014"/>
                  <a:pt x="11607586" y="1432198"/>
                  <a:pt x="11607586" y="1428376"/>
                </a:cubicBezTo>
                <a:cubicBezTo>
                  <a:pt x="11607586" y="1422694"/>
                  <a:pt x="11607645" y="1417025"/>
                  <a:pt x="11608957" y="1411395"/>
                </a:cubicBezTo>
                <a:cubicBezTo>
                  <a:pt x="11608914" y="1380067"/>
                  <a:pt x="11611364" y="1349182"/>
                  <a:pt x="11616421" y="1318938"/>
                </a:cubicBezTo>
                <a:lnTo>
                  <a:pt x="11616961" y="1312248"/>
                </a:lnTo>
                <a:cubicBezTo>
                  <a:pt x="11617130" y="1312243"/>
                  <a:pt x="11617299" y="1312238"/>
                  <a:pt x="11617466" y="1312185"/>
                </a:cubicBezTo>
                <a:cubicBezTo>
                  <a:pt x="11662185" y="998329"/>
                  <a:pt x="11889463" y="741504"/>
                  <a:pt x="12192000" y="647790"/>
                </a:cubicBezTo>
                <a:close/>
                <a:moveTo>
                  <a:pt x="10767111" y="605769"/>
                </a:moveTo>
                <a:lnTo>
                  <a:pt x="10784198" y="607392"/>
                </a:lnTo>
                <a:cubicBezTo>
                  <a:pt x="10816584" y="607919"/>
                  <a:pt x="10848477" y="610900"/>
                  <a:pt x="10879660" y="616457"/>
                </a:cubicBezTo>
                <a:cubicBezTo>
                  <a:pt x="10885236" y="616038"/>
                  <a:pt x="10890564" y="616986"/>
                  <a:pt x="10895873" y="617996"/>
                </a:cubicBezTo>
                <a:lnTo>
                  <a:pt x="10895990" y="619144"/>
                </a:lnTo>
                <a:cubicBezTo>
                  <a:pt x="11254840" y="678542"/>
                  <a:pt x="11535879" y="959319"/>
                  <a:pt x="11586156" y="1312185"/>
                </a:cubicBezTo>
                <a:cubicBezTo>
                  <a:pt x="11586323" y="1312238"/>
                  <a:pt x="11586492" y="1312243"/>
                  <a:pt x="11586661" y="1312248"/>
                </a:cubicBezTo>
                <a:lnTo>
                  <a:pt x="11587201" y="1318938"/>
                </a:lnTo>
                <a:cubicBezTo>
                  <a:pt x="11592258" y="1349182"/>
                  <a:pt x="11594708" y="1380067"/>
                  <a:pt x="11594665" y="1411395"/>
                </a:cubicBezTo>
                <a:cubicBezTo>
                  <a:pt x="11595977" y="1417025"/>
                  <a:pt x="11596036" y="1422694"/>
                  <a:pt x="11596036" y="1428376"/>
                </a:cubicBezTo>
                <a:cubicBezTo>
                  <a:pt x="11596036" y="1432198"/>
                  <a:pt x="11596009" y="1436014"/>
                  <a:pt x="11595443" y="1439816"/>
                </a:cubicBezTo>
                <a:lnTo>
                  <a:pt x="11594944" y="1439783"/>
                </a:lnTo>
                <a:lnTo>
                  <a:pt x="11594918" y="1440278"/>
                </a:lnTo>
                <a:lnTo>
                  <a:pt x="11577800" y="1438652"/>
                </a:lnTo>
                <a:cubicBezTo>
                  <a:pt x="11545425" y="1438125"/>
                  <a:pt x="11513545" y="1435144"/>
                  <a:pt x="11482373" y="1429590"/>
                </a:cubicBezTo>
                <a:cubicBezTo>
                  <a:pt x="11476796" y="1430009"/>
                  <a:pt x="11471467" y="1429061"/>
                  <a:pt x="11466156" y="1428050"/>
                </a:cubicBezTo>
                <a:lnTo>
                  <a:pt x="11466040" y="1426902"/>
                </a:lnTo>
                <a:cubicBezTo>
                  <a:pt x="11107189" y="1367503"/>
                  <a:pt x="10826150" y="1086726"/>
                  <a:pt x="10775875" y="733861"/>
                </a:cubicBezTo>
                <a:cubicBezTo>
                  <a:pt x="10775707" y="733808"/>
                  <a:pt x="10775539" y="733803"/>
                  <a:pt x="10775369" y="733798"/>
                </a:cubicBezTo>
                <a:lnTo>
                  <a:pt x="10774831" y="727122"/>
                </a:lnTo>
                <a:cubicBezTo>
                  <a:pt x="10769772" y="696872"/>
                  <a:pt x="10767321" y="665981"/>
                  <a:pt x="10767364" y="634646"/>
                </a:cubicBezTo>
                <a:cubicBezTo>
                  <a:pt x="10766052" y="629018"/>
                  <a:pt x="10765993" y="623351"/>
                  <a:pt x="10765993" y="617670"/>
                </a:cubicBezTo>
                <a:lnTo>
                  <a:pt x="10766587" y="606230"/>
                </a:lnTo>
                <a:lnTo>
                  <a:pt x="10767085" y="606263"/>
                </a:lnTo>
                <a:close/>
                <a:moveTo>
                  <a:pt x="10744358" y="605769"/>
                </a:moveTo>
                <a:lnTo>
                  <a:pt x="10744384" y="606263"/>
                </a:lnTo>
                <a:lnTo>
                  <a:pt x="10744882" y="606230"/>
                </a:lnTo>
                <a:lnTo>
                  <a:pt x="10745476" y="617670"/>
                </a:lnTo>
                <a:cubicBezTo>
                  <a:pt x="10745476" y="623351"/>
                  <a:pt x="10745417" y="629018"/>
                  <a:pt x="10744105" y="634646"/>
                </a:cubicBezTo>
                <a:cubicBezTo>
                  <a:pt x="10744148" y="665981"/>
                  <a:pt x="10741697" y="696872"/>
                  <a:pt x="10736638" y="727122"/>
                </a:cubicBezTo>
                <a:lnTo>
                  <a:pt x="10736100" y="733798"/>
                </a:lnTo>
                <a:cubicBezTo>
                  <a:pt x="10735930" y="733803"/>
                  <a:pt x="10735762" y="733808"/>
                  <a:pt x="10735594" y="733861"/>
                </a:cubicBezTo>
                <a:cubicBezTo>
                  <a:pt x="10685319" y="1086726"/>
                  <a:pt x="10404280" y="1367503"/>
                  <a:pt x="10045429" y="1426902"/>
                </a:cubicBezTo>
                <a:lnTo>
                  <a:pt x="10045313" y="1428050"/>
                </a:lnTo>
                <a:cubicBezTo>
                  <a:pt x="10040002" y="1429061"/>
                  <a:pt x="10034673" y="1430009"/>
                  <a:pt x="10029096" y="1429590"/>
                </a:cubicBezTo>
                <a:cubicBezTo>
                  <a:pt x="9997924" y="1435144"/>
                  <a:pt x="9966044" y="1438125"/>
                  <a:pt x="9933669" y="1438652"/>
                </a:cubicBezTo>
                <a:lnTo>
                  <a:pt x="9916551" y="1440278"/>
                </a:lnTo>
                <a:lnTo>
                  <a:pt x="9916525" y="1439783"/>
                </a:lnTo>
                <a:lnTo>
                  <a:pt x="9916026" y="1439816"/>
                </a:lnTo>
                <a:cubicBezTo>
                  <a:pt x="9915460" y="1436014"/>
                  <a:pt x="9915433" y="1432198"/>
                  <a:pt x="9915433" y="1428376"/>
                </a:cubicBezTo>
                <a:cubicBezTo>
                  <a:pt x="9915433" y="1422694"/>
                  <a:pt x="9915492" y="1417025"/>
                  <a:pt x="9916804" y="1411395"/>
                </a:cubicBezTo>
                <a:cubicBezTo>
                  <a:pt x="9916761" y="1380067"/>
                  <a:pt x="9919211" y="1349182"/>
                  <a:pt x="9924268" y="1318938"/>
                </a:cubicBezTo>
                <a:lnTo>
                  <a:pt x="9924808" y="1312248"/>
                </a:lnTo>
                <a:cubicBezTo>
                  <a:pt x="9924977" y="1312243"/>
                  <a:pt x="9925146" y="1312238"/>
                  <a:pt x="9925314" y="1312185"/>
                </a:cubicBezTo>
                <a:cubicBezTo>
                  <a:pt x="9975590" y="959319"/>
                  <a:pt x="10256629" y="678542"/>
                  <a:pt x="10615479" y="619144"/>
                </a:cubicBezTo>
                <a:lnTo>
                  <a:pt x="10615596" y="617996"/>
                </a:lnTo>
                <a:cubicBezTo>
                  <a:pt x="10620905" y="616986"/>
                  <a:pt x="10626233" y="616038"/>
                  <a:pt x="10631809" y="616457"/>
                </a:cubicBezTo>
                <a:cubicBezTo>
                  <a:pt x="10662992" y="610900"/>
                  <a:pt x="10694885" y="607919"/>
                  <a:pt x="10727271" y="607392"/>
                </a:cubicBezTo>
                <a:close/>
                <a:moveTo>
                  <a:pt x="9074958" y="605769"/>
                </a:moveTo>
                <a:lnTo>
                  <a:pt x="9092045" y="607392"/>
                </a:lnTo>
                <a:cubicBezTo>
                  <a:pt x="9124431" y="607919"/>
                  <a:pt x="9156324" y="610900"/>
                  <a:pt x="9187507" y="616457"/>
                </a:cubicBezTo>
                <a:cubicBezTo>
                  <a:pt x="9193083" y="616038"/>
                  <a:pt x="9198411" y="616986"/>
                  <a:pt x="9203720" y="617996"/>
                </a:cubicBezTo>
                <a:lnTo>
                  <a:pt x="9203837" y="619144"/>
                </a:lnTo>
                <a:cubicBezTo>
                  <a:pt x="9562687" y="678542"/>
                  <a:pt x="9843726" y="959319"/>
                  <a:pt x="9894002" y="1312185"/>
                </a:cubicBezTo>
                <a:cubicBezTo>
                  <a:pt x="9894170" y="1312238"/>
                  <a:pt x="9894339" y="1312243"/>
                  <a:pt x="9894508" y="1312248"/>
                </a:cubicBezTo>
                <a:lnTo>
                  <a:pt x="9895048" y="1318938"/>
                </a:lnTo>
                <a:cubicBezTo>
                  <a:pt x="9900105" y="1349182"/>
                  <a:pt x="9902555" y="1380067"/>
                  <a:pt x="9902512" y="1411395"/>
                </a:cubicBezTo>
                <a:cubicBezTo>
                  <a:pt x="9903824" y="1417025"/>
                  <a:pt x="9903883" y="1422694"/>
                  <a:pt x="9903883" y="1428376"/>
                </a:cubicBezTo>
                <a:cubicBezTo>
                  <a:pt x="9903883" y="1432198"/>
                  <a:pt x="9903856" y="1436014"/>
                  <a:pt x="9903290" y="1439816"/>
                </a:cubicBezTo>
                <a:lnTo>
                  <a:pt x="9902791" y="1439783"/>
                </a:lnTo>
                <a:lnTo>
                  <a:pt x="9902765" y="1440278"/>
                </a:lnTo>
                <a:lnTo>
                  <a:pt x="9885647" y="1438652"/>
                </a:lnTo>
                <a:cubicBezTo>
                  <a:pt x="9853272" y="1438125"/>
                  <a:pt x="9821392" y="1435144"/>
                  <a:pt x="9790220" y="1429590"/>
                </a:cubicBezTo>
                <a:cubicBezTo>
                  <a:pt x="9784643" y="1430009"/>
                  <a:pt x="9779314" y="1429061"/>
                  <a:pt x="9774003" y="1428050"/>
                </a:cubicBezTo>
                <a:lnTo>
                  <a:pt x="9773887" y="1426902"/>
                </a:lnTo>
                <a:cubicBezTo>
                  <a:pt x="9415036" y="1367503"/>
                  <a:pt x="9133997" y="1086726"/>
                  <a:pt x="9083722" y="733861"/>
                </a:cubicBezTo>
                <a:cubicBezTo>
                  <a:pt x="9083554" y="733808"/>
                  <a:pt x="9083386" y="733803"/>
                  <a:pt x="9083216" y="733798"/>
                </a:cubicBezTo>
                <a:lnTo>
                  <a:pt x="9082678" y="727122"/>
                </a:lnTo>
                <a:cubicBezTo>
                  <a:pt x="9077619" y="696872"/>
                  <a:pt x="9075168" y="665981"/>
                  <a:pt x="9075211" y="634646"/>
                </a:cubicBezTo>
                <a:cubicBezTo>
                  <a:pt x="9073899" y="629018"/>
                  <a:pt x="9073840" y="623351"/>
                  <a:pt x="9073840" y="617670"/>
                </a:cubicBezTo>
                <a:lnTo>
                  <a:pt x="9074434" y="606230"/>
                </a:lnTo>
                <a:lnTo>
                  <a:pt x="9074932" y="606263"/>
                </a:lnTo>
                <a:close/>
                <a:moveTo>
                  <a:pt x="9052207" y="605769"/>
                </a:moveTo>
                <a:lnTo>
                  <a:pt x="9052233" y="606263"/>
                </a:lnTo>
                <a:lnTo>
                  <a:pt x="9052731" y="606230"/>
                </a:lnTo>
                <a:lnTo>
                  <a:pt x="9053325" y="617670"/>
                </a:lnTo>
                <a:cubicBezTo>
                  <a:pt x="9053325" y="623351"/>
                  <a:pt x="9053266" y="629018"/>
                  <a:pt x="9051954" y="634646"/>
                </a:cubicBezTo>
                <a:cubicBezTo>
                  <a:pt x="9051997" y="665981"/>
                  <a:pt x="9049546" y="696872"/>
                  <a:pt x="9044487" y="727122"/>
                </a:cubicBezTo>
                <a:lnTo>
                  <a:pt x="9043949" y="733798"/>
                </a:lnTo>
                <a:cubicBezTo>
                  <a:pt x="9043779" y="733803"/>
                  <a:pt x="9043611" y="733808"/>
                  <a:pt x="9043443" y="733861"/>
                </a:cubicBezTo>
                <a:cubicBezTo>
                  <a:pt x="8993168" y="1086726"/>
                  <a:pt x="8712129" y="1367503"/>
                  <a:pt x="8353278" y="1426902"/>
                </a:cubicBezTo>
                <a:lnTo>
                  <a:pt x="8353162" y="1428050"/>
                </a:lnTo>
                <a:cubicBezTo>
                  <a:pt x="8347851" y="1429061"/>
                  <a:pt x="8342522" y="1430009"/>
                  <a:pt x="8336945" y="1429590"/>
                </a:cubicBezTo>
                <a:cubicBezTo>
                  <a:pt x="8305773" y="1435144"/>
                  <a:pt x="8273893" y="1438125"/>
                  <a:pt x="8241519" y="1438652"/>
                </a:cubicBezTo>
                <a:lnTo>
                  <a:pt x="8224400" y="1440278"/>
                </a:lnTo>
                <a:lnTo>
                  <a:pt x="8224374" y="1439783"/>
                </a:lnTo>
                <a:lnTo>
                  <a:pt x="8223875" y="1439816"/>
                </a:lnTo>
                <a:cubicBezTo>
                  <a:pt x="8223309" y="1436014"/>
                  <a:pt x="8223282" y="1432198"/>
                  <a:pt x="8223282" y="1428376"/>
                </a:cubicBezTo>
                <a:cubicBezTo>
                  <a:pt x="8223282" y="1422694"/>
                  <a:pt x="8223341" y="1417025"/>
                  <a:pt x="8224653" y="1411395"/>
                </a:cubicBezTo>
                <a:cubicBezTo>
                  <a:pt x="8224611" y="1380067"/>
                  <a:pt x="8227060" y="1349182"/>
                  <a:pt x="8232117" y="1318938"/>
                </a:cubicBezTo>
                <a:lnTo>
                  <a:pt x="8232657" y="1312248"/>
                </a:lnTo>
                <a:cubicBezTo>
                  <a:pt x="8232826" y="1312243"/>
                  <a:pt x="8232995" y="1312238"/>
                  <a:pt x="8233163" y="1312185"/>
                </a:cubicBezTo>
                <a:cubicBezTo>
                  <a:pt x="8283439" y="959319"/>
                  <a:pt x="8564478" y="678542"/>
                  <a:pt x="8923328" y="619144"/>
                </a:cubicBezTo>
                <a:lnTo>
                  <a:pt x="8923445" y="617996"/>
                </a:lnTo>
                <a:cubicBezTo>
                  <a:pt x="8928754" y="616986"/>
                  <a:pt x="8934082" y="616038"/>
                  <a:pt x="8939658" y="616457"/>
                </a:cubicBezTo>
                <a:cubicBezTo>
                  <a:pt x="8970841" y="610900"/>
                  <a:pt x="9002734" y="607919"/>
                  <a:pt x="9035120" y="607392"/>
                </a:cubicBezTo>
                <a:close/>
                <a:moveTo>
                  <a:pt x="7382807" y="605769"/>
                </a:moveTo>
                <a:lnTo>
                  <a:pt x="7399895" y="607392"/>
                </a:lnTo>
                <a:cubicBezTo>
                  <a:pt x="7432280" y="607919"/>
                  <a:pt x="7464173" y="610900"/>
                  <a:pt x="7495356" y="616457"/>
                </a:cubicBezTo>
                <a:cubicBezTo>
                  <a:pt x="7500932" y="616038"/>
                  <a:pt x="7506260" y="616986"/>
                  <a:pt x="7511569" y="617996"/>
                </a:cubicBezTo>
                <a:lnTo>
                  <a:pt x="7511686" y="619144"/>
                </a:lnTo>
                <a:cubicBezTo>
                  <a:pt x="7870536" y="678542"/>
                  <a:pt x="8151575" y="959319"/>
                  <a:pt x="8201852" y="1312185"/>
                </a:cubicBezTo>
                <a:cubicBezTo>
                  <a:pt x="8202019" y="1312238"/>
                  <a:pt x="8202189" y="1312243"/>
                  <a:pt x="8202357" y="1312248"/>
                </a:cubicBezTo>
                <a:lnTo>
                  <a:pt x="8202898" y="1318938"/>
                </a:lnTo>
                <a:cubicBezTo>
                  <a:pt x="8207954" y="1349182"/>
                  <a:pt x="8210404" y="1380067"/>
                  <a:pt x="8210362" y="1411395"/>
                </a:cubicBezTo>
                <a:cubicBezTo>
                  <a:pt x="8211674" y="1417025"/>
                  <a:pt x="8211732" y="1422694"/>
                  <a:pt x="8211732" y="1428376"/>
                </a:cubicBezTo>
                <a:cubicBezTo>
                  <a:pt x="8211732" y="1432198"/>
                  <a:pt x="8211705" y="1436014"/>
                  <a:pt x="8211139" y="1439816"/>
                </a:cubicBezTo>
                <a:lnTo>
                  <a:pt x="8210640" y="1439783"/>
                </a:lnTo>
                <a:lnTo>
                  <a:pt x="8210614" y="1440278"/>
                </a:lnTo>
                <a:lnTo>
                  <a:pt x="8193496" y="1438652"/>
                </a:lnTo>
                <a:cubicBezTo>
                  <a:pt x="8161122" y="1438125"/>
                  <a:pt x="8129241" y="1435144"/>
                  <a:pt x="8098069" y="1429590"/>
                </a:cubicBezTo>
                <a:cubicBezTo>
                  <a:pt x="8092492" y="1430009"/>
                  <a:pt x="8087163" y="1429061"/>
                  <a:pt x="8081853" y="1428050"/>
                </a:cubicBezTo>
                <a:lnTo>
                  <a:pt x="8081737" y="1426902"/>
                </a:lnTo>
                <a:cubicBezTo>
                  <a:pt x="7722885" y="1367503"/>
                  <a:pt x="7441846" y="1086726"/>
                  <a:pt x="7391571" y="733861"/>
                </a:cubicBezTo>
                <a:cubicBezTo>
                  <a:pt x="7391403" y="733808"/>
                  <a:pt x="7391235" y="733803"/>
                  <a:pt x="7391065" y="733798"/>
                </a:cubicBezTo>
                <a:lnTo>
                  <a:pt x="7390527" y="727122"/>
                </a:lnTo>
                <a:cubicBezTo>
                  <a:pt x="7385468" y="696872"/>
                  <a:pt x="7383018" y="665981"/>
                  <a:pt x="7383060" y="634646"/>
                </a:cubicBezTo>
                <a:cubicBezTo>
                  <a:pt x="7381748" y="629018"/>
                  <a:pt x="7381689" y="623351"/>
                  <a:pt x="7381689" y="617670"/>
                </a:cubicBezTo>
                <a:lnTo>
                  <a:pt x="7382283" y="606230"/>
                </a:lnTo>
                <a:lnTo>
                  <a:pt x="7382781" y="606263"/>
                </a:lnTo>
                <a:close/>
                <a:moveTo>
                  <a:pt x="5690656" y="605769"/>
                </a:moveTo>
                <a:lnTo>
                  <a:pt x="5707743" y="607392"/>
                </a:lnTo>
                <a:cubicBezTo>
                  <a:pt x="5740129" y="607919"/>
                  <a:pt x="5772021" y="610900"/>
                  <a:pt x="5803205" y="616457"/>
                </a:cubicBezTo>
                <a:cubicBezTo>
                  <a:pt x="5808781" y="616038"/>
                  <a:pt x="5814109" y="616986"/>
                  <a:pt x="5819417" y="617996"/>
                </a:cubicBezTo>
                <a:lnTo>
                  <a:pt x="5819534" y="619144"/>
                </a:lnTo>
                <a:cubicBezTo>
                  <a:pt x="6178385" y="678542"/>
                  <a:pt x="6459424" y="959319"/>
                  <a:pt x="6509700" y="1312185"/>
                </a:cubicBezTo>
                <a:cubicBezTo>
                  <a:pt x="6509868" y="1312238"/>
                  <a:pt x="6510037" y="1312243"/>
                  <a:pt x="6510206" y="1312248"/>
                </a:cubicBezTo>
                <a:lnTo>
                  <a:pt x="6510746" y="1318938"/>
                </a:lnTo>
                <a:cubicBezTo>
                  <a:pt x="6515803" y="1349182"/>
                  <a:pt x="6518252" y="1380067"/>
                  <a:pt x="6518210" y="1411395"/>
                </a:cubicBezTo>
                <a:cubicBezTo>
                  <a:pt x="6519522" y="1417025"/>
                  <a:pt x="6519581" y="1422694"/>
                  <a:pt x="6519581" y="1428376"/>
                </a:cubicBezTo>
                <a:cubicBezTo>
                  <a:pt x="6519581" y="1432198"/>
                  <a:pt x="6519554" y="1436014"/>
                  <a:pt x="6518988" y="1439816"/>
                </a:cubicBezTo>
                <a:lnTo>
                  <a:pt x="6518489" y="1439783"/>
                </a:lnTo>
                <a:lnTo>
                  <a:pt x="6518463" y="1440278"/>
                </a:lnTo>
                <a:lnTo>
                  <a:pt x="6501344" y="1438652"/>
                </a:lnTo>
                <a:cubicBezTo>
                  <a:pt x="6468970" y="1438125"/>
                  <a:pt x="6437090" y="1435144"/>
                  <a:pt x="6405918" y="1429590"/>
                </a:cubicBezTo>
                <a:cubicBezTo>
                  <a:pt x="6400341" y="1430009"/>
                  <a:pt x="6395012" y="1429061"/>
                  <a:pt x="6389701" y="1428050"/>
                </a:cubicBezTo>
                <a:lnTo>
                  <a:pt x="6389585" y="1426902"/>
                </a:lnTo>
                <a:cubicBezTo>
                  <a:pt x="6030734" y="1367503"/>
                  <a:pt x="5749695" y="1086726"/>
                  <a:pt x="5699419" y="733861"/>
                </a:cubicBezTo>
                <a:cubicBezTo>
                  <a:pt x="5699252" y="733808"/>
                  <a:pt x="5699083" y="733803"/>
                  <a:pt x="5698914" y="733798"/>
                </a:cubicBezTo>
                <a:lnTo>
                  <a:pt x="5698375" y="727122"/>
                </a:lnTo>
                <a:cubicBezTo>
                  <a:pt x="5693317" y="696872"/>
                  <a:pt x="5690866" y="665981"/>
                  <a:pt x="5690908" y="634646"/>
                </a:cubicBezTo>
                <a:cubicBezTo>
                  <a:pt x="5689596" y="629018"/>
                  <a:pt x="5689538" y="623351"/>
                  <a:pt x="5689538" y="617670"/>
                </a:cubicBezTo>
                <a:lnTo>
                  <a:pt x="5690132" y="606230"/>
                </a:lnTo>
                <a:lnTo>
                  <a:pt x="5690630" y="606263"/>
                </a:lnTo>
                <a:close/>
                <a:moveTo>
                  <a:pt x="5667905" y="605769"/>
                </a:moveTo>
                <a:lnTo>
                  <a:pt x="5667931" y="606263"/>
                </a:lnTo>
                <a:lnTo>
                  <a:pt x="5668429" y="606230"/>
                </a:lnTo>
                <a:lnTo>
                  <a:pt x="5669023" y="617670"/>
                </a:lnTo>
                <a:cubicBezTo>
                  <a:pt x="5669023" y="623351"/>
                  <a:pt x="5668964" y="629018"/>
                  <a:pt x="5667652" y="634646"/>
                </a:cubicBezTo>
                <a:cubicBezTo>
                  <a:pt x="5667694" y="665981"/>
                  <a:pt x="5665244" y="696872"/>
                  <a:pt x="5660185" y="727122"/>
                </a:cubicBezTo>
                <a:lnTo>
                  <a:pt x="5659647" y="733798"/>
                </a:lnTo>
                <a:cubicBezTo>
                  <a:pt x="5659477" y="733803"/>
                  <a:pt x="5659309" y="733808"/>
                  <a:pt x="5659141" y="733861"/>
                </a:cubicBezTo>
                <a:cubicBezTo>
                  <a:pt x="5608866" y="1086726"/>
                  <a:pt x="5327827" y="1367503"/>
                  <a:pt x="4968975" y="1426902"/>
                </a:cubicBezTo>
                <a:lnTo>
                  <a:pt x="4968859" y="1428050"/>
                </a:lnTo>
                <a:cubicBezTo>
                  <a:pt x="4963549" y="1429061"/>
                  <a:pt x="4958220" y="1430009"/>
                  <a:pt x="4952643" y="1429590"/>
                </a:cubicBezTo>
                <a:cubicBezTo>
                  <a:pt x="4921471" y="1435144"/>
                  <a:pt x="4889590" y="1438125"/>
                  <a:pt x="4857216" y="1438652"/>
                </a:cubicBezTo>
                <a:lnTo>
                  <a:pt x="4840098" y="1440278"/>
                </a:lnTo>
                <a:lnTo>
                  <a:pt x="4840072" y="1439783"/>
                </a:lnTo>
                <a:lnTo>
                  <a:pt x="4839573" y="1439816"/>
                </a:lnTo>
                <a:cubicBezTo>
                  <a:pt x="4839007" y="1436014"/>
                  <a:pt x="4838980" y="1432198"/>
                  <a:pt x="4838980" y="1428376"/>
                </a:cubicBezTo>
                <a:cubicBezTo>
                  <a:pt x="4838980" y="1422694"/>
                  <a:pt x="4839038" y="1417025"/>
                  <a:pt x="4840350" y="1411395"/>
                </a:cubicBezTo>
                <a:cubicBezTo>
                  <a:pt x="4840308" y="1380067"/>
                  <a:pt x="4842758" y="1349182"/>
                  <a:pt x="4847814" y="1318938"/>
                </a:cubicBezTo>
                <a:lnTo>
                  <a:pt x="4848355" y="1312248"/>
                </a:lnTo>
                <a:cubicBezTo>
                  <a:pt x="4848523" y="1312243"/>
                  <a:pt x="4848693" y="1312238"/>
                  <a:pt x="4848860" y="1312185"/>
                </a:cubicBezTo>
                <a:cubicBezTo>
                  <a:pt x="4899137" y="959319"/>
                  <a:pt x="5180176" y="678542"/>
                  <a:pt x="5539026" y="619144"/>
                </a:cubicBezTo>
                <a:lnTo>
                  <a:pt x="5539143" y="617996"/>
                </a:lnTo>
                <a:cubicBezTo>
                  <a:pt x="5544452" y="616986"/>
                  <a:pt x="5549780" y="616038"/>
                  <a:pt x="5555356" y="616457"/>
                </a:cubicBezTo>
                <a:cubicBezTo>
                  <a:pt x="5586539" y="610900"/>
                  <a:pt x="5618432" y="607919"/>
                  <a:pt x="5650817" y="607392"/>
                </a:cubicBezTo>
                <a:close/>
                <a:moveTo>
                  <a:pt x="3998505" y="605769"/>
                </a:moveTo>
                <a:lnTo>
                  <a:pt x="4015592" y="607392"/>
                </a:lnTo>
                <a:cubicBezTo>
                  <a:pt x="4047978" y="607919"/>
                  <a:pt x="4079870" y="610900"/>
                  <a:pt x="4111054" y="616457"/>
                </a:cubicBezTo>
                <a:cubicBezTo>
                  <a:pt x="4116630" y="616038"/>
                  <a:pt x="4121958" y="616986"/>
                  <a:pt x="4127266" y="617996"/>
                </a:cubicBezTo>
                <a:lnTo>
                  <a:pt x="4127384" y="619144"/>
                </a:lnTo>
                <a:cubicBezTo>
                  <a:pt x="4486234" y="678542"/>
                  <a:pt x="4767273" y="959319"/>
                  <a:pt x="4817549" y="1312185"/>
                </a:cubicBezTo>
                <a:cubicBezTo>
                  <a:pt x="4817717" y="1312238"/>
                  <a:pt x="4817886" y="1312243"/>
                  <a:pt x="4818055" y="1312248"/>
                </a:cubicBezTo>
                <a:lnTo>
                  <a:pt x="4818595" y="1318938"/>
                </a:lnTo>
                <a:cubicBezTo>
                  <a:pt x="4823652" y="1349182"/>
                  <a:pt x="4826101" y="1380067"/>
                  <a:pt x="4826059" y="1411395"/>
                </a:cubicBezTo>
                <a:cubicBezTo>
                  <a:pt x="4827371" y="1417025"/>
                  <a:pt x="4827430" y="1422694"/>
                  <a:pt x="4827430" y="1428376"/>
                </a:cubicBezTo>
                <a:cubicBezTo>
                  <a:pt x="4827430" y="1432198"/>
                  <a:pt x="4827403" y="1436014"/>
                  <a:pt x="4826837" y="1439816"/>
                </a:cubicBezTo>
                <a:lnTo>
                  <a:pt x="4826338" y="1439783"/>
                </a:lnTo>
                <a:lnTo>
                  <a:pt x="4826312" y="1440278"/>
                </a:lnTo>
                <a:lnTo>
                  <a:pt x="4809193" y="1438652"/>
                </a:lnTo>
                <a:cubicBezTo>
                  <a:pt x="4776819" y="1438125"/>
                  <a:pt x="4744939" y="1435144"/>
                  <a:pt x="4713767" y="1429590"/>
                </a:cubicBezTo>
                <a:cubicBezTo>
                  <a:pt x="4708190" y="1430009"/>
                  <a:pt x="4702861" y="1429061"/>
                  <a:pt x="4697550" y="1428050"/>
                </a:cubicBezTo>
                <a:lnTo>
                  <a:pt x="4697434" y="1426902"/>
                </a:lnTo>
                <a:cubicBezTo>
                  <a:pt x="4338583" y="1367503"/>
                  <a:pt x="4057544" y="1086726"/>
                  <a:pt x="4007268" y="733861"/>
                </a:cubicBezTo>
                <a:cubicBezTo>
                  <a:pt x="4007101" y="733808"/>
                  <a:pt x="4006932" y="733803"/>
                  <a:pt x="4006763" y="733798"/>
                </a:cubicBezTo>
                <a:lnTo>
                  <a:pt x="4006225" y="727122"/>
                </a:lnTo>
                <a:cubicBezTo>
                  <a:pt x="4001166" y="696872"/>
                  <a:pt x="3998715" y="665981"/>
                  <a:pt x="3998757" y="634646"/>
                </a:cubicBezTo>
                <a:cubicBezTo>
                  <a:pt x="3997445" y="629018"/>
                  <a:pt x="3997387" y="623351"/>
                  <a:pt x="3997387" y="617670"/>
                </a:cubicBezTo>
                <a:lnTo>
                  <a:pt x="3997981" y="606230"/>
                </a:lnTo>
                <a:lnTo>
                  <a:pt x="3998479" y="606263"/>
                </a:lnTo>
                <a:close/>
                <a:moveTo>
                  <a:pt x="3975754" y="605769"/>
                </a:moveTo>
                <a:lnTo>
                  <a:pt x="3975780" y="606263"/>
                </a:lnTo>
                <a:lnTo>
                  <a:pt x="3976278" y="606230"/>
                </a:lnTo>
                <a:lnTo>
                  <a:pt x="3976872" y="617670"/>
                </a:lnTo>
                <a:cubicBezTo>
                  <a:pt x="3976872" y="623351"/>
                  <a:pt x="3976813" y="629018"/>
                  <a:pt x="3975501" y="634646"/>
                </a:cubicBezTo>
                <a:cubicBezTo>
                  <a:pt x="3975543" y="665981"/>
                  <a:pt x="3973093" y="696872"/>
                  <a:pt x="3968034" y="727122"/>
                </a:cubicBezTo>
                <a:lnTo>
                  <a:pt x="3967496" y="733798"/>
                </a:lnTo>
                <a:cubicBezTo>
                  <a:pt x="3967326" y="733803"/>
                  <a:pt x="3967158" y="733808"/>
                  <a:pt x="3966990" y="733861"/>
                </a:cubicBezTo>
                <a:cubicBezTo>
                  <a:pt x="3916715" y="1086726"/>
                  <a:pt x="3635676" y="1367503"/>
                  <a:pt x="3276825" y="1426902"/>
                </a:cubicBezTo>
                <a:lnTo>
                  <a:pt x="3276708" y="1428050"/>
                </a:lnTo>
                <a:cubicBezTo>
                  <a:pt x="3271398" y="1429061"/>
                  <a:pt x="3266069" y="1430009"/>
                  <a:pt x="3260492" y="1429590"/>
                </a:cubicBezTo>
                <a:cubicBezTo>
                  <a:pt x="3229320" y="1435144"/>
                  <a:pt x="3197440" y="1438125"/>
                  <a:pt x="3165065" y="1438652"/>
                </a:cubicBezTo>
                <a:lnTo>
                  <a:pt x="3147947" y="1440278"/>
                </a:lnTo>
                <a:lnTo>
                  <a:pt x="3147921" y="1439783"/>
                </a:lnTo>
                <a:lnTo>
                  <a:pt x="3147422" y="1439816"/>
                </a:lnTo>
                <a:cubicBezTo>
                  <a:pt x="3146856" y="1436014"/>
                  <a:pt x="3146829" y="1432198"/>
                  <a:pt x="3146829" y="1428376"/>
                </a:cubicBezTo>
                <a:cubicBezTo>
                  <a:pt x="3146829" y="1422694"/>
                  <a:pt x="3146887" y="1417025"/>
                  <a:pt x="3148199" y="1411395"/>
                </a:cubicBezTo>
                <a:cubicBezTo>
                  <a:pt x="3148157" y="1380067"/>
                  <a:pt x="3150607" y="1349182"/>
                  <a:pt x="3155663" y="1318938"/>
                </a:cubicBezTo>
                <a:lnTo>
                  <a:pt x="3156204" y="1312248"/>
                </a:lnTo>
                <a:cubicBezTo>
                  <a:pt x="3156372" y="1312243"/>
                  <a:pt x="3156542" y="1312238"/>
                  <a:pt x="3156709" y="1312185"/>
                </a:cubicBezTo>
                <a:cubicBezTo>
                  <a:pt x="3206986" y="959319"/>
                  <a:pt x="3488025" y="678542"/>
                  <a:pt x="3846875" y="619144"/>
                </a:cubicBezTo>
                <a:lnTo>
                  <a:pt x="3846992" y="617996"/>
                </a:lnTo>
                <a:cubicBezTo>
                  <a:pt x="3852301" y="616986"/>
                  <a:pt x="3857629" y="616038"/>
                  <a:pt x="3863205" y="616457"/>
                </a:cubicBezTo>
                <a:cubicBezTo>
                  <a:pt x="3894388" y="610900"/>
                  <a:pt x="3926281" y="607919"/>
                  <a:pt x="3958666" y="607392"/>
                </a:cubicBezTo>
                <a:close/>
                <a:moveTo>
                  <a:pt x="2306354" y="605769"/>
                </a:moveTo>
                <a:lnTo>
                  <a:pt x="2323441" y="607392"/>
                </a:lnTo>
                <a:cubicBezTo>
                  <a:pt x="2355827" y="607919"/>
                  <a:pt x="2387719" y="610900"/>
                  <a:pt x="2418903" y="616457"/>
                </a:cubicBezTo>
                <a:cubicBezTo>
                  <a:pt x="2424479" y="616038"/>
                  <a:pt x="2429807" y="616986"/>
                  <a:pt x="2435115" y="617996"/>
                </a:cubicBezTo>
                <a:lnTo>
                  <a:pt x="2435233" y="619144"/>
                </a:lnTo>
                <a:cubicBezTo>
                  <a:pt x="2794083" y="678542"/>
                  <a:pt x="3075122" y="959319"/>
                  <a:pt x="3125398" y="1312185"/>
                </a:cubicBezTo>
                <a:cubicBezTo>
                  <a:pt x="3125566" y="1312238"/>
                  <a:pt x="3125735" y="1312243"/>
                  <a:pt x="3125904" y="1312248"/>
                </a:cubicBezTo>
                <a:lnTo>
                  <a:pt x="3126444" y="1318938"/>
                </a:lnTo>
                <a:cubicBezTo>
                  <a:pt x="3131501" y="1349182"/>
                  <a:pt x="3133950" y="1380067"/>
                  <a:pt x="3133908" y="1411395"/>
                </a:cubicBezTo>
                <a:cubicBezTo>
                  <a:pt x="3135220" y="1417025"/>
                  <a:pt x="3135279" y="1422694"/>
                  <a:pt x="3135279" y="1428376"/>
                </a:cubicBezTo>
                <a:cubicBezTo>
                  <a:pt x="3135279" y="1432198"/>
                  <a:pt x="3135252" y="1436014"/>
                  <a:pt x="3134686" y="1439816"/>
                </a:cubicBezTo>
                <a:lnTo>
                  <a:pt x="3134187" y="1439783"/>
                </a:lnTo>
                <a:lnTo>
                  <a:pt x="3134161" y="1440278"/>
                </a:lnTo>
                <a:lnTo>
                  <a:pt x="3117042" y="1438652"/>
                </a:lnTo>
                <a:cubicBezTo>
                  <a:pt x="3084668" y="1438125"/>
                  <a:pt x="3052788" y="1435144"/>
                  <a:pt x="3021616" y="1429590"/>
                </a:cubicBezTo>
                <a:cubicBezTo>
                  <a:pt x="3016039" y="1430009"/>
                  <a:pt x="3010710" y="1429061"/>
                  <a:pt x="3005399" y="1428050"/>
                </a:cubicBezTo>
                <a:lnTo>
                  <a:pt x="3005283" y="1426902"/>
                </a:lnTo>
                <a:cubicBezTo>
                  <a:pt x="2646432" y="1367503"/>
                  <a:pt x="2365393" y="1086726"/>
                  <a:pt x="2315117" y="733861"/>
                </a:cubicBezTo>
                <a:cubicBezTo>
                  <a:pt x="2314950" y="733808"/>
                  <a:pt x="2314781" y="733803"/>
                  <a:pt x="2314612" y="733798"/>
                </a:cubicBezTo>
                <a:lnTo>
                  <a:pt x="2314074" y="727122"/>
                </a:lnTo>
                <a:cubicBezTo>
                  <a:pt x="2309015" y="696872"/>
                  <a:pt x="2306564" y="665981"/>
                  <a:pt x="2306606" y="634646"/>
                </a:cubicBezTo>
                <a:cubicBezTo>
                  <a:pt x="2305294" y="629018"/>
                  <a:pt x="2305236" y="623351"/>
                  <a:pt x="2305236" y="617670"/>
                </a:cubicBezTo>
                <a:lnTo>
                  <a:pt x="2305830" y="606230"/>
                </a:lnTo>
                <a:lnTo>
                  <a:pt x="2306328" y="606263"/>
                </a:lnTo>
                <a:close/>
                <a:moveTo>
                  <a:pt x="2283603" y="605769"/>
                </a:moveTo>
                <a:lnTo>
                  <a:pt x="2283629" y="606263"/>
                </a:lnTo>
                <a:lnTo>
                  <a:pt x="2284127" y="606230"/>
                </a:lnTo>
                <a:lnTo>
                  <a:pt x="2284721" y="617670"/>
                </a:lnTo>
                <a:cubicBezTo>
                  <a:pt x="2284721" y="623351"/>
                  <a:pt x="2284662" y="629018"/>
                  <a:pt x="2283350" y="634646"/>
                </a:cubicBezTo>
                <a:cubicBezTo>
                  <a:pt x="2283392" y="665981"/>
                  <a:pt x="2280942" y="696872"/>
                  <a:pt x="2275883" y="727122"/>
                </a:cubicBezTo>
                <a:lnTo>
                  <a:pt x="2275345" y="733798"/>
                </a:lnTo>
                <a:cubicBezTo>
                  <a:pt x="2275175" y="733803"/>
                  <a:pt x="2275007" y="733808"/>
                  <a:pt x="2274839" y="733861"/>
                </a:cubicBezTo>
                <a:cubicBezTo>
                  <a:pt x="2224564" y="1086726"/>
                  <a:pt x="1943525" y="1367503"/>
                  <a:pt x="1584673" y="1426902"/>
                </a:cubicBezTo>
                <a:lnTo>
                  <a:pt x="1584557" y="1428050"/>
                </a:lnTo>
                <a:cubicBezTo>
                  <a:pt x="1579247" y="1429061"/>
                  <a:pt x="1573918" y="1430009"/>
                  <a:pt x="1568341" y="1429590"/>
                </a:cubicBezTo>
                <a:cubicBezTo>
                  <a:pt x="1537169" y="1435144"/>
                  <a:pt x="1505289" y="1438125"/>
                  <a:pt x="1472914" y="1438652"/>
                </a:cubicBezTo>
                <a:lnTo>
                  <a:pt x="1455796" y="1440278"/>
                </a:lnTo>
                <a:lnTo>
                  <a:pt x="1455770" y="1439783"/>
                </a:lnTo>
                <a:lnTo>
                  <a:pt x="1455271" y="1439816"/>
                </a:lnTo>
                <a:cubicBezTo>
                  <a:pt x="1454705" y="1436014"/>
                  <a:pt x="1454678" y="1432198"/>
                  <a:pt x="1454678" y="1428376"/>
                </a:cubicBezTo>
                <a:cubicBezTo>
                  <a:pt x="1454678" y="1422694"/>
                  <a:pt x="1454736" y="1417025"/>
                  <a:pt x="1456048" y="1411395"/>
                </a:cubicBezTo>
                <a:cubicBezTo>
                  <a:pt x="1456006" y="1380067"/>
                  <a:pt x="1458456" y="1349182"/>
                  <a:pt x="1463513" y="1318938"/>
                </a:cubicBezTo>
                <a:lnTo>
                  <a:pt x="1464053" y="1312248"/>
                </a:lnTo>
                <a:cubicBezTo>
                  <a:pt x="1464221" y="1312243"/>
                  <a:pt x="1464391" y="1312238"/>
                  <a:pt x="1464558" y="1312185"/>
                </a:cubicBezTo>
                <a:cubicBezTo>
                  <a:pt x="1514835" y="959319"/>
                  <a:pt x="1795874" y="678542"/>
                  <a:pt x="2154724" y="619144"/>
                </a:cubicBezTo>
                <a:lnTo>
                  <a:pt x="2154841" y="617996"/>
                </a:lnTo>
                <a:cubicBezTo>
                  <a:pt x="2160150" y="616986"/>
                  <a:pt x="2165478" y="616038"/>
                  <a:pt x="2171054" y="616457"/>
                </a:cubicBezTo>
                <a:cubicBezTo>
                  <a:pt x="2202237" y="610900"/>
                  <a:pt x="2234130" y="607919"/>
                  <a:pt x="2266515" y="607392"/>
                </a:cubicBezTo>
                <a:close/>
                <a:moveTo>
                  <a:pt x="614203" y="605769"/>
                </a:moveTo>
                <a:lnTo>
                  <a:pt x="631290" y="607392"/>
                </a:lnTo>
                <a:cubicBezTo>
                  <a:pt x="663676" y="607919"/>
                  <a:pt x="695568" y="610900"/>
                  <a:pt x="726752" y="616457"/>
                </a:cubicBezTo>
                <a:cubicBezTo>
                  <a:pt x="732328" y="616038"/>
                  <a:pt x="737656" y="616986"/>
                  <a:pt x="742964" y="617996"/>
                </a:cubicBezTo>
                <a:lnTo>
                  <a:pt x="743081" y="619144"/>
                </a:lnTo>
                <a:cubicBezTo>
                  <a:pt x="1101932" y="678542"/>
                  <a:pt x="1382971" y="959319"/>
                  <a:pt x="1433247" y="1312185"/>
                </a:cubicBezTo>
                <a:cubicBezTo>
                  <a:pt x="1433415" y="1312238"/>
                  <a:pt x="1433584" y="1312243"/>
                  <a:pt x="1433753" y="1312248"/>
                </a:cubicBezTo>
                <a:lnTo>
                  <a:pt x="1434293" y="1318938"/>
                </a:lnTo>
                <a:cubicBezTo>
                  <a:pt x="1439350" y="1349182"/>
                  <a:pt x="1441799" y="1380067"/>
                  <a:pt x="1441757" y="1411395"/>
                </a:cubicBezTo>
                <a:cubicBezTo>
                  <a:pt x="1443069" y="1417025"/>
                  <a:pt x="1443128" y="1422694"/>
                  <a:pt x="1443128" y="1428376"/>
                </a:cubicBezTo>
                <a:cubicBezTo>
                  <a:pt x="1443128" y="1432198"/>
                  <a:pt x="1443101" y="1436014"/>
                  <a:pt x="1442535" y="1439816"/>
                </a:cubicBezTo>
                <a:lnTo>
                  <a:pt x="1442036" y="1439783"/>
                </a:lnTo>
                <a:lnTo>
                  <a:pt x="1442010" y="1440278"/>
                </a:lnTo>
                <a:lnTo>
                  <a:pt x="1424891" y="1438652"/>
                </a:lnTo>
                <a:cubicBezTo>
                  <a:pt x="1392517" y="1438125"/>
                  <a:pt x="1360637" y="1435144"/>
                  <a:pt x="1329465" y="1429590"/>
                </a:cubicBezTo>
                <a:cubicBezTo>
                  <a:pt x="1323888" y="1430009"/>
                  <a:pt x="1318559" y="1429061"/>
                  <a:pt x="1313248" y="1428050"/>
                </a:cubicBezTo>
                <a:lnTo>
                  <a:pt x="1313132" y="1426902"/>
                </a:lnTo>
                <a:cubicBezTo>
                  <a:pt x="954281" y="1367503"/>
                  <a:pt x="673242" y="1086726"/>
                  <a:pt x="622966" y="733861"/>
                </a:cubicBezTo>
                <a:cubicBezTo>
                  <a:pt x="622799" y="733808"/>
                  <a:pt x="622630" y="733803"/>
                  <a:pt x="622461" y="733798"/>
                </a:cubicBezTo>
                <a:lnTo>
                  <a:pt x="621923" y="727122"/>
                </a:lnTo>
                <a:cubicBezTo>
                  <a:pt x="616864" y="696872"/>
                  <a:pt x="614413" y="665981"/>
                  <a:pt x="614455" y="634646"/>
                </a:cubicBezTo>
                <a:cubicBezTo>
                  <a:pt x="613143" y="629018"/>
                  <a:pt x="613085" y="623351"/>
                  <a:pt x="613085" y="617670"/>
                </a:cubicBezTo>
                <a:lnTo>
                  <a:pt x="613679" y="606230"/>
                </a:lnTo>
                <a:lnTo>
                  <a:pt x="614177" y="606263"/>
                </a:lnTo>
                <a:close/>
                <a:moveTo>
                  <a:pt x="7360056" y="605769"/>
                </a:moveTo>
                <a:lnTo>
                  <a:pt x="7360082" y="606263"/>
                </a:lnTo>
                <a:lnTo>
                  <a:pt x="7360580" y="606230"/>
                </a:lnTo>
                <a:lnTo>
                  <a:pt x="7361174" y="617670"/>
                </a:lnTo>
                <a:cubicBezTo>
                  <a:pt x="7361174" y="623351"/>
                  <a:pt x="7361116" y="629018"/>
                  <a:pt x="7359804" y="634646"/>
                </a:cubicBezTo>
                <a:cubicBezTo>
                  <a:pt x="7359846" y="665981"/>
                  <a:pt x="7357395" y="696872"/>
                  <a:pt x="7352337" y="727122"/>
                </a:cubicBezTo>
                <a:lnTo>
                  <a:pt x="7351798" y="733798"/>
                </a:lnTo>
                <a:cubicBezTo>
                  <a:pt x="7351629" y="733803"/>
                  <a:pt x="7351460" y="733808"/>
                  <a:pt x="7351293" y="733861"/>
                </a:cubicBezTo>
                <a:cubicBezTo>
                  <a:pt x="7301017" y="1086726"/>
                  <a:pt x="7019978" y="1367503"/>
                  <a:pt x="6661127" y="1426902"/>
                </a:cubicBezTo>
                <a:lnTo>
                  <a:pt x="6661011" y="1428050"/>
                </a:lnTo>
                <a:cubicBezTo>
                  <a:pt x="6655700" y="1429061"/>
                  <a:pt x="6650371" y="1430009"/>
                  <a:pt x="6644794" y="1429590"/>
                </a:cubicBezTo>
                <a:cubicBezTo>
                  <a:pt x="6613622" y="1435144"/>
                  <a:pt x="6581742" y="1438125"/>
                  <a:pt x="6549368" y="1438652"/>
                </a:cubicBezTo>
                <a:lnTo>
                  <a:pt x="6532249" y="1440278"/>
                </a:lnTo>
                <a:lnTo>
                  <a:pt x="6532223" y="1439783"/>
                </a:lnTo>
                <a:lnTo>
                  <a:pt x="6531724" y="1439816"/>
                </a:lnTo>
                <a:cubicBezTo>
                  <a:pt x="6531158" y="1436014"/>
                  <a:pt x="6531131" y="1432198"/>
                  <a:pt x="6531131" y="1428376"/>
                </a:cubicBezTo>
                <a:cubicBezTo>
                  <a:pt x="6531131" y="1422694"/>
                  <a:pt x="6531190" y="1417025"/>
                  <a:pt x="6532502" y="1411395"/>
                </a:cubicBezTo>
                <a:cubicBezTo>
                  <a:pt x="6532460" y="1380067"/>
                  <a:pt x="6534909" y="1349182"/>
                  <a:pt x="6539966" y="1318938"/>
                </a:cubicBezTo>
                <a:lnTo>
                  <a:pt x="6540506" y="1312248"/>
                </a:lnTo>
                <a:cubicBezTo>
                  <a:pt x="6540675" y="1312243"/>
                  <a:pt x="6540844" y="1312238"/>
                  <a:pt x="6541012" y="1312185"/>
                </a:cubicBezTo>
                <a:cubicBezTo>
                  <a:pt x="6591288" y="959319"/>
                  <a:pt x="6872327" y="678542"/>
                  <a:pt x="7231178" y="619144"/>
                </a:cubicBezTo>
                <a:lnTo>
                  <a:pt x="7231295" y="617996"/>
                </a:lnTo>
                <a:cubicBezTo>
                  <a:pt x="7236603" y="616986"/>
                  <a:pt x="7241931" y="616038"/>
                  <a:pt x="7247507" y="616457"/>
                </a:cubicBezTo>
                <a:cubicBezTo>
                  <a:pt x="7278691" y="610900"/>
                  <a:pt x="7310583" y="607919"/>
                  <a:pt x="7342969" y="607392"/>
                </a:cubicBezTo>
                <a:close/>
                <a:moveTo>
                  <a:pt x="591452" y="605769"/>
                </a:moveTo>
                <a:lnTo>
                  <a:pt x="591478" y="606263"/>
                </a:lnTo>
                <a:lnTo>
                  <a:pt x="591976" y="606230"/>
                </a:lnTo>
                <a:lnTo>
                  <a:pt x="592570" y="617670"/>
                </a:lnTo>
                <a:cubicBezTo>
                  <a:pt x="592570" y="623351"/>
                  <a:pt x="592511" y="629018"/>
                  <a:pt x="591199" y="634646"/>
                </a:cubicBezTo>
                <a:cubicBezTo>
                  <a:pt x="591242" y="665981"/>
                  <a:pt x="588791" y="696872"/>
                  <a:pt x="583732" y="727122"/>
                </a:cubicBezTo>
                <a:lnTo>
                  <a:pt x="583194" y="733798"/>
                </a:lnTo>
                <a:cubicBezTo>
                  <a:pt x="583024" y="733803"/>
                  <a:pt x="582856" y="733808"/>
                  <a:pt x="582689" y="733861"/>
                </a:cubicBezTo>
                <a:cubicBezTo>
                  <a:pt x="537576" y="1050490"/>
                  <a:pt x="306662" y="1309076"/>
                  <a:pt x="0" y="1400276"/>
                </a:cubicBezTo>
                <a:lnTo>
                  <a:pt x="0" y="1267938"/>
                </a:lnTo>
                <a:cubicBezTo>
                  <a:pt x="229298" y="1185101"/>
                  <a:pt x="402181" y="989705"/>
                  <a:pt x="449203" y="750600"/>
                </a:cubicBezTo>
                <a:cubicBezTo>
                  <a:pt x="258971" y="791484"/>
                  <a:pt x="97576" y="906749"/>
                  <a:pt x="0" y="1064489"/>
                </a:cubicBezTo>
                <a:lnTo>
                  <a:pt x="0" y="857695"/>
                </a:lnTo>
                <a:cubicBezTo>
                  <a:pt x="121484" y="734788"/>
                  <a:pt x="282199" y="649000"/>
                  <a:pt x="462573" y="619144"/>
                </a:cubicBezTo>
                <a:lnTo>
                  <a:pt x="462690" y="617996"/>
                </a:lnTo>
                <a:cubicBezTo>
                  <a:pt x="467999" y="616986"/>
                  <a:pt x="473327" y="616038"/>
                  <a:pt x="478903" y="616457"/>
                </a:cubicBezTo>
                <a:cubicBezTo>
                  <a:pt x="510086" y="610900"/>
                  <a:pt x="541979" y="607919"/>
                  <a:pt x="574365" y="607392"/>
                </a:cubicBezTo>
                <a:close/>
                <a:moveTo>
                  <a:pt x="11969013" y="0"/>
                </a:moveTo>
                <a:lnTo>
                  <a:pt x="12180097" y="0"/>
                </a:lnTo>
                <a:cubicBezTo>
                  <a:pt x="12184579" y="2797"/>
                  <a:pt x="12188307" y="6390"/>
                  <a:pt x="12192000" y="10016"/>
                </a:cubicBezTo>
                <a:lnTo>
                  <a:pt x="12192000" y="210008"/>
                </a:lnTo>
                <a:cubicBezTo>
                  <a:pt x="12135666" y="124006"/>
                  <a:pt x="12059786" y="51396"/>
                  <a:pt x="11969013" y="0"/>
                </a:cubicBezTo>
                <a:close/>
                <a:moveTo>
                  <a:pt x="11640695" y="0"/>
                </a:moveTo>
                <a:lnTo>
                  <a:pt x="11775234" y="0"/>
                </a:lnTo>
                <a:cubicBezTo>
                  <a:pt x="11842228" y="193636"/>
                  <a:pt x="11995970" y="348667"/>
                  <a:pt x="12192000" y="421829"/>
                </a:cubicBezTo>
                <a:lnTo>
                  <a:pt x="12192000" y="553832"/>
                </a:lnTo>
                <a:cubicBezTo>
                  <a:pt x="11924422" y="471599"/>
                  <a:pt x="11715712" y="262771"/>
                  <a:pt x="11640695" y="0"/>
                </a:cubicBezTo>
                <a:close/>
                <a:moveTo>
                  <a:pt x="11023379" y="0"/>
                </a:moveTo>
                <a:lnTo>
                  <a:pt x="11232088" y="0"/>
                </a:lnTo>
                <a:cubicBezTo>
                  <a:pt x="11066618" y="98005"/>
                  <a:pt x="10947209" y="260867"/>
                  <a:pt x="10909358" y="451830"/>
                </a:cubicBezTo>
                <a:cubicBezTo>
                  <a:pt x="11153410" y="399791"/>
                  <a:pt x="11350000" y="226290"/>
                  <a:pt x="11427896" y="0"/>
                </a:cubicBezTo>
                <a:lnTo>
                  <a:pt x="11561912" y="0"/>
                </a:lnTo>
                <a:cubicBezTo>
                  <a:pt x="11477134" y="299826"/>
                  <a:pt x="11217862" y="529393"/>
                  <a:pt x="10895987" y="582253"/>
                </a:cubicBezTo>
                <a:lnTo>
                  <a:pt x="10895871" y="583392"/>
                </a:lnTo>
                <a:cubicBezTo>
                  <a:pt x="10890560" y="584395"/>
                  <a:pt x="10885231" y="585336"/>
                  <a:pt x="10879654" y="584920"/>
                </a:cubicBezTo>
                <a:cubicBezTo>
                  <a:pt x="10848482" y="590430"/>
                  <a:pt x="10816602" y="593388"/>
                  <a:pt x="10784227" y="593911"/>
                </a:cubicBezTo>
                <a:lnTo>
                  <a:pt x="10767109" y="595524"/>
                </a:lnTo>
                <a:lnTo>
                  <a:pt x="10767083" y="595033"/>
                </a:lnTo>
                <a:lnTo>
                  <a:pt x="10766584" y="595066"/>
                </a:lnTo>
                <a:cubicBezTo>
                  <a:pt x="10766018" y="591293"/>
                  <a:pt x="10765991" y="587507"/>
                  <a:pt x="10765991" y="583715"/>
                </a:cubicBezTo>
                <a:cubicBezTo>
                  <a:pt x="10765991" y="578078"/>
                  <a:pt x="10766050" y="572454"/>
                  <a:pt x="10767362" y="566868"/>
                </a:cubicBezTo>
                <a:cubicBezTo>
                  <a:pt x="10767319" y="535786"/>
                  <a:pt x="10769769" y="505143"/>
                  <a:pt x="10774826" y="475137"/>
                </a:cubicBezTo>
                <a:lnTo>
                  <a:pt x="10775366" y="468500"/>
                </a:lnTo>
                <a:cubicBezTo>
                  <a:pt x="10775535" y="468495"/>
                  <a:pt x="10775704" y="468490"/>
                  <a:pt x="10775872" y="468437"/>
                </a:cubicBezTo>
                <a:cubicBezTo>
                  <a:pt x="10802174" y="285283"/>
                  <a:pt x="10891635" y="121704"/>
                  <a:pt x="11023379" y="0"/>
                </a:cubicBezTo>
                <a:close/>
                <a:moveTo>
                  <a:pt x="9949555" y="0"/>
                </a:moveTo>
                <a:lnTo>
                  <a:pt x="10083571" y="0"/>
                </a:lnTo>
                <a:cubicBezTo>
                  <a:pt x="10161467" y="226290"/>
                  <a:pt x="10358057" y="399791"/>
                  <a:pt x="10602109" y="451830"/>
                </a:cubicBezTo>
                <a:cubicBezTo>
                  <a:pt x="10564258" y="260867"/>
                  <a:pt x="10444849" y="98005"/>
                  <a:pt x="10279379" y="0"/>
                </a:cubicBezTo>
                <a:lnTo>
                  <a:pt x="10488089" y="0"/>
                </a:lnTo>
                <a:cubicBezTo>
                  <a:pt x="10619833" y="121704"/>
                  <a:pt x="10709293" y="285283"/>
                  <a:pt x="10735596" y="468437"/>
                </a:cubicBezTo>
                <a:cubicBezTo>
                  <a:pt x="10735763" y="468490"/>
                  <a:pt x="10735932" y="468495"/>
                  <a:pt x="10736101" y="468500"/>
                </a:cubicBezTo>
                <a:lnTo>
                  <a:pt x="10736641" y="475137"/>
                </a:lnTo>
                <a:cubicBezTo>
                  <a:pt x="10741698" y="505143"/>
                  <a:pt x="10744148" y="535786"/>
                  <a:pt x="10744105" y="566868"/>
                </a:cubicBezTo>
                <a:cubicBezTo>
                  <a:pt x="10745417" y="572454"/>
                  <a:pt x="10745476" y="578078"/>
                  <a:pt x="10745476" y="583715"/>
                </a:cubicBezTo>
                <a:cubicBezTo>
                  <a:pt x="10745476" y="587507"/>
                  <a:pt x="10745449" y="591293"/>
                  <a:pt x="10744883" y="595066"/>
                </a:cubicBezTo>
                <a:lnTo>
                  <a:pt x="10744384" y="595033"/>
                </a:lnTo>
                <a:lnTo>
                  <a:pt x="10744358" y="595524"/>
                </a:lnTo>
                <a:lnTo>
                  <a:pt x="10727240" y="593911"/>
                </a:lnTo>
                <a:cubicBezTo>
                  <a:pt x="10694865" y="593388"/>
                  <a:pt x="10662985" y="590430"/>
                  <a:pt x="10631813" y="584920"/>
                </a:cubicBezTo>
                <a:cubicBezTo>
                  <a:pt x="10626236" y="585336"/>
                  <a:pt x="10620907" y="584395"/>
                  <a:pt x="10615596" y="583392"/>
                </a:cubicBezTo>
                <a:lnTo>
                  <a:pt x="10615480" y="582253"/>
                </a:lnTo>
                <a:cubicBezTo>
                  <a:pt x="10293605" y="529393"/>
                  <a:pt x="10034333" y="299826"/>
                  <a:pt x="9949555" y="0"/>
                </a:cubicBezTo>
                <a:close/>
                <a:moveTo>
                  <a:pt x="9331225" y="0"/>
                </a:moveTo>
                <a:lnTo>
                  <a:pt x="9539935" y="0"/>
                </a:lnTo>
                <a:cubicBezTo>
                  <a:pt x="9374465" y="98005"/>
                  <a:pt x="9255056" y="260867"/>
                  <a:pt x="9217205" y="451830"/>
                </a:cubicBezTo>
                <a:cubicBezTo>
                  <a:pt x="9461257" y="399791"/>
                  <a:pt x="9657847" y="226290"/>
                  <a:pt x="9735743" y="0"/>
                </a:cubicBezTo>
                <a:lnTo>
                  <a:pt x="9869759" y="0"/>
                </a:lnTo>
                <a:cubicBezTo>
                  <a:pt x="9784981" y="299826"/>
                  <a:pt x="9525709" y="529393"/>
                  <a:pt x="9203834" y="582253"/>
                </a:cubicBezTo>
                <a:lnTo>
                  <a:pt x="9203718" y="583392"/>
                </a:lnTo>
                <a:cubicBezTo>
                  <a:pt x="9198407" y="584395"/>
                  <a:pt x="9193078" y="585336"/>
                  <a:pt x="9187501" y="584920"/>
                </a:cubicBezTo>
                <a:cubicBezTo>
                  <a:pt x="9156329" y="590430"/>
                  <a:pt x="9124449" y="593388"/>
                  <a:pt x="9092074" y="593911"/>
                </a:cubicBezTo>
                <a:lnTo>
                  <a:pt x="9074956" y="595524"/>
                </a:lnTo>
                <a:lnTo>
                  <a:pt x="9074930" y="595033"/>
                </a:lnTo>
                <a:lnTo>
                  <a:pt x="9074431" y="595066"/>
                </a:lnTo>
                <a:cubicBezTo>
                  <a:pt x="9073865" y="591293"/>
                  <a:pt x="9073838" y="587507"/>
                  <a:pt x="9073838" y="583715"/>
                </a:cubicBezTo>
                <a:cubicBezTo>
                  <a:pt x="9073838" y="578078"/>
                  <a:pt x="9073897" y="572454"/>
                  <a:pt x="9075209" y="566868"/>
                </a:cubicBezTo>
                <a:cubicBezTo>
                  <a:pt x="9075166" y="535786"/>
                  <a:pt x="9077616" y="505143"/>
                  <a:pt x="9082673" y="475137"/>
                </a:cubicBezTo>
                <a:lnTo>
                  <a:pt x="9083213" y="468500"/>
                </a:lnTo>
                <a:cubicBezTo>
                  <a:pt x="9083382" y="468495"/>
                  <a:pt x="9083551" y="468490"/>
                  <a:pt x="9083718" y="468437"/>
                </a:cubicBezTo>
                <a:cubicBezTo>
                  <a:pt x="9110021" y="285283"/>
                  <a:pt x="9199481" y="121704"/>
                  <a:pt x="9331225" y="0"/>
                </a:cubicBezTo>
                <a:close/>
                <a:moveTo>
                  <a:pt x="8257405" y="0"/>
                </a:moveTo>
                <a:lnTo>
                  <a:pt x="8391420" y="0"/>
                </a:lnTo>
                <a:cubicBezTo>
                  <a:pt x="8469316" y="226290"/>
                  <a:pt x="8665906" y="399791"/>
                  <a:pt x="8909958" y="451830"/>
                </a:cubicBezTo>
                <a:cubicBezTo>
                  <a:pt x="8872107" y="260867"/>
                  <a:pt x="8752698" y="98005"/>
                  <a:pt x="8587228" y="0"/>
                </a:cubicBezTo>
                <a:lnTo>
                  <a:pt x="8795937" y="0"/>
                </a:lnTo>
                <a:cubicBezTo>
                  <a:pt x="8927681" y="121704"/>
                  <a:pt x="9017142" y="285283"/>
                  <a:pt x="9043444" y="468437"/>
                </a:cubicBezTo>
                <a:cubicBezTo>
                  <a:pt x="9043612" y="468490"/>
                  <a:pt x="9043781" y="468495"/>
                  <a:pt x="9043950" y="468500"/>
                </a:cubicBezTo>
                <a:lnTo>
                  <a:pt x="9044490" y="475137"/>
                </a:lnTo>
                <a:cubicBezTo>
                  <a:pt x="9049547" y="505143"/>
                  <a:pt x="9051997" y="535786"/>
                  <a:pt x="9051954" y="566868"/>
                </a:cubicBezTo>
                <a:cubicBezTo>
                  <a:pt x="9053266" y="572454"/>
                  <a:pt x="9053325" y="578078"/>
                  <a:pt x="9053325" y="583715"/>
                </a:cubicBezTo>
                <a:cubicBezTo>
                  <a:pt x="9053325" y="587507"/>
                  <a:pt x="9053298" y="591293"/>
                  <a:pt x="9052732" y="595066"/>
                </a:cubicBezTo>
                <a:lnTo>
                  <a:pt x="9052233" y="595033"/>
                </a:lnTo>
                <a:lnTo>
                  <a:pt x="9052207" y="595524"/>
                </a:lnTo>
                <a:lnTo>
                  <a:pt x="9035089" y="593911"/>
                </a:lnTo>
                <a:cubicBezTo>
                  <a:pt x="9002714" y="593388"/>
                  <a:pt x="8970834" y="590430"/>
                  <a:pt x="8939662" y="584920"/>
                </a:cubicBezTo>
                <a:cubicBezTo>
                  <a:pt x="8934085" y="585336"/>
                  <a:pt x="8928756" y="584395"/>
                  <a:pt x="8923445" y="583392"/>
                </a:cubicBezTo>
                <a:lnTo>
                  <a:pt x="8923329" y="582253"/>
                </a:lnTo>
                <a:cubicBezTo>
                  <a:pt x="8601454" y="529393"/>
                  <a:pt x="8342182" y="299826"/>
                  <a:pt x="8257405" y="0"/>
                </a:cubicBezTo>
                <a:close/>
                <a:moveTo>
                  <a:pt x="7639075" y="0"/>
                </a:moveTo>
                <a:lnTo>
                  <a:pt x="7847784" y="0"/>
                </a:lnTo>
                <a:cubicBezTo>
                  <a:pt x="7682314" y="98005"/>
                  <a:pt x="7562905" y="260867"/>
                  <a:pt x="7525054" y="451830"/>
                </a:cubicBezTo>
                <a:cubicBezTo>
                  <a:pt x="7769107" y="399791"/>
                  <a:pt x="7965696" y="226290"/>
                  <a:pt x="8043592" y="0"/>
                </a:cubicBezTo>
                <a:lnTo>
                  <a:pt x="8177609" y="0"/>
                </a:lnTo>
                <a:cubicBezTo>
                  <a:pt x="8092830" y="299826"/>
                  <a:pt x="7833558" y="529393"/>
                  <a:pt x="7511683" y="582253"/>
                </a:cubicBezTo>
                <a:lnTo>
                  <a:pt x="7511567" y="583392"/>
                </a:lnTo>
                <a:cubicBezTo>
                  <a:pt x="7506256" y="584395"/>
                  <a:pt x="7500927" y="585336"/>
                  <a:pt x="7495350" y="584920"/>
                </a:cubicBezTo>
                <a:cubicBezTo>
                  <a:pt x="7464178" y="590430"/>
                  <a:pt x="7432298" y="593388"/>
                  <a:pt x="7399924" y="593911"/>
                </a:cubicBezTo>
                <a:lnTo>
                  <a:pt x="7382805" y="595524"/>
                </a:lnTo>
                <a:lnTo>
                  <a:pt x="7382779" y="595033"/>
                </a:lnTo>
                <a:lnTo>
                  <a:pt x="7382280" y="595066"/>
                </a:lnTo>
                <a:cubicBezTo>
                  <a:pt x="7381714" y="591293"/>
                  <a:pt x="7381687" y="587507"/>
                  <a:pt x="7381687" y="583715"/>
                </a:cubicBezTo>
                <a:cubicBezTo>
                  <a:pt x="7381687" y="578078"/>
                  <a:pt x="7381746" y="572454"/>
                  <a:pt x="7383058" y="566868"/>
                </a:cubicBezTo>
                <a:cubicBezTo>
                  <a:pt x="7383016" y="535786"/>
                  <a:pt x="7385465" y="505143"/>
                  <a:pt x="7390522" y="475137"/>
                </a:cubicBezTo>
                <a:lnTo>
                  <a:pt x="7391062" y="468500"/>
                </a:lnTo>
                <a:cubicBezTo>
                  <a:pt x="7391231" y="468495"/>
                  <a:pt x="7391400" y="468490"/>
                  <a:pt x="7391568" y="468437"/>
                </a:cubicBezTo>
                <a:cubicBezTo>
                  <a:pt x="7417870" y="285283"/>
                  <a:pt x="7507331" y="121703"/>
                  <a:pt x="7639075" y="0"/>
                </a:cubicBezTo>
                <a:close/>
                <a:moveTo>
                  <a:pt x="6565254" y="0"/>
                </a:moveTo>
                <a:lnTo>
                  <a:pt x="6699270" y="0"/>
                </a:lnTo>
                <a:cubicBezTo>
                  <a:pt x="6777166" y="226290"/>
                  <a:pt x="6973755" y="399791"/>
                  <a:pt x="7217807" y="451830"/>
                </a:cubicBezTo>
                <a:cubicBezTo>
                  <a:pt x="7179956" y="260867"/>
                  <a:pt x="7060547" y="98005"/>
                  <a:pt x="6895077" y="0"/>
                </a:cubicBezTo>
                <a:lnTo>
                  <a:pt x="7103787" y="0"/>
                </a:lnTo>
                <a:cubicBezTo>
                  <a:pt x="7235531" y="121704"/>
                  <a:pt x="7324992" y="285283"/>
                  <a:pt x="7351294" y="468437"/>
                </a:cubicBezTo>
                <a:cubicBezTo>
                  <a:pt x="7351461" y="468490"/>
                  <a:pt x="7351631" y="468495"/>
                  <a:pt x="7351799" y="468500"/>
                </a:cubicBezTo>
                <a:lnTo>
                  <a:pt x="7352340" y="475137"/>
                </a:lnTo>
                <a:cubicBezTo>
                  <a:pt x="7357396" y="505143"/>
                  <a:pt x="7359846" y="535786"/>
                  <a:pt x="7359804" y="566868"/>
                </a:cubicBezTo>
                <a:cubicBezTo>
                  <a:pt x="7361116" y="572454"/>
                  <a:pt x="7361174" y="578078"/>
                  <a:pt x="7361174" y="583715"/>
                </a:cubicBezTo>
                <a:cubicBezTo>
                  <a:pt x="7361174" y="587507"/>
                  <a:pt x="7361147" y="591293"/>
                  <a:pt x="7360581" y="595066"/>
                </a:cubicBezTo>
                <a:lnTo>
                  <a:pt x="7360082" y="595033"/>
                </a:lnTo>
                <a:lnTo>
                  <a:pt x="7360056" y="595524"/>
                </a:lnTo>
                <a:lnTo>
                  <a:pt x="7342938" y="593911"/>
                </a:lnTo>
                <a:cubicBezTo>
                  <a:pt x="7310564" y="593388"/>
                  <a:pt x="7278683" y="590430"/>
                  <a:pt x="7247511" y="584920"/>
                </a:cubicBezTo>
                <a:cubicBezTo>
                  <a:pt x="7241934" y="585336"/>
                  <a:pt x="7236605" y="584395"/>
                  <a:pt x="7231295" y="583392"/>
                </a:cubicBezTo>
                <a:lnTo>
                  <a:pt x="7231179" y="582253"/>
                </a:lnTo>
                <a:cubicBezTo>
                  <a:pt x="6909304" y="529393"/>
                  <a:pt x="6650032" y="299826"/>
                  <a:pt x="6565254" y="0"/>
                </a:cubicBezTo>
                <a:close/>
                <a:moveTo>
                  <a:pt x="5946924" y="0"/>
                </a:moveTo>
                <a:lnTo>
                  <a:pt x="6155633" y="0"/>
                </a:lnTo>
                <a:cubicBezTo>
                  <a:pt x="5990163" y="98005"/>
                  <a:pt x="5870754" y="260867"/>
                  <a:pt x="5832903" y="451830"/>
                </a:cubicBezTo>
                <a:cubicBezTo>
                  <a:pt x="6076956" y="399791"/>
                  <a:pt x="6273545" y="226290"/>
                  <a:pt x="6351441" y="0"/>
                </a:cubicBezTo>
                <a:lnTo>
                  <a:pt x="6485457" y="0"/>
                </a:lnTo>
                <a:cubicBezTo>
                  <a:pt x="6400679" y="299826"/>
                  <a:pt x="6141407" y="529393"/>
                  <a:pt x="5819531" y="582253"/>
                </a:cubicBezTo>
                <a:lnTo>
                  <a:pt x="5819415" y="583392"/>
                </a:lnTo>
                <a:cubicBezTo>
                  <a:pt x="5814105" y="584395"/>
                  <a:pt x="5808776" y="585336"/>
                  <a:pt x="5803199" y="584920"/>
                </a:cubicBezTo>
                <a:cubicBezTo>
                  <a:pt x="5772027" y="590430"/>
                  <a:pt x="5740146" y="593388"/>
                  <a:pt x="5707772" y="593911"/>
                </a:cubicBezTo>
                <a:lnTo>
                  <a:pt x="5690654" y="595524"/>
                </a:lnTo>
                <a:lnTo>
                  <a:pt x="5690628" y="595033"/>
                </a:lnTo>
                <a:lnTo>
                  <a:pt x="5690129" y="595066"/>
                </a:lnTo>
                <a:cubicBezTo>
                  <a:pt x="5689563" y="591293"/>
                  <a:pt x="5689536" y="587507"/>
                  <a:pt x="5689536" y="583715"/>
                </a:cubicBezTo>
                <a:cubicBezTo>
                  <a:pt x="5689536" y="578078"/>
                  <a:pt x="5689594" y="572454"/>
                  <a:pt x="5690906" y="566868"/>
                </a:cubicBezTo>
                <a:cubicBezTo>
                  <a:pt x="5690864" y="535786"/>
                  <a:pt x="5693314" y="505143"/>
                  <a:pt x="5698370" y="475137"/>
                </a:cubicBezTo>
                <a:lnTo>
                  <a:pt x="5698911" y="468500"/>
                </a:lnTo>
                <a:cubicBezTo>
                  <a:pt x="5699079" y="468495"/>
                  <a:pt x="5699249" y="468490"/>
                  <a:pt x="5699416" y="468437"/>
                </a:cubicBezTo>
                <a:cubicBezTo>
                  <a:pt x="5725719" y="285283"/>
                  <a:pt x="5815180" y="121704"/>
                  <a:pt x="5946924" y="0"/>
                </a:cubicBezTo>
                <a:close/>
                <a:moveTo>
                  <a:pt x="4873102" y="0"/>
                </a:moveTo>
                <a:lnTo>
                  <a:pt x="5007119" y="0"/>
                </a:lnTo>
                <a:cubicBezTo>
                  <a:pt x="5085015" y="226291"/>
                  <a:pt x="5281604" y="399791"/>
                  <a:pt x="5525656" y="451830"/>
                </a:cubicBezTo>
                <a:cubicBezTo>
                  <a:pt x="5487805" y="260867"/>
                  <a:pt x="5368397" y="98005"/>
                  <a:pt x="5202927" y="0"/>
                </a:cubicBezTo>
                <a:lnTo>
                  <a:pt x="5411635" y="0"/>
                </a:lnTo>
                <a:cubicBezTo>
                  <a:pt x="5543380" y="121703"/>
                  <a:pt x="5632840" y="285283"/>
                  <a:pt x="5659142" y="468437"/>
                </a:cubicBezTo>
                <a:cubicBezTo>
                  <a:pt x="5659310" y="468490"/>
                  <a:pt x="5659479" y="468495"/>
                  <a:pt x="5659648" y="468499"/>
                </a:cubicBezTo>
                <a:lnTo>
                  <a:pt x="5660188" y="475137"/>
                </a:lnTo>
                <a:cubicBezTo>
                  <a:pt x="5665245" y="505143"/>
                  <a:pt x="5667694" y="535786"/>
                  <a:pt x="5667652" y="566868"/>
                </a:cubicBezTo>
                <a:cubicBezTo>
                  <a:pt x="5668964" y="572454"/>
                  <a:pt x="5669023" y="578078"/>
                  <a:pt x="5669023" y="583715"/>
                </a:cubicBezTo>
                <a:cubicBezTo>
                  <a:pt x="5669023" y="587508"/>
                  <a:pt x="5668996" y="591293"/>
                  <a:pt x="5668430" y="595066"/>
                </a:cubicBezTo>
                <a:lnTo>
                  <a:pt x="5667931" y="595033"/>
                </a:lnTo>
                <a:lnTo>
                  <a:pt x="5667905" y="595524"/>
                </a:lnTo>
                <a:lnTo>
                  <a:pt x="5650786" y="593911"/>
                </a:lnTo>
                <a:cubicBezTo>
                  <a:pt x="5618412" y="593388"/>
                  <a:pt x="5586532" y="590430"/>
                  <a:pt x="5555360" y="584920"/>
                </a:cubicBezTo>
                <a:cubicBezTo>
                  <a:pt x="5549783" y="585336"/>
                  <a:pt x="5544454" y="584395"/>
                  <a:pt x="5539143" y="583392"/>
                </a:cubicBezTo>
                <a:lnTo>
                  <a:pt x="5539027" y="582253"/>
                </a:lnTo>
                <a:cubicBezTo>
                  <a:pt x="5217153" y="529393"/>
                  <a:pt x="4957881" y="299826"/>
                  <a:pt x="4873102" y="0"/>
                </a:cubicBezTo>
                <a:close/>
                <a:moveTo>
                  <a:pt x="4254773" y="0"/>
                </a:moveTo>
                <a:lnTo>
                  <a:pt x="4463482" y="0"/>
                </a:lnTo>
                <a:cubicBezTo>
                  <a:pt x="4298012" y="98005"/>
                  <a:pt x="4178603" y="260867"/>
                  <a:pt x="4140752" y="451830"/>
                </a:cubicBezTo>
                <a:cubicBezTo>
                  <a:pt x="4384804" y="399791"/>
                  <a:pt x="4581394" y="226291"/>
                  <a:pt x="4659290" y="0"/>
                </a:cubicBezTo>
                <a:lnTo>
                  <a:pt x="4793306" y="0"/>
                </a:lnTo>
                <a:cubicBezTo>
                  <a:pt x="4708528" y="299826"/>
                  <a:pt x="4449256" y="529393"/>
                  <a:pt x="4127381" y="582253"/>
                </a:cubicBezTo>
                <a:lnTo>
                  <a:pt x="4127264" y="583392"/>
                </a:lnTo>
                <a:cubicBezTo>
                  <a:pt x="4121954" y="584395"/>
                  <a:pt x="4116625" y="585336"/>
                  <a:pt x="4111048" y="584920"/>
                </a:cubicBezTo>
                <a:cubicBezTo>
                  <a:pt x="4079876" y="590430"/>
                  <a:pt x="4047996" y="593388"/>
                  <a:pt x="4015621" y="593911"/>
                </a:cubicBezTo>
                <a:lnTo>
                  <a:pt x="3998503" y="595524"/>
                </a:lnTo>
                <a:lnTo>
                  <a:pt x="3998477" y="595033"/>
                </a:lnTo>
                <a:lnTo>
                  <a:pt x="3997978" y="595066"/>
                </a:lnTo>
                <a:cubicBezTo>
                  <a:pt x="3997412" y="591293"/>
                  <a:pt x="3997385" y="587507"/>
                  <a:pt x="3997385" y="583715"/>
                </a:cubicBezTo>
                <a:cubicBezTo>
                  <a:pt x="3997385" y="578078"/>
                  <a:pt x="3997443" y="572454"/>
                  <a:pt x="3998755" y="566868"/>
                </a:cubicBezTo>
                <a:cubicBezTo>
                  <a:pt x="3998713" y="535786"/>
                  <a:pt x="4001163" y="505143"/>
                  <a:pt x="4006219" y="475137"/>
                </a:cubicBezTo>
                <a:lnTo>
                  <a:pt x="4006760" y="468499"/>
                </a:lnTo>
                <a:cubicBezTo>
                  <a:pt x="4006928" y="468495"/>
                  <a:pt x="4007098" y="468490"/>
                  <a:pt x="4007265" y="468437"/>
                </a:cubicBezTo>
                <a:cubicBezTo>
                  <a:pt x="4033568" y="285283"/>
                  <a:pt x="4123028" y="121703"/>
                  <a:pt x="4254773" y="0"/>
                </a:cubicBezTo>
                <a:close/>
                <a:moveTo>
                  <a:pt x="3180951" y="0"/>
                </a:moveTo>
                <a:lnTo>
                  <a:pt x="3314968" y="0"/>
                </a:lnTo>
                <a:cubicBezTo>
                  <a:pt x="3392864" y="226291"/>
                  <a:pt x="3589453" y="399791"/>
                  <a:pt x="3833505" y="451830"/>
                </a:cubicBezTo>
                <a:cubicBezTo>
                  <a:pt x="3795654" y="260867"/>
                  <a:pt x="3676245" y="98005"/>
                  <a:pt x="3510776" y="0"/>
                </a:cubicBezTo>
                <a:lnTo>
                  <a:pt x="3719484" y="0"/>
                </a:lnTo>
                <a:cubicBezTo>
                  <a:pt x="3851229" y="121703"/>
                  <a:pt x="3940689" y="285283"/>
                  <a:pt x="3966991" y="468437"/>
                </a:cubicBezTo>
                <a:cubicBezTo>
                  <a:pt x="3967159" y="468490"/>
                  <a:pt x="3967328" y="468495"/>
                  <a:pt x="3967497" y="468499"/>
                </a:cubicBezTo>
                <a:lnTo>
                  <a:pt x="3968037" y="475137"/>
                </a:lnTo>
                <a:cubicBezTo>
                  <a:pt x="3973094" y="505143"/>
                  <a:pt x="3975543" y="535786"/>
                  <a:pt x="3975501" y="566868"/>
                </a:cubicBezTo>
                <a:cubicBezTo>
                  <a:pt x="3976813" y="572454"/>
                  <a:pt x="3976872" y="578078"/>
                  <a:pt x="3976872" y="583715"/>
                </a:cubicBezTo>
                <a:cubicBezTo>
                  <a:pt x="3976872" y="587508"/>
                  <a:pt x="3976845" y="591293"/>
                  <a:pt x="3976279" y="595066"/>
                </a:cubicBezTo>
                <a:lnTo>
                  <a:pt x="3975780" y="595033"/>
                </a:lnTo>
                <a:lnTo>
                  <a:pt x="3975754" y="595524"/>
                </a:lnTo>
                <a:lnTo>
                  <a:pt x="3958635" y="593911"/>
                </a:lnTo>
                <a:cubicBezTo>
                  <a:pt x="3926261" y="593388"/>
                  <a:pt x="3894381" y="590430"/>
                  <a:pt x="3863209" y="584920"/>
                </a:cubicBezTo>
                <a:cubicBezTo>
                  <a:pt x="3857632" y="585336"/>
                  <a:pt x="3852303" y="584395"/>
                  <a:pt x="3846992" y="583392"/>
                </a:cubicBezTo>
                <a:lnTo>
                  <a:pt x="3846876" y="582253"/>
                </a:lnTo>
                <a:cubicBezTo>
                  <a:pt x="3525002" y="529393"/>
                  <a:pt x="3265729" y="299826"/>
                  <a:pt x="3180951" y="0"/>
                </a:cubicBezTo>
                <a:close/>
                <a:moveTo>
                  <a:pt x="2562622" y="0"/>
                </a:moveTo>
                <a:lnTo>
                  <a:pt x="2771330" y="0"/>
                </a:lnTo>
                <a:cubicBezTo>
                  <a:pt x="2605861" y="98005"/>
                  <a:pt x="2486452" y="260867"/>
                  <a:pt x="2448601" y="451830"/>
                </a:cubicBezTo>
                <a:cubicBezTo>
                  <a:pt x="2692653" y="399791"/>
                  <a:pt x="2889242" y="226291"/>
                  <a:pt x="2967139" y="0"/>
                </a:cubicBezTo>
                <a:lnTo>
                  <a:pt x="3101155" y="0"/>
                </a:lnTo>
                <a:cubicBezTo>
                  <a:pt x="3016377" y="299826"/>
                  <a:pt x="2757105" y="529393"/>
                  <a:pt x="2435230" y="582253"/>
                </a:cubicBezTo>
                <a:lnTo>
                  <a:pt x="2435113" y="583392"/>
                </a:lnTo>
                <a:cubicBezTo>
                  <a:pt x="2429803" y="584395"/>
                  <a:pt x="2424474" y="585336"/>
                  <a:pt x="2418897" y="584920"/>
                </a:cubicBezTo>
                <a:cubicBezTo>
                  <a:pt x="2387725" y="590430"/>
                  <a:pt x="2355845" y="593388"/>
                  <a:pt x="2323470" y="593911"/>
                </a:cubicBezTo>
                <a:lnTo>
                  <a:pt x="2306352" y="595524"/>
                </a:lnTo>
                <a:lnTo>
                  <a:pt x="2306326" y="595033"/>
                </a:lnTo>
                <a:lnTo>
                  <a:pt x="2305827" y="595066"/>
                </a:lnTo>
                <a:cubicBezTo>
                  <a:pt x="2305261" y="591293"/>
                  <a:pt x="2305234" y="587507"/>
                  <a:pt x="2305234" y="583715"/>
                </a:cubicBezTo>
                <a:cubicBezTo>
                  <a:pt x="2305234" y="578078"/>
                  <a:pt x="2305292" y="572454"/>
                  <a:pt x="2306604" y="566868"/>
                </a:cubicBezTo>
                <a:cubicBezTo>
                  <a:pt x="2306562" y="535786"/>
                  <a:pt x="2309012" y="505143"/>
                  <a:pt x="2314068" y="475137"/>
                </a:cubicBezTo>
                <a:lnTo>
                  <a:pt x="2314609" y="468499"/>
                </a:lnTo>
                <a:cubicBezTo>
                  <a:pt x="2314777" y="468495"/>
                  <a:pt x="2314947" y="468490"/>
                  <a:pt x="2315114" y="468437"/>
                </a:cubicBezTo>
                <a:cubicBezTo>
                  <a:pt x="2341417" y="285283"/>
                  <a:pt x="2430877" y="121704"/>
                  <a:pt x="2562622" y="0"/>
                </a:cubicBezTo>
                <a:close/>
                <a:moveTo>
                  <a:pt x="1488800" y="0"/>
                </a:moveTo>
                <a:lnTo>
                  <a:pt x="1622816" y="0"/>
                </a:lnTo>
                <a:cubicBezTo>
                  <a:pt x="1700712" y="226290"/>
                  <a:pt x="1897302" y="399791"/>
                  <a:pt x="2141354" y="451830"/>
                </a:cubicBezTo>
                <a:cubicBezTo>
                  <a:pt x="2103503" y="260867"/>
                  <a:pt x="1984094" y="98005"/>
                  <a:pt x="1818624" y="0"/>
                </a:cubicBezTo>
                <a:lnTo>
                  <a:pt x="2027333" y="0"/>
                </a:lnTo>
                <a:cubicBezTo>
                  <a:pt x="2159078" y="121703"/>
                  <a:pt x="2248538" y="285283"/>
                  <a:pt x="2274840" y="468437"/>
                </a:cubicBezTo>
                <a:cubicBezTo>
                  <a:pt x="2275008" y="468490"/>
                  <a:pt x="2275177" y="468495"/>
                  <a:pt x="2275346" y="468500"/>
                </a:cubicBezTo>
                <a:lnTo>
                  <a:pt x="2275886" y="475137"/>
                </a:lnTo>
                <a:cubicBezTo>
                  <a:pt x="2280943" y="505143"/>
                  <a:pt x="2283392" y="535786"/>
                  <a:pt x="2283350" y="566868"/>
                </a:cubicBezTo>
                <a:cubicBezTo>
                  <a:pt x="2284662" y="572454"/>
                  <a:pt x="2284721" y="578078"/>
                  <a:pt x="2284721" y="583715"/>
                </a:cubicBezTo>
                <a:cubicBezTo>
                  <a:pt x="2284721" y="587508"/>
                  <a:pt x="2284694" y="591293"/>
                  <a:pt x="2284128" y="595066"/>
                </a:cubicBezTo>
                <a:lnTo>
                  <a:pt x="2283629" y="595033"/>
                </a:lnTo>
                <a:lnTo>
                  <a:pt x="2283603" y="595524"/>
                </a:lnTo>
                <a:lnTo>
                  <a:pt x="2266484" y="593911"/>
                </a:lnTo>
                <a:cubicBezTo>
                  <a:pt x="2234110" y="593388"/>
                  <a:pt x="2202230" y="590430"/>
                  <a:pt x="2171058" y="584920"/>
                </a:cubicBezTo>
                <a:cubicBezTo>
                  <a:pt x="2165481" y="585336"/>
                  <a:pt x="2160152" y="584395"/>
                  <a:pt x="2154841" y="583392"/>
                </a:cubicBezTo>
                <a:lnTo>
                  <a:pt x="2154725" y="582253"/>
                </a:lnTo>
                <a:cubicBezTo>
                  <a:pt x="1832850" y="529393"/>
                  <a:pt x="1573578" y="299826"/>
                  <a:pt x="1488800" y="0"/>
                </a:cubicBezTo>
                <a:close/>
                <a:moveTo>
                  <a:pt x="870471" y="0"/>
                </a:moveTo>
                <a:lnTo>
                  <a:pt x="1079179" y="0"/>
                </a:lnTo>
                <a:cubicBezTo>
                  <a:pt x="913710" y="98005"/>
                  <a:pt x="794301" y="260867"/>
                  <a:pt x="756450" y="451830"/>
                </a:cubicBezTo>
                <a:cubicBezTo>
                  <a:pt x="1000502" y="399791"/>
                  <a:pt x="1197091" y="226291"/>
                  <a:pt x="1274988" y="0"/>
                </a:cubicBezTo>
                <a:lnTo>
                  <a:pt x="1409004" y="0"/>
                </a:lnTo>
                <a:cubicBezTo>
                  <a:pt x="1324226" y="299826"/>
                  <a:pt x="1064954" y="529393"/>
                  <a:pt x="743078" y="582253"/>
                </a:cubicBezTo>
                <a:lnTo>
                  <a:pt x="742962" y="583392"/>
                </a:lnTo>
                <a:cubicBezTo>
                  <a:pt x="737652" y="584395"/>
                  <a:pt x="732323" y="585336"/>
                  <a:pt x="726746" y="584920"/>
                </a:cubicBezTo>
                <a:cubicBezTo>
                  <a:pt x="695574" y="590430"/>
                  <a:pt x="663693" y="593388"/>
                  <a:pt x="631319" y="593911"/>
                </a:cubicBezTo>
                <a:lnTo>
                  <a:pt x="614201" y="595524"/>
                </a:lnTo>
                <a:lnTo>
                  <a:pt x="614175" y="595033"/>
                </a:lnTo>
                <a:lnTo>
                  <a:pt x="613676" y="595066"/>
                </a:lnTo>
                <a:cubicBezTo>
                  <a:pt x="613110" y="591293"/>
                  <a:pt x="613083" y="587507"/>
                  <a:pt x="613083" y="583715"/>
                </a:cubicBezTo>
                <a:cubicBezTo>
                  <a:pt x="613083" y="578078"/>
                  <a:pt x="613141" y="572454"/>
                  <a:pt x="614453" y="566868"/>
                </a:cubicBezTo>
                <a:cubicBezTo>
                  <a:pt x="614411" y="535786"/>
                  <a:pt x="616861" y="505143"/>
                  <a:pt x="621918" y="475137"/>
                </a:cubicBezTo>
                <a:lnTo>
                  <a:pt x="622458" y="468499"/>
                </a:lnTo>
                <a:cubicBezTo>
                  <a:pt x="622626" y="468495"/>
                  <a:pt x="622796" y="468490"/>
                  <a:pt x="622963" y="468437"/>
                </a:cubicBezTo>
                <a:cubicBezTo>
                  <a:pt x="649266" y="285283"/>
                  <a:pt x="738726" y="121703"/>
                  <a:pt x="870471" y="0"/>
                </a:cubicBezTo>
                <a:close/>
                <a:moveTo>
                  <a:pt x="126374" y="0"/>
                </a:moveTo>
                <a:lnTo>
                  <a:pt x="334376" y="0"/>
                </a:lnTo>
                <a:cubicBezTo>
                  <a:pt x="466684" y="121261"/>
                  <a:pt x="556352" y="285035"/>
                  <a:pt x="582690" y="468437"/>
                </a:cubicBezTo>
                <a:cubicBezTo>
                  <a:pt x="582857" y="468490"/>
                  <a:pt x="583026" y="468495"/>
                  <a:pt x="583195" y="468499"/>
                </a:cubicBezTo>
                <a:lnTo>
                  <a:pt x="583735" y="475137"/>
                </a:lnTo>
                <a:cubicBezTo>
                  <a:pt x="588792" y="505143"/>
                  <a:pt x="591242" y="535786"/>
                  <a:pt x="591199" y="566868"/>
                </a:cubicBezTo>
                <a:cubicBezTo>
                  <a:pt x="592511" y="572454"/>
                  <a:pt x="592570" y="578078"/>
                  <a:pt x="592570" y="583715"/>
                </a:cubicBezTo>
                <a:cubicBezTo>
                  <a:pt x="592570" y="587507"/>
                  <a:pt x="592543" y="591293"/>
                  <a:pt x="591977" y="595066"/>
                </a:cubicBezTo>
                <a:lnTo>
                  <a:pt x="591478" y="595033"/>
                </a:lnTo>
                <a:lnTo>
                  <a:pt x="591452" y="595524"/>
                </a:lnTo>
                <a:lnTo>
                  <a:pt x="574334" y="593911"/>
                </a:lnTo>
                <a:cubicBezTo>
                  <a:pt x="541959" y="593388"/>
                  <a:pt x="510079" y="590430"/>
                  <a:pt x="478907" y="584920"/>
                </a:cubicBezTo>
                <a:cubicBezTo>
                  <a:pt x="473330" y="585336"/>
                  <a:pt x="468001" y="584395"/>
                  <a:pt x="462690" y="583392"/>
                </a:cubicBezTo>
                <a:lnTo>
                  <a:pt x="462574" y="582253"/>
                </a:lnTo>
                <a:cubicBezTo>
                  <a:pt x="282200" y="552631"/>
                  <a:pt x="121485" y="467518"/>
                  <a:pt x="0" y="345575"/>
                </a:cubicBezTo>
                <a:lnTo>
                  <a:pt x="0" y="140406"/>
                </a:lnTo>
                <a:cubicBezTo>
                  <a:pt x="97584" y="296912"/>
                  <a:pt x="258975" y="411268"/>
                  <a:pt x="449203" y="451830"/>
                </a:cubicBezTo>
                <a:cubicBezTo>
                  <a:pt x="411344" y="260824"/>
                  <a:pt x="291889" y="97931"/>
                  <a:pt x="126374" y="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Tree>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024128" y="585217"/>
            <a:ext cx="9720072" cy="751878"/>
          </a:xfrm>
        </p:spPr>
        <p:txBody>
          <a:bodyPr/>
          <a:lstStyle/>
          <a:p>
            <a:r>
              <a:rPr lang="en-US" dirty="0"/>
              <a:t>Click to edit Master title style</a:t>
            </a:r>
          </a:p>
        </p:txBody>
      </p:sp>
      <p:sp>
        <p:nvSpPr>
          <p:cNvPr id="3" name="Content Placeholder 2"/>
          <p:cNvSpPr>
            <a:spLocks noGrp="1"/>
          </p:cNvSpPr>
          <p:nvPr>
            <p:ph sz="half" idx="1"/>
          </p:nvPr>
        </p:nvSpPr>
        <p:spPr>
          <a:xfrm>
            <a:off x="1024127" y="2286000"/>
            <a:ext cx="4754880" cy="402336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5989320" y="2286000"/>
            <a:ext cx="475488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1024128" y="1498152"/>
            <a:ext cx="4754880" cy="822960"/>
          </a:xfrm>
        </p:spPr>
        <p:txBody>
          <a:bodyPr lIns="137160" rIns="137160" anchor="ctr">
            <a:normAutofit/>
          </a:bodyPr>
          <a:lstStyle>
            <a:lvl1pPr marL="0" indent="0">
              <a:spcBef>
                <a:spcPts val="0"/>
              </a:spcBef>
              <a:spcAft>
                <a:spcPts val="0"/>
              </a:spcAft>
              <a:buNone/>
              <a:defRPr sz="2300" b="0" cap="none" baseline="0">
                <a:solidFill>
                  <a:schemeClr val="accent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2412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990888" y="1498152"/>
            <a:ext cx="4754880" cy="822960"/>
          </a:xfrm>
        </p:spPr>
        <p:txBody>
          <a:bodyPr lIns="137160" rIns="137160" anchor="ctr">
            <a:normAutofit/>
          </a:bodyPr>
          <a:lstStyle>
            <a:lvl1pPr marL="0" indent="0">
              <a:spcBef>
                <a:spcPts val="0"/>
              </a:spcBef>
              <a:spcAft>
                <a:spcPts val="0"/>
              </a:spcAft>
              <a:buNone/>
              <a:defRPr lang="en-US" sz="2300" b="0" kern="1200" cap="none" baseline="0" dirty="0">
                <a:solidFill>
                  <a:schemeClr val="accent1"/>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1800"/>
              </a:spcBef>
              <a:buNone/>
            </a:pPr>
            <a:r>
              <a:rPr lang="en-US"/>
              <a:t>Click to edit Master text styles</a:t>
            </a:r>
          </a:p>
        </p:txBody>
      </p:sp>
      <p:sp>
        <p:nvSpPr>
          <p:cNvPr id="6" name="Content Placeholder 5"/>
          <p:cNvSpPr>
            <a:spLocks noGrp="1"/>
          </p:cNvSpPr>
          <p:nvPr>
            <p:ph sz="quarter" idx="4"/>
          </p:nvPr>
        </p:nvSpPr>
        <p:spPr>
          <a:xfrm>
            <a:off x="5990888" y="2286304"/>
            <a:ext cx="4754880" cy="39864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8" name="Footer Placeholder 7"/>
          <p:cNvSpPr>
            <a:spLocks noGrp="1"/>
          </p:cNvSpPr>
          <p:nvPr>
            <p:ph type="ftr" sz="quarter" idx="11"/>
          </p:nvPr>
        </p:nvSpPr>
        <p:spPr/>
        <p:txBody>
          <a:bodyPr/>
          <a:lstStyle/>
          <a:p>
            <a:endParaRPr lang="en-US">
              <a:solidFill>
                <a:prstClr val="black">
                  <a:lumMod val="95000"/>
                  <a:lumOff val="5000"/>
                </a:prstClr>
              </a:solidFill>
            </a:endParaRPr>
          </a:p>
        </p:txBody>
      </p:sp>
      <p:sp>
        <p:nvSpPr>
          <p:cNvPr id="9" name="Slide Number Placeholder 8"/>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4" name="Footer Placeholder 3"/>
          <p:cNvSpPr>
            <a:spLocks noGrp="1"/>
          </p:cNvSpPr>
          <p:nvPr>
            <p:ph type="ftr" sz="quarter" idx="11"/>
          </p:nvPr>
        </p:nvSpPr>
        <p:spPr/>
        <p:txBody>
          <a:bodyPr/>
          <a:lstStyle/>
          <a:p>
            <a:endParaRPr lang="en-US">
              <a:solidFill>
                <a:prstClr val="black">
                  <a:lumMod val="95000"/>
                  <a:lumOff val="5000"/>
                </a:prstClr>
              </a:solidFill>
            </a:endParaRPr>
          </a:p>
        </p:txBody>
      </p:sp>
      <p:sp>
        <p:nvSpPr>
          <p:cNvPr id="5" name="Slide Number Placeholder 4"/>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Your_Turn_10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12"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30"/>
            <a:ext cx="2130970" cy="637613"/>
          </a:xfrm>
          <a:prstGeom prst="rect">
            <a:avLst/>
          </a:prstGeom>
          <a:ln w="12700">
            <a:solidFill>
              <a:srgbClr val="A6AAA9"/>
            </a:solidFill>
            <a:miter lim="400000"/>
          </a:ln>
        </p:spPr>
      </p:pic>
      <p:sp>
        <p:nvSpPr>
          <p:cNvPr id="18"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12"/>
                </p:tgtEl>
              </p:cMediaNode>
            </p:video>
          </p:childTnLst>
        </p:cTn>
      </p:par>
    </p:tnLst>
  </p:timing>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Your_Turn_5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Black_W_10_Alarm-6">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8"/>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pic>
        <p:nvPicPr>
          <p:cNvPr id="8" name="Timer_Black_W_10_Alarm-6.mov" descr="Timer_Black_W_10_Alarm-6.mov"/>
          <p:cNvPicPr>
            <a:picLocks/>
          </p:cNvPicPr>
          <p:nvPr userDrawn="1">
            <a:videoFile r:link="rId2"/>
            <p:extLst>
              <p:ext uri="{DAA4B4D4-6D71-4841-9C94-3DE7FCFB9230}">
                <p14:media xmlns:p14="http://schemas.microsoft.com/office/powerpoint/2010/main" r:embed="rId1"/>
              </p:ext>
            </p:extLst>
          </p:nvPr>
        </p:nvPicPr>
        <p:blipFill>
          <a:blip r:embed="rId5"/>
          <a:stretch>
            <a:fillRect/>
          </a:stretch>
        </p:blipFill>
        <p:spPr>
          <a:xfrm>
            <a:off x="19088406" y="11645648"/>
            <a:ext cx="4544635" cy="1359812"/>
          </a:xfrm>
          <a:prstGeom prst="rect">
            <a:avLst/>
          </a:prstGeom>
          <a:ln w="12700">
            <a:solidFill>
              <a:srgbClr val="A6AAA9"/>
            </a:solidFill>
            <a:miter lim="400000"/>
          </a:ln>
        </p:spPr>
      </p:pic>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10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100000">
                <p:cTn id="7" fill="hold" display="0">
                  <p:stCondLst>
                    <p:cond delay="indefinite"/>
                  </p:stCondLst>
                </p:cTn>
                <p:tgtEl>
                  <p:spTgt spid="8"/>
                </p:tgtEl>
              </p:cMediaNode>
            </p:video>
            <p:seq concurrent="1" nextAc="seek">
              <p:cTn id="8" restart="whenNotActive" fill="hold" evtFilter="cancelBubble" nodeType="interactiveSeq">
                <p:stCondLst>
                  <p:cond evt="onClick" delay="0">
                    <p:tgtEl>
                      <p:spTgt spid="6"/>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6"/>
                                        </p:tgtEl>
                                      </p:cBhvr>
                                    </p:cmd>
                                  </p:childTnLst>
                                </p:cTn>
                              </p:par>
                            </p:childTnLst>
                          </p:cTn>
                        </p:par>
                      </p:childTnLst>
                    </p:cTn>
                  </p:par>
                </p:childTnLst>
              </p:cTn>
              <p:nextCondLst>
                <p:cond evt="onClick" delay="0">
                  <p:tgtEl>
                    <p:spTgt spid="6"/>
                  </p:tgtEl>
                </p:cond>
              </p:nextCondLst>
            </p:seq>
            <p:video>
              <p:cMediaNode vol="80000">
                <p:cTn id="13"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Your_Turn_3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 name="timer_3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0"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
                                        </p:tgtEl>
                                      </p:cBhvr>
                                    </p:cmd>
                                  </p:childTnLst>
                                </p:cTn>
                              </p:par>
                            </p:childTnLst>
                          </p:cTn>
                        </p:par>
                      </p:childTnLst>
                    </p:cTn>
                  </p:par>
                </p:childTnLst>
              </p:cTn>
              <p:nextCondLst>
                <p:cond evt="onClick" delay="0">
                  <p:tgtEl>
                    <p:spTgt spid="6"/>
                  </p:tgtEl>
                </p:cond>
              </p:nextCondLst>
            </p:seq>
            <p:video>
              <p:cMediaNode vol="80000">
                <p:cTn id="7" fill="hold" display="0">
                  <p:stCondLst>
                    <p:cond delay="indefinite"/>
                  </p:stCondLst>
                </p:cTn>
                <p:tgtEl>
                  <p:spTgt spid="6"/>
                </p:tgtEl>
              </p:cMediaNode>
            </p:video>
          </p:childTnLst>
        </p:cTn>
      </p:par>
    </p:tnLst>
  </p:timing>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Your_Turn_1min">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pic>
        <p:nvPicPr>
          <p:cNvPr id="67" name="timer_1min">
            <a:hlinkClick r:id="" action="ppaction://media"/>
          </p:cNvPr>
          <p:cNvPicPr>
            <a:picLocks noChangeAspect="1"/>
          </p:cNvPicPr>
          <p:nvPr userDrawn="1">
            <a:videoFile r:link="rId2"/>
            <p:extLst>
              <p:ext uri="{DAA4B4D4-6D71-4841-9C94-3DE7FCFB9230}">
                <p14:media xmlns:p14="http://schemas.microsoft.com/office/powerpoint/2010/main" r:embed="rId1"/>
              </p:ext>
            </p:extLst>
          </p:nvPr>
        </p:nvPicPr>
        <p:blipFill>
          <a:blip r:embed="rId4"/>
          <a:stretch>
            <a:fillRect/>
          </a:stretch>
        </p:blipFill>
        <p:spPr>
          <a:xfrm>
            <a:off x="9680030" y="5679827"/>
            <a:ext cx="2130970" cy="637613"/>
          </a:xfrm>
          <a:prstGeom prst="rect">
            <a:avLst/>
          </a:prstGeom>
          <a:ln>
            <a:solidFill>
              <a:schemeClr val="bg1">
                <a:lumMod val="50000"/>
              </a:schemeClr>
            </a:solidFill>
          </a:ln>
        </p:spPr>
      </p:pic>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cSld>
  <p:clrMapOvr>
    <a:masterClrMapping/>
  </p:clrMapOvr>
  <p:timing>
    <p:tnLst>
      <p:par>
        <p:cTn id="1" dur="indefinite" restart="never" nodeType="tmRoot">
          <p:childTnLst>
            <p:seq concurrent="1" nextAc="seek">
              <p:cTn id="2" restart="whenNotActive" fill="hold" evtFilter="cancelBubble" nodeType="interactiveSeq">
                <p:stCondLst>
                  <p:cond evt="onClick" delay="0">
                    <p:tgtEl>
                      <p:spTgt spid="67"/>
                    </p:tgtEl>
                  </p:cond>
                </p:stCondLst>
                <p:endSync evt="end" delay="0">
                  <p:rtn val="all"/>
                </p:endSync>
                <p:childTnLst>
                  <p:par>
                    <p:cTn id="3" fill="hold">
                      <p:stCondLst>
                        <p:cond delay="0"/>
                      </p:stCondLst>
                      <p:childTnLst>
                        <p:par>
                          <p:cTn id="4" fill="hold">
                            <p:stCondLst>
                              <p:cond delay="0"/>
                            </p:stCondLst>
                            <p:childTnLst>
                              <p:par>
                                <p:cTn id="5" presetID="2" presetClass="mediacall" presetSubtype="0" fill="hold" nodeType="clickEffect">
                                  <p:stCondLst>
                                    <p:cond delay="0"/>
                                  </p:stCondLst>
                                  <p:childTnLst>
                                    <p:cmd type="call" cmd="togglePause">
                                      <p:cBhvr>
                                        <p:cTn id="6" dur="1" fill="hold"/>
                                        <p:tgtEl>
                                          <p:spTgt spid="67"/>
                                        </p:tgtEl>
                                      </p:cBhvr>
                                    </p:cmd>
                                  </p:childTnLst>
                                </p:cTn>
                              </p:par>
                            </p:childTnLst>
                          </p:cTn>
                        </p:par>
                      </p:childTnLst>
                    </p:cTn>
                  </p:par>
                </p:childTnLst>
              </p:cTn>
              <p:nextCondLst>
                <p:cond evt="onClick" delay="0">
                  <p:tgtEl>
                    <p:spTgt spid="67"/>
                  </p:tgtEl>
                </p:cond>
              </p:nextCondLst>
            </p:seq>
            <p:video>
              <p:cMediaNode vol="80000">
                <p:cTn id="7" fill="hold" display="0">
                  <p:stCondLst>
                    <p:cond delay="indefinite"/>
                  </p:stCondLst>
                </p:cTn>
                <p:tgtEl>
                  <p:spTgt spid="67"/>
                </p:tgtEl>
              </p:cMediaNode>
            </p:video>
          </p:childTnLst>
        </p:cTn>
      </p:par>
    </p:tnLst>
  </p:timing>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Your_Turn_no_timer">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
        <p:nvSpPr>
          <p:cNvPr id="5" name="Title 1"/>
          <p:cNvSpPr>
            <a:spLocks noGrp="1"/>
          </p:cNvSpPr>
          <p:nvPr>
            <p:ph type="title" hasCustomPrompt="1"/>
          </p:nvPr>
        </p:nvSpPr>
        <p:spPr>
          <a:xfrm>
            <a:off x="1024128" y="585216"/>
            <a:ext cx="9720072" cy="1499616"/>
          </a:xfrm>
        </p:spPr>
        <p:txBody>
          <a:bodyPr>
            <a:normAutofit/>
          </a:bodyPr>
          <a:lstStyle>
            <a:lvl1pPr algn="ctr">
              <a:defRPr sz="6600">
                <a:solidFill>
                  <a:schemeClr val="accent4">
                    <a:lumMod val="75000"/>
                  </a:schemeClr>
                </a:solidFill>
              </a:defRPr>
            </a:lvl1pPr>
          </a:lstStyle>
          <a:p>
            <a:r>
              <a:rPr lang="en-US" dirty="0"/>
              <a:t>Your Turn</a:t>
            </a:r>
          </a:p>
        </p:txBody>
      </p:sp>
      <p:sp>
        <p:nvSpPr>
          <p:cNvPr id="11" name="Text Placeholder 17"/>
          <p:cNvSpPr>
            <a:spLocks noGrp="1"/>
          </p:cNvSpPr>
          <p:nvPr>
            <p:ph type="body" sz="quarter" idx="13" hasCustomPrompt="1"/>
          </p:nvPr>
        </p:nvSpPr>
        <p:spPr>
          <a:xfrm>
            <a:off x="1024128" y="2238375"/>
            <a:ext cx="9720072" cy="3178175"/>
          </a:xfrm>
        </p:spPr>
        <p:txBody>
          <a:bodyPr>
            <a:normAutofit/>
          </a:bodyPr>
          <a:lstStyle>
            <a:lvl1pPr>
              <a:defRPr sz="4800">
                <a:solidFill>
                  <a:schemeClr val="accent4">
                    <a:lumMod val="75000"/>
                  </a:schemeClr>
                </a:solidFill>
              </a:defRPr>
            </a:lvl1pPr>
            <a:lvl2pPr>
              <a:defRPr sz="2800"/>
            </a:lvl2pPr>
            <a:lvl3pPr>
              <a:defRPr sz="2000"/>
            </a:lvl3pPr>
            <a:lvl4pPr>
              <a:defRPr sz="2000"/>
            </a:lvl4pPr>
            <a:lvl5pPr>
              <a:defRPr sz="2000"/>
            </a:lvl5pPr>
          </a:lstStyle>
          <a:p>
            <a:pPr lvl="0"/>
            <a:r>
              <a:rPr lang="en-US" dirty="0"/>
              <a:t>An exercise</a:t>
            </a:r>
          </a:p>
        </p:txBody>
      </p:sp>
    </p:spTree>
    <p:extLst>
      <p:ext uri="{BB962C8B-B14F-4D97-AF65-F5344CB8AC3E}">
        <p14:creationId xmlns:p14="http://schemas.microsoft.com/office/powerpoint/2010/main" val="3222826489"/>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3" name="Footer Placeholder 2"/>
          <p:cNvSpPr>
            <a:spLocks noGrp="1"/>
          </p:cNvSpPr>
          <p:nvPr>
            <p:ph type="ftr" sz="quarter" idx="11"/>
          </p:nvPr>
        </p:nvSpPr>
        <p:spPr/>
        <p:txBody>
          <a:bodyPr/>
          <a:lstStyle/>
          <a:p>
            <a:endParaRPr lang="en-US">
              <a:solidFill>
                <a:prstClr val="black">
                  <a:lumMod val="95000"/>
                  <a:lumOff val="5000"/>
                </a:prstClr>
              </a:solidFill>
            </a:endParaRPr>
          </a:p>
        </p:txBody>
      </p:sp>
      <p:sp>
        <p:nvSpPr>
          <p:cNvPr id="4" name="Slide Number Placeholder 3"/>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Title 7"/>
          <p:cNvSpPr>
            <a:spLocks noGrp="1"/>
          </p:cNvSpPr>
          <p:nvPr>
            <p:ph type="title"/>
          </p:nvPr>
        </p:nvSpPr>
        <p:spPr>
          <a:xfrm>
            <a:off x="1024128" y="471509"/>
            <a:ext cx="4389120" cy="1737360"/>
          </a:xfrm>
        </p:spPr>
        <p:txBody>
          <a:bodyPr>
            <a:noAutofit/>
          </a:bodyPr>
          <a:lstStyle>
            <a:lvl1pPr>
              <a:lnSpc>
                <a:spcPct val="80000"/>
              </a:lnSpc>
              <a:defRPr sz="4000"/>
            </a:lvl1pPr>
          </a:lstStyle>
          <a:p>
            <a:r>
              <a:rPr lang="en-US"/>
              <a:t>Click to edit Master title style</a:t>
            </a:r>
            <a:endParaRPr lang="en-US" dirty="0"/>
          </a:p>
        </p:txBody>
      </p:sp>
      <p:sp>
        <p:nvSpPr>
          <p:cNvPr id="3" name="Content Placeholder 2"/>
          <p:cNvSpPr>
            <a:spLocks noGrp="1"/>
          </p:cNvSpPr>
          <p:nvPr>
            <p:ph idx="1"/>
          </p:nvPr>
        </p:nvSpPr>
        <p:spPr>
          <a:xfrm>
            <a:off x="5715000" y="822960"/>
            <a:ext cx="5678424" cy="5184648"/>
          </a:xfrm>
        </p:spPr>
        <p:txBody>
          <a:bodyPr/>
          <a:lstStyle>
            <a:lvl1pPr>
              <a:defRPr sz="2400"/>
            </a:lvl1pPr>
            <a:lvl2pPr>
              <a:defRPr sz="20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024128" y="2257506"/>
            <a:ext cx="4389120" cy="3762294"/>
          </a:xfrm>
        </p:spPr>
        <p:txBody>
          <a:bodyPr lIns="91440" rIns="91440">
            <a:normAutofit/>
          </a:bodyPr>
          <a:lstStyle>
            <a:lvl1pPr marL="0" indent="0">
              <a:lnSpc>
                <a:spcPct val="108000"/>
              </a:lnSpc>
              <a:spcBef>
                <a:spcPts val="600"/>
              </a:spcBef>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endParaRPr lang="en-US">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extLst>
    <p:ext uri="{DCECCB84-F9BA-43D5-87BE-67443E8EF086}">
      <p15:sldGuideLst xmlns:p15="http://schemas.microsoft.com/office/powerpoint/2012/main"/>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4960138"/>
            <a:ext cx="7772400" cy="1463040"/>
          </a:xfrm>
        </p:spPr>
        <p:txBody>
          <a:bodyPr anchor="ctr">
            <a:normAutofit/>
          </a:bodyPr>
          <a:lstStyle>
            <a:lvl1pPr algn="r">
              <a:defRPr sz="5000" spc="200" baseline="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1"/>
            <a:ext cx="12188952" cy="4572000"/>
          </a:xfrm>
          <a:solidFill>
            <a:schemeClr val="accent1">
              <a:lumMod val="60000"/>
              <a:lumOff val="40000"/>
            </a:schemeClr>
          </a:solidFill>
        </p:spPr>
        <p:txBody>
          <a:bodyPr lIns="457200" tIns="365760" rIns="45720" bIns="45720"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Drag picture to placeholder or click icon to add</a:t>
            </a:r>
            <a:endParaRPr lang="en-US" dirty="0"/>
          </a:p>
        </p:txBody>
      </p:sp>
      <p:sp>
        <p:nvSpPr>
          <p:cNvPr id="4" name="Text Placeholder 3"/>
          <p:cNvSpPr>
            <a:spLocks noGrp="1"/>
          </p:cNvSpPr>
          <p:nvPr>
            <p:ph type="body" sz="half" idx="2"/>
          </p:nvPr>
        </p:nvSpPr>
        <p:spPr>
          <a:xfrm>
            <a:off x="8610600" y="4960138"/>
            <a:ext cx="3200400" cy="1463040"/>
          </a:xfrm>
        </p:spPr>
        <p:txBody>
          <a:bodyPr lIns="91440" rIns="91440" anchor="ctr">
            <a:normAutofit/>
          </a:bodyPr>
          <a:lstStyle>
            <a:lvl1pPr marL="0" indent="0">
              <a:lnSpc>
                <a:spcPct val="100000"/>
              </a:lnSpc>
              <a:spcBef>
                <a:spcPts val="0"/>
              </a:spcBef>
              <a:buNone/>
              <a:defRPr sz="1800">
                <a:solidFill>
                  <a:schemeClr val="tx1">
                    <a:lumMod val="95000"/>
                    <a:lumOff val="5000"/>
                  </a:schemeClr>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6" name="Footer Placeholder 5"/>
          <p:cNvSpPr>
            <a:spLocks noGrp="1"/>
          </p:cNvSpPr>
          <p:nvPr>
            <p:ph type="ftr" sz="quarter" idx="11"/>
          </p:nvPr>
        </p:nvSpPr>
        <p:spPr/>
        <p:txBody>
          <a:bodyPr/>
          <a:lstStyle/>
          <a:p>
            <a:r>
              <a:rPr lang="en-US">
                <a:solidFill>
                  <a:prstClr val="black">
                    <a:lumMod val="95000"/>
                    <a:lumOff val="5000"/>
                  </a:prstClr>
                </a:solidFill>
              </a:rPr>
              <a:t>
              </a:t>
            </a:r>
            <a:endParaRPr lang="en-US" dirty="0">
              <a:solidFill>
                <a:prstClr val="black">
                  <a:lumMod val="95000"/>
                  <a:lumOff val="5000"/>
                </a:prstClr>
              </a:solidFill>
            </a:endParaRPr>
          </a:p>
        </p:txBody>
      </p:sp>
      <p:sp>
        <p:nvSpPr>
          <p:cNvPr id="7" name="Slide Number Placeholder 6"/>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8" name="Straight Connector 7"/>
          <p:cNvCxnSpPr/>
          <p:nvPr/>
        </p:nvCxnSpPr>
        <p:spPr>
          <a:xfrm flipV="1">
            <a:off x="8386843" y="5264106"/>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762000"/>
            <a:ext cx="2628900" cy="5410200"/>
          </a:xfrm>
        </p:spPr>
        <p:txBody>
          <a:bodyPr vert="eaVert" lIns="45720" tIns="91440" rIns="45720" bIns="91440"/>
          <a:lstStyle/>
          <a:p>
            <a:r>
              <a:rPr lang="en-US"/>
              <a:t>Click to edit Master title style</a:t>
            </a:r>
            <a:endParaRPr lang="en-US" dirty="0"/>
          </a:p>
        </p:txBody>
      </p:sp>
      <p:sp>
        <p:nvSpPr>
          <p:cNvPr id="3" name="Vertical Text Placeholder 2"/>
          <p:cNvSpPr>
            <a:spLocks noGrp="1"/>
          </p:cNvSpPr>
          <p:nvPr>
            <p:ph type="body" orient="vert" idx="1"/>
          </p:nvPr>
        </p:nvSpPr>
        <p:spPr>
          <a:xfrm>
            <a:off x="990601" y="762000"/>
            <a:ext cx="75819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5" name="Footer Placeholder 4"/>
          <p:cNvSpPr>
            <a:spLocks noGrp="1"/>
          </p:cNvSpPr>
          <p:nvPr>
            <p:ph type="ftr" sz="quarter" idx="11"/>
          </p:nvPr>
        </p:nvSpPr>
        <p:spPr/>
        <p:txBody>
          <a:bodyPr/>
          <a:lstStyle/>
          <a:p>
            <a:endParaRPr lang="en-US">
              <a:solidFill>
                <a:prstClr val="black">
                  <a:lumMod val="95000"/>
                  <a:lumOff val="5000"/>
                </a:prstClr>
              </a:solidFill>
            </a:endParaRPr>
          </a:p>
        </p:txBody>
      </p:sp>
      <p:sp>
        <p:nvSpPr>
          <p:cNvPr id="6" name="Slide Number Placeholder 5"/>
          <p:cNvSpPr>
            <a:spLocks noGrp="1"/>
          </p:cNvSpPr>
          <p:nvPr>
            <p:ph type="sldNum" sz="quarter" idx="12"/>
          </p:nvPr>
        </p:nvSpPr>
        <p:spPr/>
        <p:txBody>
          <a:body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cxnSp>
        <p:nvCxnSpPr>
          <p:cNvPr id="7" name="Straight Connector 6"/>
          <p:cNvCxnSpPr/>
          <p:nvPr/>
        </p:nvCxnSpPr>
        <p:spPr>
          <a:xfrm rot="5400000" flipV="1">
            <a:off x="10058400" y="59263"/>
            <a:ext cx="0" cy="91440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spTree>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Only">
  <p:cSld name="1_Title Only">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2341061" y="614555"/>
            <a:ext cx="7509878" cy="777536"/>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sz="5000" b="0" i="0">
                <a:solidFill>
                  <a:srgbClr val="005493"/>
                </a:solidFill>
                <a:latin typeface="+mj-lt"/>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dirty="0"/>
          </a:p>
        </p:txBody>
      </p:sp>
      <p:sp>
        <p:nvSpPr>
          <p:cNvPr id="25" name="Google Shape;25;p4"/>
          <p:cNvSpPr txBox="1">
            <a:spLocks noGrp="1"/>
          </p:cNvSpPr>
          <p:nvPr>
            <p:ph type="ftr" idx="11"/>
          </p:nvPr>
        </p:nvSpPr>
        <p:spPr>
          <a:xfrm>
            <a:off x="4145280" y="6377941"/>
            <a:ext cx="3901372" cy="342964"/>
          </a:xfrm>
          <a:prstGeom prst="rect">
            <a:avLst/>
          </a:prstGeom>
          <a:noFill/>
          <a:ln>
            <a:noFill/>
          </a:ln>
        </p:spPr>
        <p:txBody>
          <a:bodyPr spcFirstLastPara="1" wrap="square" lIns="0" tIns="0" rIns="0" bIns="0" anchor="t" anchorCtr="0"/>
          <a:lstStyle>
            <a:lvl1pPr lvl="0" algn="ctr">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4"/>
          <p:cNvSpPr txBox="1">
            <a:spLocks noGrp="1"/>
          </p:cNvSpPr>
          <p:nvPr>
            <p:ph type="dt" idx="10"/>
          </p:nvPr>
        </p:nvSpPr>
        <p:spPr>
          <a:xfrm>
            <a:off x="609600" y="6377941"/>
            <a:ext cx="2804134" cy="342964"/>
          </a:xfrm>
          <a:prstGeom prst="rect">
            <a:avLst/>
          </a:prstGeom>
          <a:noFill/>
          <a:ln>
            <a:noFill/>
          </a:ln>
        </p:spPr>
        <p:txBody>
          <a:bodyPr spcFirstLastPara="1" wrap="square" lIns="0" tIns="0" rIns="0" bIns="0" anchor="t" anchorCtr="0"/>
          <a:lstStyle>
            <a:lvl1pPr lvl="0" algn="l">
              <a:spcBef>
                <a:spcPts val="0"/>
              </a:spcBef>
              <a:spcAft>
                <a:spcPts val="0"/>
              </a:spcAft>
              <a:buSzPts val="1400"/>
              <a:buNone/>
              <a:defRPr>
                <a:solidFill>
                  <a:srgbClr val="888888"/>
                </a:solidFil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4"/>
          <p:cNvSpPr txBox="1">
            <a:spLocks noGrp="1"/>
          </p:cNvSpPr>
          <p:nvPr>
            <p:ph type="sldNum" idx="12"/>
          </p:nvPr>
        </p:nvSpPr>
        <p:spPr>
          <a:xfrm>
            <a:off x="9292591" y="6467748"/>
            <a:ext cx="2804134" cy="342964"/>
          </a:xfrm>
          <a:prstGeom prst="rect">
            <a:avLst/>
          </a:prstGeom>
          <a:noFill/>
          <a:ln>
            <a:noFill/>
          </a:ln>
        </p:spPr>
        <p:txBody>
          <a:bodyPr spcFirstLastPara="1" wrap="square" lIns="0" tIns="0" rIns="0" bIns="0" anchor="t" anchorCtr="0">
            <a:noAutofit/>
          </a:bodyPr>
          <a:lstStyle>
            <a:lvl1pPr marL="0" lvl="0" indent="0" algn="r">
              <a:spcBef>
                <a:spcPts val="0"/>
              </a:spcBef>
              <a:buNone/>
              <a:defRPr>
                <a:solidFill>
                  <a:srgbClr val="888888"/>
                </a:solidFill>
              </a:defRPr>
            </a:lvl1pPr>
            <a:lvl2pPr marL="0" lvl="1" indent="0" algn="r">
              <a:spcBef>
                <a:spcPts val="0"/>
              </a:spcBef>
              <a:buNone/>
              <a:defRPr>
                <a:solidFill>
                  <a:srgbClr val="888888"/>
                </a:solidFill>
              </a:defRPr>
            </a:lvl2pPr>
            <a:lvl3pPr marL="0" lvl="2" indent="0" algn="r">
              <a:spcBef>
                <a:spcPts val="0"/>
              </a:spcBef>
              <a:buNone/>
              <a:defRPr>
                <a:solidFill>
                  <a:srgbClr val="888888"/>
                </a:solidFill>
              </a:defRPr>
            </a:lvl3pPr>
            <a:lvl4pPr marL="0" lvl="3" indent="0" algn="r">
              <a:spcBef>
                <a:spcPts val="0"/>
              </a:spcBef>
              <a:buNone/>
              <a:defRPr>
                <a:solidFill>
                  <a:srgbClr val="888888"/>
                </a:solidFill>
              </a:defRPr>
            </a:lvl4pPr>
            <a:lvl5pPr marL="0" lvl="4" indent="0" algn="r">
              <a:spcBef>
                <a:spcPts val="0"/>
              </a:spcBef>
              <a:buNone/>
              <a:defRPr>
                <a:solidFill>
                  <a:srgbClr val="888888"/>
                </a:solidFill>
              </a:defRPr>
            </a:lvl5pPr>
            <a:lvl6pPr marL="0" lvl="5" indent="0" algn="r">
              <a:spcBef>
                <a:spcPts val="0"/>
              </a:spcBef>
              <a:buNone/>
              <a:defRPr>
                <a:solidFill>
                  <a:srgbClr val="888888"/>
                </a:solidFill>
              </a:defRPr>
            </a:lvl6pPr>
            <a:lvl7pPr marL="0" lvl="6" indent="0" algn="r">
              <a:spcBef>
                <a:spcPts val="0"/>
              </a:spcBef>
              <a:buNone/>
              <a:defRPr>
                <a:solidFill>
                  <a:srgbClr val="888888"/>
                </a:solidFill>
              </a:defRPr>
            </a:lvl7pPr>
            <a:lvl8pPr marL="0" lvl="7" indent="0" algn="r">
              <a:spcBef>
                <a:spcPts val="0"/>
              </a:spcBef>
              <a:buNone/>
              <a:defRPr>
                <a:solidFill>
                  <a:srgbClr val="888888"/>
                </a:solidFill>
              </a:defRPr>
            </a:lvl8pPr>
            <a:lvl9pPr marL="0" lvl="8" indent="0" algn="r">
              <a:spcBef>
                <a:spcPts val="0"/>
              </a:spcBef>
              <a:buNone/>
              <a:defRPr>
                <a:solidFill>
                  <a:srgbClr val="888888"/>
                </a:solidFill>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35769552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24128" y="585216"/>
            <a:ext cx="9720072" cy="79501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1024128" y="1656272"/>
            <a:ext cx="9720073" cy="4653088"/>
          </a:xfrm>
          <a:prstGeom prst="rect">
            <a:avLst/>
          </a:prstGeom>
        </p:spPr>
        <p:txBody>
          <a:bodyPr vert="horz" lIns="45720" tIns="45720" rIns="4572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24129" y="6470704"/>
            <a:ext cx="2154143"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F50D20D1-FB23-684F-9AB5-129D6BD98B56}" type="datetimeFigureOut">
              <a:rPr lang="en-US" smtClean="0">
                <a:solidFill>
                  <a:prstClr val="black">
                    <a:lumMod val="95000"/>
                    <a:lumOff val="5000"/>
                  </a:prstClr>
                </a:solidFill>
              </a:rPr>
              <a:pPr/>
              <a:t>5/4/26</a:t>
            </a:fld>
            <a:endParaRPr lang="en-US">
              <a:solidFill>
                <a:prstClr val="black">
                  <a:lumMod val="95000"/>
                  <a:lumOff val="5000"/>
                </a:prstClr>
              </a:solidFill>
            </a:endParaRPr>
          </a:p>
        </p:txBody>
      </p:sp>
      <p:sp>
        <p:nvSpPr>
          <p:cNvPr id="5" name="Footer Placeholder 4"/>
          <p:cNvSpPr>
            <a:spLocks noGrp="1"/>
          </p:cNvSpPr>
          <p:nvPr>
            <p:ph type="ftr" sz="quarter" idx="3"/>
          </p:nvPr>
        </p:nvSpPr>
        <p:spPr>
          <a:xfrm>
            <a:off x="4842932" y="6470704"/>
            <a:ext cx="5901459" cy="274320"/>
          </a:xfrm>
          <a:prstGeom prst="rect">
            <a:avLst/>
          </a:prstGeom>
        </p:spPr>
        <p:txBody>
          <a:bodyPr vert="horz" lIns="91440" tIns="45720" rIns="91440" bIns="45720" rtlCol="0" anchor="ctr"/>
          <a:lstStyle>
            <a:lvl1pPr algn="r">
              <a:defRPr sz="1000" cap="all" baseline="0">
                <a:solidFill>
                  <a:schemeClr val="tx1">
                    <a:lumMod val="95000"/>
                    <a:lumOff val="5000"/>
                  </a:schemeClr>
                </a:solidFill>
                <a:latin typeface="+mj-lt"/>
              </a:defRPr>
            </a:lvl1pPr>
          </a:lstStyle>
          <a:p>
            <a:endParaRPr lang="en-US">
              <a:solidFill>
                <a:prstClr val="black">
                  <a:lumMod val="95000"/>
                  <a:lumOff val="5000"/>
                </a:prstClr>
              </a:solidFill>
            </a:endParaRPr>
          </a:p>
        </p:txBody>
      </p:sp>
      <p:sp>
        <p:nvSpPr>
          <p:cNvPr id="6" name="Slide Number Placeholder 5"/>
          <p:cNvSpPr>
            <a:spLocks noGrp="1"/>
          </p:cNvSpPr>
          <p:nvPr>
            <p:ph type="sldNum" sz="quarter" idx="4"/>
          </p:nvPr>
        </p:nvSpPr>
        <p:spPr>
          <a:xfrm>
            <a:off x="10837333" y="6470704"/>
            <a:ext cx="973667" cy="274320"/>
          </a:xfrm>
          <a:prstGeom prst="rect">
            <a:avLst/>
          </a:prstGeom>
        </p:spPr>
        <p:txBody>
          <a:bodyPr vert="horz" lIns="91440" tIns="45720" rIns="91440" bIns="45720" rtlCol="0" anchor="ctr"/>
          <a:lstStyle>
            <a:lvl1pPr algn="l">
              <a:defRPr sz="1000">
                <a:solidFill>
                  <a:schemeClr val="tx1">
                    <a:lumMod val="95000"/>
                    <a:lumOff val="5000"/>
                  </a:schemeClr>
                </a:solidFill>
                <a:latin typeface="+mj-lt"/>
              </a:defRPr>
            </a:lvl1pPr>
          </a:lstStyle>
          <a:p>
            <a:fld id="{E7EBC154-6848-214C-B925-399887F0DE31}" type="slidenum">
              <a:rPr lang="en-US" smtClean="0">
                <a:solidFill>
                  <a:prstClr val="black">
                    <a:lumMod val="95000"/>
                    <a:lumOff val="5000"/>
                  </a:prstClr>
                </a:solidFill>
              </a:rPr>
              <a:pPr/>
              <a:t>‹#›</a:t>
            </a:fld>
            <a:endParaRPr lang="en-US">
              <a:solidFill>
                <a:prstClr val="black">
                  <a:lumMod val="95000"/>
                  <a:lumOff val="5000"/>
                </a:prstClr>
              </a:solidFill>
            </a:endParaRPr>
          </a:p>
        </p:txBody>
      </p:sp>
    </p:spTree>
    <p:extLst>
      <p:ext uri="{BB962C8B-B14F-4D97-AF65-F5344CB8AC3E}">
        <p14:creationId xmlns:p14="http://schemas.microsoft.com/office/powerpoint/2010/main" val="204462401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73" r:id="rId8"/>
    <p:sldLayoutId id="2147483674" r:id="rId9"/>
    <p:sldLayoutId id="2147483675" r:id="rId10"/>
    <p:sldLayoutId id="2147483676" r:id="rId11"/>
    <p:sldLayoutId id="2147483677" r:id="rId12"/>
    <p:sldLayoutId id="2147483668" r:id="rId13"/>
    <p:sldLayoutId id="2147483669" r:id="rId14"/>
    <p:sldLayoutId id="2147483670" r:id="rId15"/>
    <p:sldLayoutId id="2147483671" r:id="rId16"/>
    <p:sldLayoutId id="2147483672" r:id="rId17"/>
    <p:sldLayoutId id="2147483679" r:id="rId18"/>
  </p:sldLayoutIdLst>
  <p:txStyles>
    <p:titleStyle>
      <a:lvl1pPr algn="ctr" defTabSz="914400" rtl="0" eaLnBrk="1" latinLnBrk="0" hangingPunct="1">
        <a:lnSpc>
          <a:spcPct val="80000"/>
        </a:lnSpc>
        <a:spcBef>
          <a:spcPct val="0"/>
        </a:spcBef>
        <a:buNone/>
        <a:defRPr sz="4400" kern="1200" cap="none" spc="100" baseline="0">
          <a:solidFill>
            <a:schemeClr val="tx1">
              <a:lumMod val="95000"/>
              <a:lumOff val="5000"/>
            </a:schemeClr>
          </a:solidFill>
          <a:latin typeface="+mn-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3" Type="http://schemas.openxmlformats.org/officeDocument/2006/relationships/image" Target="../media/image8.tif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8.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8.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8.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9.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0.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18.xml"/><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3.xml"/><Relationship Id="rId1" Type="http://schemas.openxmlformats.org/officeDocument/2006/relationships/slideLayout" Target="../slideLayouts/slideLayout18.xml"/><Relationship Id="rId4" Type="http://schemas.openxmlformats.org/officeDocument/2006/relationships/image" Target="../media/image12.png"/></Relationships>
</file>

<file path=ppt/slides/_rels/slide3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9.xml"/><Relationship Id="rId1" Type="http://schemas.openxmlformats.org/officeDocument/2006/relationships/slideLayout" Target="../slideLayouts/slideLayout18.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4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2.xml"/><Relationship Id="rId1" Type="http://schemas.openxmlformats.org/officeDocument/2006/relationships/slideLayout" Target="../slideLayouts/slideLayout13.xml"/><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3.xml"/><Relationship Id="rId1" Type="http://schemas.openxmlformats.org/officeDocument/2006/relationships/slideLayout" Target="../slideLayouts/slideLayout13.xml"/><Relationship Id="rId4" Type="http://schemas.openxmlformats.org/officeDocument/2006/relationships/image" Target="../media/image16.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45.xml"/><Relationship Id="rId1"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4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3" Type="http://schemas.openxmlformats.org/officeDocument/2006/relationships/image" Target="../media/image22.tiff"/><Relationship Id="rId7" Type="http://schemas.openxmlformats.org/officeDocument/2006/relationships/image" Target="../media/image26.tiff"/><Relationship Id="rId2" Type="http://schemas.openxmlformats.org/officeDocument/2006/relationships/notesSlide" Target="../notesSlides/notesSlide47.xml"/><Relationship Id="rId1" Type="http://schemas.openxmlformats.org/officeDocument/2006/relationships/slideLayout" Target="../slideLayouts/slideLayout13.xml"/><Relationship Id="rId6" Type="http://schemas.openxmlformats.org/officeDocument/2006/relationships/image" Target="../media/image25.tiff"/><Relationship Id="rId5" Type="http://schemas.openxmlformats.org/officeDocument/2006/relationships/image" Target="../media/image24.tiff"/><Relationship Id="rId4" Type="http://schemas.openxmlformats.org/officeDocument/2006/relationships/image" Target="../media/image23.tif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734291" y="4960137"/>
            <a:ext cx="8963891" cy="1463040"/>
          </a:xfrm>
        </p:spPr>
        <p:txBody>
          <a:bodyPr>
            <a:normAutofit/>
          </a:bodyPr>
          <a:lstStyle/>
          <a:p>
            <a:r>
              <a:rPr lang="en-US" sz="7200" b="1" dirty="0"/>
              <a:t>Transform</a:t>
            </a:r>
          </a:p>
        </p:txBody>
      </p:sp>
      <p:sp>
        <p:nvSpPr>
          <p:cNvPr id="3" name="Subtitle 2"/>
          <p:cNvSpPr>
            <a:spLocks noGrp="1"/>
          </p:cNvSpPr>
          <p:nvPr>
            <p:ph type="subTitle" idx="1"/>
          </p:nvPr>
        </p:nvSpPr>
        <p:spPr>
          <a:xfrm>
            <a:off x="8610599" y="4804013"/>
            <a:ext cx="3467669" cy="1673756"/>
          </a:xfrm>
        </p:spPr>
        <p:txBody>
          <a:bodyPr>
            <a:normAutofit/>
          </a:bodyPr>
          <a:lstStyle/>
          <a:p>
            <a:r>
              <a:rPr lang="en-US" sz="3200" dirty="0"/>
              <a:t>Ezra Porter</a:t>
            </a:r>
          </a:p>
          <a:p>
            <a:r>
              <a:rPr lang="en-US" sz="3200" dirty="0"/>
              <a:t>R/Medicine 2026</a:t>
            </a:r>
          </a:p>
        </p:txBody>
      </p:sp>
    </p:spTree>
    <p:extLst>
      <p:ext uri="{BB962C8B-B14F-4D97-AF65-F5344CB8AC3E}">
        <p14:creationId xmlns:p14="http://schemas.microsoft.com/office/powerpoint/2010/main" val="767747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69F294CA-89BC-DD86-8E6D-4D62C87ADDA8}"/>
              </a:ext>
            </a:extLst>
          </p:cNvPr>
          <p:cNvPicPr>
            <a:picLocks noChangeAspect="1"/>
          </p:cNvPicPr>
          <p:nvPr/>
        </p:nvPicPr>
        <p:blipFill>
          <a:blip r:embed="rId3"/>
          <a:stretch>
            <a:fillRect/>
          </a:stretch>
        </p:blipFill>
        <p:spPr>
          <a:xfrm>
            <a:off x="-165332" y="2314389"/>
            <a:ext cx="12098992" cy="3357790"/>
          </a:xfrm>
          <a:prstGeom prst="rect">
            <a:avLst/>
          </a:prstGeom>
        </p:spPr>
      </p:pic>
      <p:sp>
        <p:nvSpPr>
          <p:cNvPr id="4" name="Slide Number Placeholder 3">
            <a:extLst>
              <a:ext uri="{FF2B5EF4-FFF2-40B4-BE49-F238E27FC236}">
                <a16:creationId xmlns:a16="http://schemas.microsoft.com/office/drawing/2014/main" id="{4CF66731-3744-7F45-8973-2913CEE3B028}"/>
              </a:ext>
            </a:extLst>
          </p:cNvPr>
          <p:cNvSpPr>
            <a:spLocks noGrp="1"/>
          </p:cNvSpPr>
          <p:nvPr>
            <p:ph type="sldNum" sz="quarter" idx="12"/>
          </p:nvPr>
        </p:nvSpPr>
        <p:spPr/>
        <p:txBody>
          <a:bodyPr/>
          <a:lstStyle/>
          <a:p>
            <a:fld id="{FBFEA71B-C421-F54F-A3C7-C1F2690B2CD4}" type="slidenum">
              <a:rPr lang="en-US" smtClean="0"/>
              <a:t>2</a:t>
            </a:fld>
            <a:endParaRPr lang="en-US"/>
          </a:p>
        </p:txBody>
      </p:sp>
      <p:sp>
        <p:nvSpPr>
          <p:cNvPr id="7" name="object 10">
            <a:extLst>
              <a:ext uri="{FF2B5EF4-FFF2-40B4-BE49-F238E27FC236}">
                <a16:creationId xmlns:a16="http://schemas.microsoft.com/office/drawing/2014/main" id="{856B8654-628A-B24C-8BB0-39E6F5212A24}"/>
              </a:ext>
            </a:extLst>
          </p:cNvPr>
          <p:cNvSpPr txBox="1"/>
          <p:nvPr/>
        </p:nvSpPr>
        <p:spPr>
          <a:xfrm>
            <a:off x="-1" y="682728"/>
            <a:ext cx="12192001"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The Data Analysis Pipeline</a:t>
            </a:r>
            <a:endParaRPr sz="4400" dirty="0">
              <a:latin typeface="Tw Cen MT" panose="020B0602020104020603" pitchFamily="34" charset="77"/>
              <a:cs typeface="Helvetica Neue"/>
            </a:endParaRPr>
          </a:p>
        </p:txBody>
      </p:sp>
      <p:sp>
        <p:nvSpPr>
          <p:cNvPr id="8" name="Rectangle 7">
            <a:extLst>
              <a:ext uri="{FF2B5EF4-FFF2-40B4-BE49-F238E27FC236}">
                <a16:creationId xmlns:a16="http://schemas.microsoft.com/office/drawing/2014/main" id="{33CEA39C-04B8-C449-A1F5-D85D0CDDDD3A}"/>
              </a:ext>
            </a:extLst>
          </p:cNvPr>
          <p:cNvSpPr/>
          <p:nvPr/>
        </p:nvSpPr>
        <p:spPr>
          <a:xfrm>
            <a:off x="2609922" y="3351740"/>
            <a:ext cx="838672" cy="641544"/>
          </a:xfrm>
          <a:prstGeom prst="rect">
            <a:avLst/>
          </a:prstGeom>
          <a:solidFill>
            <a:srgbClr val="FFC000">
              <a:alpha val="3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
        <p:nvSpPr>
          <p:cNvPr id="9" name="Rectangle 8">
            <a:extLst>
              <a:ext uri="{FF2B5EF4-FFF2-40B4-BE49-F238E27FC236}">
                <a16:creationId xmlns:a16="http://schemas.microsoft.com/office/drawing/2014/main" id="{622B8748-36BE-EE4F-8CB3-F776E8432593}"/>
              </a:ext>
            </a:extLst>
          </p:cNvPr>
          <p:cNvSpPr/>
          <p:nvPr/>
        </p:nvSpPr>
        <p:spPr>
          <a:xfrm>
            <a:off x="4404077" y="3351740"/>
            <a:ext cx="1691924" cy="641544"/>
          </a:xfrm>
          <a:prstGeom prst="rect">
            <a:avLst/>
          </a:prstGeom>
          <a:solidFill>
            <a:srgbClr val="FFC000">
              <a:alpha val="3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endParaRPr>
          </a:p>
        </p:txBody>
      </p:sp>
    </p:spTree>
    <p:extLst>
      <p:ext uri="{BB962C8B-B14F-4D97-AF65-F5344CB8AC3E}">
        <p14:creationId xmlns:p14="http://schemas.microsoft.com/office/powerpoint/2010/main" val="3970051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7FE168D-4300-744E-B339-DCE47CD41684}"/>
              </a:ext>
            </a:extLst>
          </p:cNvPr>
          <p:cNvPicPr>
            <a:picLocks noChangeAspect="1"/>
          </p:cNvPicPr>
          <p:nvPr/>
        </p:nvPicPr>
        <p:blipFill>
          <a:blip r:embed="rId3"/>
          <a:stretch>
            <a:fillRect/>
          </a:stretch>
        </p:blipFill>
        <p:spPr>
          <a:xfrm>
            <a:off x="4437269" y="1513346"/>
            <a:ext cx="3317461" cy="3831307"/>
          </a:xfrm>
          <a:prstGeom prst="rect">
            <a:avLst/>
          </a:prstGeom>
        </p:spPr>
      </p:pic>
    </p:spTree>
    <p:extLst>
      <p:ext uri="{BB962C8B-B14F-4D97-AF65-F5344CB8AC3E}">
        <p14:creationId xmlns:p14="http://schemas.microsoft.com/office/powerpoint/2010/main" val="21883704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5" name="Google Shape;125;p16"/>
          <p:cNvSpPr txBox="1"/>
          <p:nvPr/>
        </p:nvSpPr>
        <p:spPr>
          <a:xfrm>
            <a:off x="5341615" y="2554472"/>
            <a:ext cx="5710698" cy="1749054"/>
          </a:xfrm>
          <a:prstGeom prst="rect">
            <a:avLst/>
          </a:prstGeom>
          <a:noFill/>
          <a:ln>
            <a:noFill/>
          </a:ln>
        </p:spPr>
        <p:txBody>
          <a:bodyPr spcFirstLastPara="1" wrap="square" lIns="0" tIns="157835" rIns="0" bIns="0" anchor="t" anchorCtr="0">
            <a:noAutofit/>
          </a:bodyPr>
          <a:lstStyle/>
          <a:p>
            <a:pPr marL="6803" marR="2721">
              <a:lnSpc>
                <a:spcPct val="104099"/>
              </a:lnSpc>
              <a:spcBef>
                <a:spcPts val="1061"/>
              </a:spcBef>
            </a:pPr>
            <a:r>
              <a:rPr lang="en-US" sz="4000" dirty="0">
                <a:latin typeface="Tw Cen MT" panose="020B0602020104020603" pitchFamily="34" charset="77"/>
                <a:ea typeface="Calibri"/>
                <a:cs typeface="Calibri"/>
                <a:sym typeface="Calibri"/>
              </a:rPr>
              <a:t>a grammar</a:t>
            </a:r>
            <a:r>
              <a:rPr lang="en-US" sz="4000" i="1" dirty="0">
                <a:latin typeface="Tw Cen MT" panose="020B0602020104020603" pitchFamily="34" charset="77"/>
                <a:ea typeface="Calibri"/>
                <a:cs typeface="Calibri"/>
                <a:sym typeface="Calibri"/>
              </a:rPr>
              <a:t> </a:t>
            </a:r>
            <a:r>
              <a:rPr lang="en-US" sz="4000" dirty="0">
                <a:latin typeface="Tw Cen MT" panose="020B0602020104020603" pitchFamily="34" charset="77"/>
                <a:ea typeface="Calibri"/>
                <a:cs typeface="Calibri"/>
                <a:sym typeface="Calibri"/>
              </a:rPr>
              <a:t>for transforming data frames</a:t>
            </a:r>
            <a:endParaRPr sz="4000" dirty="0">
              <a:latin typeface="Tw Cen MT" panose="020B0602020104020603" pitchFamily="34" charset="77"/>
              <a:ea typeface="Calibri"/>
              <a:cs typeface="Calibri"/>
              <a:sym typeface="Calibri"/>
            </a:endParaRPr>
          </a:p>
        </p:txBody>
      </p:sp>
      <p:pic>
        <p:nvPicPr>
          <p:cNvPr id="8" name="Picture 7">
            <a:extLst>
              <a:ext uri="{FF2B5EF4-FFF2-40B4-BE49-F238E27FC236}">
                <a16:creationId xmlns:a16="http://schemas.microsoft.com/office/drawing/2014/main" id="{7A04BA13-4845-7047-8951-E9AAC731A23D}"/>
              </a:ext>
            </a:extLst>
          </p:cNvPr>
          <p:cNvPicPr>
            <a:picLocks noChangeAspect="1"/>
          </p:cNvPicPr>
          <p:nvPr/>
        </p:nvPicPr>
        <p:blipFill>
          <a:blip r:embed="rId3"/>
          <a:stretch>
            <a:fillRect/>
          </a:stretch>
        </p:blipFill>
        <p:spPr>
          <a:xfrm>
            <a:off x="1563602" y="1513346"/>
            <a:ext cx="3317461" cy="3831307"/>
          </a:xfrm>
          <a:prstGeom prst="rect">
            <a:avLst/>
          </a:prstGeom>
        </p:spPr>
      </p:pic>
    </p:spTree>
    <p:extLst>
      <p:ext uri="{BB962C8B-B14F-4D97-AF65-F5344CB8AC3E}">
        <p14:creationId xmlns:p14="http://schemas.microsoft.com/office/powerpoint/2010/main" val="29722871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Select existing columns</a:t>
            </a:r>
          </a:p>
        </p:txBody>
      </p:sp>
    </p:spTree>
    <p:extLst>
      <p:ext uri="{BB962C8B-B14F-4D97-AF65-F5344CB8AC3E}">
        <p14:creationId xmlns:p14="http://schemas.microsoft.com/office/powerpoint/2010/main" val="28984633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66"/>
        <p:cNvGrpSpPr/>
        <p:nvPr/>
      </p:nvGrpSpPr>
      <p:grpSpPr>
        <a:xfrm>
          <a:off x="0" y="0"/>
          <a:ext cx="0" cy="0"/>
          <a:chOff x="0" y="0"/>
          <a:chExt cx="0" cy="0"/>
        </a:xfrm>
      </p:grpSpPr>
      <p:sp>
        <p:nvSpPr>
          <p:cNvPr id="168" name="Google Shape;168;p20"/>
          <p:cNvSpPr txBox="1">
            <a:spLocks noGrp="1"/>
          </p:cNvSpPr>
          <p:nvPr>
            <p:ph type="title"/>
          </p:nvPr>
        </p:nvSpPr>
        <p:spPr>
          <a:xfrm>
            <a:off x="4545497" y="680348"/>
            <a:ext cx="309552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latin typeface="Consolas" panose="020B0609020204030204" pitchFamily="49" charset="0"/>
              </a:rPr>
              <a:t>select()</a:t>
            </a:r>
            <a:endParaRPr dirty="0">
              <a:latin typeface="Consolas" panose="020B0609020204030204" pitchFamily="49" charset="0"/>
            </a:endParaRPr>
          </a:p>
        </p:txBody>
      </p:sp>
      <p:sp>
        <p:nvSpPr>
          <p:cNvPr id="171" name="Google Shape;171;p20"/>
          <p:cNvSpPr txBox="1"/>
          <p:nvPr/>
        </p:nvSpPr>
        <p:spPr>
          <a:xfrm>
            <a:off x="2886228" y="1725726"/>
            <a:ext cx="5912332" cy="1167589"/>
          </a:xfrm>
          <a:prstGeom prst="rect">
            <a:avLst/>
          </a:prstGeom>
          <a:noFill/>
          <a:ln>
            <a:noFill/>
          </a:ln>
        </p:spPr>
        <p:txBody>
          <a:bodyPr spcFirstLastPara="1" wrap="square" lIns="0" tIns="6455" rIns="0" bIns="0" anchor="t" anchorCtr="0">
            <a:noAutofit/>
          </a:bodyPr>
          <a:lstStyle/>
          <a:p>
            <a:pPr marL="6803"/>
            <a:r>
              <a:rPr lang="en-US" sz="3200" dirty="0">
                <a:latin typeface="Tw Cen MT" panose="020B0602020104020603" pitchFamily="34" charset="77"/>
                <a:ea typeface="Calibri"/>
                <a:cs typeface="Calibri"/>
                <a:sym typeface="Calibri"/>
              </a:rPr>
              <a:t>Extract columns from a data frame</a:t>
            </a:r>
            <a:endParaRPr sz="2652" dirty="0">
              <a:latin typeface="Tw Cen MT" panose="020B0602020104020603" pitchFamily="34" charset="77"/>
              <a:ea typeface="Calibri"/>
              <a:cs typeface="Calibri"/>
              <a:sym typeface="Calibri"/>
            </a:endParaRPr>
          </a:p>
          <a:p>
            <a:pPr marL="73817">
              <a:spcBef>
                <a:spcPts val="2354"/>
              </a:spcBef>
            </a:pPr>
            <a:endParaRPr sz="3200" dirty="0">
              <a:latin typeface="Consolas" panose="020B0609020204030204" pitchFamily="49" charset="0"/>
              <a:ea typeface="Courier New"/>
              <a:cs typeface="Consolas" panose="020B0609020204030204" pitchFamily="49" charset="0"/>
              <a:sym typeface="Courier New"/>
            </a:endParaRPr>
          </a:p>
        </p:txBody>
      </p:sp>
      <p:graphicFrame>
        <p:nvGraphicFramePr>
          <p:cNvPr id="14" name="Google Shape;147;p18"/>
          <p:cNvGraphicFramePr/>
          <p:nvPr/>
        </p:nvGraphicFramePr>
        <p:xfrm>
          <a:off x="1920241" y="2893314"/>
          <a:ext cx="3615684" cy="1876805"/>
        </p:xfrm>
        <a:graphic>
          <a:graphicData uri="http://schemas.openxmlformats.org/drawingml/2006/table">
            <a:tbl>
              <a:tblPr firstRow="1" bandRow="1">
                <a:noFill/>
              </a:tblPr>
              <a:tblGrid>
                <a:gridCol w="723154">
                  <a:extLst>
                    <a:ext uri="{9D8B030D-6E8A-4147-A177-3AD203B41FA5}">
                      <a16:colId xmlns:a16="http://schemas.microsoft.com/office/drawing/2014/main" val="20000"/>
                    </a:ext>
                  </a:extLst>
                </a:gridCol>
                <a:gridCol w="684088">
                  <a:extLst>
                    <a:ext uri="{9D8B030D-6E8A-4147-A177-3AD203B41FA5}">
                      <a16:colId xmlns:a16="http://schemas.microsoft.com/office/drawing/2014/main" val="20001"/>
                    </a:ext>
                  </a:extLst>
                </a:gridCol>
                <a:gridCol w="990222">
                  <a:extLst>
                    <a:ext uri="{9D8B030D-6E8A-4147-A177-3AD203B41FA5}">
                      <a16:colId xmlns:a16="http://schemas.microsoft.com/office/drawing/2014/main" val="20002"/>
                    </a:ext>
                  </a:extLst>
                </a:gridCol>
                <a:gridCol w="1218220">
                  <a:extLst>
                    <a:ext uri="{9D8B030D-6E8A-4147-A177-3AD203B41FA5}">
                      <a16:colId xmlns:a16="http://schemas.microsoft.com/office/drawing/2014/main" val="20003"/>
                    </a:ext>
                  </a:extLst>
                </a:gridCol>
              </a:tblGrid>
              <a:tr h="268115">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26811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5" name="Google Shape;148;p18"/>
          <p:cNvGraphicFramePr/>
          <p:nvPr/>
        </p:nvGraphicFramePr>
        <p:xfrm>
          <a:off x="7641021" y="2890346"/>
          <a:ext cx="1511814" cy="1879773"/>
        </p:xfrm>
        <a:graphic>
          <a:graphicData uri="http://schemas.openxmlformats.org/drawingml/2006/table">
            <a:tbl>
              <a:tblPr firstRow="1" bandRow="1">
                <a:noFill/>
              </a:tblPr>
              <a:tblGrid>
                <a:gridCol w="743130">
                  <a:extLst>
                    <a:ext uri="{9D8B030D-6E8A-4147-A177-3AD203B41FA5}">
                      <a16:colId xmlns:a16="http://schemas.microsoft.com/office/drawing/2014/main" val="20000"/>
                    </a:ext>
                  </a:extLst>
                </a:gridCol>
                <a:gridCol w="768684">
                  <a:extLst>
                    <a:ext uri="{9D8B030D-6E8A-4147-A177-3AD203B41FA5}">
                      <a16:colId xmlns:a16="http://schemas.microsoft.com/office/drawing/2014/main" val="20001"/>
                    </a:ext>
                  </a:extLst>
                </a:gridCol>
              </a:tblGrid>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extLst>
                  <a:ext uri="{0D108BD9-81ED-4DB2-BD59-A6C34878D82A}">
                    <a16:rowId xmlns:a16="http://schemas.microsoft.com/office/drawing/2014/main" val="10000"/>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1"/>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2"/>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3"/>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4"/>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5"/>
                  </a:ext>
                </a:extLst>
              </a:tr>
              <a:tr h="26853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6"/>
                  </a:ext>
                </a:extLst>
              </a:tr>
            </a:tbl>
          </a:graphicData>
        </a:graphic>
      </p:graphicFrame>
      <p:sp>
        <p:nvSpPr>
          <p:cNvPr id="2" name="Right Arrow 1"/>
          <p:cNvSpPr/>
          <p:nvPr/>
        </p:nvSpPr>
        <p:spPr>
          <a:xfrm>
            <a:off x="6176993" y="3429000"/>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p:cNvGrpSpPr/>
          <p:nvPr/>
        </p:nvGrpSpPr>
        <p:grpSpPr>
          <a:xfrm>
            <a:off x="7155636" y="4907214"/>
            <a:ext cx="2928396" cy="1586106"/>
            <a:chOff x="6009784" y="4089073"/>
            <a:chExt cx="2928396" cy="2552214"/>
          </a:xfrm>
        </p:grpSpPr>
        <p:sp>
          <p:nvSpPr>
            <p:cNvPr id="16" name="Rounded Rectangular Callout 2"/>
            <p:cNvSpPr/>
            <p:nvPr/>
          </p:nvSpPr>
          <p:spPr>
            <a:xfrm>
              <a:off x="6009784" y="4089073"/>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7" name="Google Shape;324;p34"/>
            <p:cNvSpPr txBox="1"/>
            <p:nvPr/>
          </p:nvSpPr>
          <p:spPr>
            <a:xfrm>
              <a:off x="6009784" y="5046495"/>
              <a:ext cx="2928396" cy="1510232"/>
            </a:xfrm>
            <a:prstGeom prst="rect">
              <a:avLst/>
            </a:prstGeom>
            <a:noFill/>
            <a:ln>
              <a:noFill/>
            </a:ln>
          </p:spPr>
          <p:txBody>
            <a:bodyPr spcFirstLastPara="1" wrap="square" lIns="0" tIns="8504" rIns="0" bIns="0" anchor="t" anchorCtr="0">
              <a:noAutofit/>
            </a:bodyPr>
            <a:lstStyle/>
            <a:p>
              <a:pPr marL="8164" algn="ctr">
                <a:lnSpc>
                  <a:spcPct val="116753"/>
                </a:lnSpc>
              </a:pPr>
              <a:r>
                <a:rPr lang="en-US" sz="2400" b="1" dirty="0">
                  <a:solidFill>
                    <a:srgbClr val="FFFFFF"/>
                  </a:solidFill>
                  <a:latin typeface="Trebuchet MS"/>
                  <a:ea typeface="Trebuchet MS"/>
                  <a:cs typeface="Trebuchet MS"/>
                  <a:sym typeface="Trebuchet MS"/>
                </a:rPr>
                <a:t>=</a:t>
              </a:r>
              <a:r>
                <a:rPr lang="en-US" sz="2062" dirty="0">
                  <a:solidFill>
                    <a:srgbClr val="FFFFFF"/>
                  </a:solidFill>
                  <a:latin typeface="Trebuchet MS"/>
                  <a:ea typeface="Trebuchet MS"/>
                  <a:cs typeface="Trebuchet MS"/>
                  <a:sym typeface="Trebuchet MS"/>
                </a:rPr>
                <a:t> Number of rows</a:t>
              </a:r>
            </a:p>
            <a:p>
              <a:pPr marL="8164">
                <a:lnSpc>
                  <a:spcPct val="116753"/>
                </a:lnSpc>
              </a:pPr>
              <a:r>
                <a:rPr lang="en-US" sz="2400" b="1" dirty="0">
                  <a:solidFill>
                    <a:srgbClr val="FFFFFF"/>
                  </a:solidFill>
                  <a:latin typeface="Verdana" panose="020B0604030504040204" pitchFamily="34" charset="0"/>
                  <a:ea typeface="Verdana" panose="020B0604030504040204" pitchFamily="34" charset="0"/>
                  <a:cs typeface="Calibri"/>
                  <a:sym typeface="Trebuchet MS"/>
                </a:rPr>
                <a:t>↓</a:t>
              </a:r>
              <a:r>
                <a:rPr lang="en-US" sz="2062" dirty="0">
                  <a:solidFill>
                    <a:srgbClr val="FFFFFF"/>
                  </a:solidFill>
                  <a:latin typeface="Trebuchet MS"/>
                  <a:ea typeface="Calibri"/>
                  <a:cs typeface="Calibri"/>
                  <a:sym typeface="Trebuchet MS"/>
                </a:rPr>
                <a:t>  Number of Columns</a:t>
              </a:r>
              <a:endParaRPr sz="2062" dirty="0">
                <a:latin typeface="Calibri"/>
                <a:ea typeface="Calibri"/>
                <a:cs typeface="Calibri"/>
                <a:sym typeface="Calibri"/>
              </a:endParaRPr>
            </a:p>
          </p:txBody>
        </p:sp>
      </p:grpSp>
    </p:spTree>
    <p:extLst>
      <p:ext uri="{BB962C8B-B14F-4D97-AF65-F5344CB8AC3E}">
        <p14:creationId xmlns:p14="http://schemas.microsoft.com/office/powerpoint/2010/main" val="2436592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21" name="Google Shape;168;p20">
            <a:extLst>
              <a:ext uri="{FF2B5EF4-FFF2-40B4-BE49-F238E27FC236}">
                <a16:creationId xmlns:a16="http://schemas.microsoft.com/office/drawing/2014/main" id="{2E4C9A47-2D84-3648-A8CE-D01AFA574D4C}"/>
              </a:ext>
            </a:extLst>
          </p:cNvPr>
          <p:cNvSpPr txBox="1">
            <a:spLocks noGrp="1"/>
          </p:cNvSpPr>
          <p:nvPr>
            <p:ph type="title"/>
          </p:nvPr>
        </p:nvSpPr>
        <p:spPr>
          <a:xfrm>
            <a:off x="4545497" y="680348"/>
            <a:ext cx="309552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latin typeface="Consolas" panose="020B0609020204030204" pitchFamily="49" charset="0"/>
              </a:rPr>
              <a:t>select()</a:t>
            </a:r>
            <a:endParaRPr dirty="0">
              <a:latin typeface="Consolas" panose="020B0609020204030204" pitchFamily="49" charset="0"/>
            </a:endParaRPr>
          </a:p>
        </p:txBody>
      </p:sp>
      <p:sp>
        <p:nvSpPr>
          <p:cNvPr id="22" name="Google Shape;171;p20">
            <a:extLst>
              <a:ext uri="{FF2B5EF4-FFF2-40B4-BE49-F238E27FC236}">
                <a16:creationId xmlns:a16="http://schemas.microsoft.com/office/drawing/2014/main" id="{4EAF82ED-97F5-A946-99B5-1EDC257DD372}"/>
              </a:ext>
            </a:extLst>
          </p:cNvPr>
          <p:cNvSpPr txBox="1"/>
          <p:nvPr/>
        </p:nvSpPr>
        <p:spPr>
          <a:xfrm>
            <a:off x="2886228" y="1725726"/>
            <a:ext cx="5912332" cy="1167589"/>
          </a:xfrm>
          <a:prstGeom prst="rect">
            <a:avLst/>
          </a:prstGeom>
          <a:noFill/>
          <a:ln>
            <a:noFill/>
          </a:ln>
        </p:spPr>
        <p:txBody>
          <a:bodyPr spcFirstLastPara="1" wrap="square" lIns="0" tIns="6455" rIns="0" bIns="0" anchor="t" anchorCtr="0">
            <a:noAutofit/>
          </a:bodyPr>
          <a:lstStyle/>
          <a:p>
            <a:pPr marL="6803"/>
            <a:r>
              <a:rPr lang="en-US" sz="3200" dirty="0">
                <a:latin typeface="Tw Cen MT" panose="020B0602020104020603" pitchFamily="34" charset="77"/>
                <a:ea typeface="Calibri"/>
                <a:cs typeface="Calibri"/>
                <a:sym typeface="Calibri"/>
              </a:rPr>
              <a:t>Extract columns from a data frame</a:t>
            </a:r>
            <a:endParaRPr sz="2652" dirty="0">
              <a:latin typeface="Tw Cen MT" panose="020B0602020104020603" pitchFamily="34" charset="77"/>
              <a:ea typeface="Calibri"/>
              <a:cs typeface="Calibri"/>
              <a:sym typeface="Calibri"/>
            </a:endParaRPr>
          </a:p>
          <a:p>
            <a:pPr marL="73817">
              <a:spcBef>
                <a:spcPts val="2354"/>
              </a:spcBef>
            </a:pPr>
            <a:endParaRPr sz="3200" dirty="0">
              <a:latin typeface="Consolas" panose="020B0609020204030204" pitchFamily="49" charset="0"/>
              <a:ea typeface="Courier New"/>
              <a:cs typeface="Consolas" panose="020B0609020204030204" pitchFamily="49" charset="0"/>
              <a:sym typeface="Courier New"/>
            </a:endParaRPr>
          </a:p>
        </p:txBody>
      </p:sp>
      <p:sp>
        <p:nvSpPr>
          <p:cNvPr id="11" name="Google Shape;131;p17"/>
          <p:cNvSpPr/>
          <p:nvPr/>
        </p:nvSpPr>
        <p:spPr>
          <a:xfrm>
            <a:off x="1114978" y="2338959"/>
            <a:ext cx="10037693"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2" name="Rectangle 11"/>
          <p:cNvSpPr/>
          <p:nvPr/>
        </p:nvSpPr>
        <p:spPr>
          <a:xfrm>
            <a:off x="943897" y="2418375"/>
            <a:ext cx="10877531" cy="584775"/>
          </a:xfrm>
          <a:prstGeom prst="rect">
            <a:avLst/>
          </a:prstGeom>
        </p:spPr>
        <p:txBody>
          <a:bodyPr wrap="square">
            <a:spAutoFit/>
          </a:bodyPr>
          <a:lstStyle/>
          <a:p>
            <a:pPr marL="146953" lvl="0">
              <a:spcBef>
                <a:spcPts val="2126"/>
              </a:spcBef>
            </a:pPr>
            <a:r>
              <a:rPr lang="en-US" sz="3200" dirty="0">
                <a:latin typeface="Consolas" panose="020B0609020204030204" pitchFamily="49" charset="0"/>
                <a:ea typeface="Courier New"/>
                <a:cs typeface="Consolas" panose="020B0609020204030204" pitchFamily="49" charset="0"/>
                <a:sym typeface="Courier New"/>
              </a:rPr>
              <a:t>select(</a:t>
            </a:r>
            <a:r>
              <a:rPr lang="en-US" sz="3200" dirty="0" err="1">
                <a:solidFill>
                  <a:srgbClr val="0365C0"/>
                </a:solidFill>
                <a:latin typeface="Consolas" panose="020B0609020204030204" pitchFamily="49" charset="0"/>
                <a:ea typeface="Courier New"/>
                <a:cs typeface="Consolas" panose="020B0609020204030204" pitchFamily="49" charset="0"/>
                <a:sym typeface="Courier New"/>
              </a:rPr>
              <a:t>covid_testing</a:t>
            </a:r>
            <a:r>
              <a:rPr lang="en-US" sz="3200" dirty="0">
                <a:solidFill>
                  <a:srgbClr val="0365C0"/>
                </a:solidFill>
                <a:latin typeface="Consolas" panose="020B0609020204030204" pitchFamily="49" charset="0"/>
                <a:ea typeface="Courier New"/>
                <a:cs typeface="Consolas" panose="020B0609020204030204" pitchFamily="49" charset="0"/>
                <a:sym typeface="Courier New"/>
              </a:rPr>
              <a:t>, </a:t>
            </a:r>
            <a:r>
              <a:rPr lang="en-US" sz="3200" dirty="0" err="1">
                <a:solidFill>
                  <a:srgbClr val="A0C283"/>
                </a:solidFill>
                <a:latin typeface="Consolas" panose="020B0609020204030204" pitchFamily="49" charset="0"/>
                <a:ea typeface="Courier New"/>
                <a:cs typeface="Consolas" panose="020B0609020204030204" pitchFamily="49" charset="0"/>
                <a:sym typeface="Courier New"/>
              </a:rPr>
              <a:t>mrn</a:t>
            </a:r>
            <a:r>
              <a:rPr lang="en-US" sz="3200" dirty="0">
                <a:solidFill>
                  <a:srgbClr val="A0C283"/>
                </a:solidFill>
                <a:latin typeface="Consolas" panose="020B0609020204030204" pitchFamily="49" charset="0"/>
                <a:ea typeface="Courier New"/>
                <a:cs typeface="Consolas" panose="020B0609020204030204" pitchFamily="49" charset="0"/>
                <a:sym typeface="Courier New"/>
              </a:rPr>
              <a:t>, </a:t>
            </a:r>
            <a:r>
              <a:rPr lang="en-US" sz="3200" dirty="0" err="1">
                <a:solidFill>
                  <a:srgbClr val="A0C283"/>
                </a:solidFill>
                <a:latin typeface="Consolas" panose="020B0609020204030204" pitchFamily="49" charset="0"/>
                <a:ea typeface="Courier New"/>
                <a:cs typeface="Consolas" panose="020B0609020204030204" pitchFamily="49" charset="0"/>
                <a:sym typeface="Courier New"/>
              </a:rPr>
              <a:t>last_name</a:t>
            </a:r>
            <a:r>
              <a:rPr lang="en-US" sz="3200" dirty="0">
                <a:latin typeface="Consolas" panose="020B0609020204030204" pitchFamily="49" charset="0"/>
                <a:ea typeface="Courier New"/>
                <a:cs typeface="Consolas" panose="020B0609020204030204" pitchFamily="49" charset="0"/>
                <a:sym typeface="Courier New"/>
              </a:rPr>
              <a:t>)</a:t>
            </a:r>
          </a:p>
        </p:txBody>
      </p:sp>
      <p:sp>
        <p:nvSpPr>
          <p:cNvPr id="13" name="Google Shape;172;p20"/>
          <p:cNvSpPr/>
          <p:nvPr/>
        </p:nvSpPr>
        <p:spPr>
          <a:xfrm>
            <a:off x="4867705" y="2996663"/>
            <a:ext cx="3840688" cy="2083971"/>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 name="connsiteX0" fmla="*/ 6812950 w 7169284"/>
              <a:gd name="connsiteY0" fmla="*/ 994895 h 3612616"/>
              <a:gd name="connsiteX1" fmla="*/ 356337 w 7169284"/>
              <a:gd name="connsiteY1" fmla="*/ 994895 h 3612616"/>
              <a:gd name="connsiteX2" fmla="*/ 307986 w 7169284"/>
              <a:gd name="connsiteY2" fmla="*/ 998148 h 3612616"/>
              <a:gd name="connsiteX3" fmla="*/ 261611 w 7169284"/>
              <a:gd name="connsiteY3" fmla="*/ 1007624 h 3612616"/>
              <a:gd name="connsiteX4" fmla="*/ 217637 w 7169284"/>
              <a:gd name="connsiteY4" fmla="*/ 1022898 h 3612616"/>
              <a:gd name="connsiteX5" fmla="*/ 176489 w 7169284"/>
              <a:gd name="connsiteY5" fmla="*/ 1043546 h 3612616"/>
              <a:gd name="connsiteX6" fmla="*/ 138592 w 7169284"/>
              <a:gd name="connsiteY6" fmla="*/ 1069144 h 3612616"/>
              <a:gd name="connsiteX7" fmla="*/ 104371 w 7169284"/>
              <a:gd name="connsiteY7" fmla="*/ 1099266 h 3612616"/>
              <a:gd name="connsiteX8" fmla="*/ 74249 w 7169284"/>
              <a:gd name="connsiteY8" fmla="*/ 1133487 h 3612616"/>
              <a:gd name="connsiteX9" fmla="*/ 48651 w 7169284"/>
              <a:gd name="connsiteY9" fmla="*/ 1171384 h 3612616"/>
              <a:gd name="connsiteX10" fmla="*/ 28003 w 7169284"/>
              <a:gd name="connsiteY10" fmla="*/ 1212532 h 3612616"/>
              <a:gd name="connsiteX11" fmla="*/ 12729 w 7169284"/>
              <a:gd name="connsiteY11" fmla="*/ 1256506 h 3612616"/>
              <a:gd name="connsiteX12" fmla="*/ 3253 w 7169284"/>
              <a:gd name="connsiteY12" fmla="*/ 1302881 h 3612616"/>
              <a:gd name="connsiteX13" fmla="*/ 0 w 7169284"/>
              <a:gd name="connsiteY13" fmla="*/ 1351232 h 3612616"/>
              <a:gd name="connsiteX14" fmla="*/ 0 w 7169284"/>
              <a:gd name="connsiteY14" fmla="*/ 3256279 h 3612616"/>
              <a:gd name="connsiteX15" fmla="*/ 3253 w 7169284"/>
              <a:gd name="connsiteY15" fmla="*/ 3304631 h 3612616"/>
              <a:gd name="connsiteX16" fmla="*/ 12729 w 7169284"/>
              <a:gd name="connsiteY16" fmla="*/ 3351006 h 3612616"/>
              <a:gd name="connsiteX17" fmla="*/ 28003 w 7169284"/>
              <a:gd name="connsiteY17" fmla="*/ 3394979 h 3612616"/>
              <a:gd name="connsiteX18" fmla="*/ 48651 w 7169284"/>
              <a:gd name="connsiteY18" fmla="*/ 3436127 h 3612616"/>
              <a:gd name="connsiteX19" fmla="*/ 74249 w 7169284"/>
              <a:gd name="connsiteY19" fmla="*/ 3474024 h 3612616"/>
              <a:gd name="connsiteX20" fmla="*/ 104371 w 7169284"/>
              <a:gd name="connsiteY20" fmla="*/ 3508245 h 3612616"/>
              <a:gd name="connsiteX21" fmla="*/ 138592 w 7169284"/>
              <a:gd name="connsiteY21" fmla="*/ 3538367 h 3612616"/>
              <a:gd name="connsiteX22" fmla="*/ 176489 w 7169284"/>
              <a:gd name="connsiteY22" fmla="*/ 3563964 h 3612616"/>
              <a:gd name="connsiteX23" fmla="*/ 217637 w 7169284"/>
              <a:gd name="connsiteY23" fmla="*/ 3584612 h 3612616"/>
              <a:gd name="connsiteX24" fmla="*/ 261611 w 7169284"/>
              <a:gd name="connsiteY24" fmla="*/ 3599887 h 3612616"/>
              <a:gd name="connsiteX25" fmla="*/ 307986 w 7169284"/>
              <a:gd name="connsiteY25" fmla="*/ 3609363 h 3612616"/>
              <a:gd name="connsiteX26" fmla="*/ 356337 w 7169284"/>
              <a:gd name="connsiteY26" fmla="*/ 3612616 h 3612616"/>
              <a:gd name="connsiteX27" fmla="*/ 6812950 w 7169284"/>
              <a:gd name="connsiteY27" fmla="*/ 3612616 h 3612616"/>
              <a:gd name="connsiteX28" fmla="*/ 6861301 w 7169284"/>
              <a:gd name="connsiteY28" fmla="*/ 3609363 h 3612616"/>
              <a:gd name="connsiteX29" fmla="*/ 6907675 w 7169284"/>
              <a:gd name="connsiteY29" fmla="*/ 3599887 h 3612616"/>
              <a:gd name="connsiteX30" fmla="*/ 6951648 w 7169284"/>
              <a:gd name="connsiteY30" fmla="*/ 3584612 h 3612616"/>
              <a:gd name="connsiteX31" fmla="*/ 6992795 w 7169284"/>
              <a:gd name="connsiteY31" fmla="*/ 3563964 h 3612616"/>
              <a:gd name="connsiteX32" fmla="*/ 7030692 w 7169284"/>
              <a:gd name="connsiteY32" fmla="*/ 3538367 h 3612616"/>
              <a:gd name="connsiteX33" fmla="*/ 7064914 w 7169284"/>
              <a:gd name="connsiteY33" fmla="*/ 3508245 h 3612616"/>
              <a:gd name="connsiteX34" fmla="*/ 7095036 w 7169284"/>
              <a:gd name="connsiteY34" fmla="*/ 3474024 h 3612616"/>
              <a:gd name="connsiteX35" fmla="*/ 7120633 w 7169284"/>
              <a:gd name="connsiteY35" fmla="*/ 3436127 h 3612616"/>
              <a:gd name="connsiteX36" fmla="*/ 7141281 w 7169284"/>
              <a:gd name="connsiteY36" fmla="*/ 3394979 h 3612616"/>
              <a:gd name="connsiteX37" fmla="*/ 7156556 w 7169284"/>
              <a:gd name="connsiteY37" fmla="*/ 3351006 h 3612616"/>
              <a:gd name="connsiteX38" fmla="*/ 7166032 w 7169284"/>
              <a:gd name="connsiteY38" fmla="*/ 3304631 h 3612616"/>
              <a:gd name="connsiteX39" fmla="*/ 7169285 w 7169284"/>
              <a:gd name="connsiteY39" fmla="*/ 3256279 h 3612616"/>
              <a:gd name="connsiteX40" fmla="*/ 7169285 w 7169284"/>
              <a:gd name="connsiteY40" fmla="*/ 1351232 h 3612616"/>
              <a:gd name="connsiteX41" fmla="*/ 7166032 w 7169284"/>
              <a:gd name="connsiteY41" fmla="*/ 1302881 h 3612616"/>
              <a:gd name="connsiteX42" fmla="*/ 7156556 w 7169284"/>
              <a:gd name="connsiteY42" fmla="*/ 1256506 h 3612616"/>
              <a:gd name="connsiteX43" fmla="*/ 7141281 w 7169284"/>
              <a:gd name="connsiteY43" fmla="*/ 1212532 h 3612616"/>
              <a:gd name="connsiteX44" fmla="*/ 7120633 w 7169284"/>
              <a:gd name="connsiteY44" fmla="*/ 1171384 h 3612616"/>
              <a:gd name="connsiteX45" fmla="*/ 7095036 w 7169284"/>
              <a:gd name="connsiteY45" fmla="*/ 1133487 h 3612616"/>
              <a:gd name="connsiteX46" fmla="*/ 7064914 w 7169284"/>
              <a:gd name="connsiteY46" fmla="*/ 1099266 h 3612616"/>
              <a:gd name="connsiteX47" fmla="*/ 7030692 w 7169284"/>
              <a:gd name="connsiteY47" fmla="*/ 1069144 h 3612616"/>
              <a:gd name="connsiteX48" fmla="*/ 6992795 w 7169284"/>
              <a:gd name="connsiteY48" fmla="*/ 1043546 h 3612616"/>
              <a:gd name="connsiteX49" fmla="*/ 6951648 w 7169284"/>
              <a:gd name="connsiteY49" fmla="*/ 1022898 h 3612616"/>
              <a:gd name="connsiteX50" fmla="*/ 6907675 w 7169284"/>
              <a:gd name="connsiteY50" fmla="*/ 1007624 h 3612616"/>
              <a:gd name="connsiteX51" fmla="*/ 6861301 w 7169284"/>
              <a:gd name="connsiteY51" fmla="*/ 998148 h 3612616"/>
              <a:gd name="connsiteX52" fmla="*/ 6812950 w 7169284"/>
              <a:gd name="connsiteY52" fmla="*/ 994895 h 3612616"/>
              <a:gd name="connsiteX0" fmla="*/ 3827891 w 7169284"/>
              <a:gd name="connsiteY0" fmla="*/ 0 h 3612616"/>
              <a:gd name="connsiteX1" fmla="*/ 2348194 w 7169284"/>
              <a:gd name="connsiteY1" fmla="*/ 1011641 h 3612616"/>
              <a:gd name="connsiteX2" fmla="*/ 2993816 w 7169284"/>
              <a:gd name="connsiteY2" fmla="*/ 1011641 h 3612616"/>
              <a:gd name="connsiteX3" fmla="*/ 3827891 w 7169284"/>
              <a:gd name="connsiteY3" fmla="*/ 0 h 3612616"/>
            </a:gdLst>
            <a:ahLst/>
            <a:cxnLst>
              <a:cxn ang="0">
                <a:pos x="connsiteX0" y="connsiteY0"/>
              </a:cxn>
              <a:cxn ang="0">
                <a:pos x="connsiteX1" y="connsiteY1"/>
              </a:cxn>
              <a:cxn ang="0">
                <a:pos x="connsiteX2" y="connsiteY2"/>
              </a:cxn>
              <a:cxn ang="0">
                <a:pos x="connsiteX3" y="connsiteY3"/>
              </a:cxn>
            </a:cxnLst>
            <a:rect l="l" t="t" r="r" b="b"/>
            <a:pathLst>
              <a:path w="7169284" h="3612616" extrusionOk="0">
                <a:moveTo>
                  <a:pt x="6812950" y="994895"/>
                </a:moveTo>
                <a:lnTo>
                  <a:pt x="356337" y="994895"/>
                </a:lnTo>
                <a:lnTo>
                  <a:pt x="307986" y="998148"/>
                </a:lnTo>
                <a:lnTo>
                  <a:pt x="261611" y="1007624"/>
                </a:lnTo>
                <a:lnTo>
                  <a:pt x="217637" y="1022898"/>
                </a:lnTo>
                <a:lnTo>
                  <a:pt x="176489" y="1043546"/>
                </a:lnTo>
                <a:lnTo>
                  <a:pt x="138592" y="1069144"/>
                </a:lnTo>
                <a:lnTo>
                  <a:pt x="104371" y="1099266"/>
                </a:lnTo>
                <a:lnTo>
                  <a:pt x="74249" y="1133487"/>
                </a:lnTo>
                <a:lnTo>
                  <a:pt x="48651" y="1171384"/>
                </a:lnTo>
                <a:lnTo>
                  <a:pt x="28003" y="1212532"/>
                </a:lnTo>
                <a:lnTo>
                  <a:pt x="12729" y="1256506"/>
                </a:lnTo>
                <a:lnTo>
                  <a:pt x="3253" y="1302881"/>
                </a:lnTo>
                <a:lnTo>
                  <a:pt x="0" y="1351232"/>
                </a:lnTo>
                <a:lnTo>
                  <a:pt x="0" y="3256279"/>
                </a:lnTo>
                <a:lnTo>
                  <a:pt x="3253" y="3304631"/>
                </a:lnTo>
                <a:lnTo>
                  <a:pt x="12729" y="3351006"/>
                </a:lnTo>
                <a:lnTo>
                  <a:pt x="28003" y="3394979"/>
                </a:lnTo>
                <a:lnTo>
                  <a:pt x="48651" y="3436127"/>
                </a:lnTo>
                <a:lnTo>
                  <a:pt x="74249" y="3474024"/>
                </a:lnTo>
                <a:lnTo>
                  <a:pt x="104371" y="3508245"/>
                </a:lnTo>
                <a:lnTo>
                  <a:pt x="138592" y="3538367"/>
                </a:lnTo>
                <a:lnTo>
                  <a:pt x="176489" y="3563964"/>
                </a:lnTo>
                <a:lnTo>
                  <a:pt x="217637" y="3584612"/>
                </a:lnTo>
                <a:lnTo>
                  <a:pt x="261611" y="3599887"/>
                </a:lnTo>
                <a:lnTo>
                  <a:pt x="307986" y="3609363"/>
                </a:lnTo>
                <a:lnTo>
                  <a:pt x="356337" y="3612616"/>
                </a:lnTo>
                <a:lnTo>
                  <a:pt x="6812950" y="3612616"/>
                </a:lnTo>
                <a:lnTo>
                  <a:pt x="6861301" y="3609363"/>
                </a:lnTo>
                <a:lnTo>
                  <a:pt x="6907675" y="3599887"/>
                </a:lnTo>
                <a:lnTo>
                  <a:pt x="6951648" y="3584612"/>
                </a:lnTo>
                <a:lnTo>
                  <a:pt x="6992795" y="3563964"/>
                </a:lnTo>
                <a:lnTo>
                  <a:pt x="7030692" y="3538367"/>
                </a:lnTo>
                <a:lnTo>
                  <a:pt x="7064914" y="3508245"/>
                </a:lnTo>
                <a:lnTo>
                  <a:pt x="7095036" y="3474024"/>
                </a:lnTo>
                <a:lnTo>
                  <a:pt x="7120633" y="3436127"/>
                </a:lnTo>
                <a:lnTo>
                  <a:pt x="7141281" y="3394979"/>
                </a:lnTo>
                <a:lnTo>
                  <a:pt x="7156556" y="3351006"/>
                </a:lnTo>
                <a:lnTo>
                  <a:pt x="7166032" y="3304631"/>
                </a:lnTo>
                <a:lnTo>
                  <a:pt x="7169285" y="3256279"/>
                </a:lnTo>
                <a:lnTo>
                  <a:pt x="7169285" y="1351232"/>
                </a:lnTo>
                <a:lnTo>
                  <a:pt x="7166032" y="1302881"/>
                </a:lnTo>
                <a:lnTo>
                  <a:pt x="7156556" y="1256506"/>
                </a:lnTo>
                <a:lnTo>
                  <a:pt x="7141281" y="1212532"/>
                </a:lnTo>
                <a:lnTo>
                  <a:pt x="7120633" y="1171384"/>
                </a:lnTo>
                <a:lnTo>
                  <a:pt x="7095036" y="1133487"/>
                </a:lnTo>
                <a:lnTo>
                  <a:pt x="7064914" y="1099266"/>
                </a:lnTo>
                <a:lnTo>
                  <a:pt x="7030692" y="1069144"/>
                </a:lnTo>
                <a:lnTo>
                  <a:pt x="6992795" y="1043546"/>
                </a:lnTo>
                <a:lnTo>
                  <a:pt x="6951648" y="1022898"/>
                </a:lnTo>
                <a:lnTo>
                  <a:pt x="6907675" y="1007624"/>
                </a:lnTo>
                <a:lnTo>
                  <a:pt x="6861301" y="998148"/>
                </a:lnTo>
                <a:lnTo>
                  <a:pt x="6812950" y="994895"/>
                </a:lnTo>
                <a:close/>
              </a:path>
              <a:path w="7169284" h="3612616" extrusionOk="0">
                <a:moveTo>
                  <a:pt x="3827891" y="0"/>
                </a:moveTo>
                <a:lnTo>
                  <a:pt x="2348194" y="1011641"/>
                </a:lnTo>
                <a:lnTo>
                  <a:pt x="2993816" y="1011641"/>
                </a:lnTo>
                <a:lnTo>
                  <a:pt x="3827891" y="0"/>
                </a:lnTo>
                <a:close/>
              </a:path>
            </a:pathLst>
          </a:custGeom>
          <a:solidFill>
            <a:srgbClr val="A0C283"/>
          </a:solidFill>
          <a:ln>
            <a:noFill/>
          </a:ln>
        </p:spPr>
        <p:txBody>
          <a:bodyPr spcFirstLastPara="1" wrap="square" lIns="0" tIns="0" rIns="0" bIns="0" anchor="t" anchorCtr="0">
            <a:noAutofit/>
          </a:bodyPr>
          <a:lstStyle/>
          <a:p>
            <a:endParaRPr sz="964" dirty="0"/>
          </a:p>
        </p:txBody>
      </p:sp>
      <p:sp>
        <p:nvSpPr>
          <p:cNvPr id="14" name="Google Shape;173;p20"/>
          <p:cNvSpPr txBox="1"/>
          <p:nvPr/>
        </p:nvSpPr>
        <p:spPr>
          <a:xfrm>
            <a:off x="4884863" y="3838038"/>
            <a:ext cx="3840688" cy="1160937"/>
          </a:xfrm>
          <a:prstGeom prst="rect">
            <a:avLst/>
          </a:prstGeom>
          <a:noFill/>
          <a:ln>
            <a:noFill/>
          </a:ln>
        </p:spPr>
        <p:txBody>
          <a:bodyPr spcFirstLastPara="1" wrap="square" lIns="0" tIns="8504" rIns="0" bIns="0" anchor="t" anchorCtr="0">
            <a:noAutofit/>
          </a:bodyPr>
          <a:lstStyle/>
          <a:p>
            <a:pPr algn="ctr">
              <a:lnSpc>
                <a:spcPct val="116753"/>
              </a:lnSpc>
            </a:pPr>
            <a:r>
              <a:rPr lang="en-US" sz="2800" dirty="0">
                <a:solidFill>
                  <a:srgbClr val="FFFFFF"/>
                </a:solidFill>
                <a:latin typeface="Tw Cen MT" panose="020B0602020104020603" pitchFamily="34" charset="77"/>
                <a:ea typeface="Trebuchet MS"/>
                <a:cs typeface="Trebuchet MS"/>
                <a:sym typeface="Trebuchet MS"/>
              </a:rPr>
              <a:t>name(s) of columns to extract</a:t>
            </a:r>
            <a:endParaRPr sz="2800" dirty="0">
              <a:latin typeface="Tw Cen MT" panose="020B0602020104020603" pitchFamily="34" charset="77"/>
              <a:ea typeface="Trebuchet MS"/>
              <a:cs typeface="Trebuchet MS"/>
              <a:sym typeface="Trebuchet MS"/>
            </a:endParaRPr>
          </a:p>
        </p:txBody>
      </p:sp>
      <p:sp>
        <p:nvSpPr>
          <p:cNvPr id="15" name="Google Shape;175;p20"/>
          <p:cNvSpPr txBox="1"/>
          <p:nvPr/>
        </p:nvSpPr>
        <p:spPr>
          <a:xfrm>
            <a:off x="3004025" y="3700811"/>
            <a:ext cx="1588982" cy="710036"/>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062" b="1">
                <a:solidFill>
                  <a:srgbClr val="FFFFFF"/>
                </a:solidFill>
                <a:latin typeface="Trebuchet MS"/>
                <a:ea typeface="Trebuchet MS"/>
                <a:cs typeface="Trebuchet MS"/>
                <a:sym typeface="Trebuchet MS"/>
              </a:rPr>
              <a:t>data frame to  transform</a:t>
            </a:r>
            <a:endParaRPr sz="2062">
              <a:latin typeface="Trebuchet MS"/>
              <a:ea typeface="Trebuchet MS"/>
              <a:cs typeface="Trebuchet MS"/>
              <a:sym typeface="Trebuchet MS"/>
            </a:endParaRPr>
          </a:p>
        </p:txBody>
      </p:sp>
      <p:sp>
        <p:nvSpPr>
          <p:cNvPr id="16" name="Google Shape;137;p17"/>
          <p:cNvSpPr/>
          <p:nvPr/>
        </p:nvSpPr>
        <p:spPr>
          <a:xfrm>
            <a:off x="2130711" y="2926883"/>
            <a:ext cx="246229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17" name="Google Shape;138;p17"/>
          <p:cNvSpPr txBox="1"/>
          <p:nvPr/>
        </p:nvSpPr>
        <p:spPr>
          <a:xfrm>
            <a:off x="2197998" y="3819859"/>
            <a:ext cx="2327721" cy="1143810"/>
          </a:xfrm>
          <a:prstGeom prst="rect">
            <a:avLst/>
          </a:prstGeom>
          <a:noFill/>
          <a:ln>
            <a:noFill/>
          </a:ln>
        </p:spPr>
        <p:txBody>
          <a:bodyPr spcFirstLastPara="1" wrap="square" lIns="0" tIns="32652" rIns="0" bIns="0" anchor="t" anchorCtr="0">
            <a:noAutofit/>
          </a:bodyPr>
          <a:lstStyle/>
          <a:p>
            <a:pPr marL="208524" marR="2721" indent="-202061" algn="ctr">
              <a:lnSpc>
                <a:spcPct val="113506"/>
              </a:lnSpc>
            </a:pPr>
            <a:r>
              <a:rPr lang="en-US" sz="2800" dirty="0">
                <a:solidFill>
                  <a:srgbClr val="FFFFFF"/>
                </a:solidFill>
                <a:latin typeface="Tw Cen MT" panose="020B0602020104020603" pitchFamily="34" charset="77"/>
                <a:ea typeface="Trebuchet MS"/>
                <a:cs typeface="Trebuchet MS"/>
                <a:sym typeface="Trebuchet MS"/>
              </a:rPr>
              <a:t>data frame to transform</a:t>
            </a:r>
            <a:endParaRPr sz="2800" dirty="0">
              <a:latin typeface="Tw Cen MT" panose="020B0602020104020603" pitchFamily="34" charset="77"/>
              <a:ea typeface="Trebuchet MS"/>
              <a:cs typeface="Trebuchet MS"/>
              <a:sym typeface="Trebuchet MS"/>
            </a:endParaRPr>
          </a:p>
        </p:txBody>
      </p:sp>
      <p:sp>
        <p:nvSpPr>
          <p:cNvPr id="20" name="Rectangle 19" hidden="1"/>
          <p:cNvSpPr/>
          <p:nvPr/>
        </p:nvSpPr>
        <p:spPr>
          <a:xfrm>
            <a:off x="2269139" y="2400924"/>
            <a:ext cx="4027064"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select(</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24" name="Google Shape;140;p17"/>
          <p:cNvSpPr txBox="1"/>
          <p:nvPr/>
        </p:nvSpPr>
        <p:spPr>
          <a:xfrm>
            <a:off x="166944" y="3919698"/>
            <a:ext cx="1671911" cy="997618"/>
          </a:xfrm>
          <a:prstGeom prst="rect">
            <a:avLst/>
          </a:prstGeom>
          <a:noFill/>
          <a:ln>
            <a:noFill/>
          </a:ln>
        </p:spPr>
        <p:txBody>
          <a:bodyPr spcFirstLastPara="1" wrap="square" lIns="0" tIns="8504" rIns="0" bIns="0" anchor="t" anchorCtr="0">
            <a:noAutofit/>
          </a:bodyPr>
          <a:lstStyle/>
          <a:p>
            <a:pPr marL="6803" algn="ctr"/>
            <a:r>
              <a:rPr lang="en-US" sz="2800" dirty="0">
                <a:solidFill>
                  <a:srgbClr val="FFFFFF"/>
                </a:solidFill>
                <a:latin typeface="Tw Cen MT" panose="020B0602020104020603" pitchFamily="34" charset="77"/>
                <a:ea typeface="Trebuchet MS"/>
                <a:cs typeface="Trebuchet MS"/>
                <a:sym typeface="Trebuchet MS"/>
              </a:rPr>
              <a:t>dplyr function</a:t>
            </a:r>
            <a:endParaRPr sz="2800" dirty="0">
              <a:latin typeface="Tw Cen MT" panose="020B0602020104020603" pitchFamily="34" charset="77"/>
              <a:ea typeface="Trebuchet MS"/>
              <a:cs typeface="Trebuchet MS"/>
              <a:sym typeface="Trebuchet MS"/>
            </a:endParaRPr>
          </a:p>
        </p:txBody>
      </p:sp>
    </p:spTree>
    <p:extLst>
      <p:ext uri="{BB962C8B-B14F-4D97-AF65-F5344CB8AC3E}">
        <p14:creationId xmlns:p14="http://schemas.microsoft.com/office/powerpoint/2010/main" val="35840923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0"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21" name="Google Shape;199;p22" hidden="1"/>
          <p:cNvGraphicFramePr/>
          <p:nvPr/>
        </p:nvGraphicFramePr>
        <p:xfrm>
          <a:off x="6870169" y="3499933"/>
          <a:ext cx="3884753" cy="3171090"/>
        </p:xfrm>
        <a:graphic>
          <a:graphicData uri="http://schemas.openxmlformats.org/drawingml/2006/table">
            <a:tbl>
              <a:tblPr>
                <a:noFill/>
              </a:tblPr>
              <a:tblGrid>
                <a:gridCol w="2180430">
                  <a:extLst>
                    <a:ext uri="{9D8B030D-6E8A-4147-A177-3AD203B41FA5}">
                      <a16:colId xmlns:a16="http://schemas.microsoft.com/office/drawing/2014/main" val="20000"/>
                    </a:ext>
                  </a:extLst>
                </a:gridCol>
                <a:gridCol w="1704323">
                  <a:extLst>
                    <a:ext uri="{9D8B030D-6E8A-4147-A177-3AD203B41FA5}">
                      <a16:colId xmlns:a16="http://schemas.microsoft.com/office/drawing/2014/main" val="20001"/>
                    </a:ext>
                  </a:extLst>
                </a:gridCol>
              </a:tblGrid>
              <a:tr h="459090">
                <a:tc>
                  <a:txBody>
                    <a:bodyPr/>
                    <a:lstStyle/>
                    <a:p>
                      <a:pPr marL="0" lvl="0" indent="0" algn="ctr" rtl="0">
                        <a:spcBef>
                          <a:spcPts val="0"/>
                        </a:spcBef>
                        <a:spcAft>
                          <a:spcPts val="0"/>
                        </a:spcAft>
                        <a:buNone/>
                      </a:pPr>
                      <a:r>
                        <a:rPr lang="en-US" sz="1200" b="1" dirty="0">
                          <a:solidFill>
                            <a:schemeClr val="lt1"/>
                          </a:solidFill>
                        </a:rPr>
                        <a:t>description</a:t>
                      </a:r>
                      <a:endParaRPr sz="1200" b="1" dirty="0">
                        <a:solidFill>
                          <a:schemeClr val="lt1"/>
                        </a:solidFill>
                      </a:endParaRPr>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B w="18975" cap="flat" cmpd="sng">
                      <a:solidFill>
                        <a:srgbClr val="FFFFFF"/>
                      </a:solidFill>
                      <a:prstDash val="solid"/>
                      <a:round/>
                      <a:headEnd type="none" w="sm" len="sm"/>
                      <a:tailEnd type="none" w="sm" len="sm"/>
                    </a:lnB>
                    <a:solidFill>
                      <a:srgbClr val="538DD5"/>
                    </a:solidFill>
                  </a:tcPr>
                </a:tc>
                <a:tc>
                  <a:txBody>
                    <a:bodyPr/>
                    <a:lstStyle/>
                    <a:p>
                      <a:pPr marL="0" lvl="0" indent="0" algn="ctr" rtl="0">
                        <a:spcBef>
                          <a:spcPts val="0"/>
                        </a:spcBef>
                        <a:spcAft>
                          <a:spcPts val="0"/>
                        </a:spcAft>
                        <a:buNone/>
                      </a:pPr>
                      <a:r>
                        <a:rPr lang="en-US" sz="1200" b="1" dirty="0">
                          <a:solidFill>
                            <a:schemeClr val="lt1"/>
                          </a:solidFill>
                        </a:rPr>
                        <a:t>department</a:t>
                      </a:r>
                      <a:endParaRPr sz="1200" b="1" dirty="0">
                        <a:solidFill>
                          <a:schemeClr val="lt1"/>
                        </a:solidFill>
                      </a:endParaRPr>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B w="18975" cap="flat" cmpd="sng">
                      <a:solidFill>
                        <a:srgbClr val="FFFFFF"/>
                      </a:solidFill>
                      <a:prstDash val="solid"/>
                      <a:round/>
                      <a:headEnd type="none" w="sm" len="sm"/>
                      <a:tailEnd type="none" w="sm" len="sm"/>
                    </a:lnB>
                    <a:solidFill>
                      <a:srgbClr val="538DD5"/>
                    </a:solidFill>
                  </a:tcPr>
                </a:tc>
                <a:extLst>
                  <a:ext uri="{0D108BD9-81ED-4DB2-BD59-A6C34878D82A}">
                    <a16:rowId xmlns:a16="http://schemas.microsoft.com/office/drawing/2014/main" val="10000"/>
                  </a:ext>
                </a:extLst>
              </a:tr>
              <a:tr h="717345">
                <a:tc>
                  <a:txBody>
                    <a:bodyPr/>
                    <a:lstStyle/>
                    <a:p>
                      <a:pPr marL="0" lvl="0" indent="0" algn="ctr" rtl="0">
                        <a:spcBef>
                          <a:spcPts val="0"/>
                        </a:spcBef>
                        <a:spcAft>
                          <a:spcPts val="0"/>
                        </a:spcAft>
                        <a:buNone/>
                      </a:pPr>
                      <a:r>
                        <a:rPr lang="en-US" sz="1200" dirty="0"/>
                        <a:t>PROTHROMBIN TIME</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18975" cap="flat" cmpd="sng">
                      <a:solidFill>
                        <a:srgbClr val="FFFFFF"/>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a:t>INTERNAL MEDICINE CLINIC</a:t>
                      </a:r>
                      <a:endParaRPr sz="120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18975" cap="flat" cmpd="sng">
                      <a:solidFill>
                        <a:srgbClr val="FFFFFF"/>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1"/>
                  </a:ext>
                </a:extLst>
              </a:tr>
              <a:tr h="717345">
                <a:tc>
                  <a:txBody>
                    <a:bodyPr/>
                    <a:lstStyle/>
                    <a:p>
                      <a:pPr marL="0" lvl="0" indent="0" algn="ctr" rtl="0">
                        <a:spcBef>
                          <a:spcPts val="0"/>
                        </a:spcBef>
                        <a:spcAft>
                          <a:spcPts val="0"/>
                        </a:spcAft>
                        <a:buNone/>
                      </a:pPr>
                      <a:r>
                        <a:rPr lang="en-US" sz="1200" dirty="0"/>
                        <a:t>BASIC METABOLIC PANEL</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INTERNAL MEDICINE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2"/>
                  </a:ext>
                </a:extLst>
              </a:tr>
              <a:tr h="717345">
                <a:tc>
                  <a:txBody>
                    <a:bodyPr/>
                    <a:lstStyle/>
                    <a:p>
                      <a:pPr marL="0" lvl="0" indent="0" algn="ctr" rtl="0">
                        <a:spcBef>
                          <a:spcPts val="0"/>
                        </a:spcBef>
                        <a:spcAft>
                          <a:spcPts val="0"/>
                        </a:spcAft>
                        <a:buNone/>
                      </a:pPr>
                      <a:r>
                        <a:rPr lang="en-US" sz="1200"/>
                        <a:t>THYROID STIMULATING HORMONE</a:t>
                      </a:r>
                      <a:endParaRPr sz="120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ENDOCRINOLOGY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3"/>
                  </a:ext>
                </a:extLst>
              </a:tr>
              <a:tr h="559965">
                <a:tc>
                  <a:txBody>
                    <a:bodyPr/>
                    <a:lstStyle/>
                    <a:p>
                      <a:pPr marL="0" lvl="0" indent="0" algn="ctr" rtl="0">
                        <a:spcBef>
                          <a:spcPts val="0"/>
                        </a:spcBef>
                        <a:spcAft>
                          <a:spcPts val="0"/>
                        </a:spcAft>
                        <a:buNone/>
                      </a:pPr>
                      <a:r>
                        <a:rPr lang="en-US" sz="1200" dirty="0"/>
                        <a:t>T4, FREE</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tc>
                  <a:txBody>
                    <a:bodyPr/>
                    <a:lstStyle/>
                    <a:p>
                      <a:pPr marL="0" lvl="0" indent="0" algn="ctr" rtl="0">
                        <a:spcBef>
                          <a:spcPts val="0"/>
                        </a:spcBef>
                        <a:spcAft>
                          <a:spcPts val="0"/>
                        </a:spcAft>
                        <a:buNone/>
                      </a:pPr>
                      <a:r>
                        <a:rPr lang="en-US" sz="1200" dirty="0"/>
                        <a:t>ENDOCRINOLOGY CLINIC</a:t>
                      </a:r>
                      <a:endParaRPr sz="1200" dirty="0"/>
                    </a:p>
                  </a:txBody>
                  <a:tcPr marL="48978" marR="48978" marT="55446" marB="55446">
                    <a:lnL w="6325" cap="flat" cmpd="sng">
                      <a:solidFill>
                        <a:srgbClr val="FFFFFF"/>
                      </a:solidFill>
                      <a:prstDash val="solid"/>
                      <a:round/>
                      <a:headEnd type="none" w="sm" len="sm"/>
                      <a:tailEnd type="none" w="sm" len="sm"/>
                    </a:lnL>
                    <a:lnR w="6325" cap="flat" cmpd="sng">
                      <a:solidFill>
                        <a:srgbClr val="FFFFFF"/>
                      </a:solidFill>
                      <a:prstDash val="solid"/>
                      <a:round/>
                      <a:headEnd type="none" w="sm" len="sm"/>
                      <a:tailEnd type="none" w="sm" len="sm"/>
                    </a:lnR>
                    <a:lnT w="6325" cap="flat" cmpd="sng">
                      <a:solidFill>
                        <a:srgbClr val="000000"/>
                      </a:solidFill>
                      <a:prstDash val="solid"/>
                      <a:round/>
                      <a:headEnd type="none" w="sm" len="sm"/>
                      <a:tailEnd type="none" w="sm" len="sm"/>
                    </a:lnT>
                    <a:lnB w="6325" cap="flat" cmpd="sng">
                      <a:solidFill>
                        <a:srgbClr val="000000"/>
                      </a:solidFill>
                      <a:prstDash val="solid"/>
                      <a:round/>
                      <a:headEnd type="none" w="sm" len="sm"/>
                      <a:tailEnd type="none" w="sm" len="sm"/>
                    </a:lnB>
                    <a:solidFill>
                      <a:srgbClr val="8DB4E2"/>
                    </a:solidFill>
                  </a:tcPr>
                </a:tc>
                <a:extLst>
                  <a:ext uri="{0D108BD9-81ED-4DB2-BD59-A6C34878D82A}">
                    <a16:rowId xmlns:a16="http://schemas.microsoft.com/office/drawing/2014/main" val="10004"/>
                  </a:ext>
                </a:extLst>
              </a:tr>
            </a:tbl>
          </a:graphicData>
        </a:graphic>
      </p:graphicFrame>
      <p:sp>
        <p:nvSpPr>
          <p:cNvPr id="18" name="Google Shape;197;p22"/>
          <p:cNvSpPr/>
          <p:nvPr/>
        </p:nvSpPr>
        <p:spPr>
          <a:xfrm>
            <a:off x="6504143" y="5070610"/>
            <a:ext cx="361572" cy="206847"/>
          </a:xfrm>
          <a:custGeom>
            <a:avLst/>
            <a:gdLst/>
            <a:ahLst/>
            <a:cxnLst/>
            <a:rect l="l" t="t" r="r" b="b"/>
            <a:pathLst>
              <a:path w="622300" h="382270" extrusionOk="0">
                <a:moveTo>
                  <a:pt x="357633" y="0"/>
                </a:moveTo>
                <a:lnTo>
                  <a:pt x="357633" y="133826"/>
                </a:lnTo>
                <a:lnTo>
                  <a:pt x="0" y="133826"/>
                </a:lnTo>
                <a:lnTo>
                  <a:pt x="0" y="247817"/>
                </a:lnTo>
                <a:lnTo>
                  <a:pt x="357633" y="247817"/>
                </a:lnTo>
                <a:lnTo>
                  <a:pt x="357633" y="381642"/>
                </a:lnTo>
                <a:lnTo>
                  <a:pt x="622085" y="190821"/>
                </a:lnTo>
                <a:lnTo>
                  <a:pt x="357633"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3" name="Google Shape;196;p22"/>
          <p:cNvSpPr txBox="1"/>
          <p:nvPr/>
        </p:nvSpPr>
        <p:spPr>
          <a:xfrm>
            <a:off x="1012156" y="3761222"/>
            <a:ext cx="4825999" cy="213878"/>
          </a:xfrm>
          <a:prstGeom prst="rect">
            <a:avLst/>
          </a:prstGeom>
          <a:noFill/>
          <a:ln>
            <a:noFill/>
          </a:ln>
        </p:spPr>
        <p:txBody>
          <a:bodyPr spcFirstLastPara="1" wrap="square" lIns="0" tIns="8156" rIns="0" bIns="0" anchor="t" anchorCtr="0">
            <a:noAutofit/>
          </a:bodyPr>
          <a:lstStyle/>
          <a:p>
            <a:pPr marL="6803" algn="ctr"/>
            <a:r>
              <a:rPr lang="en-US" sz="2000" dirty="0" err="1">
                <a:solidFill>
                  <a:srgbClr val="0365C0"/>
                </a:solidFill>
                <a:latin typeface="Consolas" panose="020B0609020204030204" pitchFamily="49" charset="0"/>
                <a:ea typeface="Courier New"/>
                <a:cs typeface="Consolas" panose="020B0609020204030204" pitchFamily="49" charset="0"/>
                <a:sym typeface="Courier New"/>
              </a:rPr>
              <a:t>covid_testing</a:t>
            </a:r>
            <a:endParaRPr sz="2000" dirty="0">
              <a:latin typeface="Consolas" panose="020B0609020204030204" pitchFamily="49" charset="0"/>
              <a:ea typeface="Calibri"/>
              <a:cs typeface="Calibri"/>
              <a:sym typeface="Calibri"/>
            </a:endParaRPr>
          </a:p>
        </p:txBody>
      </p:sp>
      <p:sp>
        <p:nvSpPr>
          <p:cNvPr id="14" name="Google Shape;131;p17"/>
          <p:cNvSpPr/>
          <p:nvPr/>
        </p:nvSpPr>
        <p:spPr>
          <a:xfrm>
            <a:off x="1114978" y="2338959"/>
            <a:ext cx="10400563"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5" name="Rectangle 14"/>
          <p:cNvSpPr/>
          <p:nvPr/>
        </p:nvSpPr>
        <p:spPr>
          <a:xfrm>
            <a:off x="943897" y="2418375"/>
            <a:ext cx="10877531" cy="584775"/>
          </a:xfrm>
          <a:prstGeom prst="rect">
            <a:avLst/>
          </a:prstGeom>
        </p:spPr>
        <p:txBody>
          <a:bodyPr wrap="square">
            <a:spAutoFit/>
          </a:bodyPr>
          <a:lstStyle/>
          <a:p>
            <a:pPr marL="146953" lvl="0">
              <a:spcBef>
                <a:spcPts val="2126"/>
              </a:spcBef>
            </a:pPr>
            <a:r>
              <a:rPr lang="en-US" sz="3200" dirty="0">
                <a:latin typeface="Consolas" panose="020B0609020204030204" pitchFamily="49" charset="0"/>
                <a:ea typeface="Courier New"/>
                <a:cs typeface="Consolas" panose="020B0609020204030204" pitchFamily="49" charset="0"/>
                <a:sym typeface="Courier New"/>
              </a:rPr>
              <a:t>select(</a:t>
            </a:r>
            <a:r>
              <a:rPr lang="en-US" sz="3200" dirty="0" err="1">
                <a:solidFill>
                  <a:srgbClr val="0365C0"/>
                </a:solidFill>
                <a:latin typeface="Consolas" panose="020B0609020204030204" pitchFamily="49" charset="0"/>
                <a:ea typeface="Courier New"/>
                <a:cs typeface="Consolas" panose="020B0609020204030204" pitchFamily="49" charset="0"/>
                <a:sym typeface="Courier New"/>
              </a:rPr>
              <a:t>covid_testing</a:t>
            </a:r>
            <a:r>
              <a:rPr lang="en-US" sz="3200" dirty="0">
                <a:solidFill>
                  <a:srgbClr val="0365C0"/>
                </a:solidFill>
                <a:latin typeface="Consolas" panose="020B0609020204030204" pitchFamily="49" charset="0"/>
                <a:ea typeface="Courier New"/>
                <a:cs typeface="Consolas" panose="020B0609020204030204" pitchFamily="49" charset="0"/>
                <a:sym typeface="Courier New"/>
              </a:rPr>
              <a:t>, </a:t>
            </a:r>
            <a:r>
              <a:rPr lang="en-US" sz="3200" dirty="0" err="1">
                <a:solidFill>
                  <a:srgbClr val="A0C283"/>
                </a:solidFill>
                <a:latin typeface="Consolas" panose="020B0609020204030204" pitchFamily="49" charset="0"/>
                <a:ea typeface="Courier New"/>
                <a:cs typeface="Consolas" panose="020B0609020204030204" pitchFamily="49" charset="0"/>
                <a:sym typeface="Courier New"/>
              </a:rPr>
              <a:t>mrn</a:t>
            </a:r>
            <a:r>
              <a:rPr lang="en-US" sz="3200" dirty="0">
                <a:solidFill>
                  <a:srgbClr val="A0C283"/>
                </a:solidFill>
                <a:latin typeface="Consolas" panose="020B0609020204030204" pitchFamily="49" charset="0"/>
                <a:ea typeface="Courier New"/>
                <a:cs typeface="Consolas" panose="020B0609020204030204" pitchFamily="49" charset="0"/>
                <a:sym typeface="Courier New"/>
              </a:rPr>
              <a:t>, </a:t>
            </a:r>
            <a:r>
              <a:rPr lang="en-US" sz="3200" dirty="0" err="1">
                <a:solidFill>
                  <a:srgbClr val="A0C283"/>
                </a:solidFill>
                <a:latin typeface="Consolas" panose="020B0609020204030204" pitchFamily="49" charset="0"/>
                <a:ea typeface="Courier New"/>
                <a:cs typeface="Consolas" panose="020B0609020204030204" pitchFamily="49" charset="0"/>
                <a:sym typeface="Courier New"/>
              </a:rPr>
              <a:t>last_name</a:t>
            </a:r>
            <a:r>
              <a:rPr lang="en-US" sz="3200" dirty="0">
                <a:latin typeface="Consolas" panose="020B0609020204030204" pitchFamily="49" charset="0"/>
                <a:ea typeface="Courier New"/>
                <a:cs typeface="Consolas" panose="020B0609020204030204" pitchFamily="49" charset="0"/>
                <a:sym typeface="Courier New"/>
              </a:rPr>
              <a:t>)</a:t>
            </a:r>
          </a:p>
        </p:txBody>
      </p:sp>
      <p:graphicFrame>
        <p:nvGraphicFramePr>
          <p:cNvPr id="4" name="Table 3"/>
          <p:cNvGraphicFramePr>
            <a:graphicFrameLocks noGrp="1"/>
          </p:cNvGraphicFramePr>
          <p:nvPr/>
        </p:nvGraphicFramePr>
        <p:xfrm>
          <a:off x="1012156" y="4167322"/>
          <a:ext cx="4826000" cy="2233477"/>
        </p:xfrm>
        <a:graphic>
          <a:graphicData uri="http://schemas.openxmlformats.org/drawingml/2006/table">
            <a:tbl>
              <a:tblPr/>
              <a:tblGrid>
                <a:gridCol w="1092200">
                  <a:extLst>
                    <a:ext uri="{9D8B030D-6E8A-4147-A177-3AD203B41FA5}">
                      <a16:colId xmlns:a16="http://schemas.microsoft.com/office/drawing/2014/main" val="2581507180"/>
                    </a:ext>
                  </a:extLst>
                </a:gridCol>
                <a:gridCol w="1397000">
                  <a:extLst>
                    <a:ext uri="{9D8B030D-6E8A-4147-A177-3AD203B41FA5}">
                      <a16:colId xmlns:a16="http://schemas.microsoft.com/office/drawing/2014/main" val="3049758104"/>
                    </a:ext>
                  </a:extLst>
                </a:gridCol>
                <a:gridCol w="1270000">
                  <a:extLst>
                    <a:ext uri="{9D8B030D-6E8A-4147-A177-3AD203B41FA5}">
                      <a16:colId xmlns:a16="http://schemas.microsoft.com/office/drawing/2014/main" val="2722530986"/>
                    </a:ext>
                  </a:extLst>
                </a:gridCol>
                <a:gridCol w="1066800">
                  <a:extLst>
                    <a:ext uri="{9D8B030D-6E8A-4147-A177-3AD203B41FA5}">
                      <a16:colId xmlns:a16="http://schemas.microsoft.com/office/drawing/2014/main" val="2802192968"/>
                    </a:ext>
                  </a:extLst>
                </a:gridCol>
              </a:tblGrid>
              <a:tr h="734025">
                <a:tc>
                  <a:txBody>
                    <a:bodyPr/>
                    <a:lstStyle/>
                    <a:p>
                      <a:pPr algn="ctr" rtl="0" fontAlgn="ctr"/>
                      <a:r>
                        <a:rPr lang="en-US" sz="1800" b="1" i="0" u="none" strike="noStrike">
                          <a:solidFill>
                            <a:srgbClr val="FFFFFF"/>
                          </a:solidFill>
                          <a:effectLst/>
                          <a:latin typeface="Arial" panose="020B0604020202020204" pitchFamily="34" charset="0"/>
                        </a:rPr>
                        <a:t>mrn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a:solidFill>
                            <a:srgbClr val="FFFFFF"/>
                          </a:solidFill>
                          <a:effectLst/>
                          <a:latin typeface="Arial" panose="020B0604020202020204" pitchFamily="34" charset="0"/>
                        </a:rPr>
                        <a:t>first_name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1800" b="1" i="0" u="none" strike="noStrike">
                          <a:solidFill>
                            <a:srgbClr val="FFFFFF"/>
                          </a:solidFill>
                          <a:effectLst/>
                          <a:latin typeface="Arial" panose="020B0604020202020204" pitchFamily="34" charset="0"/>
                        </a:rPr>
                        <a:t>last_name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a:solidFill>
                            <a:srgbClr val="FFFFFF"/>
                          </a:solidFill>
                          <a:effectLst/>
                          <a:latin typeface="Arial" panose="020B0604020202020204" pitchFamily="34" charset="0"/>
                        </a:rPr>
                        <a:t>gender</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A6A6A6"/>
                    </a:solidFill>
                  </a:tcPr>
                </a:tc>
                <a:extLst>
                  <a:ext uri="{0D108BD9-81ED-4DB2-BD59-A6C34878D82A}">
                    <a16:rowId xmlns:a16="http://schemas.microsoft.com/office/drawing/2014/main" val="2011105334"/>
                  </a:ext>
                </a:extLst>
              </a:tr>
              <a:tr h="368975">
                <a:tc>
                  <a:txBody>
                    <a:bodyPr/>
                    <a:lstStyle/>
                    <a:p>
                      <a:pPr algn="ctr" rtl="0" fontAlgn="ctr"/>
                      <a:r>
                        <a:rPr lang="en-US" sz="1800" b="0" i="0" u="none" strike="noStrike" dirty="0">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sarella</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868112959"/>
                  </a:ext>
                </a:extLst>
              </a:tr>
              <a:tr h="380751">
                <a:tc>
                  <a:txBody>
                    <a:bodyPr/>
                    <a:lstStyle/>
                    <a:p>
                      <a:pPr algn="ctr" rtl="0" fontAlgn="ctr"/>
                      <a:r>
                        <a:rPr lang="en-US" sz="1800" b="0" i="0" u="none" strike="noStrike">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alester</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1574073067"/>
                  </a:ext>
                </a:extLst>
              </a:tr>
              <a:tr h="380751">
                <a:tc>
                  <a:txBody>
                    <a:bodyPr/>
                    <a:lstStyle/>
                    <a:p>
                      <a:pPr algn="ctr" rtl="0" fontAlgn="ctr"/>
                      <a:r>
                        <a:rPr lang="en-US" sz="1800" b="0" i="0" u="none" strike="noStrike">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jhezane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1800" b="0" i="0" u="none" strike="noStrike">
                          <a:solidFill>
                            <a:srgbClr val="000000"/>
                          </a:solidFill>
                          <a:effectLst/>
                          <a:latin typeface="Arial" panose="020B0604020202020204" pitchFamily="34" charset="0"/>
                        </a:rPr>
                        <a:t>westerling</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559666717"/>
                  </a:ext>
                </a:extLst>
              </a:tr>
              <a:tr h="368975">
                <a:tc>
                  <a:txBody>
                    <a:bodyPr/>
                    <a:lstStyle/>
                    <a:p>
                      <a:pPr algn="ctr" rtl="0" fontAlgn="ctr"/>
                      <a:r>
                        <a:rPr lang="en-US" sz="1800" b="0" i="0" u="none" strike="noStrike">
                          <a:solidFill>
                            <a:srgbClr val="000000"/>
                          </a:solidFill>
                          <a:effectLst/>
                          <a:latin typeface="Arial" panose="020B0604020202020204" pitchFamily="34" charset="0"/>
                        </a:rPr>
                        <a:t>5000533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penny</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tc>
                  <a:txBody>
                    <a:bodyPr/>
                    <a:lstStyle/>
                    <a:p>
                      <a:pPr algn="ctr" rtl="0" fontAlgn="ctr"/>
                      <a:r>
                        <a:rPr lang="en-US" sz="1800" b="0" i="0" u="none" strike="noStrike">
                          <a:solidFill>
                            <a:srgbClr val="000000"/>
                          </a:solidFill>
                          <a:effectLst/>
                          <a:latin typeface="Arial" panose="020B0604020202020204" pitchFamily="34" charset="0"/>
                        </a:rPr>
                        <a:t>targaryen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dirty="0">
                          <a:solidFill>
                            <a:srgbClr val="000000"/>
                          </a:solidFill>
                          <a:effectLst/>
                          <a:latin typeface="Arial" panose="020B0604020202020204" pitchFamily="34" charset="0"/>
                        </a:rPr>
                        <a:t>female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3315762349"/>
                  </a:ext>
                </a:extLst>
              </a:tr>
            </a:tbl>
          </a:graphicData>
        </a:graphic>
      </p:graphicFrame>
      <p:graphicFrame>
        <p:nvGraphicFramePr>
          <p:cNvPr id="5" name="Table 4"/>
          <p:cNvGraphicFramePr>
            <a:graphicFrameLocks noGrp="1"/>
          </p:cNvGraphicFramePr>
          <p:nvPr/>
        </p:nvGraphicFramePr>
        <p:xfrm>
          <a:off x="7689850" y="4160718"/>
          <a:ext cx="2362200" cy="2233477"/>
        </p:xfrm>
        <a:graphic>
          <a:graphicData uri="http://schemas.openxmlformats.org/drawingml/2006/table">
            <a:tbl>
              <a:tblPr/>
              <a:tblGrid>
                <a:gridCol w="1092200">
                  <a:extLst>
                    <a:ext uri="{9D8B030D-6E8A-4147-A177-3AD203B41FA5}">
                      <a16:colId xmlns:a16="http://schemas.microsoft.com/office/drawing/2014/main" val="346107332"/>
                    </a:ext>
                  </a:extLst>
                </a:gridCol>
                <a:gridCol w="1270000">
                  <a:extLst>
                    <a:ext uri="{9D8B030D-6E8A-4147-A177-3AD203B41FA5}">
                      <a16:colId xmlns:a16="http://schemas.microsoft.com/office/drawing/2014/main" val="110457162"/>
                    </a:ext>
                  </a:extLst>
                </a:gridCol>
              </a:tblGrid>
              <a:tr h="734025">
                <a:tc>
                  <a:txBody>
                    <a:bodyPr/>
                    <a:lstStyle/>
                    <a:p>
                      <a:pPr algn="ctr" rtl="0" fontAlgn="ctr"/>
                      <a:r>
                        <a:rPr lang="en-US" sz="1800" b="1" i="0" u="none" strike="noStrike">
                          <a:solidFill>
                            <a:srgbClr val="FFFFFF"/>
                          </a:solidFill>
                          <a:effectLst/>
                          <a:latin typeface="Arial" panose="020B0604020202020204" pitchFamily="34" charset="0"/>
                        </a:rPr>
                        <a:t>mrn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1800" b="1" i="0" u="none" strike="noStrike" dirty="0" err="1">
                          <a:solidFill>
                            <a:srgbClr val="FFFFFF"/>
                          </a:solidFill>
                          <a:effectLst/>
                          <a:latin typeface="Arial" panose="020B0604020202020204" pitchFamily="34" charset="0"/>
                        </a:rPr>
                        <a:t>last_name</a:t>
                      </a:r>
                      <a:endParaRPr lang="en-US" sz="18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270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120289105"/>
                  </a:ext>
                </a:extLst>
              </a:tr>
              <a:tr h="368975">
                <a:tc>
                  <a:txBody>
                    <a:bodyPr/>
                    <a:lstStyle/>
                    <a:p>
                      <a:pPr algn="ctr" rtl="0" fontAlgn="ctr"/>
                      <a:r>
                        <a:rPr lang="en-US" sz="1800" b="0" i="0" u="none" strike="noStrike">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960000228"/>
                  </a:ext>
                </a:extLst>
              </a:tr>
              <a:tr h="380751">
                <a:tc>
                  <a:txBody>
                    <a:bodyPr/>
                    <a:lstStyle/>
                    <a:p>
                      <a:pPr algn="ctr" rtl="0" fontAlgn="ctr"/>
                      <a:r>
                        <a:rPr lang="en-US" sz="1800" b="0" i="0" u="none" strike="noStrike">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765887066"/>
                  </a:ext>
                </a:extLst>
              </a:tr>
              <a:tr h="380751">
                <a:tc>
                  <a:txBody>
                    <a:bodyPr/>
                    <a:lstStyle/>
                    <a:p>
                      <a:pPr algn="ctr" rtl="0" fontAlgn="ctr"/>
                      <a:r>
                        <a:rPr lang="en-US" sz="1800" b="0" i="0" u="none" strike="noStrike">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1800" b="0" i="0" u="none" strike="noStrike">
                          <a:solidFill>
                            <a:srgbClr val="000000"/>
                          </a:solidFill>
                          <a:effectLst/>
                          <a:latin typeface="Arial" panose="020B0604020202020204" pitchFamily="34" charset="0"/>
                        </a:rPr>
                        <a:t>westerling</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134464694"/>
                  </a:ext>
                </a:extLst>
              </a:tr>
              <a:tr h="368975">
                <a:tc>
                  <a:txBody>
                    <a:bodyPr/>
                    <a:lstStyle/>
                    <a:p>
                      <a:pPr algn="ctr" rtl="0" fontAlgn="ctr"/>
                      <a:r>
                        <a:rPr lang="en-US" sz="1800" b="0" i="0" u="none" strike="noStrike">
                          <a:solidFill>
                            <a:srgbClr val="000000"/>
                          </a:solidFill>
                          <a:effectLst/>
                          <a:latin typeface="Arial" panose="020B0604020202020204" pitchFamily="34" charset="0"/>
                        </a:rPr>
                        <a:t>5000533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1800" b="0" i="0" u="none" strike="noStrike" dirty="0" err="1">
                          <a:solidFill>
                            <a:srgbClr val="000000"/>
                          </a:solidFill>
                          <a:effectLst/>
                          <a:latin typeface="Arial" panose="020B0604020202020204" pitchFamily="34" charset="0"/>
                        </a:rPr>
                        <a:t>targaryen</a:t>
                      </a:r>
                      <a:endParaRPr lang="en-US" sz="18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extLst>
                  <a:ext uri="{0D108BD9-81ED-4DB2-BD59-A6C34878D82A}">
                    <a16:rowId xmlns:a16="http://schemas.microsoft.com/office/drawing/2014/main" val="504530610"/>
                  </a:ext>
                </a:extLst>
              </a:tr>
            </a:tbl>
          </a:graphicData>
        </a:graphic>
      </p:graphicFrame>
      <p:sp>
        <p:nvSpPr>
          <p:cNvPr id="20" name="Google Shape;196;p22"/>
          <p:cNvSpPr txBox="1"/>
          <p:nvPr/>
        </p:nvSpPr>
        <p:spPr>
          <a:xfrm rot="5400000">
            <a:off x="5758981" y="5253208"/>
            <a:ext cx="608229" cy="449879"/>
          </a:xfrm>
          <a:prstGeom prst="rect">
            <a:avLst/>
          </a:prstGeom>
          <a:noFill/>
          <a:ln>
            <a:noFill/>
          </a:ln>
        </p:spPr>
        <p:txBody>
          <a:bodyPr spcFirstLastPara="1" wrap="square" lIns="0" tIns="8156" rIns="0" bIns="0" anchor="t" anchorCtr="0">
            <a:noAutofit/>
          </a:bodyPr>
          <a:lstStyle/>
          <a:p>
            <a:pPr marL="6803"/>
            <a:r>
              <a:rPr lang="en-US" sz="2400" b="1" dirty="0">
                <a:solidFill>
                  <a:srgbClr val="0365C0"/>
                </a:solidFill>
                <a:latin typeface="+mj-lt"/>
                <a:ea typeface="Courier New"/>
                <a:cs typeface="Consolas" panose="020B0609020204030204" pitchFamily="49" charset="0"/>
                <a:sym typeface="Courier New"/>
              </a:rPr>
              <a:t>…</a:t>
            </a:r>
            <a:endParaRPr sz="2196" b="1" dirty="0">
              <a:latin typeface="+mj-lt"/>
              <a:ea typeface="Calibri"/>
              <a:cs typeface="Calibri"/>
              <a:sym typeface="Calibri"/>
            </a:endParaRPr>
          </a:p>
        </p:txBody>
      </p:sp>
      <p:sp>
        <p:nvSpPr>
          <p:cNvPr id="24" name="Google Shape;196;p22"/>
          <p:cNvSpPr txBox="1"/>
          <p:nvPr/>
        </p:nvSpPr>
        <p:spPr>
          <a:xfrm>
            <a:off x="3121042" y="6279142"/>
            <a:ext cx="608229" cy="449879"/>
          </a:xfrm>
          <a:prstGeom prst="rect">
            <a:avLst/>
          </a:prstGeom>
          <a:noFill/>
          <a:ln>
            <a:noFill/>
          </a:ln>
        </p:spPr>
        <p:txBody>
          <a:bodyPr spcFirstLastPara="1" wrap="square" lIns="0" tIns="8156" rIns="0" bIns="0" anchor="t" anchorCtr="0">
            <a:noAutofit/>
          </a:bodyPr>
          <a:lstStyle/>
          <a:p>
            <a:pPr marL="6803"/>
            <a:r>
              <a:rPr lang="en-US" sz="2400" b="1" dirty="0">
                <a:solidFill>
                  <a:srgbClr val="0365C0"/>
                </a:solidFill>
                <a:latin typeface="+mj-lt"/>
                <a:ea typeface="Courier New"/>
                <a:cs typeface="Consolas" panose="020B0609020204030204" pitchFamily="49" charset="0"/>
                <a:sym typeface="Courier New"/>
              </a:rPr>
              <a:t>…</a:t>
            </a:r>
            <a:endParaRPr sz="2196" b="1" dirty="0">
              <a:latin typeface="+mj-lt"/>
              <a:ea typeface="Calibri"/>
              <a:cs typeface="Calibri"/>
              <a:sym typeface="Calibri"/>
            </a:endParaRPr>
          </a:p>
        </p:txBody>
      </p:sp>
      <p:sp>
        <p:nvSpPr>
          <p:cNvPr id="2" name="Slide Number Placeholder 1"/>
          <p:cNvSpPr>
            <a:spLocks noGrp="1"/>
          </p:cNvSpPr>
          <p:nvPr>
            <p:ph type="sldNum" idx="12"/>
          </p:nvPr>
        </p:nvSpPr>
        <p:spPr/>
        <p:txBody>
          <a:bodyPr/>
          <a:lstStyle/>
          <a:p>
            <a:fld id="{00000000-1234-1234-1234-123412341234}" type="slidenum">
              <a:rPr lang="en-US" smtClean="0"/>
              <a:pPr/>
              <a:t>8</a:t>
            </a:fld>
            <a:endParaRPr lang="en-US"/>
          </a:p>
        </p:txBody>
      </p:sp>
      <p:sp>
        <p:nvSpPr>
          <p:cNvPr id="17" name="Google Shape;168;p20">
            <a:extLst>
              <a:ext uri="{FF2B5EF4-FFF2-40B4-BE49-F238E27FC236}">
                <a16:creationId xmlns:a16="http://schemas.microsoft.com/office/drawing/2014/main" id="{F208E2FF-7277-9843-AD35-C7A3E39217AE}"/>
              </a:ext>
            </a:extLst>
          </p:cNvPr>
          <p:cNvSpPr txBox="1">
            <a:spLocks noGrp="1"/>
          </p:cNvSpPr>
          <p:nvPr>
            <p:ph type="title"/>
          </p:nvPr>
        </p:nvSpPr>
        <p:spPr>
          <a:xfrm>
            <a:off x="4545497" y="680348"/>
            <a:ext cx="3095524"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latin typeface="Consolas" panose="020B0609020204030204" pitchFamily="49" charset="0"/>
              </a:rPr>
              <a:t>select()</a:t>
            </a:r>
            <a:endParaRPr dirty="0">
              <a:latin typeface="Consolas" panose="020B0609020204030204" pitchFamily="49" charset="0"/>
            </a:endParaRPr>
          </a:p>
        </p:txBody>
      </p:sp>
      <p:sp>
        <p:nvSpPr>
          <p:cNvPr id="19" name="Google Shape;171;p20">
            <a:extLst>
              <a:ext uri="{FF2B5EF4-FFF2-40B4-BE49-F238E27FC236}">
                <a16:creationId xmlns:a16="http://schemas.microsoft.com/office/drawing/2014/main" id="{8D25A273-EFC0-F344-8A33-21DB0B35EA9B}"/>
              </a:ext>
            </a:extLst>
          </p:cNvPr>
          <p:cNvSpPr txBox="1"/>
          <p:nvPr/>
        </p:nvSpPr>
        <p:spPr>
          <a:xfrm>
            <a:off x="2886228" y="1725727"/>
            <a:ext cx="5912332" cy="547810"/>
          </a:xfrm>
          <a:prstGeom prst="rect">
            <a:avLst/>
          </a:prstGeom>
          <a:noFill/>
          <a:ln>
            <a:noFill/>
          </a:ln>
        </p:spPr>
        <p:txBody>
          <a:bodyPr spcFirstLastPara="1" wrap="square" lIns="0" tIns="6455" rIns="0" bIns="0" anchor="t" anchorCtr="0">
            <a:noAutofit/>
          </a:bodyPr>
          <a:lstStyle/>
          <a:p>
            <a:pPr marL="6803"/>
            <a:r>
              <a:rPr lang="en-US" sz="3200" dirty="0">
                <a:latin typeface="Tw Cen MT" panose="020B0602020104020603" pitchFamily="34" charset="77"/>
                <a:ea typeface="Calibri"/>
                <a:cs typeface="Calibri"/>
                <a:sym typeface="Calibri"/>
              </a:rPr>
              <a:t>Extract columns from a data frame</a:t>
            </a:r>
            <a:endParaRPr sz="2652" dirty="0">
              <a:latin typeface="Tw Cen MT" panose="020B0602020104020603" pitchFamily="34" charset="77"/>
              <a:ea typeface="Calibri"/>
              <a:cs typeface="Calibri"/>
              <a:sym typeface="Calibri"/>
            </a:endParaRPr>
          </a:p>
        </p:txBody>
      </p:sp>
    </p:spTree>
    <p:extLst>
      <p:ext uri="{BB962C8B-B14F-4D97-AF65-F5344CB8AC3E}">
        <p14:creationId xmlns:p14="http://schemas.microsoft.com/office/powerpoint/2010/main" val="14740879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36237-993C-8045-8944-D9334B8924E0}"/>
              </a:ext>
            </a:extLst>
          </p:cNvPr>
          <p:cNvSpPr>
            <a:spLocks noGrp="1"/>
          </p:cNvSpPr>
          <p:nvPr>
            <p:ph type="title"/>
          </p:nvPr>
        </p:nvSpPr>
        <p:spPr/>
        <p:txBody>
          <a:bodyPr/>
          <a:lstStyle/>
          <a:p>
            <a:r>
              <a:rPr lang="en-US" dirty="0"/>
              <a:t>Pop Quiz</a:t>
            </a:r>
          </a:p>
        </p:txBody>
      </p:sp>
      <p:sp>
        <p:nvSpPr>
          <p:cNvPr id="3" name="Text Placeholder 2">
            <a:extLst>
              <a:ext uri="{FF2B5EF4-FFF2-40B4-BE49-F238E27FC236}">
                <a16:creationId xmlns:a16="http://schemas.microsoft.com/office/drawing/2014/main" id="{A802227E-A0BF-1E4C-ABBA-17A73F8E8E94}"/>
              </a:ext>
            </a:extLst>
          </p:cNvPr>
          <p:cNvSpPr>
            <a:spLocks noGrp="1"/>
          </p:cNvSpPr>
          <p:nvPr>
            <p:ph type="body" sz="quarter" idx="13"/>
          </p:nvPr>
        </p:nvSpPr>
        <p:spPr/>
        <p:txBody>
          <a:bodyPr>
            <a:normAutofit fontScale="92500" lnSpcReduction="10000"/>
          </a:bodyPr>
          <a:lstStyle/>
          <a:p>
            <a:r>
              <a:rPr lang="en-US" sz="3200" dirty="0"/>
              <a:t>Which of these would successfully select the </a:t>
            </a:r>
            <a:r>
              <a:rPr lang="en-US" sz="3200" dirty="0" err="1">
                <a:latin typeface="Consolas" panose="020B0609020204030204" pitchFamily="49" charset="0"/>
              </a:rPr>
              <a:t>first_name</a:t>
            </a:r>
            <a:r>
              <a:rPr lang="en-US" sz="3200" dirty="0"/>
              <a:t> column from the </a:t>
            </a:r>
            <a:r>
              <a:rPr lang="en-US" sz="3200" dirty="0" err="1">
                <a:latin typeface="Consolas" panose="020B0609020204030204" pitchFamily="49" charset="0"/>
              </a:rPr>
              <a:t>covid_testing</a:t>
            </a:r>
            <a:r>
              <a:rPr lang="en-US" sz="3200" dirty="0"/>
              <a:t> data frame?</a:t>
            </a:r>
          </a:p>
          <a:p>
            <a:r>
              <a:rPr lang="en-US" sz="3200" dirty="0"/>
              <a:t>A)</a:t>
            </a:r>
            <a:r>
              <a:rPr lang="en-US" sz="2800" dirty="0">
                <a:latin typeface="Consolas" panose="020B0609020204030204" pitchFamily="49" charset="0"/>
              </a:rPr>
              <a:t> select(</a:t>
            </a:r>
            <a:r>
              <a:rPr lang="en-US" sz="2800" dirty="0" err="1">
                <a:latin typeface="Consolas" panose="020B0609020204030204" pitchFamily="49" charset="0"/>
              </a:rPr>
              <a:t>first_name</a:t>
            </a:r>
            <a:r>
              <a:rPr lang="en-US" sz="2800" dirty="0">
                <a:latin typeface="Consolas" panose="020B0609020204030204" pitchFamily="49" charset="0"/>
              </a:rPr>
              <a:t>, </a:t>
            </a:r>
            <a:r>
              <a:rPr lang="en-US" sz="2800" dirty="0" err="1">
                <a:latin typeface="Consolas" panose="020B0609020204030204" pitchFamily="49" charset="0"/>
              </a:rPr>
              <a:t>covid_testing</a:t>
            </a:r>
            <a:r>
              <a:rPr lang="en-US" sz="2800" dirty="0">
                <a:latin typeface="Consolas" panose="020B0609020204030204" pitchFamily="49" charset="0"/>
              </a:rPr>
              <a:t>)</a:t>
            </a:r>
          </a:p>
          <a:p>
            <a:pPr marL="0" indent="0">
              <a:buNone/>
            </a:pPr>
            <a:r>
              <a:rPr lang="en-US" sz="3200" dirty="0"/>
              <a:t> B)</a:t>
            </a:r>
            <a:r>
              <a:rPr lang="en-US" sz="2800" dirty="0">
                <a:latin typeface="Consolas" panose="020B0609020204030204" pitchFamily="49" charset="0"/>
              </a:rPr>
              <a:t> select(</a:t>
            </a:r>
            <a:r>
              <a:rPr lang="en-US" sz="2800" dirty="0" err="1">
                <a:latin typeface="Consolas" panose="020B0609020204030204" pitchFamily="49" charset="0"/>
              </a:rPr>
              <a:t>covid_testing</a:t>
            </a:r>
            <a:r>
              <a:rPr lang="en-US" sz="2800" dirty="0">
                <a:latin typeface="Consolas" panose="020B0609020204030204" pitchFamily="49" charset="0"/>
              </a:rPr>
              <a:t>, </a:t>
            </a:r>
            <a:r>
              <a:rPr lang="en-US" sz="2800" dirty="0" err="1">
                <a:latin typeface="Consolas" panose="020B0609020204030204" pitchFamily="49" charset="0"/>
              </a:rPr>
              <a:t>first_name</a:t>
            </a:r>
            <a:r>
              <a:rPr lang="en-US" sz="2800" dirty="0">
                <a:latin typeface="Consolas" panose="020B0609020204030204" pitchFamily="49" charset="0"/>
              </a:rPr>
              <a:t>)</a:t>
            </a:r>
          </a:p>
          <a:p>
            <a:pPr marL="0" indent="0">
              <a:buNone/>
            </a:pPr>
            <a:r>
              <a:rPr lang="en-US" sz="3200" dirty="0"/>
              <a:t> C)</a:t>
            </a:r>
            <a:r>
              <a:rPr lang="en-US" sz="2800" dirty="0">
                <a:latin typeface="Consolas" panose="020B0609020204030204" pitchFamily="49" charset="0"/>
              </a:rPr>
              <a:t> select(</a:t>
            </a:r>
            <a:r>
              <a:rPr lang="en-US" sz="2800" dirty="0" err="1">
                <a:latin typeface="Consolas" panose="020B0609020204030204" pitchFamily="49" charset="0"/>
              </a:rPr>
              <a:t>covid_testing</a:t>
            </a:r>
            <a:r>
              <a:rPr lang="en-US" sz="2800" dirty="0">
                <a:latin typeface="Consolas" panose="020B0609020204030204" pitchFamily="49" charset="0"/>
              </a:rPr>
              <a:t>, -</a:t>
            </a:r>
            <a:r>
              <a:rPr lang="en-US" sz="2800" dirty="0" err="1">
                <a:latin typeface="Consolas" panose="020B0609020204030204" pitchFamily="49" charset="0"/>
              </a:rPr>
              <a:t>first_name</a:t>
            </a:r>
            <a:r>
              <a:rPr lang="en-US" sz="2800" dirty="0">
                <a:latin typeface="Consolas" panose="020B0609020204030204" pitchFamily="49" charset="0"/>
              </a:rPr>
              <a:t>)</a:t>
            </a:r>
          </a:p>
          <a:p>
            <a:pPr marL="0" indent="0">
              <a:buNone/>
            </a:pPr>
            <a:r>
              <a:rPr lang="en-US" sz="3200" dirty="0"/>
              <a:t> D)</a:t>
            </a:r>
            <a:r>
              <a:rPr lang="en-US" sz="2800" dirty="0">
                <a:latin typeface="Consolas" panose="020B0609020204030204" pitchFamily="49" charset="0"/>
              </a:rPr>
              <a:t> select(</a:t>
            </a:r>
            <a:r>
              <a:rPr lang="en-US" sz="2800" dirty="0" err="1">
                <a:latin typeface="Consolas" panose="020B0609020204030204" pitchFamily="49" charset="0"/>
              </a:rPr>
              <a:t>covid_testing</a:t>
            </a:r>
            <a:r>
              <a:rPr lang="en-US" sz="2800" dirty="0">
                <a:latin typeface="Consolas" panose="020B0609020204030204" pitchFamily="49" charset="0"/>
              </a:rPr>
              <a:t>, </a:t>
            </a:r>
            <a:r>
              <a:rPr lang="en-US" sz="2800" dirty="0" err="1">
                <a:latin typeface="Consolas" panose="020B0609020204030204" pitchFamily="49" charset="0"/>
              </a:rPr>
              <a:t>First_Name</a:t>
            </a:r>
            <a:r>
              <a:rPr lang="en-US" sz="2800" dirty="0">
                <a:latin typeface="Consolas" panose="020B0609020204030204" pitchFamily="49" charset="0"/>
              </a:rPr>
              <a:t>)</a:t>
            </a:r>
          </a:p>
          <a:p>
            <a:pPr marL="0" indent="0">
              <a:buNone/>
            </a:pPr>
            <a:endParaRPr lang="en-US" sz="3600" dirty="0">
              <a:latin typeface="Consolas" panose="020B0609020204030204" pitchFamily="49" charset="0"/>
            </a:endParaRPr>
          </a:p>
          <a:p>
            <a:pPr marL="0" indent="0">
              <a:buNone/>
            </a:pPr>
            <a:endParaRPr lang="en-US" sz="3200" dirty="0">
              <a:latin typeface="Consolas" panose="020B0609020204030204" pitchFamily="49" charset="0"/>
            </a:endParaRPr>
          </a:p>
        </p:txBody>
      </p:sp>
    </p:spTree>
    <p:extLst>
      <p:ext uri="{BB962C8B-B14F-4D97-AF65-F5344CB8AC3E}">
        <p14:creationId xmlns:p14="http://schemas.microsoft.com/office/powerpoint/2010/main" val="12643173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Filter rows by logical criteria</a:t>
            </a:r>
          </a:p>
        </p:txBody>
      </p:sp>
    </p:spTree>
    <p:extLst>
      <p:ext uri="{BB962C8B-B14F-4D97-AF65-F5344CB8AC3E}">
        <p14:creationId xmlns:p14="http://schemas.microsoft.com/office/powerpoint/2010/main" val="2825492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graphicFrame>
        <p:nvGraphicFramePr>
          <p:cNvPr id="154" name="Google Shape;154;p18"/>
          <p:cNvGraphicFramePr/>
          <p:nvPr/>
        </p:nvGraphicFramePr>
        <p:xfrm>
          <a:off x="1064973" y="2557823"/>
          <a:ext cx="4019961" cy="3296832"/>
        </p:xfrm>
        <a:graphic>
          <a:graphicData uri="http://schemas.openxmlformats.org/drawingml/2006/table">
            <a:tbl>
              <a:tblPr firstRow="1" bandRow="1">
                <a:noFill/>
              </a:tblPr>
              <a:tblGrid>
                <a:gridCol w="804013">
                  <a:extLst>
                    <a:ext uri="{9D8B030D-6E8A-4147-A177-3AD203B41FA5}">
                      <a16:colId xmlns:a16="http://schemas.microsoft.com/office/drawing/2014/main" val="20000"/>
                    </a:ext>
                  </a:extLst>
                </a:gridCol>
                <a:gridCol w="760578">
                  <a:extLst>
                    <a:ext uri="{9D8B030D-6E8A-4147-A177-3AD203B41FA5}">
                      <a16:colId xmlns:a16="http://schemas.microsoft.com/office/drawing/2014/main" val="20001"/>
                    </a:ext>
                  </a:extLst>
                </a:gridCol>
                <a:gridCol w="1100939">
                  <a:extLst>
                    <a:ext uri="{9D8B030D-6E8A-4147-A177-3AD203B41FA5}">
                      <a16:colId xmlns:a16="http://schemas.microsoft.com/office/drawing/2014/main" val="20002"/>
                    </a:ext>
                  </a:extLst>
                </a:gridCol>
                <a:gridCol w="1354431">
                  <a:extLst>
                    <a:ext uri="{9D8B030D-6E8A-4147-A177-3AD203B41FA5}">
                      <a16:colId xmlns:a16="http://schemas.microsoft.com/office/drawing/2014/main" val="20003"/>
                    </a:ext>
                  </a:extLst>
                </a:gridCol>
              </a:tblGrid>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470976">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56" name="Google Shape;156;p18"/>
          <p:cNvGraphicFramePr/>
          <p:nvPr/>
        </p:nvGraphicFramePr>
        <p:xfrm>
          <a:off x="7283202" y="2847899"/>
          <a:ext cx="4019961" cy="1358340"/>
        </p:xfrm>
        <a:graphic>
          <a:graphicData uri="http://schemas.openxmlformats.org/drawingml/2006/table">
            <a:tbl>
              <a:tblPr firstRow="1" bandRow="1">
                <a:noFill/>
              </a:tblPr>
              <a:tblGrid>
                <a:gridCol w="804013">
                  <a:extLst>
                    <a:ext uri="{9D8B030D-6E8A-4147-A177-3AD203B41FA5}">
                      <a16:colId xmlns:a16="http://schemas.microsoft.com/office/drawing/2014/main" val="20000"/>
                    </a:ext>
                  </a:extLst>
                </a:gridCol>
                <a:gridCol w="760578">
                  <a:extLst>
                    <a:ext uri="{9D8B030D-6E8A-4147-A177-3AD203B41FA5}">
                      <a16:colId xmlns:a16="http://schemas.microsoft.com/office/drawing/2014/main" val="20001"/>
                    </a:ext>
                  </a:extLst>
                </a:gridCol>
                <a:gridCol w="1100939">
                  <a:extLst>
                    <a:ext uri="{9D8B030D-6E8A-4147-A177-3AD203B41FA5}">
                      <a16:colId xmlns:a16="http://schemas.microsoft.com/office/drawing/2014/main" val="20002"/>
                    </a:ext>
                  </a:extLst>
                </a:gridCol>
                <a:gridCol w="1354431">
                  <a:extLst>
                    <a:ext uri="{9D8B030D-6E8A-4147-A177-3AD203B41FA5}">
                      <a16:colId xmlns:a16="http://schemas.microsoft.com/office/drawing/2014/main" val="20003"/>
                    </a:ext>
                  </a:extLst>
                </a:gridCol>
              </a:tblGrid>
              <a:tr h="452780">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45278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45278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15" name="Google Shape;293;p32"/>
          <p:cNvSpPr txBox="1">
            <a:spLocks noGrp="1"/>
          </p:cNvSpPr>
          <p:nvPr>
            <p:ph type="title"/>
          </p:nvPr>
        </p:nvSpPr>
        <p:spPr>
          <a:xfrm>
            <a:off x="1064973" y="684400"/>
            <a:ext cx="10238190" cy="777536"/>
          </a:xfrm>
          <a:prstGeom prst="rect">
            <a:avLst/>
          </a:prstGeom>
          <a:noFill/>
          <a:ln>
            <a:noFill/>
          </a:ln>
        </p:spPr>
        <p:txBody>
          <a:bodyPr spcFirstLastPara="1" wrap="square" lIns="0" tIns="6455" rIns="0" bIns="0" anchor="t" anchorCtr="0">
            <a:noAutofit/>
          </a:bodyPr>
          <a:lstStyle/>
          <a:p>
            <a:pPr marL="6803" algn="ctr"/>
            <a:r>
              <a:rPr lang="en-US" dirty="0">
                <a:solidFill>
                  <a:srgbClr val="000000"/>
                </a:solidFill>
                <a:latin typeface="Consolas" panose="020B0609020204030204" pitchFamily="49" charset="0"/>
              </a:rPr>
              <a:t>filter()</a:t>
            </a:r>
            <a:endParaRPr dirty="0">
              <a:latin typeface="Consolas" panose="020B0609020204030204" pitchFamily="49" charset="0"/>
            </a:endParaRPr>
          </a:p>
        </p:txBody>
      </p:sp>
      <p:sp>
        <p:nvSpPr>
          <p:cNvPr id="16" name="Google Shape;296;p32"/>
          <p:cNvSpPr txBox="1"/>
          <p:nvPr/>
        </p:nvSpPr>
        <p:spPr>
          <a:xfrm>
            <a:off x="2979673" y="1702714"/>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Tw Cen MT" panose="020B0602020104020603" pitchFamily="34" charset="77"/>
                <a:ea typeface="Calibri"/>
                <a:cs typeface="Calibri"/>
                <a:sym typeface="Calibri"/>
              </a:rPr>
              <a:t>Extract rows that meet logical criteria</a:t>
            </a:r>
            <a:endParaRPr sz="2800" dirty="0">
              <a:latin typeface="Tw Cen MT" panose="020B0602020104020603" pitchFamily="34" charset="77"/>
              <a:ea typeface="Calibri"/>
              <a:cs typeface="Calibri"/>
              <a:sym typeface="Calibri"/>
            </a:endParaRPr>
          </a:p>
        </p:txBody>
      </p:sp>
      <p:sp>
        <p:nvSpPr>
          <p:cNvPr id="17" name="Right Arrow 16"/>
          <p:cNvSpPr/>
          <p:nvPr/>
        </p:nvSpPr>
        <p:spPr>
          <a:xfrm>
            <a:off x="5772588" y="3374669"/>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p:cNvGrpSpPr/>
          <p:nvPr/>
        </p:nvGrpSpPr>
        <p:grpSpPr>
          <a:xfrm>
            <a:off x="7155636" y="4907214"/>
            <a:ext cx="3329484" cy="1586106"/>
            <a:chOff x="6009784" y="4089073"/>
            <a:chExt cx="2928396" cy="2552214"/>
          </a:xfrm>
        </p:grpSpPr>
        <p:sp>
          <p:nvSpPr>
            <p:cNvPr id="10" name="Rounded Rectangular Callout 2"/>
            <p:cNvSpPr/>
            <p:nvPr/>
          </p:nvSpPr>
          <p:spPr>
            <a:xfrm>
              <a:off x="6009784" y="4089073"/>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1" name="Google Shape;324;p34"/>
            <p:cNvSpPr txBox="1"/>
            <p:nvPr/>
          </p:nvSpPr>
          <p:spPr>
            <a:xfrm>
              <a:off x="6064537" y="4939876"/>
              <a:ext cx="2718462" cy="1510232"/>
            </a:xfrm>
            <a:prstGeom prst="rect">
              <a:avLst/>
            </a:prstGeom>
            <a:noFill/>
            <a:ln>
              <a:noFill/>
            </a:ln>
          </p:spPr>
          <p:txBody>
            <a:bodyPr spcFirstLastPara="1" wrap="square" lIns="0" tIns="8504" rIns="0" bIns="0" anchor="t" anchorCtr="0">
              <a:noAutofit/>
            </a:bodyPr>
            <a:lstStyle/>
            <a:p>
              <a:pPr marL="8164">
                <a:lnSpc>
                  <a:spcPct val="116753"/>
                </a:lnSpc>
              </a:pPr>
              <a:r>
                <a:rPr lang="en-US" sz="2800" b="1" dirty="0">
                  <a:solidFill>
                    <a:srgbClr val="FFFFFF"/>
                  </a:solidFill>
                  <a:latin typeface="Verdana" panose="020B0604030504040204" pitchFamily="34" charset="0"/>
                  <a:ea typeface="Verdana" panose="020B0604030504040204" pitchFamily="34" charset="0"/>
                  <a:cs typeface="Calibri"/>
                  <a:sym typeface="Trebuchet MS"/>
                </a:rPr>
                <a:t>↓</a:t>
              </a:r>
              <a:r>
                <a:rPr lang="en-US" sz="2400" dirty="0">
                  <a:solidFill>
                    <a:srgbClr val="FFFFFF"/>
                  </a:solidFill>
                  <a:latin typeface="Trebuchet MS"/>
                  <a:ea typeface="Trebuchet MS"/>
                  <a:cs typeface="Trebuchet MS"/>
                  <a:sym typeface="Trebuchet MS"/>
                </a:rPr>
                <a:t>  </a:t>
              </a:r>
              <a:r>
                <a:rPr lang="en-US" sz="2062" dirty="0">
                  <a:solidFill>
                    <a:srgbClr val="FFFFFF"/>
                  </a:solidFill>
                  <a:latin typeface="Trebuchet MS"/>
                  <a:ea typeface="Trebuchet MS"/>
                  <a:cs typeface="Trebuchet MS"/>
                  <a:sym typeface="Trebuchet MS"/>
                </a:rPr>
                <a:t>Number of rows</a:t>
              </a:r>
            </a:p>
            <a:p>
              <a:pPr marL="8164">
                <a:lnSpc>
                  <a:spcPct val="116753"/>
                </a:lnSpc>
              </a:pPr>
              <a:r>
                <a:rPr lang="en-US" sz="2400" b="1" dirty="0">
                  <a:solidFill>
                    <a:srgbClr val="FFFFFF"/>
                  </a:solidFill>
                  <a:latin typeface="Verdana" panose="020B0604030504040204" pitchFamily="34" charset="0"/>
                  <a:ea typeface="Verdana" panose="020B0604030504040204" pitchFamily="34" charset="0"/>
                  <a:cs typeface="Calibri"/>
                  <a:sym typeface="Trebuchet MS"/>
                </a:rPr>
                <a:t>=</a:t>
              </a:r>
              <a:r>
                <a:rPr lang="en-US" sz="2062" dirty="0">
                  <a:solidFill>
                    <a:srgbClr val="FFFFFF"/>
                  </a:solidFill>
                  <a:latin typeface="Trebuchet MS"/>
                  <a:ea typeface="Calibri"/>
                  <a:cs typeface="Calibri"/>
                  <a:sym typeface="Trebuchet MS"/>
                </a:rPr>
                <a:t>  Number of Columns</a:t>
              </a:r>
              <a:endParaRPr sz="2062" dirty="0">
                <a:latin typeface="Calibri"/>
                <a:ea typeface="Calibri"/>
                <a:cs typeface="Calibri"/>
                <a:sym typeface="Calibri"/>
              </a:endParaRPr>
            </a:p>
          </p:txBody>
        </p:sp>
      </p:grpSp>
    </p:spTree>
    <p:extLst>
      <p:ext uri="{BB962C8B-B14F-4D97-AF65-F5344CB8AC3E}">
        <p14:creationId xmlns:p14="http://schemas.microsoft.com/office/powerpoint/2010/main" val="11973658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758718"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4027064"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 </a:t>
            </a:r>
            <a:r>
              <a:rPr lang="en-US" sz="3200" dirty="0">
                <a:solidFill>
                  <a:srgbClr val="9BBB59"/>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1" name="Google Shape;137;p17"/>
          <p:cNvSpPr/>
          <p:nvPr/>
        </p:nvSpPr>
        <p:spPr>
          <a:xfrm>
            <a:off x="1632769" y="2880611"/>
            <a:ext cx="246229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12" name="Google Shape;138;p17"/>
          <p:cNvSpPr txBox="1"/>
          <p:nvPr/>
        </p:nvSpPr>
        <p:spPr>
          <a:xfrm>
            <a:off x="1632770" y="3807544"/>
            <a:ext cx="2453670" cy="1030077"/>
          </a:xfrm>
          <a:prstGeom prst="rect">
            <a:avLst/>
          </a:prstGeom>
          <a:noFill/>
          <a:ln>
            <a:noFill/>
          </a:ln>
        </p:spPr>
        <p:txBody>
          <a:bodyPr spcFirstLastPara="1" wrap="square" lIns="0" tIns="32652" rIns="0" bIns="0" anchor="t" anchorCtr="0">
            <a:noAutofit/>
          </a:bodyPr>
          <a:lstStyle/>
          <a:p>
            <a:pPr marL="208524" marR="2721" indent="-202061" algn="ctr">
              <a:lnSpc>
                <a:spcPct val="113506"/>
              </a:lnSpc>
            </a:pPr>
            <a:r>
              <a:rPr lang="en-US" sz="2800" dirty="0">
                <a:solidFill>
                  <a:srgbClr val="FFFFFF"/>
                </a:solidFill>
                <a:latin typeface="Tw Cen MT" panose="020B0602020104020603" pitchFamily="34" charset="77"/>
                <a:ea typeface="Trebuchet MS"/>
                <a:cs typeface="Trebuchet MS"/>
                <a:sym typeface="Trebuchet MS"/>
              </a:rPr>
              <a:t>data frame to transform</a:t>
            </a:r>
            <a:endParaRPr sz="2800" dirty="0">
              <a:latin typeface="Tw Cen MT" panose="020B0602020104020603" pitchFamily="34" charset="77"/>
              <a:ea typeface="Trebuchet MS"/>
              <a:cs typeface="Trebuchet MS"/>
              <a:sym typeface="Trebuchet MS"/>
            </a:endParaRPr>
          </a:p>
        </p:txBody>
      </p:sp>
      <p:sp>
        <p:nvSpPr>
          <p:cNvPr id="297" name="Google Shape;297;p32"/>
          <p:cNvSpPr/>
          <p:nvPr/>
        </p:nvSpPr>
        <p:spPr>
          <a:xfrm>
            <a:off x="4695596" y="2799128"/>
            <a:ext cx="4682084" cy="2235235"/>
          </a:xfrm>
          <a:custGeom>
            <a:avLst/>
            <a:gdLst/>
            <a:ahLst/>
            <a:cxnLst/>
            <a:rect l="l" t="t" r="r" b="b"/>
            <a:pathLst>
              <a:path w="5965190" h="3684270" extrusionOk="0">
                <a:moveTo>
                  <a:pt x="5608470" y="1066067"/>
                </a:moveTo>
                <a:lnTo>
                  <a:pt x="356337" y="1066067"/>
                </a:lnTo>
                <a:lnTo>
                  <a:pt x="307986" y="1069320"/>
                </a:lnTo>
                <a:lnTo>
                  <a:pt x="261611" y="1078796"/>
                </a:lnTo>
                <a:lnTo>
                  <a:pt x="217637" y="1094070"/>
                </a:lnTo>
                <a:lnTo>
                  <a:pt x="176489" y="1114718"/>
                </a:lnTo>
                <a:lnTo>
                  <a:pt x="138592" y="1140315"/>
                </a:lnTo>
                <a:lnTo>
                  <a:pt x="104371" y="1170437"/>
                </a:lnTo>
                <a:lnTo>
                  <a:pt x="74249" y="1204659"/>
                </a:lnTo>
                <a:lnTo>
                  <a:pt x="48651" y="1242556"/>
                </a:lnTo>
                <a:lnTo>
                  <a:pt x="28003" y="1283703"/>
                </a:lnTo>
                <a:lnTo>
                  <a:pt x="12729" y="1327677"/>
                </a:lnTo>
                <a:lnTo>
                  <a:pt x="3253" y="1374052"/>
                </a:lnTo>
                <a:lnTo>
                  <a:pt x="0" y="1422403"/>
                </a:lnTo>
                <a:lnTo>
                  <a:pt x="0" y="3327450"/>
                </a:lnTo>
                <a:lnTo>
                  <a:pt x="3253" y="3375802"/>
                </a:lnTo>
                <a:lnTo>
                  <a:pt x="12729" y="3422177"/>
                </a:lnTo>
                <a:lnTo>
                  <a:pt x="28003" y="3466150"/>
                </a:lnTo>
                <a:lnTo>
                  <a:pt x="48651" y="3507298"/>
                </a:lnTo>
                <a:lnTo>
                  <a:pt x="74249" y="3545195"/>
                </a:lnTo>
                <a:lnTo>
                  <a:pt x="104371" y="3579417"/>
                </a:lnTo>
                <a:lnTo>
                  <a:pt x="138592" y="3609539"/>
                </a:lnTo>
                <a:lnTo>
                  <a:pt x="176489" y="3635136"/>
                </a:lnTo>
                <a:lnTo>
                  <a:pt x="217637" y="3655784"/>
                </a:lnTo>
                <a:lnTo>
                  <a:pt x="261611" y="3671059"/>
                </a:lnTo>
                <a:lnTo>
                  <a:pt x="307986" y="3680535"/>
                </a:lnTo>
                <a:lnTo>
                  <a:pt x="356337" y="3683788"/>
                </a:lnTo>
                <a:lnTo>
                  <a:pt x="5608470" y="3683788"/>
                </a:lnTo>
                <a:lnTo>
                  <a:pt x="5656820" y="3680535"/>
                </a:lnTo>
                <a:lnTo>
                  <a:pt x="5703195" y="3671058"/>
                </a:lnTo>
                <a:lnTo>
                  <a:pt x="5747168" y="3655784"/>
                </a:lnTo>
                <a:lnTo>
                  <a:pt x="5788315" y="3635136"/>
                </a:lnTo>
                <a:lnTo>
                  <a:pt x="5826212" y="3609538"/>
                </a:lnTo>
                <a:lnTo>
                  <a:pt x="5860433" y="3579416"/>
                </a:lnTo>
                <a:lnTo>
                  <a:pt x="5890555" y="3545195"/>
                </a:lnTo>
                <a:lnTo>
                  <a:pt x="5916152" y="3507298"/>
                </a:lnTo>
                <a:lnTo>
                  <a:pt x="5936801" y="3466150"/>
                </a:lnTo>
                <a:lnTo>
                  <a:pt x="5952075" y="3422177"/>
                </a:lnTo>
                <a:lnTo>
                  <a:pt x="5961551" y="3375802"/>
                </a:lnTo>
                <a:lnTo>
                  <a:pt x="5964804" y="3327450"/>
                </a:lnTo>
                <a:lnTo>
                  <a:pt x="5964804" y="1422403"/>
                </a:lnTo>
                <a:lnTo>
                  <a:pt x="5961551" y="1374052"/>
                </a:lnTo>
                <a:lnTo>
                  <a:pt x="5952075" y="1327677"/>
                </a:lnTo>
                <a:lnTo>
                  <a:pt x="5936801" y="1283703"/>
                </a:lnTo>
                <a:lnTo>
                  <a:pt x="5916152" y="1242556"/>
                </a:lnTo>
                <a:lnTo>
                  <a:pt x="5890555" y="1204659"/>
                </a:lnTo>
                <a:lnTo>
                  <a:pt x="5860433" y="1170437"/>
                </a:lnTo>
                <a:lnTo>
                  <a:pt x="5826212" y="1140315"/>
                </a:lnTo>
                <a:lnTo>
                  <a:pt x="5788315" y="1114718"/>
                </a:lnTo>
                <a:lnTo>
                  <a:pt x="5747168" y="1094070"/>
                </a:lnTo>
                <a:lnTo>
                  <a:pt x="5703195" y="1078796"/>
                </a:lnTo>
                <a:lnTo>
                  <a:pt x="5656820" y="1069320"/>
                </a:lnTo>
                <a:lnTo>
                  <a:pt x="5608470" y="1066067"/>
                </a:lnTo>
                <a:close/>
              </a:path>
              <a:path w="5965190" h="3684270" extrusionOk="0">
                <a:moveTo>
                  <a:pt x="708093" y="0"/>
                </a:moveTo>
                <a:lnTo>
                  <a:pt x="603384" y="1066067"/>
                </a:lnTo>
                <a:lnTo>
                  <a:pt x="812802" y="1066067"/>
                </a:lnTo>
                <a:lnTo>
                  <a:pt x="708093" y="0"/>
                </a:lnTo>
                <a:close/>
              </a:path>
            </a:pathLst>
          </a:custGeom>
          <a:solidFill>
            <a:srgbClr val="A0C283"/>
          </a:solidFill>
          <a:ln>
            <a:noFill/>
          </a:ln>
        </p:spPr>
        <p:txBody>
          <a:bodyPr spcFirstLastPara="1" wrap="square" lIns="0" tIns="0" rIns="0" bIns="0" anchor="t" anchorCtr="0">
            <a:noAutofit/>
          </a:bodyPr>
          <a:lstStyle/>
          <a:p>
            <a:endParaRPr sz="964"/>
          </a:p>
        </p:txBody>
      </p:sp>
      <p:sp>
        <p:nvSpPr>
          <p:cNvPr id="298" name="Google Shape;298;p32"/>
          <p:cNvSpPr txBox="1"/>
          <p:nvPr/>
        </p:nvSpPr>
        <p:spPr>
          <a:xfrm>
            <a:off x="4690561" y="3496029"/>
            <a:ext cx="4682084" cy="1538333"/>
          </a:xfrm>
          <a:prstGeom prst="rect">
            <a:avLst/>
          </a:prstGeom>
          <a:noFill/>
          <a:ln>
            <a:noFill/>
          </a:ln>
        </p:spPr>
        <p:txBody>
          <a:bodyPr spcFirstLastPara="1" wrap="square" lIns="0" tIns="32652" rIns="0" bIns="0" anchor="t" anchorCtr="0">
            <a:noAutofit/>
          </a:bodyPr>
          <a:lstStyle/>
          <a:p>
            <a:pPr marL="6803" marR="2721" indent="-1360" algn="ctr">
              <a:lnSpc>
                <a:spcPct val="113506"/>
              </a:lnSpc>
            </a:pPr>
            <a:r>
              <a:rPr lang="en-US" sz="2800" dirty="0">
                <a:solidFill>
                  <a:srgbClr val="FFFFFF"/>
                </a:solidFill>
                <a:latin typeface="Tw Cen MT" panose="020B0602020104020603" pitchFamily="34" charset="77"/>
                <a:ea typeface="Trebuchet MS"/>
                <a:cs typeface="Trebuchet MS"/>
                <a:sym typeface="Trebuchet MS"/>
              </a:rPr>
              <a:t>logical test </a:t>
            </a:r>
          </a:p>
          <a:p>
            <a:pPr marL="6803" marR="2721" indent="-1360" algn="ctr">
              <a:lnSpc>
                <a:spcPct val="113506"/>
              </a:lnSpc>
            </a:pPr>
            <a:r>
              <a:rPr lang="en-US" sz="2400" dirty="0">
                <a:solidFill>
                  <a:srgbClr val="FFFFFF"/>
                </a:solidFill>
                <a:latin typeface="Tw Cen MT" panose="020B0602020104020603" pitchFamily="34" charset="77"/>
                <a:ea typeface="Calibri"/>
                <a:cs typeface="Calibri"/>
                <a:sym typeface="Calibri"/>
              </a:rPr>
              <a:t>(return each row where </a:t>
            </a:r>
          </a:p>
          <a:p>
            <a:pPr marL="6803" marR="2721" indent="-1360" algn="ctr">
              <a:lnSpc>
                <a:spcPct val="113506"/>
              </a:lnSpc>
            </a:pPr>
            <a:r>
              <a:rPr lang="en-US" sz="2400" dirty="0">
                <a:solidFill>
                  <a:srgbClr val="FFFFFF"/>
                </a:solidFill>
                <a:latin typeface="Tw Cen MT" panose="020B0602020104020603" pitchFamily="34" charset="77"/>
                <a:ea typeface="Calibri"/>
                <a:cs typeface="Calibri"/>
                <a:sym typeface="Calibri"/>
              </a:rPr>
              <a:t>the test is TRUE)</a:t>
            </a:r>
            <a:endParaRPr sz="2400" dirty="0">
              <a:latin typeface="Tw Cen MT" panose="020B0602020104020603" pitchFamily="34" charset="77"/>
              <a:ea typeface="Calibri"/>
              <a:cs typeface="Calibri"/>
              <a:sym typeface="Calibri"/>
            </a:endParaRPr>
          </a:p>
        </p:txBody>
      </p:sp>
      <p:grpSp>
        <p:nvGrpSpPr>
          <p:cNvPr id="2" name="Group 1"/>
          <p:cNvGrpSpPr/>
          <p:nvPr/>
        </p:nvGrpSpPr>
        <p:grpSpPr>
          <a:xfrm>
            <a:off x="2832302" y="5230686"/>
            <a:ext cx="5134126" cy="1488613"/>
            <a:chOff x="2119507" y="3332057"/>
            <a:chExt cx="8028857" cy="3510011"/>
          </a:xfrm>
        </p:grpSpPr>
        <p:graphicFrame>
          <p:nvGraphicFramePr>
            <p:cNvPr id="19" name="Google Shape;154;p18"/>
            <p:cNvGraphicFramePr/>
            <p:nvPr/>
          </p:nvGraphicFramePr>
          <p:xfrm>
            <a:off x="2119507" y="3332057"/>
            <a:ext cx="2763514" cy="3510011"/>
          </p:xfrm>
          <a:graphic>
            <a:graphicData uri="http://schemas.openxmlformats.org/drawingml/2006/table">
              <a:tbl>
                <a:tblPr firstRow="1" bandRow="1">
                  <a:noFill/>
                </a:tblPr>
                <a:tblGrid>
                  <a:gridCol w="353440">
                    <a:extLst>
                      <a:ext uri="{9D8B030D-6E8A-4147-A177-3AD203B41FA5}">
                        <a16:colId xmlns:a16="http://schemas.microsoft.com/office/drawing/2014/main" val="20000"/>
                      </a:ext>
                    </a:extLst>
                  </a:gridCol>
                  <a:gridCol w="334346">
                    <a:extLst>
                      <a:ext uri="{9D8B030D-6E8A-4147-A177-3AD203B41FA5}">
                        <a16:colId xmlns:a16="http://schemas.microsoft.com/office/drawing/2014/main" val="20001"/>
                      </a:ext>
                    </a:extLst>
                  </a:gridCol>
                  <a:gridCol w="483967">
                    <a:extLst>
                      <a:ext uri="{9D8B030D-6E8A-4147-A177-3AD203B41FA5}">
                        <a16:colId xmlns:a16="http://schemas.microsoft.com/office/drawing/2014/main" val="20002"/>
                      </a:ext>
                    </a:extLst>
                  </a:gridCol>
                  <a:gridCol w="595401">
                    <a:extLst>
                      <a:ext uri="{9D8B030D-6E8A-4147-A177-3AD203B41FA5}">
                        <a16:colId xmlns:a16="http://schemas.microsoft.com/office/drawing/2014/main" val="20003"/>
                      </a:ext>
                    </a:extLst>
                  </a:gridCol>
                </a:tblGrid>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solidFill>
                            <a:schemeClr val="bg1"/>
                          </a:solidFill>
                          <a:latin typeface="+mj-lt"/>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20" name="Google Shape;156;p18"/>
            <p:cNvGraphicFramePr/>
            <p:nvPr/>
          </p:nvGraphicFramePr>
          <p:xfrm>
            <a:off x="7555398" y="3993070"/>
            <a:ext cx="2592966" cy="1748376"/>
          </p:xfrm>
          <a:graphic>
            <a:graphicData uri="http://schemas.openxmlformats.org/drawingml/2006/table">
              <a:tbl>
                <a:tblPr firstRow="1" bandRow="1">
                  <a:noFill/>
                </a:tblPr>
                <a:tblGrid>
                  <a:gridCol w="25400">
                    <a:extLst>
                      <a:ext uri="{9D8B030D-6E8A-4147-A177-3AD203B41FA5}">
                        <a16:colId xmlns:a16="http://schemas.microsoft.com/office/drawing/2014/main" val="20000"/>
                      </a:ext>
                    </a:extLst>
                  </a:gridCol>
                  <a:gridCol w="622601">
                    <a:extLst>
                      <a:ext uri="{9D8B030D-6E8A-4147-A177-3AD203B41FA5}">
                        <a16:colId xmlns:a16="http://schemas.microsoft.com/office/drawing/2014/main" val="20001"/>
                      </a:ext>
                    </a:extLst>
                  </a:gridCol>
                  <a:gridCol w="452906">
                    <a:extLst>
                      <a:ext uri="{9D8B030D-6E8A-4147-A177-3AD203B41FA5}">
                        <a16:colId xmlns:a16="http://schemas.microsoft.com/office/drawing/2014/main" val="20002"/>
                      </a:ext>
                    </a:extLst>
                  </a:gridCol>
                  <a:gridCol w="557189">
                    <a:extLst>
                      <a:ext uri="{9D8B030D-6E8A-4147-A177-3AD203B41FA5}">
                        <a16:colId xmlns:a16="http://schemas.microsoft.com/office/drawing/2014/main" val="20003"/>
                      </a:ext>
                    </a:extLst>
                  </a:gridCol>
                </a:tblGrid>
                <a:tr h="247165">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21" name="Right Arrow 20"/>
            <p:cNvSpPr/>
            <p:nvPr/>
          </p:nvSpPr>
          <p:spPr>
            <a:xfrm>
              <a:off x="5763072" y="4685272"/>
              <a:ext cx="658747" cy="803577"/>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Google Shape;293;p32">
            <a:extLst>
              <a:ext uri="{FF2B5EF4-FFF2-40B4-BE49-F238E27FC236}">
                <a16:creationId xmlns:a16="http://schemas.microsoft.com/office/drawing/2014/main" id="{D7AE2681-54D3-5F45-A7C1-5BC87C4188FE}"/>
              </a:ext>
            </a:extLst>
          </p:cNvPr>
          <p:cNvSpPr txBox="1">
            <a:spLocks noGrp="1"/>
          </p:cNvSpPr>
          <p:nvPr>
            <p:ph type="title"/>
          </p:nvPr>
        </p:nvSpPr>
        <p:spPr>
          <a:xfrm>
            <a:off x="1064973" y="684400"/>
            <a:ext cx="10238190" cy="777536"/>
          </a:xfrm>
          <a:prstGeom prst="rect">
            <a:avLst/>
          </a:prstGeom>
          <a:noFill/>
          <a:ln>
            <a:noFill/>
          </a:ln>
        </p:spPr>
        <p:txBody>
          <a:bodyPr spcFirstLastPara="1" wrap="square" lIns="0" tIns="6455" rIns="0" bIns="0" anchor="t" anchorCtr="0">
            <a:noAutofit/>
          </a:bodyPr>
          <a:lstStyle/>
          <a:p>
            <a:pPr marL="6803" algn="ctr"/>
            <a:r>
              <a:rPr lang="en-US" dirty="0">
                <a:solidFill>
                  <a:srgbClr val="000000"/>
                </a:solidFill>
                <a:latin typeface="Consolas" panose="020B0609020204030204" pitchFamily="49" charset="0"/>
              </a:rPr>
              <a:t>filter()</a:t>
            </a:r>
            <a:endParaRPr dirty="0">
              <a:latin typeface="Consolas" panose="020B0609020204030204" pitchFamily="49" charset="0"/>
            </a:endParaRPr>
          </a:p>
        </p:txBody>
      </p:sp>
      <p:sp>
        <p:nvSpPr>
          <p:cNvPr id="22" name="Google Shape;296;p32">
            <a:extLst>
              <a:ext uri="{FF2B5EF4-FFF2-40B4-BE49-F238E27FC236}">
                <a16:creationId xmlns:a16="http://schemas.microsoft.com/office/drawing/2014/main" id="{E0F93649-BC44-8540-9DBB-35ED078FE4B1}"/>
              </a:ext>
            </a:extLst>
          </p:cNvPr>
          <p:cNvSpPr txBox="1"/>
          <p:nvPr/>
        </p:nvSpPr>
        <p:spPr>
          <a:xfrm>
            <a:off x="2979673" y="1702714"/>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Tw Cen MT" panose="020B0602020104020603" pitchFamily="34" charset="77"/>
                <a:ea typeface="Calibri"/>
                <a:cs typeface="Calibri"/>
                <a:sym typeface="Calibri"/>
              </a:rPr>
              <a:t>Extract rows that meet logical criteria</a:t>
            </a:r>
            <a:endParaRPr sz="2800" dirty="0">
              <a:latin typeface="Tw Cen MT" panose="020B0602020104020603" pitchFamily="34" charset="77"/>
              <a:ea typeface="Calibri"/>
              <a:cs typeface="Calibri"/>
              <a:sym typeface="Calibri"/>
            </a:endParaRPr>
          </a:p>
        </p:txBody>
      </p:sp>
    </p:spTree>
    <p:extLst>
      <p:ext uri="{BB962C8B-B14F-4D97-AF65-F5344CB8AC3E}">
        <p14:creationId xmlns:p14="http://schemas.microsoft.com/office/powerpoint/2010/main" val="13787890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758718"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8773556"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err="1">
                <a:solidFill>
                  <a:schemeClr val="accent3">
                    <a:lumMod val="75000"/>
                  </a:schemeClr>
                </a:solidFill>
                <a:latin typeface="Consolas" panose="020B0609020204030204" pitchFamily="49" charset="0"/>
                <a:ea typeface="Courier New"/>
                <a:cs typeface="Consolas" panose="020B0609020204030204" pitchFamily="49" charset="0"/>
                <a:sym typeface="Courier New"/>
              </a:rPr>
              <a:t>column_name</a:t>
            </a:r>
            <a:r>
              <a:rPr lang="en-US" sz="3200" dirty="0">
                <a:solidFill>
                  <a:schemeClr val="accent3">
                    <a:lumMod val="75000"/>
                  </a:schemeClr>
                </a:solidFill>
                <a:latin typeface="Consolas" panose="020B0609020204030204" pitchFamily="49" charset="0"/>
                <a:ea typeface="Courier New"/>
                <a:cs typeface="Consolas" panose="020B0609020204030204" pitchFamily="49" charset="0"/>
                <a:sym typeface="Courier New"/>
              </a:rPr>
              <a:t> </a:t>
            </a:r>
            <a:r>
              <a:rPr lang="en-US" sz="3200" dirty="0">
                <a:solidFill>
                  <a:srgbClr val="FF0000"/>
                </a:solidFill>
                <a:latin typeface="Consolas" panose="020B0609020204030204" pitchFamily="49" charset="0"/>
                <a:ea typeface="Courier New"/>
                <a:cs typeface="Consolas" panose="020B0609020204030204" pitchFamily="49" charset="0"/>
                <a:sym typeface="Courier New"/>
              </a:rPr>
              <a:t>==</a:t>
            </a:r>
            <a:r>
              <a:rPr lang="en-US" sz="3200" dirty="0">
                <a:solidFill>
                  <a:schemeClr val="accent3">
                    <a:lumMod val="75000"/>
                  </a:schemeClr>
                </a:solidFill>
                <a:latin typeface="Consolas" panose="020B0609020204030204" pitchFamily="49" charset="0"/>
                <a:ea typeface="Courier New"/>
                <a:cs typeface="Consolas" panose="020B0609020204030204" pitchFamily="49" charset="0"/>
                <a:sym typeface="Courier New"/>
              </a:rPr>
              <a:t> </a:t>
            </a:r>
            <a:r>
              <a:rPr lang="en-US" sz="3200" dirty="0">
                <a:solidFill>
                  <a:srgbClr val="7030A0"/>
                </a:solidFill>
                <a:latin typeface="Consolas" panose="020B0609020204030204" pitchFamily="49" charset="0"/>
                <a:ea typeface="Courier New"/>
                <a:cs typeface="Consolas" panose="020B0609020204030204" pitchFamily="49" charset="0"/>
                <a:sym typeface="Courier New"/>
              </a:rPr>
              <a:t>criteria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297" name="Google Shape;297;p32"/>
          <p:cNvSpPr/>
          <p:nvPr/>
        </p:nvSpPr>
        <p:spPr>
          <a:xfrm>
            <a:off x="7403725" y="3026799"/>
            <a:ext cx="4682084" cy="2132694"/>
          </a:xfrm>
          <a:custGeom>
            <a:avLst/>
            <a:gdLst>
              <a:gd name="connsiteX0" fmla="*/ 0 w 4682084"/>
              <a:gd name="connsiteY0" fmla="*/ 273318 h 1639878"/>
              <a:gd name="connsiteX1" fmla="*/ 273318 w 4682084"/>
              <a:gd name="connsiteY1" fmla="*/ 0 h 1639878"/>
              <a:gd name="connsiteX2" fmla="*/ 780347 w 4682084"/>
              <a:gd name="connsiteY2" fmla="*/ 0 h 1639878"/>
              <a:gd name="connsiteX3" fmla="*/ 880606 w 4682084"/>
              <a:gd name="connsiteY3" fmla="*/ -492816 h 1639878"/>
              <a:gd name="connsiteX4" fmla="*/ 1950868 w 4682084"/>
              <a:gd name="connsiteY4" fmla="*/ 0 h 1639878"/>
              <a:gd name="connsiteX5" fmla="*/ 4408766 w 4682084"/>
              <a:gd name="connsiteY5" fmla="*/ 0 h 1639878"/>
              <a:gd name="connsiteX6" fmla="*/ 4682084 w 4682084"/>
              <a:gd name="connsiteY6" fmla="*/ 273318 h 1639878"/>
              <a:gd name="connsiteX7" fmla="*/ 4682084 w 4682084"/>
              <a:gd name="connsiteY7" fmla="*/ 273313 h 1639878"/>
              <a:gd name="connsiteX8" fmla="*/ 4682084 w 4682084"/>
              <a:gd name="connsiteY8" fmla="*/ 273313 h 1639878"/>
              <a:gd name="connsiteX9" fmla="*/ 4682084 w 4682084"/>
              <a:gd name="connsiteY9" fmla="*/ 683283 h 1639878"/>
              <a:gd name="connsiteX10" fmla="*/ 4682084 w 4682084"/>
              <a:gd name="connsiteY10" fmla="*/ 1366560 h 1639878"/>
              <a:gd name="connsiteX11" fmla="*/ 4408766 w 4682084"/>
              <a:gd name="connsiteY11" fmla="*/ 1639878 h 1639878"/>
              <a:gd name="connsiteX12" fmla="*/ 1950868 w 4682084"/>
              <a:gd name="connsiteY12" fmla="*/ 1639878 h 1639878"/>
              <a:gd name="connsiteX13" fmla="*/ 780347 w 4682084"/>
              <a:gd name="connsiteY13" fmla="*/ 1639878 h 1639878"/>
              <a:gd name="connsiteX14" fmla="*/ 780347 w 4682084"/>
              <a:gd name="connsiteY14" fmla="*/ 1639878 h 1639878"/>
              <a:gd name="connsiteX15" fmla="*/ 273318 w 4682084"/>
              <a:gd name="connsiteY15" fmla="*/ 1639878 h 1639878"/>
              <a:gd name="connsiteX16" fmla="*/ 0 w 4682084"/>
              <a:gd name="connsiteY16" fmla="*/ 1366560 h 1639878"/>
              <a:gd name="connsiteX17" fmla="*/ 0 w 4682084"/>
              <a:gd name="connsiteY17" fmla="*/ 683283 h 1639878"/>
              <a:gd name="connsiteX18" fmla="*/ 0 w 4682084"/>
              <a:gd name="connsiteY18" fmla="*/ 273313 h 1639878"/>
              <a:gd name="connsiteX19" fmla="*/ 0 w 4682084"/>
              <a:gd name="connsiteY19" fmla="*/ 273313 h 1639878"/>
              <a:gd name="connsiteX20" fmla="*/ 0 w 4682084"/>
              <a:gd name="connsiteY20" fmla="*/ 273318 h 1639878"/>
              <a:gd name="connsiteX0" fmla="*/ 0 w 4682084"/>
              <a:gd name="connsiteY0" fmla="*/ 766134 h 2132694"/>
              <a:gd name="connsiteX1" fmla="*/ 273318 w 4682084"/>
              <a:gd name="connsiteY1" fmla="*/ 492816 h 2132694"/>
              <a:gd name="connsiteX2" fmla="*/ 1352841 w 4682084"/>
              <a:gd name="connsiteY2" fmla="*/ 492816 h 2132694"/>
              <a:gd name="connsiteX3" fmla="*/ 880606 w 4682084"/>
              <a:gd name="connsiteY3" fmla="*/ 0 h 2132694"/>
              <a:gd name="connsiteX4" fmla="*/ 1950868 w 4682084"/>
              <a:gd name="connsiteY4" fmla="*/ 492816 h 2132694"/>
              <a:gd name="connsiteX5" fmla="*/ 4408766 w 4682084"/>
              <a:gd name="connsiteY5" fmla="*/ 492816 h 2132694"/>
              <a:gd name="connsiteX6" fmla="*/ 4682084 w 4682084"/>
              <a:gd name="connsiteY6" fmla="*/ 766134 h 2132694"/>
              <a:gd name="connsiteX7" fmla="*/ 4682084 w 4682084"/>
              <a:gd name="connsiteY7" fmla="*/ 766129 h 2132694"/>
              <a:gd name="connsiteX8" fmla="*/ 4682084 w 4682084"/>
              <a:gd name="connsiteY8" fmla="*/ 766129 h 2132694"/>
              <a:gd name="connsiteX9" fmla="*/ 4682084 w 4682084"/>
              <a:gd name="connsiteY9" fmla="*/ 1176099 h 2132694"/>
              <a:gd name="connsiteX10" fmla="*/ 4682084 w 4682084"/>
              <a:gd name="connsiteY10" fmla="*/ 1859376 h 2132694"/>
              <a:gd name="connsiteX11" fmla="*/ 4408766 w 4682084"/>
              <a:gd name="connsiteY11" fmla="*/ 2132694 h 2132694"/>
              <a:gd name="connsiteX12" fmla="*/ 1950868 w 4682084"/>
              <a:gd name="connsiteY12" fmla="*/ 2132694 h 2132694"/>
              <a:gd name="connsiteX13" fmla="*/ 780347 w 4682084"/>
              <a:gd name="connsiteY13" fmla="*/ 2132694 h 2132694"/>
              <a:gd name="connsiteX14" fmla="*/ 780347 w 4682084"/>
              <a:gd name="connsiteY14" fmla="*/ 2132694 h 2132694"/>
              <a:gd name="connsiteX15" fmla="*/ 273318 w 4682084"/>
              <a:gd name="connsiteY15" fmla="*/ 2132694 h 2132694"/>
              <a:gd name="connsiteX16" fmla="*/ 0 w 4682084"/>
              <a:gd name="connsiteY16" fmla="*/ 1859376 h 2132694"/>
              <a:gd name="connsiteX17" fmla="*/ 0 w 4682084"/>
              <a:gd name="connsiteY17" fmla="*/ 1176099 h 2132694"/>
              <a:gd name="connsiteX18" fmla="*/ 0 w 4682084"/>
              <a:gd name="connsiteY18" fmla="*/ 766129 h 2132694"/>
              <a:gd name="connsiteX19" fmla="*/ 0 w 4682084"/>
              <a:gd name="connsiteY19" fmla="*/ 766129 h 2132694"/>
              <a:gd name="connsiteX20" fmla="*/ 0 w 4682084"/>
              <a:gd name="connsiteY20" fmla="*/ 766134 h 21326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682084" h="2132694">
                <a:moveTo>
                  <a:pt x="0" y="766134"/>
                </a:moveTo>
                <a:cubicBezTo>
                  <a:pt x="0" y="615185"/>
                  <a:pt x="122369" y="492816"/>
                  <a:pt x="273318" y="492816"/>
                </a:cubicBezTo>
                <a:lnTo>
                  <a:pt x="1352841" y="492816"/>
                </a:lnTo>
                <a:lnTo>
                  <a:pt x="880606" y="0"/>
                </a:lnTo>
                <a:lnTo>
                  <a:pt x="1950868" y="492816"/>
                </a:lnTo>
                <a:lnTo>
                  <a:pt x="4408766" y="492816"/>
                </a:lnTo>
                <a:cubicBezTo>
                  <a:pt x="4559715" y="492816"/>
                  <a:pt x="4682084" y="615185"/>
                  <a:pt x="4682084" y="766134"/>
                </a:cubicBezTo>
                <a:lnTo>
                  <a:pt x="4682084" y="766129"/>
                </a:lnTo>
                <a:lnTo>
                  <a:pt x="4682084" y="766129"/>
                </a:lnTo>
                <a:lnTo>
                  <a:pt x="4682084" y="1176099"/>
                </a:lnTo>
                <a:lnTo>
                  <a:pt x="4682084" y="1859376"/>
                </a:lnTo>
                <a:cubicBezTo>
                  <a:pt x="4682084" y="2010325"/>
                  <a:pt x="4559715" y="2132694"/>
                  <a:pt x="4408766" y="2132694"/>
                </a:cubicBezTo>
                <a:lnTo>
                  <a:pt x="1950868" y="2132694"/>
                </a:lnTo>
                <a:lnTo>
                  <a:pt x="780347" y="2132694"/>
                </a:lnTo>
                <a:lnTo>
                  <a:pt x="780347" y="2132694"/>
                </a:lnTo>
                <a:lnTo>
                  <a:pt x="273318" y="2132694"/>
                </a:lnTo>
                <a:cubicBezTo>
                  <a:pt x="122369" y="2132694"/>
                  <a:pt x="0" y="2010325"/>
                  <a:pt x="0" y="1859376"/>
                </a:cubicBezTo>
                <a:lnTo>
                  <a:pt x="0" y="1176099"/>
                </a:lnTo>
                <a:lnTo>
                  <a:pt x="0" y="766129"/>
                </a:lnTo>
                <a:lnTo>
                  <a:pt x="0" y="766129"/>
                </a:lnTo>
                <a:lnTo>
                  <a:pt x="0" y="766134"/>
                </a:lnTo>
                <a:close/>
              </a:path>
            </a:pathLst>
          </a:custGeom>
          <a:solidFill>
            <a:srgbClr val="A0C283"/>
          </a:solidFill>
          <a:ln>
            <a:noFill/>
          </a:ln>
        </p:spPr>
        <p:txBody>
          <a:bodyPr spcFirstLastPara="1" wrap="square" lIns="0" tIns="0" rIns="0" bIns="0" anchor="t" anchorCtr="0">
            <a:noAutofit/>
          </a:bodyPr>
          <a:lstStyle/>
          <a:p>
            <a:endParaRPr sz="964" dirty="0"/>
          </a:p>
        </p:txBody>
      </p:sp>
      <p:grpSp>
        <p:nvGrpSpPr>
          <p:cNvPr id="2" name="Group 1"/>
          <p:cNvGrpSpPr/>
          <p:nvPr/>
        </p:nvGrpSpPr>
        <p:grpSpPr>
          <a:xfrm>
            <a:off x="2832302" y="5230686"/>
            <a:ext cx="5134126" cy="1488613"/>
            <a:chOff x="2119507" y="3332057"/>
            <a:chExt cx="8028857" cy="3510011"/>
          </a:xfrm>
        </p:grpSpPr>
        <p:graphicFrame>
          <p:nvGraphicFramePr>
            <p:cNvPr id="19" name="Google Shape;154;p18"/>
            <p:cNvGraphicFramePr/>
            <p:nvPr/>
          </p:nvGraphicFramePr>
          <p:xfrm>
            <a:off x="2119507" y="3332057"/>
            <a:ext cx="2763514" cy="3510011"/>
          </p:xfrm>
          <a:graphic>
            <a:graphicData uri="http://schemas.openxmlformats.org/drawingml/2006/table">
              <a:tbl>
                <a:tblPr firstRow="1" bandRow="1">
                  <a:noFill/>
                </a:tblPr>
                <a:tblGrid>
                  <a:gridCol w="353440">
                    <a:extLst>
                      <a:ext uri="{9D8B030D-6E8A-4147-A177-3AD203B41FA5}">
                        <a16:colId xmlns:a16="http://schemas.microsoft.com/office/drawing/2014/main" val="20000"/>
                      </a:ext>
                    </a:extLst>
                  </a:gridCol>
                  <a:gridCol w="334346">
                    <a:extLst>
                      <a:ext uri="{9D8B030D-6E8A-4147-A177-3AD203B41FA5}">
                        <a16:colId xmlns:a16="http://schemas.microsoft.com/office/drawing/2014/main" val="20001"/>
                      </a:ext>
                    </a:extLst>
                  </a:gridCol>
                  <a:gridCol w="483967">
                    <a:extLst>
                      <a:ext uri="{9D8B030D-6E8A-4147-A177-3AD203B41FA5}">
                        <a16:colId xmlns:a16="http://schemas.microsoft.com/office/drawing/2014/main" val="20002"/>
                      </a:ext>
                    </a:extLst>
                  </a:gridCol>
                  <a:gridCol w="595401">
                    <a:extLst>
                      <a:ext uri="{9D8B030D-6E8A-4147-A177-3AD203B41FA5}">
                        <a16:colId xmlns:a16="http://schemas.microsoft.com/office/drawing/2014/main" val="20003"/>
                      </a:ext>
                    </a:extLst>
                  </a:gridCol>
                </a:tblGrid>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solidFill>
                            <a:schemeClr val="bg1"/>
                          </a:solidFill>
                          <a:latin typeface="+mj-lt"/>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TRUE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212659">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ctr" rtl="0">
                          <a:lnSpc>
                            <a:spcPct val="100000"/>
                          </a:lnSpc>
                          <a:spcBef>
                            <a:spcPts val="0"/>
                          </a:spcBef>
                          <a:spcAft>
                            <a:spcPts val="0"/>
                          </a:spcAft>
                          <a:buNone/>
                        </a:pPr>
                        <a:r>
                          <a:rPr kumimoji="0" lang="en-US" sz="1100" b="0" i="0" u="none" strike="noStrike" kern="0" cap="none" spc="0" normalizeH="0" baseline="0" noProof="0" dirty="0">
                            <a:ln>
                              <a:noFill/>
                            </a:ln>
                            <a:solidFill>
                              <a:srgbClr val="FFFFFF"/>
                            </a:solidFill>
                            <a:effectLst/>
                            <a:uLnTx/>
                            <a:uFillTx/>
                            <a:latin typeface="Arial"/>
                            <a:ea typeface="Times New Roman"/>
                            <a:cs typeface="Times New Roman"/>
                            <a:sym typeface="Times New Roman"/>
                          </a:rPr>
                          <a:t>FALSE</a:t>
                        </a:r>
                        <a:endParaRPr sz="300" u="none" strike="noStrike" cap="none" dirty="0">
                          <a:latin typeface="Times New Roman"/>
                          <a:ea typeface="Times New Roman"/>
                          <a:cs typeface="Times New Roman"/>
                          <a:sym typeface="Times New Roman"/>
                        </a:endParaRPr>
                      </a:p>
                    </a:txBody>
                    <a:tcPr marL="0" marR="0" marT="0" marB="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20" name="Google Shape;156;p18"/>
            <p:cNvGraphicFramePr/>
            <p:nvPr/>
          </p:nvGraphicFramePr>
          <p:xfrm>
            <a:off x="7555398" y="3993070"/>
            <a:ext cx="2592966" cy="1748376"/>
          </p:xfrm>
          <a:graphic>
            <a:graphicData uri="http://schemas.openxmlformats.org/drawingml/2006/table">
              <a:tbl>
                <a:tblPr firstRow="1" bandRow="1">
                  <a:noFill/>
                </a:tblPr>
                <a:tblGrid>
                  <a:gridCol w="25400">
                    <a:extLst>
                      <a:ext uri="{9D8B030D-6E8A-4147-A177-3AD203B41FA5}">
                        <a16:colId xmlns:a16="http://schemas.microsoft.com/office/drawing/2014/main" val="20000"/>
                      </a:ext>
                    </a:extLst>
                  </a:gridCol>
                  <a:gridCol w="622601">
                    <a:extLst>
                      <a:ext uri="{9D8B030D-6E8A-4147-A177-3AD203B41FA5}">
                        <a16:colId xmlns:a16="http://schemas.microsoft.com/office/drawing/2014/main" val="20001"/>
                      </a:ext>
                    </a:extLst>
                  </a:gridCol>
                  <a:gridCol w="452906">
                    <a:extLst>
                      <a:ext uri="{9D8B030D-6E8A-4147-A177-3AD203B41FA5}">
                        <a16:colId xmlns:a16="http://schemas.microsoft.com/office/drawing/2014/main" val="20002"/>
                      </a:ext>
                    </a:extLst>
                  </a:gridCol>
                  <a:gridCol w="557189">
                    <a:extLst>
                      <a:ext uri="{9D8B030D-6E8A-4147-A177-3AD203B41FA5}">
                        <a16:colId xmlns:a16="http://schemas.microsoft.com/office/drawing/2014/main" val="20003"/>
                      </a:ext>
                    </a:extLst>
                  </a:gridCol>
                </a:tblGrid>
                <a:tr h="247165">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247165">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21" name="Right Arrow 20"/>
            <p:cNvSpPr/>
            <p:nvPr/>
          </p:nvSpPr>
          <p:spPr>
            <a:xfrm>
              <a:off x="5763072" y="4685272"/>
              <a:ext cx="658747" cy="803577"/>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 name="Google Shape;298;p32">
            <a:extLst>
              <a:ext uri="{FF2B5EF4-FFF2-40B4-BE49-F238E27FC236}">
                <a16:creationId xmlns:a16="http://schemas.microsoft.com/office/drawing/2014/main" id="{FD31B615-81D5-CA48-8BDC-7D937F5A1978}"/>
              </a:ext>
            </a:extLst>
          </p:cNvPr>
          <p:cNvSpPr txBox="1"/>
          <p:nvPr/>
        </p:nvSpPr>
        <p:spPr>
          <a:xfrm>
            <a:off x="7403725" y="3566977"/>
            <a:ext cx="4682084" cy="1538333"/>
          </a:xfrm>
          <a:prstGeom prst="rect">
            <a:avLst/>
          </a:prstGeom>
          <a:noFill/>
          <a:ln>
            <a:noFill/>
          </a:ln>
        </p:spPr>
        <p:txBody>
          <a:bodyPr spcFirstLastPara="1" wrap="square" lIns="0" tIns="32652" rIns="0" bIns="0" anchor="t" anchorCtr="0">
            <a:noAutofit/>
          </a:bodyPr>
          <a:lstStyle/>
          <a:p>
            <a:pPr marL="6803" marR="2721" indent="-1360" algn="ctr">
              <a:lnSpc>
                <a:spcPct val="113506"/>
              </a:lnSpc>
            </a:pPr>
            <a:r>
              <a:rPr lang="en-US" sz="2800" dirty="0">
                <a:solidFill>
                  <a:srgbClr val="FFFFFF"/>
                </a:solidFill>
                <a:latin typeface="Tw Cen MT" panose="020B0602020104020603" pitchFamily="34" charset="77"/>
                <a:ea typeface="Trebuchet MS"/>
                <a:cs typeface="Trebuchet MS"/>
                <a:sym typeface="Trebuchet MS"/>
              </a:rPr>
              <a:t>logical test </a:t>
            </a:r>
          </a:p>
          <a:p>
            <a:pPr marL="6803" marR="2721" indent="-1360" algn="ctr">
              <a:lnSpc>
                <a:spcPct val="113506"/>
              </a:lnSpc>
            </a:pPr>
            <a:r>
              <a:rPr lang="en-US" sz="2400" dirty="0">
                <a:solidFill>
                  <a:srgbClr val="FFFFFF"/>
                </a:solidFill>
                <a:latin typeface="Tw Cen MT" panose="020B0602020104020603" pitchFamily="34" charset="77"/>
                <a:ea typeface="Calibri"/>
                <a:cs typeface="Calibri"/>
                <a:sym typeface="Calibri"/>
              </a:rPr>
              <a:t>(return each row where </a:t>
            </a:r>
          </a:p>
          <a:p>
            <a:pPr marL="6803" marR="2721" indent="-1360" algn="ctr">
              <a:lnSpc>
                <a:spcPct val="113506"/>
              </a:lnSpc>
            </a:pPr>
            <a:r>
              <a:rPr lang="en-US" sz="2400" dirty="0">
                <a:solidFill>
                  <a:srgbClr val="FFFFFF"/>
                </a:solidFill>
                <a:latin typeface="Tw Cen MT" panose="020B0602020104020603" pitchFamily="34" charset="77"/>
                <a:ea typeface="Calibri"/>
                <a:cs typeface="Calibri"/>
                <a:sym typeface="Calibri"/>
              </a:rPr>
              <a:t>the test is TRUE)</a:t>
            </a:r>
            <a:endParaRPr sz="2400" dirty="0">
              <a:latin typeface="Tw Cen MT" panose="020B0602020104020603" pitchFamily="34" charset="77"/>
              <a:ea typeface="Calibri"/>
              <a:cs typeface="Calibri"/>
              <a:sym typeface="Calibri"/>
            </a:endParaRPr>
          </a:p>
        </p:txBody>
      </p:sp>
      <p:sp>
        <p:nvSpPr>
          <p:cNvPr id="24" name="Google Shape;293;p32">
            <a:extLst>
              <a:ext uri="{FF2B5EF4-FFF2-40B4-BE49-F238E27FC236}">
                <a16:creationId xmlns:a16="http://schemas.microsoft.com/office/drawing/2014/main" id="{4C170364-4CDD-7A46-9F7E-4C3A079A4F65}"/>
              </a:ext>
            </a:extLst>
          </p:cNvPr>
          <p:cNvSpPr txBox="1">
            <a:spLocks noGrp="1"/>
          </p:cNvSpPr>
          <p:nvPr>
            <p:ph type="title"/>
          </p:nvPr>
        </p:nvSpPr>
        <p:spPr>
          <a:xfrm>
            <a:off x="1064973" y="684400"/>
            <a:ext cx="10238190" cy="777536"/>
          </a:xfrm>
          <a:prstGeom prst="rect">
            <a:avLst/>
          </a:prstGeom>
          <a:noFill/>
          <a:ln>
            <a:noFill/>
          </a:ln>
        </p:spPr>
        <p:txBody>
          <a:bodyPr spcFirstLastPara="1" wrap="square" lIns="0" tIns="6455" rIns="0" bIns="0" anchor="t" anchorCtr="0">
            <a:noAutofit/>
          </a:bodyPr>
          <a:lstStyle/>
          <a:p>
            <a:pPr marL="6803" algn="ctr"/>
            <a:r>
              <a:rPr lang="en-US" dirty="0">
                <a:solidFill>
                  <a:srgbClr val="000000"/>
                </a:solidFill>
                <a:latin typeface="Consolas" panose="020B0609020204030204" pitchFamily="49" charset="0"/>
              </a:rPr>
              <a:t>filter()</a:t>
            </a:r>
            <a:endParaRPr dirty="0">
              <a:latin typeface="Consolas" panose="020B0609020204030204" pitchFamily="49" charset="0"/>
            </a:endParaRPr>
          </a:p>
        </p:txBody>
      </p:sp>
      <p:sp>
        <p:nvSpPr>
          <p:cNvPr id="25" name="Google Shape;296;p32">
            <a:extLst>
              <a:ext uri="{FF2B5EF4-FFF2-40B4-BE49-F238E27FC236}">
                <a16:creationId xmlns:a16="http://schemas.microsoft.com/office/drawing/2014/main" id="{44395FD8-7DB7-994C-9F77-1D492FD56E7F}"/>
              </a:ext>
            </a:extLst>
          </p:cNvPr>
          <p:cNvSpPr txBox="1"/>
          <p:nvPr/>
        </p:nvSpPr>
        <p:spPr>
          <a:xfrm>
            <a:off x="2979673" y="1702714"/>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Tw Cen MT" panose="020B0602020104020603" pitchFamily="34" charset="77"/>
                <a:ea typeface="Calibri"/>
                <a:cs typeface="Calibri"/>
                <a:sym typeface="Calibri"/>
              </a:rPr>
              <a:t>Extract rows that meet logical criteria</a:t>
            </a:r>
            <a:endParaRPr sz="2800" dirty="0">
              <a:latin typeface="Tw Cen MT" panose="020B0602020104020603" pitchFamily="34" charset="77"/>
              <a:ea typeface="Calibri"/>
              <a:cs typeface="Calibri"/>
              <a:sym typeface="Calibri"/>
            </a:endParaRPr>
          </a:p>
        </p:txBody>
      </p:sp>
    </p:spTree>
    <p:extLst>
      <p:ext uri="{BB962C8B-B14F-4D97-AF65-F5344CB8AC3E}">
        <p14:creationId xmlns:p14="http://schemas.microsoft.com/office/powerpoint/2010/main" val="1226966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661160"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8547533"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err="1">
                <a:solidFill>
                  <a:srgbClr val="0365C0"/>
                </a:solidFill>
                <a:latin typeface="Consolas" panose="020B0609020204030204" pitchFamily="49" charset="0"/>
                <a:ea typeface="Courier New"/>
                <a:cs typeface="Consolas" panose="020B0609020204030204" pitchFamily="49" charset="0"/>
                <a:sym typeface="Courier New"/>
              </a:rPr>
              <a:t>covid_testing</a:t>
            </a:r>
            <a:r>
              <a:rPr lang="en-US" sz="3200" dirty="0">
                <a:solidFill>
                  <a:srgbClr val="0365C0"/>
                </a:solidFill>
                <a:latin typeface="Consolas" panose="020B0609020204030204" pitchFamily="49" charset="0"/>
                <a:ea typeface="Courier New"/>
                <a:cs typeface="Consolas" panose="020B0609020204030204" pitchFamily="49" charset="0"/>
                <a:sym typeface="Courier New"/>
              </a:rPr>
              <a:t>,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mrn</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 5000083</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cxnSp>
        <p:nvCxnSpPr>
          <p:cNvPr id="4" name="Straight Arrow Connector 3"/>
          <p:cNvCxnSpPr/>
          <p:nvPr/>
        </p:nvCxnSpPr>
        <p:spPr>
          <a:xfrm>
            <a:off x="6074511" y="4651867"/>
            <a:ext cx="486241" cy="14570"/>
          </a:xfrm>
          <a:prstGeom prst="straightConnector1">
            <a:avLst/>
          </a:prstGeom>
          <a:ln w="762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Table 6"/>
          <p:cNvGraphicFramePr>
            <a:graphicFrameLocks noGrp="1"/>
          </p:cNvGraphicFramePr>
          <p:nvPr/>
        </p:nvGraphicFramePr>
        <p:xfrm>
          <a:off x="1409635" y="3807152"/>
          <a:ext cx="4544738" cy="2729332"/>
        </p:xfrm>
        <a:graphic>
          <a:graphicData uri="http://schemas.openxmlformats.org/drawingml/2006/table">
            <a:tbl>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i="0" u="none" strike="noStrike" dirty="0" err="1">
                          <a:solidFill>
                            <a:srgbClr val="FFFFFF"/>
                          </a:solidFill>
                          <a:effectLst/>
                          <a:latin typeface="Arial" panose="020B0604020202020204" pitchFamily="34" charset="0"/>
                        </a:rPr>
                        <a:t>mrn</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2400" b="1" i="0" u="none" strike="noStrike" dirty="0" err="1">
                          <a:solidFill>
                            <a:srgbClr val="FFFFFF"/>
                          </a:solidFill>
                          <a:effectLst/>
                          <a:latin typeface="Arial" panose="020B0604020202020204" pitchFamily="34" charset="0"/>
                        </a:rPr>
                        <a:t>first_name</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2400" b="1" i="0" u="none" strike="noStrike" dirty="0" err="1">
                          <a:solidFill>
                            <a:srgbClr val="FFFFFF"/>
                          </a:solidFill>
                          <a:effectLst/>
                          <a:latin typeface="Arial" panose="020B0604020202020204" pitchFamily="34" charset="0"/>
                        </a:rPr>
                        <a:t>last_name</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dirty="0" err="1">
                          <a:solidFill>
                            <a:srgbClr val="000000"/>
                          </a:solidFill>
                          <a:effectLst/>
                          <a:latin typeface="Arial" panose="020B0604020202020204" pitchFamily="34" charset="0"/>
                        </a:rPr>
                        <a:t>sarella</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dirty="0">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dirty="0" err="1">
                          <a:solidFill>
                            <a:srgbClr val="000000"/>
                          </a:solidFill>
                          <a:effectLst/>
                          <a:latin typeface="Arial" panose="020B0604020202020204" pitchFamily="34" charset="0"/>
                        </a:rPr>
                        <a:t>alester</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dirty="0">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563215883"/>
                  </a:ext>
                </a:extLst>
              </a:tr>
              <a:tr h="455542">
                <a:tc>
                  <a:txBody>
                    <a:bodyPr/>
                    <a:lstStyle/>
                    <a:p>
                      <a:pPr algn="ctr" rtl="0" fontAlgn="ctr"/>
                      <a:r>
                        <a:rPr lang="en-US" sz="2400" b="0" i="0" u="none" strike="noStrike">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a:solidFill>
                            <a:srgbClr val="000000"/>
                          </a:solidFill>
                          <a:effectLst/>
                          <a:latin typeface="Arial" panose="020B0604020202020204" pitchFamily="34" charset="0"/>
                        </a:rPr>
                        <a:t>jhezane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dirty="0" err="1">
                          <a:solidFill>
                            <a:srgbClr val="000000"/>
                          </a:solidFill>
                          <a:effectLst/>
                          <a:latin typeface="Arial" panose="020B0604020202020204" pitchFamily="34" charset="0"/>
                        </a:rPr>
                        <a:t>westerling</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4003288136"/>
                  </a:ext>
                </a:extLst>
              </a:tr>
              <a:tr h="455542">
                <a:tc>
                  <a:txBody>
                    <a:bodyPr/>
                    <a:lstStyle/>
                    <a:p>
                      <a:pPr algn="ctr" rtl="0" fontAlgn="ctr"/>
                      <a:r>
                        <a:rPr lang="en-US" sz="2400" b="0" i="0" u="none" strike="noStrike" dirty="0">
                          <a:solidFill>
                            <a:srgbClr val="000000"/>
                          </a:solidFill>
                          <a:effectLst/>
                          <a:latin typeface="Arial" panose="020B0604020202020204" pitchFamily="34" charset="0"/>
                        </a:rPr>
                        <a:t>5000083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2400" b="0" i="0" u="none" strike="noStrike" dirty="0" err="1">
                          <a:solidFill>
                            <a:srgbClr val="000000"/>
                          </a:solidFill>
                          <a:effectLst/>
                          <a:latin typeface="Arial" panose="020B0604020202020204" pitchFamily="34" charset="0"/>
                        </a:rPr>
                        <a:t>lollys</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2400" b="0" i="0" u="none" strike="noStrike" dirty="0" err="1">
                          <a:solidFill>
                            <a:srgbClr val="000000"/>
                          </a:solidFill>
                          <a:effectLst/>
                          <a:latin typeface="Arial" panose="020B0604020202020204" pitchFamily="34" charset="0"/>
                        </a:rPr>
                        <a:t>clegane</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extLst>
                  <a:ext uri="{0D108BD9-81ED-4DB2-BD59-A6C34878D82A}">
                    <a16:rowId xmlns:a16="http://schemas.microsoft.com/office/drawing/2014/main" val="2004892004"/>
                  </a:ext>
                </a:extLst>
              </a:tr>
            </a:tbl>
          </a:graphicData>
        </a:graphic>
      </p:graphicFrame>
      <p:graphicFrame>
        <p:nvGraphicFramePr>
          <p:cNvPr id="18" name="Table 17"/>
          <p:cNvGraphicFramePr>
            <a:graphicFrameLocks noGrp="1"/>
          </p:cNvGraphicFramePr>
          <p:nvPr/>
        </p:nvGraphicFramePr>
        <p:xfrm>
          <a:off x="6680890" y="4282932"/>
          <a:ext cx="4705577" cy="737870"/>
        </p:xfrm>
        <a:graphic>
          <a:graphicData uri="http://schemas.openxmlformats.org/drawingml/2006/table">
            <a:tbl>
              <a:tblPr/>
              <a:tblGrid>
                <a:gridCol w="1367161">
                  <a:extLst>
                    <a:ext uri="{9D8B030D-6E8A-4147-A177-3AD203B41FA5}">
                      <a16:colId xmlns:a16="http://schemas.microsoft.com/office/drawing/2014/main" val="3642991579"/>
                    </a:ext>
                  </a:extLst>
                </a:gridCol>
                <a:gridCol w="1748694">
                  <a:extLst>
                    <a:ext uri="{9D8B030D-6E8A-4147-A177-3AD203B41FA5}">
                      <a16:colId xmlns:a16="http://schemas.microsoft.com/office/drawing/2014/main" val="1650678772"/>
                    </a:ext>
                  </a:extLst>
                </a:gridCol>
                <a:gridCol w="1589722">
                  <a:extLst>
                    <a:ext uri="{9D8B030D-6E8A-4147-A177-3AD203B41FA5}">
                      <a16:colId xmlns:a16="http://schemas.microsoft.com/office/drawing/2014/main" val="412331866"/>
                    </a:ext>
                  </a:extLst>
                </a:gridCol>
              </a:tblGrid>
              <a:tr h="301625">
                <a:tc>
                  <a:txBody>
                    <a:bodyPr/>
                    <a:lstStyle/>
                    <a:p>
                      <a:pPr algn="ctr" rtl="0" fontAlgn="ctr"/>
                      <a:r>
                        <a:rPr lang="en-US" sz="2400" b="1" i="0" u="none" strike="noStrike" dirty="0" err="1">
                          <a:solidFill>
                            <a:srgbClr val="FFFFFF"/>
                          </a:solidFill>
                          <a:effectLst/>
                          <a:latin typeface="Arial" panose="020B0604020202020204" pitchFamily="34" charset="0"/>
                        </a:rPr>
                        <a:t>mrn</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2400" b="1" i="0" u="none" strike="noStrike" dirty="0" err="1">
                          <a:solidFill>
                            <a:srgbClr val="FFFFFF"/>
                          </a:solidFill>
                          <a:effectLst/>
                          <a:latin typeface="Arial" panose="020B0604020202020204" pitchFamily="34" charset="0"/>
                        </a:rPr>
                        <a:t>first_name</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538DD5"/>
                    </a:solidFill>
                  </a:tcPr>
                </a:tc>
                <a:tc>
                  <a:txBody>
                    <a:bodyPr/>
                    <a:lstStyle/>
                    <a:p>
                      <a:pPr algn="ctr" rtl="0" fontAlgn="ctr"/>
                      <a:r>
                        <a:rPr lang="en-US" sz="2400" b="1" i="0" u="none" strike="noStrike" dirty="0" err="1">
                          <a:solidFill>
                            <a:srgbClr val="FFFFFF"/>
                          </a:solidFill>
                          <a:effectLst/>
                          <a:latin typeface="Arial" panose="020B0604020202020204" pitchFamily="34" charset="0"/>
                        </a:rPr>
                        <a:t>last_name</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2889973772"/>
                  </a:ext>
                </a:extLst>
              </a:tr>
              <a:tr h="0">
                <a:tc>
                  <a:txBody>
                    <a:bodyPr/>
                    <a:lstStyle/>
                    <a:p>
                      <a:pPr algn="ctr" rtl="0" fontAlgn="ctr"/>
                      <a:r>
                        <a:rPr lang="en-US" sz="2400" b="0" i="0" u="none" strike="noStrike" dirty="0">
                          <a:solidFill>
                            <a:srgbClr val="000000"/>
                          </a:solidFill>
                          <a:effectLst/>
                          <a:latin typeface="Arial" panose="020B0604020202020204" pitchFamily="34" charset="0"/>
                        </a:rPr>
                        <a:t>5000083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2400" b="0" i="0" u="none" strike="noStrike">
                          <a:solidFill>
                            <a:srgbClr val="000000"/>
                          </a:solidFill>
                          <a:effectLst/>
                          <a:latin typeface="Arial" panose="020B0604020202020204" pitchFamily="34" charset="0"/>
                        </a:rPr>
                        <a:t>lollys</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tc>
                  <a:txBody>
                    <a:bodyPr/>
                    <a:lstStyle/>
                    <a:p>
                      <a:pPr algn="ctr" rtl="0" fontAlgn="ctr"/>
                      <a:r>
                        <a:rPr lang="en-US" sz="2400" b="0" i="0" u="none" strike="noStrike" dirty="0" err="1">
                          <a:solidFill>
                            <a:srgbClr val="000000"/>
                          </a:solidFill>
                          <a:effectLst/>
                          <a:latin typeface="Arial" panose="020B0604020202020204" pitchFamily="34" charset="0"/>
                        </a:rPr>
                        <a:t>clegane</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8DB4E2"/>
                    </a:solidFill>
                  </a:tcPr>
                </a:tc>
                <a:extLst>
                  <a:ext uri="{0D108BD9-81ED-4DB2-BD59-A6C34878D82A}">
                    <a16:rowId xmlns:a16="http://schemas.microsoft.com/office/drawing/2014/main" val="2004892004"/>
                  </a:ext>
                </a:extLst>
              </a:tr>
            </a:tbl>
          </a:graphicData>
        </a:graphic>
      </p:graphicFrame>
      <p:sp>
        <p:nvSpPr>
          <p:cNvPr id="9" name="Rectangle 8"/>
          <p:cNvSpPr/>
          <p:nvPr/>
        </p:nvSpPr>
        <p:spPr>
          <a:xfrm>
            <a:off x="407730" y="4748072"/>
            <a:ext cx="941283" cy="369332"/>
          </a:xfrm>
          <a:prstGeom prst="rect">
            <a:avLst/>
          </a:prstGeom>
        </p:spPr>
        <p:txBody>
          <a:bodyPr wrap="none">
            <a:spAutoFit/>
          </a:bodyPr>
          <a:lstStyle/>
          <a:p>
            <a:r>
              <a:rPr lang="en-US" sz="1800" b="1" dirty="0">
                <a:solidFill>
                  <a:srgbClr val="A6A6A6"/>
                </a:solidFill>
              </a:rPr>
              <a:t>FALSE</a:t>
            </a:r>
          </a:p>
        </p:txBody>
      </p:sp>
      <p:sp>
        <p:nvSpPr>
          <p:cNvPr id="21" name="Rectangle 20"/>
          <p:cNvSpPr/>
          <p:nvPr/>
        </p:nvSpPr>
        <p:spPr>
          <a:xfrm>
            <a:off x="407729" y="5205669"/>
            <a:ext cx="941283" cy="369332"/>
          </a:xfrm>
          <a:prstGeom prst="rect">
            <a:avLst/>
          </a:prstGeom>
        </p:spPr>
        <p:txBody>
          <a:bodyPr wrap="none">
            <a:spAutoFit/>
          </a:bodyPr>
          <a:lstStyle/>
          <a:p>
            <a:r>
              <a:rPr lang="en-US" sz="1800" b="1" dirty="0">
                <a:solidFill>
                  <a:srgbClr val="A6A6A6"/>
                </a:solidFill>
              </a:rPr>
              <a:t>FALSE</a:t>
            </a:r>
          </a:p>
        </p:txBody>
      </p:sp>
      <p:sp>
        <p:nvSpPr>
          <p:cNvPr id="22" name="Rectangle 21"/>
          <p:cNvSpPr/>
          <p:nvPr/>
        </p:nvSpPr>
        <p:spPr>
          <a:xfrm>
            <a:off x="407728" y="5663266"/>
            <a:ext cx="941283" cy="369332"/>
          </a:xfrm>
          <a:prstGeom prst="rect">
            <a:avLst/>
          </a:prstGeom>
        </p:spPr>
        <p:txBody>
          <a:bodyPr wrap="none">
            <a:spAutoFit/>
          </a:bodyPr>
          <a:lstStyle/>
          <a:p>
            <a:r>
              <a:rPr lang="en-US" sz="1800" b="1" dirty="0">
                <a:solidFill>
                  <a:srgbClr val="A6A6A6"/>
                </a:solidFill>
              </a:rPr>
              <a:t>FALSE</a:t>
            </a:r>
          </a:p>
        </p:txBody>
      </p:sp>
      <p:sp>
        <p:nvSpPr>
          <p:cNvPr id="23" name="Rectangle 22"/>
          <p:cNvSpPr/>
          <p:nvPr/>
        </p:nvSpPr>
        <p:spPr>
          <a:xfrm>
            <a:off x="437464" y="6120862"/>
            <a:ext cx="941283" cy="369332"/>
          </a:xfrm>
          <a:prstGeom prst="rect">
            <a:avLst/>
          </a:prstGeom>
        </p:spPr>
        <p:txBody>
          <a:bodyPr wrap="square">
            <a:spAutoFit/>
          </a:bodyPr>
          <a:lstStyle/>
          <a:p>
            <a:r>
              <a:rPr lang="en-US" sz="1800" b="1" dirty="0">
                <a:solidFill>
                  <a:schemeClr val="accent1"/>
                </a:solidFill>
              </a:rPr>
              <a:t>TRUE</a:t>
            </a:r>
          </a:p>
        </p:txBody>
      </p:sp>
      <p:graphicFrame>
        <p:nvGraphicFramePr>
          <p:cNvPr id="20" name="Table 19"/>
          <p:cNvGraphicFramePr>
            <a:graphicFrameLocks noGrp="1"/>
          </p:cNvGraphicFramePr>
          <p:nvPr/>
        </p:nvGraphicFramePr>
        <p:xfrm>
          <a:off x="1407433" y="5638767"/>
          <a:ext cx="4544738" cy="455542"/>
        </p:xfrm>
        <a:graphic>
          <a:graphicData uri="http://schemas.openxmlformats.org/drawingml/2006/table">
            <a:tbl>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455542">
                <a:tc>
                  <a:txBody>
                    <a:bodyPr/>
                    <a:lstStyle/>
                    <a:p>
                      <a:pPr algn="ctr" rtl="0" fontAlgn="ctr"/>
                      <a:r>
                        <a:rPr lang="en-US" sz="2400" b="0" i="0" u="none" strike="noStrike" dirty="0">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dirty="0" err="1">
                          <a:solidFill>
                            <a:srgbClr val="000000"/>
                          </a:solidFill>
                          <a:effectLst/>
                          <a:latin typeface="Arial" panose="020B0604020202020204" pitchFamily="34" charset="0"/>
                        </a:rPr>
                        <a:t>jhezane</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dirty="0" err="1">
                          <a:solidFill>
                            <a:srgbClr val="000000"/>
                          </a:solidFill>
                          <a:effectLst/>
                          <a:latin typeface="Arial" panose="020B0604020202020204" pitchFamily="34" charset="0"/>
                        </a:rPr>
                        <a:t>westerling</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4003288136"/>
                  </a:ext>
                </a:extLst>
              </a:tr>
            </a:tbl>
          </a:graphicData>
        </a:graphic>
      </p:graphicFrame>
      <p:graphicFrame>
        <p:nvGraphicFramePr>
          <p:cNvPr id="24" name="Table 23"/>
          <p:cNvGraphicFramePr>
            <a:graphicFrameLocks noGrp="1"/>
          </p:cNvGraphicFramePr>
          <p:nvPr/>
        </p:nvGraphicFramePr>
        <p:xfrm>
          <a:off x="1407433" y="5177143"/>
          <a:ext cx="4544738" cy="455542"/>
        </p:xfrm>
        <a:graphic>
          <a:graphicData uri="http://schemas.openxmlformats.org/drawingml/2006/table">
            <a:tbl>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455542">
                <a:tc>
                  <a:txBody>
                    <a:bodyPr/>
                    <a:lstStyle/>
                    <a:p>
                      <a:pPr algn="ctr" rtl="0" fontAlgn="ctr"/>
                      <a:r>
                        <a:rPr lang="en-US" sz="2400" b="0" i="0" u="none" strike="noStrike" dirty="0">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dirty="0" err="1">
                          <a:solidFill>
                            <a:srgbClr val="000000"/>
                          </a:solidFill>
                          <a:effectLst/>
                          <a:latin typeface="Arial" panose="020B0604020202020204" pitchFamily="34" charset="0"/>
                        </a:rPr>
                        <a:t>alester</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dirty="0">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3563215883"/>
                  </a:ext>
                </a:extLst>
              </a:tr>
            </a:tbl>
          </a:graphicData>
        </a:graphic>
      </p:graphicFrame>
      <p:graphicFrame>
        <p:nvGraphicFramePr>
          <p:cNvPr id="25" name="Table 24"/>
          <p:cNvGraphicFramePr>
            <a:graphicFrameLocks noGrp="1"/>
          </p:cNvGraphicFramePr>
          <p:nvPr/>
        </p:nvGraphicFramePr>
        <p:xfrm>
          <a:off x="1407433" y="4715519"/>
          <a:ext cx="4544738" cy="455542"/>
        </p:xfrm>
        <a:graphic>
          <a:graphicData uri="http://schemas.openxmlformats.org/drawingml/2006/table">
            <a:tbl>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455542">
                <a:tc>
                  <a:txBody>
                    <a:bodyPr/>
                    <a:lstStyle/>
                    <a:p>
                      <a:pPr algn="ctr" rtl="0" fontAlgn="ctr"/>
                      <a:r>
                        <a:rPr lang="en-US" sz="2400" b="0" i="0" u="none" strike="noStrike" dirty="0">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dirty="0" err="1">
                          <a:solidFill>
                            <a:srgbClr val="000000"/>
                          </a:solidFill>
                          <a:effectLst/>
                          <a:latin typeface="Arial" panose="020B0604020202020204" pitchFamily="34" charset="0"/>
                        </a:rPr>
                        <a:t>sarella</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dirty="0">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1843102304"/>
                  </a:ext>
                </a:extLst>
              </a:tr>
            </a:tbl>
          </a:graphicData>
        </a:graphic>
      </p:graphicFrame>
    </p:spTree>
    <p:extLst>
      <p:ext uri="{BB962C8B-B14F-4D97-AF65-F5344CB8AC3E}">
        <p14:creationId xmlns:p14="http://schemas.microsoft.com/office/powerpoint/2010/main" val="166083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1"/>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21" grpId="0"/>
      <p:bldP spid="22" grpId="0"/>
      <p:bldP spid="23"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094283" y="2201670"/>
            <a:ext cx="10415358"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350125" y="2313797"/>
            <a:ext cx="9903673"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err="1">
                <a:solidFill>
                  <a:srgbClr val="0365C0"/>
                </a:solidFill>
                <a:latin typeface="Consolas" panose="020B0609020204030204" pitchFamily="49" charset="0"/>
                <a:ea typeface="Courier New"/>
                <a:cs typeface="Consolas" panose="020B0609020204030204" pitchFamily="49" charset="0"/>
                <a:sym typeface="Courier New"/>
              </a:rPr>
              <a:t>covid_testing</a:t>
            </a:r>
            <a:r>
              <a:rPr lang="en-US" sz="3200" dirty="0">
                <a:solidFill>
                  <a:srgbClr val="0365C0"/>
                </a:solidFill>
                <a:latin typeface="Consolas" panose="020B0609020204030204" pitchFamily="49" charset="0"/>
                <a:ea typeface="Courier New"/>
                <a:cs typeface="Consolas" panose="020B0609020204030204" pitchFamily="49" charset="0"/>
                <a:sym typeface="Courier New"/>
              </a:rPr>
              <a:t>, </a:t>
            </a:r>
            <a:r>
              <a:rPr lang="en-US" sz="3200" dirty="0" err="1">
                <a:solidFill>
                  <a:srgbClr val="9BBB59"/>
                </a:solidFill>
                <a:latin typeface="Consolas" panose="020B0609020204030204" pitchFamily="49" charset="0"/>
                <a:ea typeface="Courier New"/>
                <a:cs typeface="Consolas" panose="020B0609020204030204" pitchFamily="49" charset="0"/>
                <a:sym typeface="Courier New"/>
              </a:rPr>
              <a:t>last_name</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 "stark"</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2" name="Rounded Rectangular Callout 2"/>
          <p:cNvSpPr/>
          <p:nvPr/>
        </p:nvSpPr>
        <p:spPr>
          <a:xfrm rot="10800000" flipH="1">
            <a:off x="8218142" y="578604"/>
            <a:ext cx="3220449" cy="1785377"/>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dirty="0"/>
          </a:p>
        </p:txBody>
      </p:sp>
      <p:sp>
        <p:nvSpPr>
          <p:cNvPr id="18" name="Google Shape;324;p34"/>
          <p:cNvSpPr txBox="1"/>
          <p:nvPr/>
        </p:nvSpPr>
        <p:spPr>
          <a:xfrm>
            <a:off x="8353632" y="666346"/>
            <a:ext cx="2949467" cy="1043052"/>
          </a:xfrm>
          <a:prstGeom prst="rect">
            <a:avLst/>
          </a:prstGeom>
          <a:noFill/>
          <a:ln>
            <a:noFill/>
          </a:ln>
        </p:spPr>
        <p:txBody>
          <a:bodyPr spcFirstLastPara="1" wrap="square" lIns="0" tIns="8504" rIns="0" bIns="0" anchor="t" anchorCtr="0">
            <a:noAutofit/>
          </a:bodyPr>
          <a:lstStyle/>
          <a:p>
            <a:pPr marL="8164" algn="ctr">
              <a:lnSpc>
                <a:spcPct val="116753"/>
              </a:lnSpc>
            </a:pPr>
            <a:r>
              <a:rPr lang="en-US" sz="2062" dirty="0">
                <a:solidFill>
                  <a:schemeClr val="bg1"/>
                </a:solidFill>
                <a:latin typeface="Tw Cen MT" panose="020B0602020104020603" pitchFamily="34" charset="77"/>
                <a:ea typeface="Calibri"/>
                <a:cs typeface="Calibri"/>
                <a:sym typeface="Calibri"/>
              </a:rPr>
              <a:t>Values coded as character strings must be surrounded by quotes</a:t>
            </a:r>
            <a:endParaRPr sz="2062" dirty="0">
              <a:solidFill>
                <a:schemeClr val="bg1"/>
              </a:solidFill>
              <a:latin typeface="Tw Cen MT" panose="020B0602020104020603" pitchFamily="34" charset="77"/>
              <a:ea typeface="Calibri"/>
              <a:cs typeface="Calibri"/>
              <a:sym typeface="Calibri"/>
            </a:endParaRPr>
          </a:p>
        </p:txBody>
      </p:sp>
      <p:cxnSp>
        <p:nvCxnSpPr>
          <p:cNvPr id="19" name="Straight Arrow Connector 18"/>
          <p:cNvCxnSpPr/>
          <p:nvPr/>
        </p:nvCxnSpPr>
        <p:spPr>
          <a:xfrm>
            <a:off x="5856870" y="4327928"/>
            <a:ext cx="548640" cy="0"/>
          </a:xfrm>
          <a:prstGeom prst="straightConnector1">
            <a:avLst/>
          </a:prstGeom>
          <a:ln w="76200">
            <a:solidFill>
              <a:schemeClr val="tx1">
                <a:lumMod val="75000"/>
                <a:lumOff val="25000"/>
              </a:schemeClr>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20" name="Table 19"/>
          <p:cNvGraphicFramePr>
            <a:graphicFrameLocks noGrp="1"/>
          </p:cNvGraphicFramePr>
          <p:nvPr>
            <p:extLst>
              <p:ext uri="{D42A27DB-BD31-4B8C-83A1-F6EECF244321}">
                <p14:modId xmlns:p14="http://schemas.microsoft.com/office/powerpoint/2010/main" val="2954942103"/>
              </p:ext>
            </p:extLst>
          </p:nvPr>
        </p:nvGraphicFramePr>
        <p:xfrm>
          <a:off x="836058" y="3807152"/>
          <a:ext cx="4544738" cy="2729332"/>
        </p:xfrm>
        <a:graphic>
          <a:graphicData uri="http://schemas.openxmlformats.org/drawingml/2006/table">
            <a:tbl>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i="0" u="none" strike="noStrike">
                          <a:solidFill>
                            <a:srgbClr val="FFFFFF"/>
                          </a:solidFill>
                          <a:effectLst/>
                          <a:latin typeface="Arial" panose="020B0604020202020204" pitchFamily="34" charset="0"/>
                        </a:rPr>
                        <a:t>mrn</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2400" b="1" i="0" u="none" strike="noStrike" dirty="0" err="1">
                          <a:solidFill>
                            <a:srgbClr val="FFFFFF"/>
                          </a:solidFill>
                          <a:effectLst/>
                          <a:latin typeface="Arial" panose="020B0604020202020204" pitchFamily="34" charset="0"/>
                        </a:rPr>
                        <a:t>first_name</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2400" b="1" i="0" u="none" strike="noStrike">
                          <a:solidFill>
                            <a:srgbClr val="FFFFFF"/>
                          </a:solidFill>
                          <a:effectLst/>
                          <a:latin typeface="Arial" panose="020B0604020202020204" pitchFamily="34" charset="0"/>
                        </a:rPr>
                        <a:t>last_name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A6A6A6"/>
                    </a:solidFill>
                  </a:tcPr>
                </a:tc>
                <a:extLst>
                  <a:ext uri="{0D108BD9-81ED-4DB2-BD59-A6C34878D82A}">
                    <a16:rowId xmlns:a16="http://schemas.microsoft.com/office/drawing/2014/main" val="2889973772"/>
                  </a:ext>
                </a:extLst>
              </a:tr>
              <a:tr h="455542">
                <a:tc>
                  <a:txBody>
                    <a:bodyPr/>
                    <a:lstStyle/>
                    <a:p>
                      <a:pPr algn="ctr" rtl="0" fontAlgn="ctr"/>
                      <a:r>
                        <a:rPr lang="en-US" sz="2400" b="0" i="0" u="none" strike="noStrike" dirty="0">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a:solidFill>
                            <a:srgbClr val="000000"/>
                          </a:solidFill>
                          <a:effectLst/>
                          <a:latin typeface="Arial" panose="020B0604020202020204" pitchFamily="34" charset="0"/>
                        </a:rPr>
                        <a:t>sarella</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cap="none" dirty="0">
                          <a:solidFill>
                            <a:srgbClr val="000000"/>
                          </a:solidFill>
                          <a:effectLst/>
                          <a:latin typeface="Arial" panose="020B0604020202020204" pitchFamily="34" charset="0"/>
                          <a:ea typeface="+mn-ea"/>
                          <a:cs typeface="+mn-cs"/>
                          <a:sym typeface="Arial"/>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1843102304"/>
                  </a:ext>
                </a:extLst>
              </a:tr>
              <a:tr h="455542">
                <a:tc>
                  <a:txBody>
                    <a:bodyPr/>
                    <a:lstStyle/>
                    <a:p>
                      <a:pPr algn="ctr" rtl="0" fontAlgn="ctr"/>
                      <a:r>
                        <a:rPr lang="en-US" sz="2400" b="0" i="0" u="none" strike="noStrike" dirty="0">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a:solidFill>
                            <a:srgbClr val="000000"/>
                          </a:solidFill>
                          <a:effectLst/>
                          <a:latin typeface="Arial" panose="020B0604020202020204" pitchFamily="34" charset="0"/>
                        </a:rPr>
                        <a:t>alester</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dirty="0">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563215883"/>
                  </a:ext>
                </a:extLst>
              </a:tr>
              <a:tr h="455542">
                <a:tc>
                  <a:txBody>
                    <a:bodyPr/>
                    <a:lstStyle/>
                    <a:p>
                      <a:pPr algn="ctr" rtl="0" fontAlgn="ctr"/>
                      <a:r>
                        <a:rPr lang="en-US" sz="2400" b="0" i="0" u="none" strike="noStrike">
                          <a:solidFill>
                            <a:srgbClr val="000000"/>
                          </a:solidFill>
                          <a:effectLst/>
                          <a:latin typeface="Arial" panose="020B0604020202020204" pitchFamily="34" charset="0"/>
                        </a:rPr>
                        <a:t>5001412</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a:solidFill>
                            <a:srgbClr val="000000"/>
                          </a:solidFill>
                          <a:effectLst/>
                          <a:latin typeface="Arial" panose="020B0604020202020204" pitchFamily="34" charset="0"/>
                        </a:rPr>
                        <a:t>jhezane</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400" b="0" i="0" u="none" strike="noStrike">
                          <a:solidFill>
                            <a:srgbClr val="000000"/>
                          </a:solidFill>
                          <a:effectLst/>
                          <a:latin typeface="Arial" panose="020B0604020202020204" pitchFamily="34" charset="0"/>
                        </a:rPr>
                        <a:t>westerling</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4003288136"/>
                  </a:ext>
                </a:extLst>
              </a:tr>
              <a:tr h="455542">
                <a:tc>
                  <a:txBody>
                    <a:bodyPr/>
                    <a:lstStyle/>
                    <a:p>
                      <a:pPr algn="ctr" rtl="0" fontAlgn="ctr"/>
                      <a:r>
                        <a:rPr lang="en-US" sz="2400" b="0" i="0" u="none" strike="noStrike">
                          <a:solidFill>
                            <a:srgbClr val="000000"/>
                          </a:solidFill>
                          <a:effectLst/>
                          <a:latin typeface="Arial" panose="020B0604020202020204" pitchFamily="34" charset="0"/>
                        </a:rPr>
                        <a:t>5000083</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tc>
                  <a:txBody>
                    <a:bodyPr/>
                    <a:lstStyle/>
                    <a:p>
                      <a:pPr algn="ctr" rtl="0" fontAlgn="ctr"/>
                      <a:r>
                        <a:rPr lang="en-US" sz="2400" b="0" i="0" u="none" strike="noStrike" dirty="0" err="1">
                          <a:solidFill>
                            <a:srgbClr val="000000"/>
                          </a:solidFill>
                          <a:effectLst/>
                          <a:latin typeface="Arial" panose="020B0604020202020204" pitchFamily="34" charset="0"/>
                        </a:rPr>
                        <a:t>lollys</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tc>
                  <a:txBody>
                    <a:bodyPr/>
                    <a:lstStyle/>
                    <a:p>
                      <a:pPr algn="ctr" rtl="0" fontAlgn="ctr"/>
                      <a:r>
                        <a:rPr lang="en-US" sz="2400" b="0" i="0" u="none" strike="noStrike" dirty="0" err="1">
                          <a:solidFill>
                            <a:srgbClr val="000000"/>
                          </a:solidFill>
                          <a:effectLst/>
                          <a:latin typeface="Arial" panose="020B0604020202020204" pitchFamily="34" charset="0"/>
                        </a:rPr>
                        <a:t>clegane</a:t>
                      </a:r>
                      <a:endParaRPr lang="en-US" sz="2400" b="0" i="0" u="none" strike="noStrike" dirty="0">
                        <a:solidFill>
                          <a:srgbClr val="000000"/>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a:noFill/>
                    </a:lnB>
                    <a:solidFill>
                      <a:srgbClr val="D9D9D9"/>
                    </a:solidFill>
                  </a:tcPr>
                </a:tc>
                <a:extLst>
                  <a:ext uri="{0D108BD9-81ED-4DB2-BD59-A6C34878D82A}">
                    <a16:rowId xmlns:a16="http://schemas.microsoft.com/office/drawing/2014/main" val="2004892004"/>
                  </a:ext>
                </a:extLst>
              </a:tr>
            </a:tbl>
          </a:graphicData>
        </a:graphic>
      </p:graphicFrame>
      <p:graphicFrame>
        <p:nvGraphicFramePr>
          <p:cNvPr id="21" name="Table 20"/>
          <p:cNvGraphicFramePr>
            <a:graphicFrameLocks noGrp="1"/>
          </p:cNvGraphicFramePr>
          <p:nvPr>
            <p:extLst>
              <p:ext uri="{D42A27DB-BD31-4B8C-83A1-F6EECF244321}">
                <p14:modId xmlns:p14="http://schemas.microsoft.com/office/powerpoint/2010/main" val="530347027"/>
              </p:ext>
            </p:extLst>
          </p:nvPr>
        </p:nvGraphicFramePr>
        <p:xfrm>
          <a:off x="6987793" y="3807152"/>
          <a:ext cx="4544738" cy="1818248"/>
        </p:xfrm>
        <a:graphic>
          <a:graphicData uri="http://schemas.openxmlformats.org/drawingml/2006/table">
            <a:tbl>
              <a:tblPr/>
              <a:tblGrid>
                <a:gridCol w="1320431">
                  <a:extLst>
                    <a:ext uri="{9D8B030D-6E8A-4147-A177-3AD203B41FA5}">
                      <a16:colId xmlns:a16="http://schemas.microsoft.com/office/drawing/2014/main" val="3642991579"/>
                    </a:ext>
                  </a:extLst>
                </a:gridCol>
                <a:gridCol w="1688923">
                  <a:extLst>
                    <a:ext uri="{9D8B030D-6E8A-4147-A177-3AD203B41FA5}">
                      <a16:colId xmlns:a16="http://schemas.microsoft.com/office/drawing/2014/main" val="1650678772"/>
                    </a:ext>
                  </a:extLst>
                </a:gridCol>
                <a:gridCol w="1535384">
                  <a:extLst>
                    <a:ext uri="{9D8B030D-6E8A-4147-A177-3AD203B41FA5}">
                      <a16:colId xmlns:a16="http://schemas.microsoft.com/office/drawing/2014/main" val="412331866"/>
                    </a:ext>
                  </a:extLst>
                </a:gridCol>
              </a:tblGrid>
              <a:tr h="907164">
                <a:tc>
                  <a:txBody>
                    <a:bodyPr/>
                    <a:lstStyle/>
                    <a:p>
                      <a:pPr algn="ctr" rtl="0" fontAlgn="ctr"/>
                      <a:r>
                        <a:rPr lang="en-US" sz="2400" b="1" i="0" u="none" strike="noStrike" dirty="0" err="1">
                          <a:solidFill>
                            <a:srgbClr val="FFFFFF"/>
                          </a:solidFill>
                          <a:effectLst/>
                          <a:latin typeface="Arial" panose="020B0604020202020204" pitchFamily="34" charset="0"/>
                        </a:rPr>
                        <a:t>mrn</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2400" b="1" i="0" u="none" strike="noStrike" dirty="0" err="1">
                          <a:solidFill>
                            <a:srgbClr val="FFFFFF"/>
                          </a:solidFill>
                          <a:effectLst/>
                          <a:latin typeface="Arial" panose="020B0604020202020204" pitchFamily="34" charset="0"/>
                        </a:rPr>
                        <a:t>first_name</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2400" b="1" i="0" u="none" strike="noStrike" dirty="0" err="1">
                          <a:solidFill>
                            <a:srgbClr val="FFFFFF"/>
                          </a:solidFill>
                          <a:effectLst/>
                          <a:latin typeface="Arial" panose="020B0604020202020204" pitchFamily="34" charset="0"/>
                        </a:rPr>
                        <a:t>last_name</a:t>
                      </a:r>
                      <a:endParaRPr lang="en-US" sz="2400" b="1" i="0" u="none" strike="noStrike" dirty="0">
                        <a:solidFill>
                          <a:srgbClr val="FFFFFF"/>
                        </a:solidFill>
                        <a:effectLst/>
                        <a:latin typeface="Arial" panose="020B0604020202020204" pitchFamily="34" charset="0"/>
                      </a:endParaRP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a:noFill/>
                    </a:lnT>
                    <a:lnB w="19050" cap="flat" cmpd="sng" algn="ctr">
                      <a:solidFill>
                        <a:srgbClr val="FFFFFF"/>
                      </a:solidFill>
                      <a:prstDash val="solid"/>
                      <a:round/>
                      <a:headEnd type="none" w="med" len="med"/>
                      <a:tailEnd type="none" w="med" len="med"/>
                    </a:lnB>
                    <a:solidFill>
                      <a:srgbClr val="A6A6A6"/>
                    </a:solidFill>
                  </a:tcPr>
                </a:tc>
                <a:extLst>
                  <a:ext uri="{0D108BD9-81ED-4DB2-BD59-A6C34878D82A}">
                    <a16:rowId xmlns:a16="http://schemas.microsoft.com/office/drawing/2014/main" val="2889973772"/>
                  </a:ext>
                </a:extLst>
              </a:tr>
              <a:tr h="455542">
                <a:tc>
                  <a:txBody>
                    <a:bodyPr/>
                    <a:lstStyle/>
                    <a:p>
                      <a:pPr algn="ctr" rtl="0" fontAlgn="ctr"/>
                      <a:r>
                        <a:rPr lang="en-US" sz="2400" b="0" i="0" u="none" strike="noStrike">
                          <a:solidFill>
                            <a:srgbClr val="000000"/>
                          </a:solidFill>
                          <a:effectLst/>
                          <a:latin typeface="Arial" panose="020B0604020202020204" pitchFamily="34" charset="0"/>
                        </a:rPr>
                        <a:t>5000876</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a:solidFill>
                            <a:srgbClr val="000000"/>
                          </a:solidFill>
                          <a:effectLst/>
                          <a:latin typeface="Arial" panose="020B0604020202020204" pitchFamily="34" charset="0"/>
                        </a:rPr>
                        <a:t>sarella</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cap="none" dirty="0">
                          <a:solidFill>
                            <a:srgbClr val="000000"/>
                          </a:solidFill>
                          <a:effectLst/>
                          <a:latin typeface="Arial" panose="020B0604020202020204" pitchFamily="34" charset="0"/>
                          <a:ea typeface="+mn-ea"/>
                          <a:cs typeface="+mn-cs"/>
                          <a:sym typeface="Arial"/>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1843102304"/>
                  </a:ext>
                </a:extLst>
              </a:tr>
              <a:tr h="455542">
                <a:tc>
                  <a:txBody>
                    <a:bodyPr/>
                    <a:lstStyle/>
                    <a:p>
                      <a:pPr algn="ctr" rtl="0" fontAlgn="ctr"/>
                      <a:r>
                        <a:rPr lang="en-US" sz="2400" b="0" i="0" u="none" strike="noStrike">
                          <a:solidFill>
                            <a:srgbClr val="000000"/>
                          </a:solidFill>
                          <a:effectLst/>
                          <a:latin typeface="Arial" panose="020B0604020202020204" pitchFamily="34" charset="0"/>
                        </a:rPr>
                        <a:t>5006017</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a:solidFill>
                            <a:srgbClr val="000000"/>
                          </a:solidFill>
                          <a:effectLst/>
                          <a:latin typeface="Arial" panose="020B0604020202020204" pitchFamily="34" charset="0"/>
                        </a:rPr>
                        <a:t>alester</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tc>
                  <a:txBody>
                    <a:bodyPr/>
                    <a:lstStyle/>
                    <a:p>
                      <a:pPr algn="ctr" rtl="0" fontAlgn="ctr"/>
                      <a:r>
                        <a:rPr lang="en-US" sz="2400" b="0" i="0" u="none" strike="noStrike" dirty="0">
                          <a:solidFill>
                            <a:srgbClr val="000000"/>
                          </a:solidFill>
                          <a:effectLst/>
                          <a:latin typeface="Arial" panose="020B0604020202020204" pitchFamily="34" charset="0"/>
                        </a:rPr>
                        <a:t>stark</a:t>
                      </a:r>
                    </a:p>
                  </a:txBody>
                  <a:tcPr marL="3175" marR="3175" marT="3175" marB="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3563215883"/>
                  </a:ext>
                </a:extLst>
              </a:tr>
            </a:tbl>
          </a:graphicData>
        </a:graphic>
      </p:graphicFrame>
      <p:sp>
        <p:nvSpPr>
          <p:cNvPr id="22" name="Rectangle 21"/>
          <p:cNvSpPr/>
          <p:nvPr/>
        </p:nvSpPr>
        <p:spPr>
          <a:xfrm>
            <a:off x="5380798" y="4794362"/>
            <a:ext cx="813043" cy="369332"/>
          </a:xfrm>
          <a:prstGeom prst="rect">
            <a:avLst/>
          </a:prstGeom>
        </p:spPr>
        <p:txBody>
          <a:bodyPr wrap="none">
            <a:spAutoFit/>
          </a:bodyPr>
          <a:lstStyle/>
          <a:p>
            <a:r>
              <a:rPr lang="en-US" sz="1800" b="1" dirty="0">
                <a:solidFill>
                  <a:schemeClr val="accent1"/>
                </a:solidFill>
              </a:rPr>
              <a:t>TRUE</a:t>
            </a:r>
            <a:endParaRPr lang="en-US" sz="1800" b="1" dirty="0">
              <a:solidFill>
                <a:srgbClr val="A6A6A6"/>
              </a:solidFill>
            </a:endParaRPr>
          </a:p>
        </p:txBody>
      </p:sp>
      <p:sp>
        <p:nvSpPr>
          <p:cNvPr id="23" name="Rectangle 22"/>
          <p:cNvSpPr/>
          <p:nvPr/>
        </p:nvSpPr>
        <p:spPr>
          <a:xfrm>
            <a:off x="5380797" y="5251959"/>
            <a:ext cx="813043" cy="369332"/>
          </a:xfrm>
          <a:prstGeom prst="rect">
            <a:avLst/>
          </a:prstGeom>
        </p:spPr>
        <p:txBody>
          <a:bodyPr wrap="none">
            <a:spAutoFit/>
          </a:bodyPr>
          <a:lstStyle/>
          <a:p>
            <a:r>
              <a:rPr lang="en-US" sz="1800" b="1" dirty="0">
                <a:solidFill>
                  <a:schemeClr val="accent1"/>
                </a:solidFill>
              </a:rPr>
              <a:t>TRUE</a:t>
            </a:r>
            <a:endParaRPr lang="en-US" sz="1800" b="1" dirty="0">
              <a:solidFill>
                <a:srgbClr val="A6A6A6"/>
              </a:solidFill>
            </a:endParaRPr>
          </a:p>
        </p:txBody>
      </p:sp>
      <p:sp>
        <p:nvSpPr>
          <p:cNvPr id="24" name="Rectangle 23"/>
          <p:cNvSpPr/>
          <p:nvPr/>
        </p:nvSpPr>
        <p:spPr>
          <a:xfrm>
            <a:off x="5380796" y="5709556"/>
            <a:ext cx="941283" cy="369332"/>
          </a:xfrm>
          <a:prstGeom prst="rect">
            <a:avLst/>
          </a:prstGeom>
        </p:spPr>
        <p:txBody>
          <a:bodyPr wrap="none">
            <a:spAutoFit/>
          </a:bodyPr>
          <a:lstStyle/>
          <a:p>
            <a:r>
              <a:rPr lang="en-US" sz="1800" b="1" dirty="0">
                <a:solidFill>
                  <a:srgbClr val="A6A6A6"/>
                </a:solidFill>
              </a:rPr>
              <a:t>FALSE</a:t>
            </a:r>
          </a:p>
        </p:txBody>
      </p:sp>
      <p:sp>
        <p:nvSpPr>
          <p:cNvPr id="25" name="Rectangle 24"/>
          <p:cNvSpPr/>
          <p:nvPr/>
        </p:nvSpPr>
        <p:spPr>
          <a:xfrm>
            <a:off x="5410532" y="6167152"/>
            <a:ext cx="941283" cy="369332"/>
          </a:xfrm>
          <a:prstGeom prst="rect">
            <a:avLst/>
          </a:prstGeom>
        </p:spPr>
        <p:txBody>
          <a:bodyPr wrap="square">
            <a:spAutoFit/>
          </a:bodyPr>
          <a:lstStyle/>
          <a:p>
            <a:r>
              <a:rPr lang="en-US" sz="1800" b="1" dirty="0">
                <a:solidFill>
                  <a:srgbClr val="A6A6A6"/>
                </a:solidFill>
              </a:rPr>
              <a:t>FALSE</a:t>
            </a:r>
          </a:p>
        </p:txBody>
      </p:sp>
    </p:spTree>
    <p:extLst>
      <p:ext uri="{BB962C8B-B14F-4D97-AF65-F5344CB8AC3E}">
        <p14:creationId xmlns:p14="http://schemas.microsoft.com/office/powerpoint/2010/main" val="13452237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3" name="Google Shape;131;p17"/>
          <p:cNvSpPr/>
          <p:nvPr/>
        </p:nvSpPr>
        <p:spPr>
          <a:xfrm>
            <a:off x="1758718" y="2201670"/>
            <a:ext cx="8869680" cy="809030"/>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970276" y="2313797"/>
            <a:ext cx="6965368" cy="584775"/>
          </a:xfrm>
          <a:prstGeom prst="rect">
            <a:avLst/>
          </a:prstGeom>
        </p:spPr>
        <p:txBody>
          <a:bodyPr wrap="none">
            <a:spAutoFit/>
          </a:bodyPr>
          <a:lstStyle/>
          <a:p>
            <a:r>
              <a:rPr lang="en-US" sz="3200" dirty="0">
                <a:latin typeface="Consolas" panose="020B0609020204030204" pitchFamily="49" charset="0"/>
                <a:ea typeface="Courier New"/>
                <a:cs typeface="Consolas" panose="020B0609020204030204" pitchFamily="49" charset="0"/>
                <a:sym typeface="Courier New"/>
              </a:rPr>
              <a:t>filter(</a:t>
            </a:r>
            <a:r>
              <a:rPr lang="en-US" sz="3200" dirty="0">
                <a:solidFill>
                  <a:srgbClr val="0365C0"/>
                </a:solidFill>
                <a:latin typeface="Consolas" panose="020B0609020204030204" pitchFamily="49" charset="0"/>
                <a:ea typeface="Courier New"/>
                <a:cs typeface="Consolas" panose="020B0609020204030204" pitchFamily="49" charset="0"/>
                <a:sym typeface="Courier New"/>
              </a:rPr>
              <a:t>data,</a:t>
            </a:r>
            <a:r>
              <a:rPr lang="en-US" sz="3200" dirty="0">
                <a:solidFill>
                  <a:srgbClr val="9BBB59"/>
                </a:solidFill>
                <a:latin typeface="Consolas" panose="020B0609020204030204" pitchFamily="49" charset="0"/>
                <a:ea typeface="Courier New"/>
                <a:cs typeface="Consolas" panose="020B0609020204030204" pitchFamily="49" charset="0"/>
                <a:sym typeface="Courier New"/>
              </a:rPr>
              <a:t>...              </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2" name="Google Shape;138;p17"/>
          <p:cNvSpPr txBox="1"/>
          <p:nvPr/>
        </p:nvSpPr>
        <p:spPr>
          <a:xfrm>
            <a:off x="1762309" y="3800330"/>
            <a:ext cx="2327721" cy="1143810"/>
          </a:xfrm>
          <a:prstGeom prst="rect">
            <a:avLst/>
          </a:prstGeom>
          <a:noFill/>
          <a:ln>
            <a:noFill/>
          </a:ln>
        </p:spPr>
        <p:txBody>
          <a:bodyPr spcFirstLastPara="1" wrap="square" lIns="0" tIns="32652" rIns="0" bIns="0" anchor="t" anchorCtr="0">
            <a:noAutofit/>
          </a:bodyPr>
          <a:lstStyle/>
          <a:p>
            <a:pPr marL="208524" marR="2721" indent="-202061">
              <a:lnSpc>
                <a:spcPct val="113506"/>
              </a:lnSpc>
            </a:pPr>
            <a:r>
              <a:rPr lang="en-US" sz="2800" b="1" dirty="0">
                <a:solidFill>
                  <a:srgbClr val="FFFFFF"/>
                </a:solidFill>
                <a:latin typeface="+mj-lt"/>
                <a:ea typeface="Trebuchet MS"/>
                <a:cs typeface="Trebuchet MS"/>
                <a:sym typeface="Trebuchet MS"/>
              </a:rPr>
              <a:t>data frame to transform</a:t>
            </a:r>
            <a:endParaRPr sz="2800" dirty="0">
              <a:latin typeface="+mj-lt"/>
              <a:ea typeface="Trebuchet MS"/>
              <a:cs typeface="Trebuchet MS"/>
              <a:sym typeface="Trebuchet MS"/>
            </a:endParaRPr>
          </a:p>
        </p:txBody>
      </p:sp>
      <p:sp>
        <p:nvSpPr>
          <p:cNvPr id="2" name="Rounded Rectangle 1"/>
          <p:cNvSpPr/>
          <p:nvPr/>
        </p:nvSpPr>
        <p:spPr>
          <a:xfrm>
            <a:off x="4738686" y="2345004"/>
            <a:ext cx="3731544" cy="566814"/>
          </a:xfrm>
          <a:prstGeom prst="roundRect">
            <a:avLst/>
          </a:prstGeom>
          <a:solidFill>
            <a:srgbClr val="A0C283">
              <a:alpha val="81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Google Shape;293;p32">
            <a:extLst>
              <a:ext uri="{FF2B5EF4-FFF2-40B4-BE49-F238E27FC236}">
                <a16:creationId xmlns:a16="http://schemas.microsoft.com/office/drawing/2014/main" id="{0BFC7DE2-F9C5-0241-960E-92D9261693E3}"/>
              </a:ext>
            </a:extLst>
          </p:cNvPr>
          <p:cNvSpPr txBox="1">
            <a:spLocks noGrp="1"/>
          </p:cNvSpPr>
          <p:nvPr>
            <p:ph type="title"/>
          </p:nvPr>
        </p:nvSpPr>
        <p:spPr>
          <a:xfrm>
            <a:off x="1064973" y="684400"/>
            <a:ext cx="10238190" cy="777536"/>
          </a:xfrm>
          <a:prstGeom prst="rect">
            <a:avLst/>
          </a:prstGeom>
          <a:noFill/>
          <a:ln>
            <a:noFill/>
          </a:ln>
        </p:spPr>
        <p:txBody>
          <a:bodyPr spcFirstLastPara="1" wrap="square" lIns="0" tIns="6455" rIns="0" bIns="0" anchor="t" anchorCtr="0">
            <a:noAutofit/>
          </a:bodyPr>
          <a:lstStyle/>
          <a:p>
            <a:pPr marL="6803" algn="ctr"/>
            <a:r>
              <a:rPr lang="en-US" dirty="0">
                <a:solidFill>
                  <a:srgbClr val="000000"/>
                </a:solidFill>
                <a:latin typeface="Consolas" panose="020B0609020204030204" pitchFamily="49" charset="0"/>
              </a:rPr>
              <a:t>filter()</a:t>
            </a:r>
            <a:endParaRPr dirty="0">
              <a:latin typeface="Consolas" panose="020B0609020204030204" pitchFamily="49" charset="0"/>
            </a:endParaRPr>
          </a:p>
        </p:txBody>
      </p:sp>
      <p:sp>
        <p:nvSpPr>
          <p:cNvPr id="21" name="Google Shape;296;p32">
            <a:extLst>
              <a:ext uri="{FF2B5EF4-FFF2-40B4-BE49-F238E27FC236}">
                <a16:creationId xmlns:a16="http://schemas.microsoft.com/office/drawing/2014/main" id="{8EFE896B-FF86-7149-A4EC-8B4459782E54}"/>
              </a:ext>
            </a:extLst>
          </p:cNvPr>
          <p:cNvSpPr txBox="1"/>
          <p:nvPr/>
        </p:nvSpPr>
        <p:spPr>
          <a:xfrm>
            <a:off x="2979673" y="1702714"/>
            <a:ext cx="6232654" cy="575928"/>
          </a:xfrm>
          <a:prstGeom prst="rect">
            <a:avLst/>
          </a:prstGeom>
          <a:noFill/>
          <a:ln>
            <a:noFill/>
          </a:ln>
        </p:spPr>
        <p:txBody>
          <a:bodyPr spcFirstLastPara="1" wrap="square" lIns="0" tIns="6455" rIns="0" bIns="0" anchor="t" anchorCtr="0">
            <a:noAutofit/>
          </a:bodyPr>
          <a:lstStyle/>
          <a:p>
            <a:pPr marL="6803" algn="ctr"/>
            <a:r>
              <a:rPr lang="en-US" sz="2800" dirty="0">
                <a:latin typeface="Tw Cen MT" panose="020B0602020104020603" pitchFamily="34" charset="77"/>
                <a:ea typeface="Calibri"/>
                <a:cs typeface="Calibri"/>
                <a:sym typeface="Calibri"/>
              </a:rPr>
              <a:t>Extract rows that meet logical criteria</a:t>
            </a:r>
            <a:endParaRPr sz="2800" dirty="0">
              <a:latin typeface="Tw Cen MT" panose="020B0602020104020603" pitchFamily="34" charset="77"/>
              <a:ea typeface="Calibri"/>
              <a:cs typeface="Calibri"/>
              <a:sym typeface="Calibri"/>
            </a:endParaRPr>
          </a:p>
        </p:txBody>
      </p:sp>
      <p:sp>
        <p:nvSpPr>
          <p:cNvPr id="24" name="Google Shape;137;p17">
            <a:extLst>
              <a:ext uri="{FF2B5EF4-FFF2-40B4-BE49-F238E27FC236}">
                <a16:creationId xmlns:a16="http://schemas.microsoft.com/office/drawing/2014/main" id="{DE9195D9-4628-1E48-8ADC-30C473FB5DED}"/>
              </a:ext>
            </a:extLst>
          </p:cNvPr>
          <p:cNvSpPr/>
          <p:nvPr/>
        </p:nvSpPr>
        <p:spPr>
          <a:xfrm>
            <a:off x="1632769" y="2880611"/>
            <a:ext cx="246229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25" name="Google Shape;138;p17">
            <a:extLst>
              <a:ext uri="{FF2B5EF4-FFF2-40B4-BE49-F238E27FC236}">
                <a16:creationId xmlns:a16="http://schemas.microsoft.com/office/drawing/2014/main" id="{473F8901-62F3-D74C-8DC4-414590EE655A}"/>
              </a:ext>
            </a:extLst>
          </p:cNvPr>
          <p:cNvSpPr txBox="1"/>
          <p:nvPr/>
        </p:nvSpPr>
        <p:spPr>
          <a:xfrm>
            <a:off x="1632770" y="3807544"/>
            <a:ext cx="2453670" cy="1030077"/>
          </a:xfrm>
          <a:prstGeom prst="rect">
            <a:avLst/>
          </a:prstGeom>
          <a:noFill/>
          <a:ln>
            <a:noFill/>
          </a:ln>
        </p:spPr>
        <p:txBody>
          <a:bodyPr spcFirstLastPara="1" wrap="square" lIns="0" tIns="32652" rIns="0" bIns="0" anchor="t" anchorCtr="0">
            <a:noAutofit/>
          </a:bodyPr>
          <a:lstStyle/>
          <a:p>
            <a:pPr marL="208524" marR="2721" indent="-202061" algn="ctr">
              <a:lnSpc>
                <a:spcPct val="113506"/>
              </a:lnSpc>
            </a:pPr>
            <a:r>
              <a:rPr lang="en-US" sz="2800" dirty="0">
                <a:solidFill>
                  <a:srgbClr val="FFFFFF"/>
                </a:solidFill>
                <a:latin typeface="Tw Cen MT" panose="020B0602020104020603" pitchFamily="34" charset="77"/>
                <a:ea typeface="Trebuchet MS"/>
                <a:cs typeface="Trebuchet MS"/>
                <a:sym typeface="Trebuchet MS"/>
              </a:rPr>
              <a:t>data frame to transform</a:t>
            </a:r>
            <a:endParaRPr sz="2800" dirty="0">
              <a:latin typeface="Tw Cen MT" panose="020B0602020104020603" pitchFamily="34" charset="77"/>
              <a:ea typeface="Trebuchet MS"/>
              <a:cs typeface="Trebuchet MS"/>
              <a:sym typeface="Trebuchet MS"/>
            </a:endParaRPr>
          </a:p>
        </p:txBody>
      </p:sp>
      <p:sp>
        <p:nvSpPr>
          <p:cNvPr id="26" name="Google Shape;297;p32">
            <a:extLst>
              <a:ext uri="{FF2B5EF4-FFF2-40B4-BE49-F238E27FC236}">
                <a16:creationId xmlns:a16="http://schemas.microsoft.com/office/drawing/2014/main" id="{01E83779-7886-B042-8282-A119F0DA5B19}"/>
              </a:ext>
            </a:extLst>
          </p:cNvPr>
          <p:cNvSpPr/>
          <p:nvPr/>
        </p:nvSpPr>
        <p:spPr>
          <a:xfrm>
            <a:off x="4695596" y="2799128"/>
            <a:ext cx="4682084" cy="2235235"/>
          </a:xfrm>
          <a:custGeom>
            <a:avLst/>
            <a:gdLst/>
            <a:ahLst/>
            <a:cxnLst/>
            <a:rect l="l" t="t" r="r" b="b"/>
            <a:pathLst>
              <a:path w="5965190" h="3684270" extrusionOk="0">
                <a:moveTo>
                  <a:pt x="5608470" y="1066067"/>
                </a:moveTo>
                <a:lnTo>
                  <a:pt x="356337" y="1066067"/>
                </a:lnTo>
                <a:lnTo>
                  <a:pt x="307986" y="1069320"/>
                </a:lnTo>
                <a:lnTo>
                  <a:pt x="261611" y="1078796"/>
                </a:lnTo>
                <a:lnTo>
                  <a:pt x="217637" y="1094070"/>
                </a:lnTo>
                <a:lnTo>
                  <a:pt x="176489" y="1114718"/>
                </a:lnTo>
                <a:lnTo>
                  <a:pt x="138592" y="1140315"/>
                </a:lnTo>
                <a:lnTo>
                  <a:pt x="104371" y="1170437"/>
                </a:lnTo>
                <a:lnTo>
                  <a:pt x="74249" y="1204659"/>
                </a:lnTo>
                <a:lnTo>
                  <a:pt x="48651" y="1242556"/>
                </a:lnTo>
                <a:lnTo>
                  <a:pt x="28003" y="1283703"/>
                </a:lnTo>
                <a:lnTo>
                  <a:pt x="12729" y="1327677"/>
                </a:lnTo>
                <a:lnTo>
                  <a:pt x="3253" y="1374052"/>
                </a:lnTo>
                <a:lnTo>
                  <a:pt x="0" y="1422403"/>
                </a:lnTo>
                <a:lnTo>
                  <a:pt x="0" y="3327450"/>
                </a:lnTo>
                <a:lnTo>
                  <a:pt x="3253" y="3375802"/>
                </a:lnTo>
                <a:lnTo>
                  <a:pt x="12729" y="3422177"/>
                </a:lnTo>
                <a:lnTo>
                  <a:pt x="28003" y="3466150"/>
                </a:lnTo>
                <a:lnTo>
                  <a:pt x="48651" y="3507298"/>
                </a:lnTo>
                <a:lnTo>
                  <a:pt x="74249" y="3545195"/>
                </a:lnTo>
                <a:lnTo>
                  <a:pt x="104371" y="3579417"/>
                </a:lnTo>
                <a:lnTo>
                  <a:pt x="138592" y="3609539"/>
                </a:lnTo>
                <a:lnTo>
                  <a:pt x="176489" y="3635136"/>
                </a:lnTo>
                <a:lnTo>
                  <a:pt x="217637" y="3655784"/>
                </a:lnTo>
                <a:lnTo>
                  <a:pt x="261611" y="3671059"/>
                </a:lnTo>
                <a:lnTo>
                  <a:pt x="307986" y="3680535"/>
                </a:lnTo>
                <a:lnTo>
                  <a:pt x="356337" y="3683788"/>
                </a:lnTo>
                <a:lnTo>
                  <a:pt x="5608470" y="3683788"/>
                </a:lnTo>
                <a:lnTo>
                  <a:pt x="5656820" y="3680535"/>
                </a:lnTo>
                <a:lnTo>
                  <a:pt x="5703195" y="3671058"/>
                </a:lnTo>
                <a:lnTo>
                  <a:pt x="5747168" y="3655784"/>
                </a:lnTo>
                <a:lnTo>
                  <a:pt x="5788315" y="3635136"/>
                </a:lnTo>
                <a:lnTo>
                  <a:pt x="5826212" y="3609538"/>
                </a:lnTo>
                <a:lnTo>
                  <a:pt x="5860433" y="3579416"/>
                </a:lnTo>
                <a:lnTo>
                  <a:pt x="5890555" y="3545195"/>
                </a:lnTo>
                <a:lnTo>
                  <a:pt x="5916152" y="3507298"/>
                </a:lnTo>
                <a:lnTo>
                  <a:pt x="5936801" y="3466150"/>
                </a:lnTo>
                <a:lnTo>
                  <a:pt x="5952075" y="3422177"/>
                </a:lnTo>
                <a:lnTo>
                  <a:pt x="5961551" y="3375802"/>
                </a:lnTo>
                <a:lnTo>
                  <a:pt x="5964804" y="3327450"/>
                </a:lnTo>
                <a:lnTo>
                  <a:pt x="5964804" y="1422403"/>
                </a:lnTo>
                <a:lnTo>
                  <a:pt x="5961551" y="1374052"/>
                </a:lnTo>
                <a:lnTo>
                  <a:pt x="5952075" y="1327677"/>
                </a:lnTo>
                <a:lnTo>
                  <a:pt x="5936801" y="1283703"/>
                </a:lnTo>
                <a:lnTo>
                  <a:pt x="5916152" y="1242556"/>
                </a:lnTo>
                <a:lnTo>
                  <a:pt x="5890555" y="1204659"/>
                </a:lnTo>
                <a:lnTo>
                  <a:pt x="5860433" y="1170437"/>
                </a:lnTo>
                <a:lnTo>
                  <a:pt x="5826212" y="1140315"/>
                </a:lnTo>
                <a:lnTo>
                  <a:pt x="5788315" y="1114718"/>
                </a:lnTo>
                <a:lnTo>
                  <a:pt x="5747168" y="1094070"/>
                </a:lnTo>
                <a:lnTo>
                  <a:pt x="5703195" y="1078796"/>
                </a:lnTo>
                <a:lnTo>
                  <a:pt x="5656820" y="1069320"/>
                </a:lnTo>
                <a:lnTo>
                  <a:pt x="5608470" y="1066067"/>
                </a:lnTo>
                <a:close/>
              </a:path>
              <a:path w="5965190" h="3684270" extrusionOk="0">
                <a:moveTo>
                  <a:pt x="708093" y="0"/>
                </a:moveTo>
                <a:lnTo>
                  <a:pt x="603384" y="1066067"/>
                </a:lnTo>
                <a:lnTo>
                  <a:pt x="812802" y="1066067"/>
                </a:lnTo>
                <a:lnTo>
                  <a:pt x="708093" y="0"/>
                </a:lnTo>
                <a:close/>
              </a:path>
            </a:pathLst>
          </a:custGeom>
          <a:solidFill>
            <a:srgbClr val="A0C283"/>
          </a:solidFill>
          <a:ln>
            <a:noFill/>
          </a:ln>
        </p:spPr>
        <p:txBody>
          <a:bodyPr spcFirstLastPara="1" wrap="square" lIns="0" tIns="0" rIns="0" bIns="0" anchor="t" anchorCtr="0">
            <a:noAutofit/>
          </a:bodyPr>
          <a:lstStyle/>
          <a:p>
            <a:endParaRPr sz="964"/>
          </a:p>
        </p:txBody>
      </p:sp>
      <p:sp>
        <p:nvSpPr>
          <p:cNvPr id="27" name="Google Shape;298;p32">
            <a:extLst>
              <a:ext uri="{FF2B5EF4-FFF2-40B4-BE49-F238E27FC236}">
                <a16:creationId xmlns:a16="http://schemas.microsoft.com/office/drawing/2014/main" id="{B12DF307-B450-5944-A93E-6C5381EC0FA6}"/>
              </a:ext>
            </a:extLst>
          </p:cNvPr>
          <p:cNvSpPr txBox="1"/>
          <p:nvPr/>
        </p:nvSpPr>
        <p:spPr>
          <a:xfrm>
            <a:off x="4690561" y="3496029"/>
            <a:ext cx="4682084" cy="1538333"/>
          </a:xfrm>
          <a:prstGeom prst="rect">
            <a:avLst/>
          </a:prstGeom>
          <a:noFill/>
          <a:ln>
            <a:noFill/>
          </a:ln>
        </p:spPr>
        <p:txBody>
          <a:bodyPr spcFirstLastPara="1" wrap="square" lIns="0" tIns="32652" rIns="0" bIns="0" anchor="t" anchorCtr="0">
            <a:noAutofit/>
          </a:bodyPr>
          <a:lstStyle/>
          <a:p>
            <a:pPr marL="6803" marR="2721" indent="-1360" algn="ctr">
              <a:lnSpc>
                <a:spcPct val="113506"/>
              </a:lnSpc>
            </a:pPr>
            <a:r>
              <a:rPr lang="en-US" sz="2800" dirty="0">
                <a:solidFill>
                  <a:srgbClr val="FFFFFF"/>
                </a:solidFill>
                <a:latin typeface="Tw Cen MT" panose="020B0602020104020603" pitchFamily="34" charset="77"/>
                <a:ea typeface="Trebuchet MS"/>
                <a:cs typeface="Trebuchet MS"/>
                <a:sym typeface="Trebuchet MS"/>
              </a:rPr>
              <a:t>logical test </a:t>
            </a:r>
          </a:p>
          <a:p>
            <a:pPr marL="6803" marR="2721" indent="-1360" algn="ctr">
              <a:lnSpc>
                <a:spcPct val="113506"/>
              </a:lnSpc>
            </a:pPr>
            <a:r>
              <a:rPr lang="en-US" sz="2400" dirty="0">
                <a:solidFill>
                  <a:srgbClr val="FFFFFF"/>
                </a:solidFill>
                <a:latin typeface="Tw Cen MT" panose="020B0602020104020603" pitchFamily="34" charset="77"/>
                <a:ea typeface="Calibri"/>
                <a:cs typeface="Calibri"/>
                <a:sym typeface="Calibri"/>
              </a:rPr>
              <a:t>(return each row where </a:t>
            </a:r>
          </a:p>
          <a:p>
            <a:pPr marL="6803" marR="2721" indent="-1360" algn="ctr">
              <a:lnSpc>
                <a:spcPct val="113506"/>
              </a:lnSpc>
            </a:pPr>
            <a:r>
              <a:rPr lang="en-US" sz="2400" dirty="0">
                <a:solidFill>
                  <a:srgbClr val="FFFFFF"/>
                </a:solidFill>
                <a:latin typeface="Tw Cen MT" panose="020B0602020104020603" pitchFamily="34" charset="77"/>
                <a:ea typeface="Calibri"/>
                <a:cs typeface="Calibri"/>
                <a:sym typeface="Calibri"/>
              </a:rPr>
              <a:t>the test is TRUE)</a:t>
            </a:r>
            <a:endParaRPr sz="2400" dirty="0">
              <a:latin typeface="Tw Cen MT" panose="020B0602020104020603" pitchFamily="34" charset="77"/>
              <a:ea typeface="Calibri"/>
              <a:cs typeface="Calibri"/>
              <a:sym typeface="Calibri"/>
            </a:endParaRPr>
          </a:p>
        </p:txBody>
      </p:sp>
    </p:spTree>
    <p:extLst>
      <p:ext uri="{BB962C8B-B14F-4D97-AF65-F5344CB8AC3E}">
        <p14:creationId xmlns:p14="http://schemas.microsoft.com/office/powerpoint/2010/main" val="1745558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0"/>
        <p:cNvGrpSpPr/>
        <p:nvPr/>
      </p:nvGrpSpPr>
      <p:grpSpPr>
        <a:xfrm>
          <a:off x="0" y="0"/>
          <a:ext cx="0" cy="0"/>
          <a:chOff x="0" y="0"/>
          <a:chExt cx="0" cy="0"/>
        </a:xfrm>
      </p:grpSpPr>
      <p:sp>
        <p:nvSpPr>
          <p:cNvPr id="342" name="Google Shape;342;p36"/>
          <p:cNvSpPr txBox="1">
            <a:spLocks noGrp="1"/>
          </p:cNvSpPr>
          <p:nvPr>
            <p:ph type="title"/>
          </p:nvPr>
        </p:nvSpPr>
        <p:spPr>
          <a:xfrm>
            <a:off x="4323129" y="671341"/>
            <a:ext cx="3535721"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rPr>
              <a:t>Logical tests</a:t>
            </a:r>
            <a:endParaRPr dirty="0"/>
          </a:p>
        </p:txBody>
      </p:sp>
      <p:graphicFrame>
        <p:nvGraphicFramePr>
          <p:cNvPr id="344" name="Google Shape;344;p36"/>
          <p:cNvGraphicFramePr/>
          <p:nvPr>
            <p:extLst>
              <p:ext uri="{D42A27DB-BD31-4B8C-83A1-F6EECF244321}">
                <p14:modId xmlns:p14="http://schemas.microsoft.com/office/powerpoint/2010/main" val="1079566897"/>
              </p:ext>
            </p:extLst>
          </p:nvPr>
        </p:nvGraphicFramePr>
        <p:xfrm>
          <a:off x="2456539" y="2214484"/>
          <a:ext cx="7268900" cy="3527500"/>
        </p:xfrm>
        <a:graphic>
          <a:graphicData uri="http://schemas.openxmlformats.org/drawingml/2006/table">
            <a:tbl>
              <a:tblPr firstRow="1" bandRow="1">
                <a:noFill/>
              </a:tblPr>
              <a:tblGrid>
                <a:gridCol w="2366752">
                  <a:extLst>
                    <a:ext uri="{9D8B030D-6E8A-4147-A177-3AD203B41FA5}">
                      <a16:colId xmlns:a16="http://schemas.microsoft.com/office/drawing/2014/main" val="20000"/>
                    </a:ext>
                  </a:extLst>
                </a:gridCol>
                <a:gridCol w="4902148">
                  <a:extLst>
                    <a:ext uri="{9D8B030D-6E8A-4147-A177-3AD203B41FA5}">
                      <a16:colId xmlns:a16="http://schemas.microsoft.com/office/drawing/2014/main" val="20001"/>
                    </a:ext>
                  </a:extLst>
                </a:gridCol>
              </a:tblGrid>
              <a:tr h="427339">
                <a:tc>
                  <a:txBody>
                    <a:bodyPr/>
                    <a:lstStyle/>
                    <a:p>
                      <a:pPr marL="12700" marR="0" lvl="0" indent="0" algn="ctr" rtl="0">
                        <a:lnSpc>
                          <a:spcPct val="100000"/>
                        </a:lnSpc>
                        <a:spcBef>
                          <a:spcPts val="0"/>
                        </a:spcBef>
                        <a:spcAft>
                          <a:spcPts val="0"/>
                        </a:spcAft>
                        <a:buNone/>
                      </a:pP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36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3600" u="none" strike="noStrike" cap="none" dirty="0">
                          <a:latin typeface="Consolas" panose="020B0609020204030204" pitchFamily="49" charset="0"/>
                          <a:ea typeface="Courier New"/>
                          <a:cs typeface="Consolas" panose="020B0609020204030204" pitchFamily="49" charset="0"/>
                          <a:sym typeface="Courier New"/>
                        </a:rPr>
                        <a:t>&lt; </a:t>
                      </a: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8879"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3200" u="none" strike="noStrike" cap="none" dirty="0">
                          <a:latin typeface="Tw Cen MT" panose="020B0602020104020603" pitchFamily="34" charset="77"/>
                          <a:ea typeface="Calibri"/>
                          <a:cs typeface="Calibri"/>
                          <a:sym typeface="Calibri"/>
                        </a:rPr>
                        <a:t>Less than</a:t>
                      </a:r>
                      <a:endParaRPr sz="3200" u="none" strike="noStrike" cap="none" dirty="0">
                        <a:latin typeface="Tw Cen MT" panose="020B0602020104020603" pitchFamily="34" charset="77"/>
                        <a:ea typeface="Calibri"/>
                        <a:cs typeface="Calibri"/>
                        <a:sym typeface="Calibri"/>
                      </a:endParaRPr>
                    </a:p>
                  </a:txBody>
                  <a:tcPr marL="0" marR="0" marT="33509"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0"/>
                  </a:ext>
                </a:extLst>
              </a:tr>
              <a:tr h="427339">
                <a:tc>
                  <a:txBody>
                    <a:bodyPr/>
                    <a:lstStyle/>
                    <a:p>
                      <a:pPr marL="12700" marR="0" lvl="0" indent="0" algn="ctr" rtl="0">
                        <a:lnSpc>
                          <a:spcPct val="100000"/>
                        </a:lnSpc>
                        <a:spcBef>
                          <a:spcPts val="0"/>
                        </a:spcBef>
                        <a:spcAft>
                          <a:spcPts val="0"/>
                        </a:spcAft>
                        <a:buNone/>
                      </a:pP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36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3600" u="none" strike="noStrike" cap="none" dirty="0">
                          <a:latin typeface="Consolas" panose="020B0609020204030204" pitchFamily="49" charset="0"/>
                          <a:ea typeface="Courier New"/>
                          <a:cs typeface="Consolas" panose="020B0609020204030204" pitchFamily="49" charset="0"/>
                          <a:sym typeface="Courier New"/>
                        </a:rPr>
                        <a:t>&gt; </a:t>
                      </a: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6964"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3200" u="none" strike="noStrike" cap="none" dirty="0">
                          <a:latin typeface="Tw Cen MT" panose="020B0602020104020603" pitchFamily="34" charset="77"/>
                          <a:ea typeface="Calibri"/>
                          <a:cs typeface="Calibri"/>
                          <a:sym typeface="Calibri"/>
                        </a:rPr>
                        <a:t>Greater than</a:t>
                      </a:r>
                      <a:endParaRPr sz="3200" u="none" strike="noStrike" cap="none" dirty="0">
                        <a:latin typeface="Tw Cen MT" panose="020B0602020104020603" pitchFamily="34" charset="77"/>
                        <a:ea typeface="Calibri"/>
                        <a:cs typeface="Calibri"/>
                        <a:sym typeface="Calibri"/>
                      </a:endParaRPr>
                    </a:p>
                  </a:txBody>
                  <a:tcPr marL="0" marR="0" marT="37728"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1"/>
                  </a:ext>
                </a:extLst>
              </a:tr>
              <a:tr h="427339">
                <a:tc>
                  <a:txBody>
                    <a:bodyPr/>
                    <a:lstStyle/>
                    <a:p>
                      <a:pPr marL="0" marR="0" lvl="0" indent="0" algn="ctr" rtl="0">
                        <a:lnSpc>
                          <a:spcPct val="100000"/>
                        </a:lnSpc>
                        <a:spcBef>
                          <a:spcPts val="0"/>
                        </a:spcBef>
                        <a:spcAft>
                          <a:spcPts val="0"/>
                        </a:spcAft>
                        <a:buNone/>
                      </a:pP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36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3600" u="none" strike="noStrike" cap="none" dirty="0">
                          <a:latin typeface="Consolas" panose="020B0609020204030204" pitchFamily="49" charset="0"/>
                          <a:ea typeface="Courier New"/>
                          <a:cs typeface="Consolas" panose="020B0609020204030204" pitchFamily="49" charset="0"/>
                          <a:sym typeface="Courier New"/>
                        </a:rPr>
                        <a:t>== </a:t>
                      </a: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41210"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3200" u="none" strike="noStrike" cap="none" dirty="0">
                          <a:latin typeface="Tw Cen MT" panose="020B0602020104020603" pitchFamily="34" charset="77"/>
                          <a:ea typeface="Calibri"/>
                          <a:cs typeface="Calibri"/>
                          <a:sym typeface="Calibri"/>
                        </a:rPr>
                        <a:t>Equal to</a:t>
                      </a:r>
                      <a:endParaRPr sz="3200" u="none" strike="noStrike" cap="none" dirty="0">
                        <a:latin typeface="Tw Cen MT" panose="020B0602020104020603" pitchFamily="34" charset="77"/>
                        <a:ea typeface="Calibri"/>
                        <a:cs typeface="Calibri"/>
                        <a:sym typeface="Calibri"/>
                      </a:endParaRPr>
                    </a:p>
                  </a:txBody>
                  <a:tcPr marL="0" marR="0" marT="35813"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2"/>
                  </a:ext>
                </a:extLst>
              </a:tr>
              <a:tr h="427339">
                <a:tc>
                  <a:txBody>
                    <a:bodyPr/>
                    <a:lstStyle/>
                    <a:p>
                      <a:pPr marL="0" marR="0" lvl="0" indent="0" algn="ctr" rtl="0">
                        <a:lnSpc>
                          <a:spcPct val="100000"/>
                        </a:lnSpc>
                        <a:spcBef>
                          <a:spcPts val="0"/>
                        </a:spcBef>
                        <a:spcAft>
                          <a:spcPts val="0"/>
                        </a:spcAft>
                        <a:buNone/>
                      </a:pP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36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3600" u="none" strike="noStrike" cap="none" dirty="0">
                          <a:latin typeface="Consolas" panose="020B0609020204030204" pitchFamily="49" charset="0"/>
                          <a:ea typeface="Courier New"/>
                          <a:cs typeface="Consolas" panose="020B0609020204030204" pitchFamily="49" charset="0"/>
                          <a:sym typeface="Courier New"/>
                        </a:rPr>
                        <a:t>&lt;= </a:t>
                      </a: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9281"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3200" u="none" strike="noStrike" cap="none" dirty="0">
                          <a:latin typeface="Tw Cen MT" panose="020B0602020104020603" pitchFamily="34" charset="77"/>
                          <a:ea typeface="Calibri"/>
                          <a:cs typeface="Calibri"/>
                          <a:sym typeface="Calibri"/>
                        </a:rPr>
                        <a:t>Less than or equal to</a:t>
                      </a:r>
                      <a:endParaRPr sz="3200" u="none" strike="noStrike" cap="none" dirty="0">
                        <a:latin typeface="Tw Cen MT" panose="020B0602020104020603" pitchFamily="34" charset="77"/>
                        <a:ea typeface="Calibri"/>
                        <a:cs typeface="Calibri"/>
                        <a:sym typeface="Calibri"/>
                      </a:endParaRPr>
                    </a:p>
                  </a:txBody>
                  <a:tcPr marL="0" marR="0" marT="33884"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3"/>
                  </a:ext>
                </a:extLst>
              </a:tr>
              <a:tr h="534059">
                <a:tc>
                  <a:txBody>
                    <a:bodyPr/>
                    <a:lstStyle/>
                    <a:p>
                      <a:pPr marL="0" marR="0" lvl="0" indent="0" algn="ctr" rtl="0">
                        <a:lnSpc>
                          <a:spcPct val="100000"/>
                        </a:lnSpc>
                        <a:spcBef>
                          <a:spcPts val="0"/>
                        </a:spcBef>
                        <a:spcAft>
                          <a:spcPts val="0"/>
                        </a:spcAft>
                        <a:buNone/>
                      </a:pP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36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3600" u="none" strike="noStrike" cap="none" dirty="0">
                          <a:latin typeface="Consolas" panose="020B0609020204030204" pitchFamily="49" charset="0"/>
                          <a:ea typeface="Courier New"/>
                          <a:cs typeface="Consolas" panose="020B0609020204030204" pitchFamily="49" charset="0"/>
                          <a:sym typeface="Courier New"/>
                        </a:rPr>
                        <a:t>&gt;= </a:t>
                      </a: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37353"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3200" u="none" strike="noStrike" cap="none" dirty="0">
                          <a:latin typeface="Tw Cen MT" panose="020B0602020104020603" pitchFamily="34" charset="77"/>
                          <a:ea typeface="Calibri"/>
                          <a:cs typeface="Calibri"/>
                          <a:sym typeface="Calibri"/>
                        </a:rPr>
                        <a:t>Greater than or equal to</a:t>
                      </a:r>
                      <a:endParaRPr sz="3200" u="none" strike="noStrike" cap="none" dirty="0">
                        <a:latin typeface="Tw Cen MT" panose="020B0602020104020603" pitchFamily="34" charset="77"/>
                        <a:ea typeface="Calibri"/>
                        <a:cs typeface="Calibri"/>
                        <a:sym typeface="Calibri"/>
                      </a:endParaRPr>
                    </a:p>
                  </a:txBody>
                  <a:tcPr marL="0" marR="0" marT="38504"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4"/>
                  </a:ext>
                </a:extLst>
              </a:tr>
              <a:tr h="427339">
                <a:tc>
                  <a:txBody>
                    <a:bodyPr/>
                    <a:lstStyle/>
                    <a:p>
                      <a:pPr marL="0" marR="0" lvl="0" indent="0" algn="ctr" rtl="0">
                        <a:lnSpc>
                          <a:spcPct val="100000"/>
                        </a:lnSpc>
                        <a:spcBef>
                          <a:spcPts val="0"/>
                        </a:spcBef>
                        <a:spcAft>
                          <a:spcPts val="0"/>
                        </a:spcAft>
                        <a:buNone/>
                      </a:pP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x</a:t>
                      </a:r>
                      <a:r>
                        <a:rPr lang="en-US" sz="3600" u="none" strike="noStrike" cap="none" dirty="0">
                          <a:solidFill>
                            <a:srgbClr val="D6D6D6"/>
                          </a:solidFill>
                          <a:latin typeface="Consolas" panose="020B0609020204030204" pitchFamily="49" charset="0"/>
                          <a:ea typeface="Courier New"/>
                          <a:cs typeface="Consolas" panose="020B0609020204030204" pitchFamily="49" charset="0"/>
                          <a:sym typeface="Courier New"/>
                        </a:rPr>
                        <a:t> </a:t>
                      </a:r>
                      <a:r>
                        <a:rPr lang="en-US" sz="3600" u="none" strike="noStrike" cap="none" dirty="0">
                          <a:latin typeface="Consolas" panose="020B0609020204030204" pitchFamily="49" charset="0"/>
                          <a:ea typeface="Courier New"/>
                          <a:cs typeface="Consolas" panose="020B0609020204030204" pitchFamily="49" charset="0"/>
                          <a:sym typeface="Courier New"/>
                        </a:rPr>
                        <a:t>!= </a:t>
                      </a:r>
                      <a:r>
                        <a:rPr lang="en-US"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rPr>
                        <a:t>y</a:t>
                      </a:r>
                      <a:endParaRPr sz="3600" b="0" i="0" u="none" strike="noStrike" cap="none" dirty="0">
                        <a:solidFill>
                          <a:schemeClr val="bg1">
                            <a:lumMod val="65000"/>
                          </a:schemeClr>
                        </a:solidFill>
                        <a:latin typeface="Consolas" panose="020B0609020204030204" pitchFamily="49" charset="0"/>
                        <a:ea typeface="Courier New"/>
                        <a:cs typeface="Consolas" panose="020B0609020204030204" pitchFamily="49" charset="0"/>
                        <a:sym typeface="Courier New"/>
                      </a:endParaRPr>
                    </a:p>
                  </a:txBody>
                  <a:tcPr marL="0" marR="0" marT="41973"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tc>
                  <a:txBody>
                    <a:bodyPr/>
                    <a:lstStyle/>
                    <a:p>
                      <a:pPr marL="406400" marR="0" lvl="0" indent="0" algn="l" rtl="0">
                        <a:lnSpc>
                          <a:spcPct val="100000"/>
                        </a:lnSpc>
                        <a:spcBef>
                          <a:spcPts val="0"/>
                        </a:spcBef>
                        <a:spcAft>
                          <a:spcPts val="0"/>
                        </a:spcAft>
                        <a:buNone/>
                      </a:pPr>
                      <a:r>
                        <a:rPr lang="en-US" sz="3200" u="none" strike="noStrike" cap="none" dirty="0">
                          <a:latin typeface="Tw Cen MT" panose="020B0602020104020603" pitchFamily="34" charset="77"/>
                          <a:ea typeface="Calibri"/>
                          <a:cs typeface="Calibri"/>
                          <a:sym typeface="Calibri"/>
                        </a:rPr>
                        <a:t>Not equal to</a:t>
                      </a:r>
                      <a:endParaRPr sz="3200" u="none" strike="noStrike" cap="none" dirty="0">
                        <a:latin typeface="Tw Cen MT" panose="020B0602020104020603" pitchFamily="34" charset="77"/>
                        <a:ea typeface="Calibri"/>
                        <a:cs typeface="Calibri"/>
                        <a:sym typeface="Calibri"/>
                      </a:endParaRPr>
                    </a:p>
                  </a:txBody>
                  <a:tcPr marL="0" marR="0" marT="36576" marB="0">
                    <a:lnL w="53975" cap="flat" cmpd="sng">
                      <a:solidFill>
                        <a:srgbClr val="FFFFFF"/>
                      </a:solidFill>
                      <a:prstDash val="solid"/>
                      <a:round/>
                      <a:headEnd type="none" w="sm" len="sm"/>
                      <a:tailEnd type="none" w="sm" len="sm"/>
                    </a:lnL>
                    <a:lnR w="53975" cap="flat" cmpd="sng">
                      <a:solidFill>
                        <a:srgbClr val="FFFFFF"/>
                      </a:solidFill>
                      <a:prstDash val="solid"/>
                      <a:round/>
                      <a:headEnd type="none" w="sm" len="sm"/>
                      <a:tailEnd type="none" w="sm" len="sm"/>
                    </a:lnR>
                    <a:lnT w="53975" cap="flat" cmpd="sng">
                      <a:solidFill>
                        <a:srgbClr val="FFFFFF"/>
                      </a:solidFill>
                      <a:prstDash val="solid"/>
                      <a:round/>
                      <a:headEnd type="none" w="sm" len="sm"/>
                      <a:tailEnd type="none" w="sm" len="sm"/>
                    </a:lnT>
                    <a:lnB w="53975" cap="flat" cmpd="sng">
                      <a:solidFill>
                        <a:srgbClr val="FFFFFF"/>
                      </a:solidFill>
                      <a:prstDash val="solid"/>
                      <a:round/>
                      <a:headEnd type="none" w="sm" len="sm"/>
                      <a:tailEnd type="none" w="sm" len="sm"/>
                    </a:lnB>
                    <a:solidFill>
                      <a:srgbClr val="EBEBEB">
                        <a:alpha val="49803"/>
                      </a:srgbClr>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86916984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E36237-993C-8045-8944-D9334B8924E0}"/>
              </a:ext>
            </a:extLst>
          </p:cNvPr>
          <p:cNvSpPr>
            <a:spLocks noGrp="1"/>
          </p:cNvSpPr>
          <p:nvPr>
            <p:ph type="title"/>
          </p:nvPr>
        </p:nvSpPr>
        <p:spPr/>
        <p:txBody>
          <a:bodyPr/>
          <a:lstStyle/>
          <a:p>
            <a:r>
              <a:rPr lang="en-US" dirty="0"/>
              <a:t>Pop Quiz</a:t>
            </a:r>
          </a:p>
        </p:txBody>
      </p:sp>
      <p:sp>
        <p:nvSpPr>
          <p:cNvPr id="3" name="Text Placeholder 2">
            <a:extLst>
              <a:ext uri="{FF2B5EF4-FFF2-40B4-BE49-F238E27FC236}">
                <a16:creationId xmlns:a16="http://schemas.microsoft.com/office/drawing/2014/main" id="{A802227E-A0BF-1E4C-ABBA-17A73F8E8E94}"/>
              </a:ext>
            </a:extLst>
          </p:cNvPr>
          <p:cNvSpPr>
            <a:spLocks noGrp="1"/>
          </p:cNvSpPr>
          <p:nvPr>
            <p:ph type="body" sz="quarter" idx="13"/>
          </p:nvPr>
        </p:nvSpPr>
        <p:spPr>
          <a:xfrm>
            <a:off x="1012330" y="2238375"/>
            <a:ext cx="9720072" cy="3178175"/>
          </a:xfrm>
        </p:spPr>
        <p:txBody>
          <a:bodyPr>
            <a:normAutofit fontScale="92500" lnSpcReduction="10000"/>
          </a:bodyPr>
          <a:lstStyle/>
          <a:p>
            <a:r>
              <a:rPr lang="en-US" sz="3200" dirty="0"/>
              <a:t>Which of these would successfully filter the </a:t>
            </a:r>
            <a:r>
              <a:rPr lang="en-US" sz="3200" dirty="0" err="1">
                <a:latin typeface="Consolas" panose="020B0609020204030204" pitchFamily="49" charset="0"/>
              </a:rPr>
              <a:t>covid_testing</a:t>
            </a:r>
            <a:r>
              <a:rPr lang="en-US" sz="3200" dirty="0"/>
              <a:t> data frame to tests with positive results?</a:t>
            </a:r>
          </a:p>
          <a:p>
            <a:r>
              <a:rPr lang="en-US" sz="3200" dirty="0"/>
              <a:t>A)</a:t>
            </a:r>
            <a:r>
              <a:rPr lang="en-US" sz="2800" dirty="0">
                <a:latin typeface="Consolas" panose="020B0609020204030204" pitchFamily="49" charset="0"/>
              </a:rPr>
              <a:t> filter(</a:t>
            </a:r>
            <a:r>
              <a:rPr lang="en-US" sz="2800" dirty="0" err="1">
                <a:latin typeface="Consolas" panose="020B0609020204030204" pitchFamily="49" charset="0"/>
              </a:rPr>
              <a:t>covid_testing</a:t>
            </a:r>
            <a:r>
              <a:rPr lang="en-US" sz="2800" dirty="0">
                <a:latin typeface="Consolas" panose="020B0609020204030204" pitchFamily="49" charset="0"/>
              </a:rPr>
              <a:t>, result == positive)</a:t>
            </a:r>
          </a:p>
          <a:p>
            <a:pPr marL="0" indent="0">
              <a:buNone/>
            </a:pPr>
            <a:r>
              <a:rPr lang="en-US" sz="3200" dirty="0">
                <a:solidFill>
                  <a:srgbClr val="42BA97">
                    <a:lumMod val="75000"/>
                  </a:srgbClr>
                </a:solidFill>
              </a:rPr>
              <a:t> B)</a:t>
            </a:r>
            <a:r>
              <a:rPr lang="en-US" sz="2800" dirty="0">
                <a:solidFill>
                  <a:srgbClr val="42BA97">
                    <a:lumMod val="75000"/>
                  </a:srgbClr>
                </a:solidFill>
                <a:latin typeface="Consolas" panose="020B0609020204030204" pitchFamily="49" charset="0"/>
              </a:rPr>
              <a:t> filter</a:t>
            </a:r>
            <a:r>
              <a:rPr lang="en-US" sz="2800" dirty="0">
                <a:latin typeface="Consolas" panose="020B0609020204030204" pitchFamily="49" charset="0"/>
              </a:rPr>
              <a:t>(</a:t>
            </a:r>
            <a:r>
              <a:rPr lang="en-US" sz="2800" dirty="0" err="1">
                <a:latin typeface="Consolas" panose="020B0609020204030204" pitchFamily="49" charset="0"/>
              </a:rPr>
              <a:t>covid_testing</a:t>
            </a:r>
            <a:r>
              <a:rPr lang="en-US" sz="2800" dirty="0">
                <a:latin typeface="Consolas" panose="020B0609020204030204" pitchFamily="49" charset="0"/>
              </a:rPr>
              <a:t>, result = "positive")</a:t>
            </a:r>
          </a:p>
          <a:p>
            <a:pPr marL="0" indent="0">
              <a:buNone/>
            </a:pPr>
            <a:r>
              <a:rPr lang="en-US" sz="3200" dirty="0">
                <a:solidFill>
                  <a:srgbClr val="42BA97">
                    <a:lumMod val="75000"/>
                  </a:srgbClr>
                </a:solidFill>
              </a:rPr>
              <a:t> C)</a:t>
            </a:r>
            <a:r>
              <a:rPr lang="en-US" sz="2800" dirty="0">
                <a:solidFill>
                  <a:srgbClr val="42BA97">
                    <a:lumMod val="75000"/>
                  </a:srgbClr>
                </a:solidFill>
                <a:latin typeface="Consolas" panose="020B0609020204030204" pitchFamily="49" charset="0"/>
              </a:rPr>
              <a:t> filter</a:t>
            </a:r>
            <a:r>
              <a:rPr lang="en-US" sz="2800" dirty="0">
                <a:latin typeface="Consolas" panose="020B0609020204030204" pitchFamily="49" charset="0"/>
              </a:rPr>
              <a:t>(</a:t>
            </a:r>
            <a:r>
              <a:rPr lang="en-US" sz="2800" dirty="0" err="1">
                <a:latin typeface="Consolas" panose="020B0609020204030204" pitchFamily="49" charset="0"/>
              </a:rPr>
              <a:t>covid_testing</a:t>
            </a:r>
            <a:r>
              <a:rPr lang="en-US" sz="2800" dirty="0">
                <a:latin typeface="Consolas" panose="020B0609020204030204" pitchFamily="49" charset="0"/>
              </a:rPr>
              <a:t>, result == "positive")</a:t>
            </a:r>
          </a:p>
          <a:p>
            <a:pPr marL="0" indent="0">
              <a:buNone/>
            </a:pPr>
            <a:r>
              <a:rPr lang="en-US" sz="3200" dirty="0"/>
              <a:t> D)</a:t>
            </a:r>
            <a:r>
              <a:rPr lang="en-US" sz="2800" dirty="0">
                <a:latin typeface="Consolas" panose="020B0609020204030204" pitchFamily="49" charset="0"/>
              </a:rPr>
              <a:t> filter(</a:t>
            </a:r>
            <a:r>
              <a:rPr lang="en-US" sz="2800" dirty="0" err="1">
                <a:latin typeface="Consolas" panose="020B0609020204030204" pitchFamily="49" charset="0"/>
              </a:rPr>
              <a:t>covid_testing</a:t>
            </a:r>
            <a:r>
              <a:rPr lang="en-US" sz="2800" dirty="0">
                <a:latin typeface="Consolas" panose="020B0609020204030204" pitchFamily="49" charset="0"/>
              </a:rPr>
              <a:t>, positive == "result")</a:t>
            </a:r>
          </a:p>
          <a:p>
            <a:pPr marL="0" indent="0">
              <a:buNone/>
            </a:pPr>
            <a:endParaRPr lang="en-US" sz="3600" dirty="0">
              <a:latin typeface="Consolas" panose="020B0609020204030204" pitchFamily="49" charset="0"/>
            </a:endParaRPr>
          </a:p>
          <a:p>
            <a:pPr marL="0" indent="0">
              <a:buNone/>
            </a:pPr>
            <a:endParaRPr lang="en-US" sz="3200" dirty="0">
              <a:latin typeface="Consolas" panose="020B0609020204030204" pitchFamily="49" charset="0"/>
            </a:endParaRPr>
          </a:p>
        </p:txBody>
      </p:sp>
    </p:spTree>
    <p:extLst>
      <p:ext uri="{BB962C8B-B14F-4D97-AF65-F5344CB8AC3E}">
        <p14:creationId xmlns:p14="http://schemas.microsoft.com/office/powerpoint/2010/main" val="41152496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t>The pipe operator </a:t>
            </a:r>
            <a:r>
              <a:rPr lang="en-US" dirty="0">
                <a:latin typeface="Consolas" panose="020B0609020204030204" pitchFamily="49" charset="0"/>
              </a:rPr>
              <a:t>%&gt;%</a:t>
            </a:r>
          </a:p>
        </p:txBody>
      </p:sp>
    </p:spTree>
    <p:extLst>
      <p:ext uri="{BB962C8B-B14F-4D97-AF65-F5344CB8AC3E}">
        <p14:creationId xmlns:p14="http://schemas.microsoft.com/office/powerpoint/2010/main" val="1670429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44750" y="351797"/>
            <a:ext cx="7046091" cy="777536"/>
          </a:xfrm>
        </p:spPr>
        <p:txBody>
          <a:bodyPr/>
          <a:lstStyle/>
          <a:p>
            <a:r>
              <a:rPr lang="en-US" sz="4800" dirty="0">
                <a:solidFill>
                  <a:srgbClr val="000000"/>
                </a:solidFill>
              </a:rPr>
              <a:t>The Pipe Operator </a:t>
            </a:r>
            <a:r>
              <a:rPr lang="en-US" sz="4800" dirty="0">
                <a:latin typeface="Consolas" panose="020B0609020204030204" pitchFamily="49" charset="0"/>
              </a:rPr>
              <a:t>%&gt;%</a:t>
            </a:r>
            <a:endParaRPr lang="en-US" sz="4800" b="1" dirty="0">
              <a:solidFill>
                <a:srgbClr val="000000"/>
              </a:solidFill>
            </a:endParaRPr>
          </a:p>
        </p:txBody>
      </p:sp>
      <p:sp>
        <p:nvSpPr>
          <p:cNvPr id="3" name="U-Turn Arrow 2"/>
          <p:cNvSpPr/>
          <p:nvPr/>
        </p:nvSpPr>
        <p:spPr>
          <a:xfrm>
            <a:off x="1570847" y="1902372"/>
            <a:ext cx="5055476" cy="1261241"/>
          </a:xfrm>
          <a:prstGeom prst="uturnArrow">
            <a:avLst>
              <a:gd name="adj1" fmla="val 31667"/>
              <a:gd name="adj2" fmla="val 25000"/>
              <a:gd name="adj3" fmla="val 33333"/>
              <a:gd name="adj4" fmla="val 35417"/>
              <a:gd name="adj5" fmla="val 100000"/>
            </a:avLst>
          </a:prstGeom>
          <a:solidFill>
            <a:srgbClr val="8DB4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4" name="Rectangle 3"/>
          <p:cNvSpPr/>
          <p:nvPr/>
        </p:nvSpPr>
        <p:spPr>
          <a:xfrm>
            <a:off x="4238960" y="3176022"/>
            <a:ext cx="6287299" cy="584775"/>
          </a:xfrm>
          <a:prstGeom prst="rect">
            <a:avLst/>
          </a:prstGeom>
        </p:spPr>
        <p:txBody>
          <a:bodyPr wrap="none">
            <a:spAutoFit/>
          </a:bodyPr>
          <a:lstStyle/>
          <a:p>
            <a:r>
              <a:rPr lang="en-US" sz="3200" dirty="0">
                <a:latin typeface="Consolas" panose="020B0609020204030204" pitchFamily="49" charset="0"/>
                <a:ea typeface="Courier New"/>
                <a:cs typeface="Courier New"/>
                <a:sym typeface="Courier New"/>
              </a:rPr>
              <a:t>filter(</a:t>
            </a:r>
            <a:r>
              <a:rPr lang="en-US" sz="3200" dirty="0">
                <a:solidFill>
                  <a:srgbClr val="0365C0"/>
                </a:solidFill>
                <a:latin typeface="Consolas" panose="020B0609020204030204" pitchFamily="49" charset="0"/>
                <a:ea typeface="Courier New"/>
                <a:cs typeface="Courier New"/>
                <a:sym typeface="Courier New"/>
              </a:rPr>
              <a:t>____</a:t>
            </a:r>
            <a:r>
              <a:rPr lang="en-US" sz="3200" dirty="0">
                <a:latin typeface="Consolas" panose="020B0609020204030204" pitchFamily="49" charset="0"/>
                <a:ea typeface="Courier New"/>
                <a:cs typeface="Courier New"/>
                <a:sym typeface="Courier New"/>
              </a:rPr>
              <a:t>, </a:t>
            </a:r>
            <a:r>
              <a:rPr lang="en-US" sz="3200" dirty="0" err="1">
                <a:solidFill>
                  <a:schemeClr val="accent3">
                    <a:lumMod val="75000"/>
                  </a:schemeClr>
                </a:solidFill>
                <a:latin typeface="Consolas" panose="020B0609020204030204" pitchFamily="49" charset="0"/>
                <a:ea typeface="Courier New"/>
                <a:cs typeface="Courier New"/>
                <a:sym typeface="Courier New"/>
              </a:rPr>
              <a:t>pan_day</a:t>
            </a:r>
            <a:r>
              <a:rPr lang="en-US" sz="3200" dirty="0">
                <a:solidFill>
                  <a:schemeClr val="accent3">
                    <a:lumMod val="75000"/>
                  </a:schemeClr>
                </a:solidFill>
                <a:latin typeface="Consolas" panose="020B0609020204030204" pitchFamily="49" charset="0"/>
                <a:ea typeface="Courier New"/>
                <a:cs typeface="Courier New"/>
                <a:sym typeface="Courier New"/>
              </a:rPr>
              <a:t> &lt;= 10</a:t>
            </a:r>
            <a:r>
              <a:rPr lang="en-US" sz="3200" dirty="0">
                <a:latin typeface="Consolas" panose="020B0609020204030204" pitchFamily="49" charset="0"/>
                <a:ea typeface="Courier New"/>
                <a:cs typeface="Courier New"/>
                <a:sym typeface="Courier New"/>
              </a:rPr>
              <a:t>)</a:t>
            </a:r>
            <a:endParaRPr lang="en-US" sz="3200" dirty="0"/>
          </a:p>
        </p:txBody>
      </p:sp>
      <p:sp>
        <p:nvSpPr>
          <p:cNvPr id="5" name="Rectangle 4"/>
          <p:cNvSpPr/>
          <p:nvPr/>
        </p:nvSpPr>
        <p:spPr>
          <a:xfrm>
            <a:off x="247649" y="3163612"/>
            <a:ext cx="3679639" cy="584775"/>
          </a:xfrm>
          <a:prstGeom prst="rect">
            <a:avLst/>
          </a:prstGeom>
        </p:spPr>
        <p:txBody>
          <a:bodyPr wrap="square">
            <a:spAutoFit/>
          </a:bodyPr>
          <a:lstStyle/>
          <a:p>
            <a:r>
              <a:rPr lang="en-US" sz="3200" dirty="0" err="1">
                <a:solidFill>
                  <a:srgbClr val="0365C0"/>
                </a:solidFill>
                <a:latin typeface="Consolas" panose="020B0609020204030204" pitchFamily="49" charset="0"/>
                <a:ea typeface="Courier New"/>
                <a:cs typeface="Courier New"/>
                <a:sym typeface="Courier New"/>
              </a:rPr>
              <a:t>covid_testing</a:t>
            </a:r>
            <a:endParaRPr lang="en-US" sz="3200" dirty="0"/>
          </a:p>
        </p:txBody>
      </p:sp>
      <p:sp>
        <p:nvSpPr>
          <p:cNvPr id="6" name="Rectangle 5"/>
          <p:cNvSpPr/>
          <p:nvPr/>
        </p:nvSpPr>
        <p:spPr>
          <a:xfrm>
            <a:off x="924910" y="1172273"/>
            <a:ext cx="10372419" cy="599289"/>
          </a:xfrm>
          <a:prstGeom prst="rect">
            <a:avLst/>
          </a:prstGeom>
        </p:spPr>
        <p:txBody>
          <a:bodyPr wrap="square">
            <a:spAutoFit/>
          </a:bodyPr>
          <a:lstStyle/>
          <a:p>
            <a:pPr algn="ctr"/>
            <a:r>
              <a:rPr lang="en-US" sz="3200" dirty="0">
                <a:latin typeface="Calibri" panose="020F0502020204030204" pitchFamily="34" charset="0"/>
              </a:rPr>
              <a:t>Passes result on left into first argument of function on right.</a:t>
            </a:r>
            <a:endParaRPr lang="en-US" sz="2800" dirty="0">
              <a:latin typeface="Calibri" panose="020F0502020204030204" pitchFamily="34" charset="0"/>
            </a:endParaRPr>
          </a:p>
        </p:txBody>
      </p:sp>
      <p:sp>
        <p:nvSpPr>
          <p:cNvPr id="7" name="Rectangle 6"/>
          <p:cNvSpPr/>
          <p:nvPr/>
        </p:nvSpPr>
        <p:spPr>
          <a:xfrm>
            <a:off x="924910" y="4844831"/>
            <a:ext cx="10016359" cy="1524437"/>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1030341" y="4905504"/>
            <a:ext cx="8321509" cy="584775"/>
          </a:xfrm>
          <a:prstGeom prst="rect">
            <a:avLst/>
          </a:prstGeom>
        </p:spPr>
        <p:txBody>
          <a:bodyPr wrap="none">
            <a:spAutoFit/>
          </a:bodyPr>
          <a:lstStyle/>
          <a:p>
            <a:r>
              <a:rPr lang="en-US" sz="3200" dirty="0">
                <a:solidFill>
                  <a:schemeClr val="tx1"/>
                </a:solidFill>
                <a:latin typeface="Consolas" panose="020B0609020204030204" pitchFamily="49" charset="0"/>
                <a:ea typeface="Courier New"/>
                <a:cs typeface="Courier New"/>
                <a:sym typeface="Courier New"/>
              </a:rPr>
              <a:t>filter(</a:t>
            </a:r>
            <a:r>
              <a:rPr lang="en-US" sz="3200" dirty="0" err="1">
                <a:solidFill>
                  <a:schemeClr val="tx1"/>
                </a:solidFill>
                <a:latin typeface="Consolas" panose="020B0609020204030204" pitchFamily="49" charset="0"/>
                <a:ea typeface="Courier New"/>
                <a:cs typeface="Courier New"/>
                <a:sym typeface="Courier New"/>
              </a:rPr>
              <a:t>covid_testing</a:t>
            </a:r>
            <a:r>
              <a:rPr lang="en-US" sz="3200" dirty="0">
                <a:solidFill>
                  <a:schemeClr val="tx1"/>
                </a:solidFill>
                <a:latin typeface="Consolas" panose="020B0609020204030204" pitchFamily="49" charset="0"/>
                <a:ea typeface="Courier New"/>
                <a:cs typeface="Courier New"/>
                <a:sym typeface="Courier New"/>
              </a:rPr>
              <a:t>, </a:t>
            </a:r>
            <a:r>
              <a:rPr lang="en-US" sz="3200" dirty="0" err="1">
                <a:solidFill>
                  <a:schemeClr val="tx1"/>
                </a:solidFill>
                <a:latin typeface="Consolas" panose="020B0609020204030204" pitchFamily="49" charset="0"/>
                <a:ea typeface="Courier New"/>
                <a:cs typeface="Courier New"/>
                <a:sym typeface="Courier New"/>
              </a:rPr>
              <a:t>pan_day</a:t>
            </a:r>
            <a:r>
              <a:rPr lang="en-US" sz="3200" dirty="0">
                <a:solidFill>
                  <a:schemeClr val="tx1"/>
                </a:solidFill>
                <a:latin typeface="Consolas" panose="020B0609020204030204" pitchFamily="49" charset="0"/>
                <a:ea typeface="Courier New"/>
                <a:cs typeface="Courier New"/>
                <a:sym typeface="Courier New"/>
              </a:rPr>
              <a:t> </a:t>
            </a:r>
            <a:r>
              <a:rPr lang="en-US" sz="3200" dirty="0">
                <a:latin typeface="Consolas" panose="020B0609020204030204" pitchFamily="49" charset="0"/>
                <a:ea typeface="Courier New"/>
                <a:cs typeface="Courier New"/>
                <a:sym typeface="Courier New"/>
              </a:rPr>
              <a:t>&lt;= 10)</a:t>
            </a:r>
            <a:endParaRPr lang="en-US" sz="3200" dirty="0">
              <a:latin typeface="Consolas" panose="020B0609020204030204" pitchFamily="49" charset="0"/>
              <a:ea typeface="Courier New"/>
              <a:cs typeface="Courier New"/>
            </a:endParaRPr>
          </a:p>
        </p:txBody>
      </p:sp>
      <p:sp>
        <p:nvSpPr>
          <p:cNvPr id="9" name="Rectangle 8"/>
          <p:cNvSpPr/>
          <p:nvPr/>
        </p:nvSpPr>
        <p:spPr>
          <a:xfrm>
            <a:off x="1030341" y="5550952"/>
            <a:ext cx="10016358" cy="584775"/>
          </a:xfrm>
          <a:prstGeom prst="rect">
            <a:avLst/>
          </a:prstGeom>
        </p:spPr>
        <p:txBody>
          <a:bodyPr wrap="square">
            <a:spAutoFit/>
          </a:bodyPr>
          <a:lstStyle/>
          <a:p>
            <a:r>
              <a:rPr lang="en-US" sz="3200" dirty="0" err="1">
                <a:solidFill>
                  <a:schemeClr val="tx1"/>
                </a:solidFill>
                <a:latin typeface="Consolas" panose="020B0609020204030204" pitchFamily="49" charset="0"/>
                <a:ea typeface="Courier New"/>
                <a:cs typeface="Courier New"/>
                <a:sym typeface="Courier New"/>
              </a:rPr>
              <a:t>covid_testing</a:t>
            </a:r>
            <a:r>
              <a:rPr lang="en-US" sz="3200" dirty="0">
                <a:latin typeface="Consolas" panose="020B0609020204030204" pitchFamily="49" charset="0"/>
                <a:ea typeface="Courier New"/>
                <a:cs typeface="Courier New"/>
                <a:sym typeface="Courier New"/>
              </a:rPr>
              <a:t> </a:t>
            </a:r>
            <a:r>
              <a:rPr lang="en-US" sz="3200" b="1" dirty="0">
                <a:latin typeface="Consolas" panose="020B0609020204030204" pitchFamily="49" charset="0"/>
                <a:ea typeface="Courier New"/>
                <a:cs typeface="Courier New"/>
              </a:rPr>
              <a:t>%&gt;% </a:t>
            </a:r>
            <a:r>
              <a:rPr lang="en-US" sz="3200" dirty="0">
                <a:latin typeface="Consolas" panose="020B0609020204030204" pitchFamily="49" charset="0"/>
                <a:ea typeface="Courier New"/>
                <a:cs typeface="Courier New"/>
                <a:sym typeface="Courier New"/>
              </a:rPr>
              <a:t>filter(</a:t>
            </a:r>
            <a:r>
              <a:rPr lang="en-US" sz="3200" dirty="0" err="1">
                <a:latin typeface="Consolas" panose="020B0609020204030204" pitchFamily="49" charset="0"/>
                <a:ea typeface="Courier New"/>
                <a:cs typeface="Courier New"/>
                <a:sym typeface="Courier New"/>
              </a:rPr>
              <a:t>pan_day</a:t>
            </a:r>
            <a:r>
              <a:rPr lang="en-US" sz="3200" dirty="0">
                <a:latin typeface="Consolas" panose="020B0609020204030204" pitchFamily="49" charset="0"/>
                <a:ea typeface="Courier New"/>
                <a:cs typeface="Courier New"/>
                <a:sym typeface="Courier New"/>
              </a:rPr>
              <a:t> &lt;= 10)</a:t>
            </a:r>
            <a:endParaRPr lang="en-US" sz="3200" dirty="0">
              <a:latin typeface="Consolas" panose="020B0609020204030204" pitchFamily="49" charset="0"/>
              <a:ea typeface="Courier New"/>
              <a:cs typeface="Courier New"/>
            </a:endParaRPr>
          </a:p>
        </p:txBody>
      </p:sp>
      <p:sp>
        <p:nvSpPr>
          <p:cNvPr id="11" name="Rectangle 10"/>
          <p:cNvSpPr/>
          <p:nvPr/>
        </p:nvSpPr>
        <p:spPr>
          <a:xfrm>
            <a:off x="3376223" y="3163612"/>
            <a:ext cx="862737" cy="584775"/>
          </a:xfrm>
          <a:prstGeom prst="rect">
            <a:avLst/>
          </a:prstGeom>
        </p:spPr>
        <p:txBody>
          <a:bodyPr wrap="none">
            <a:spAutoFit/>
          </a:bodyPr>
          <a:lstStyle/>
          <a:p>
            <a:r>
              <a:rPr lang="en-US" sz="3200" b="1" dirty="0">
                <a:latin typeface="Consolas" panose="020B0609020204030204" pitchFamily="49" charset="0"/>
                <a:ea typeface="Courier New"/>
                <a:cs typeface="Courier New"/>
              </a:rPr>
              <a:t>%&gt;%</a:t>
            </a:r>
          </a:p>
        </p:txBody>
      </p:sp>
    </p:spTree>
    <p:extLst>
      <p:ext uri="{BB962C8B-B14F-4D97-AF65-F5344CB8AC3E}">
        <p14:creationId xmlns:p14="http://schemas.microsoft.com/office/powerpoint/2010/main" val="10318183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p:nvPr/>
        </p:nvGrpSpPr>
        <p:grpSpPr>
          <a:xfrm>
            <a:off x="783969" y="2054587"/>
            <a:ext cx="11780141" cy="2663187"/>
            <a:chOff x="549019" y="1483220"/>
            <a:chExt cx="11780141" cy="3092797"/>
          </a:xfrm>
        </p:grpSpPr>
        <p:sp>
          <p:nvSpPr>
            <p:cNvPr id="8" name="Rectangle 7"/>
            <p:cNvSpPr/>
            <p:nvPr/>
          </p:nvSpPr>
          <p:spPr>
            <a:xfrm>
              <a:off x="549019" y="1483220"/>
              <a:ext cx="11018141" cy="3092797"/>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p:cNvSpPr txBox="1"/>
            <p:nvPr/>
          </p:nvSpPr>
          <p:spPr>
            <a:xfrm>
              <a:off x="654090" y="1566411"/>
              <a:ext cx="11675070" cy="2859403"/>
            </a:xfrm>
            <a:prstGeom prst="rect">
              <a:avLst/>
            </a:prstGeom>
            <a:noFill/>
          </p:spPr>
          <p:txBody>
            <a:bodyPr wrap="square" rtlCol="0">
              <a:spAutoFit/>
            </a:bodyPr>
            <a:lstStyle/>
            <a:p>
              <a:r>
                <a:rPr lang="en-US" sz="2200" dirty="0">
                  <a:solidFill>
                    <a:srgbClr val="164F86"/>
                  </a:solidFill>
                  <a:latin typeface="Consolas" panose="020B0609020204030204" pitchFamily="49" charset="0"/>
                  <a:ea typeface="Courier New"/>
                  <a:cs typeface="Consolas" panose="020B0609020204030204" pitchFamily="49" charset="0"/>
                  <a:sym typeface="Courier New"/>
                </a:rPr>
                <a:t>day_10 &lt;- select(</a:t>
              </a:r>
            </a:p>
            <a:p>
              <a:r>
                <a:rPr lang="en-US" sz="2200" dirty="0">
                  <a:solidFill>
                    <a:srgbClr val="164F86"/>
                  </a:solidFill>
                  <a:latin typeface="Consolas" panose="020B0609020204030204" pitchFamily="49" charset="0"/>
                  <a:ea typeface="Courier New"/>
                  <a:cs typeface="Consolas" panose="020B0609020204030204" pitchFamily="49" charset="0"/>
                  <a:sym typeface="Courier New"/>
                </a:rPr>
                <a:t>		filter(</a:t>
              </a:r>
            </a:p>
            <a:p>
              <a:r>
                <a:rPr lang="en-US" sz="2200" dirty="0">
                  <a:solidFill>
                    <a:srgbClr val="164F86"/>
                  </a:solidFill>
                  <a:latin typeface="Consolas" panose="020B0609020204030204" pitchFamily="49" charset="0"/>
                  <a:ea typeface="Courier New"/>
                  <a:cs typeface="Consolas" panose="020B0609020204030204" pitchFamily="49" charset="0"/>
                  <a:sym typeface="Courier New"/>
                </a:rPr>
                <a:t>		  </a:t>
              </a:r>
              <a:r>
                <a:rPr lang="en-US" sz="2200" dirty="0" err="1">
                  <a:solidFill>
                    <a:srgbClr val="164F86"/>
                  </a:solidFill>
                  <a:latin typeface="Consolas" panose="020B0609020204030204" pitchFamily="49" charset="0"/>
                  <a:ea typeface="Courier New"/>
                  <a:cs typeface="Consolas" panose="020B0609020204030204" pitchFamily="49" charset="0"/>
                  <a:sym typeface="Courier New"/>
                </a:rPr>
                <a:t>covid_testing</a:t>
              </a:r>
              <a:r>
                <a:rPr lang="en-US" sz="2200" dirty="0">
                  <a:solidFill>
                    <a:srgbClr val="164F86"/>
                  </a:solidFill>
                  <a:latin typeface="Consolas" panose="020B0609020204030204" pitchFamily="49" charset="0"/>
                  <a:ea typeface="Courier New"/>
                  <a:cs typeface="Consolas" panose="020B0609020204030204" pitchFamily="49" charset="0"/>
                  <a:sym typeface="Courier New"/>
                </a:rPr>
                <a:t>, </a:t>
              </a:r>
            </a:p>
            <a:p>
              <a:r>
                <a:rPr lang="en-US" sz="2200" dirty="0">
                  <a:solidFill>
                    <a:srgbClr val="164F86"/>
                  </a:solidFill>
                  <a:latin typeface="Consolas" panose="020B0609020204030204" pitchFamily="49" charset="0"/>
                  <a:ea typeface="Courier New"/>
                  <a:cs typeface="Consolas" panose="020B0609020204030204" pitchFamily="49" charset="0"/>
                  <a:sym typeface="Courier New"/>
                </a:rPr>
                <a:t>	        </a:t>
              </a:r>
              <a:r>
                <a:rPr lang="fr-FR" sz="2200" dirty="0" err="1">
                  <a:solidFill>
                    <a:srgbClr val="164F86"/>
                  </a:solidFill>
                  <a:latin typeface="Consolas" panose="020B0609020204030204" pitchFamily="49" charset="0"/>
                  <a:ea typeface="Courier New"/>
                  <a:cs typeface="Consolas" panose="020B0609020204030204" pitchFamily="49" charset="0"/>
                  <a:sym typeface="Courier New"/>
                </a:rPr>
                <a:t>pan_day</a:t>
              </a:r>
              <a:r>
                <a:rPr lang="fr-FR" sz="2200" dirty="0">
                  <a:solidFill>
                    <a:srgbClr val="164F86"/>
                  </a:solidFill>
                  <a:latin typeface="Consolas" panose="020B0609020204030204" pitchFamily="49" charset="0"/>
                  <a:ea typeface="Courier New"/>
                  <a:cs typeface="Consolas" panose="020B0609020204030204" pitchFamily="49" charset="0"/>
                  <a:sym typeface="Courier New"/>
                </a:rPr>
                <a:t> &lt;= 10</a:t>
              </a:r>
            </a:p>
            <a:p>
              <a:r>
                <a:rPr lang="fr-FR" sz="2200" dirty="0">
                  <a:solidFill>
                    <a:srgbClr val="164F86"/>
                  </a:solidFill>
                  <a:latin typeface="Consolas" panose="020B0609020204030204" pitchFamily="49" charset="0"/>
                  <a:ea typeface="Courier New"/>
                  <a:cs typeface="Consolas" panose="020B0609020204030204" pitchFamily="49" charset="0"/>
                  <a:sym typeface="Courier New"/>
                </a:rPr>
                <a:t>		),</a:t>
              </a:r>
            </a:p>
            <a:p>
              <a:r>
                <a:rPr lang="fr-FR" sz="2200" dirty="0">
                  <a:solidFill>
                    <a:srgbClr val="164F86"/>
                  </a:solidFill>
                  <a:latin typeface="Consolas" panose="020B0609020204030204" pitchFamily="49" charset="0"/>
                  <a:ea typeface="Courier New"/>
                  <a:cs typeface="Consolas" panose="020B0609020204030204" pitchFamily="49" charset="0"/>
                  <a:sym typeface="Courier New"/>
                </a:rPr>
                <a:t>		</a:t>
              </a:r>
              <a:r>
                <a:rPr lang="fr-FR" sz="2200" dirty="0" err="1">
                  <a:solidFill>
                    <a:srgbClr val="164F86"/>
                  </a:solidFill>
                  <a:latin typeface="Consolas" panose="020B0609020204030204" pitchFamily="49" charset="0"/>
                  <a:ea typeface="Courier New"/>
                  <a:cs typeface="Consolas" panose="020B0609020204030204" pitchFamily="49" charset="0"/>
                  <a:sym typeface="Courier New"/>
                </a:rPr>
                <a:t>clinic_name</a:t>
              </a:r>
              <a:endParaRPr lang="fr-FR" sz="2200" dirty="0">
                <a:solidFill>
                  <a:srgbClr val="164F86"/>
                </a:solidFill>
                <a:latin typeface="Consolas" panose="020B0609020204030204" pitchFamily="49" charset="0"/>
                <a:ea typeface="Courier New"/>
                <a:cs typeface="Consolas" panose="020B0609020204030204" pitchFamily="49" charset="0"/>
                <a:sym typeface="Courier New"/>
              </a:endParaRPr>
            </a:p>
            <a:p>
              <a:r>
                <a:rPr lang="fr-FR" sz="2200" dirty="0">
                  <a:solidFill>
                    <a:srgbClr val="164F86"/>
                  </a:solidFill>
                  <a:latin typeface="Consolas" panose="020B0609020204030204" pitchFamily="49" charset="0"/>
                  <a:ea typeface="Courier New"/>
                  <a:cs typeface="Consolas" panose="020B0609020204030204" pitchFamily="49" charset="0"/>
                  <a:sym typeface="Courier New"/>
                </a:rPr>
                <a:t>	    )</a:t>
              </a:r>
            </a:p>
          </p:txBody>
        </p:sp>
      </p:grpSp>
    </p:spTree>
    <p:extLst>
      <p:ext uri="{BB962C8B-B14F-4D97-AF65-F5344CB8AC3E}">
        <p14:creationId xmlns:p14="http://schemas.microsoft.com/office/powerpoint/2010/main" val="114248035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599799" y="2293205"/>
            <a:ext cx="11018141" cy="2104465"/>
          </a:xfrm>
          <a:prstGeom prst="rect">
            <a:avLst/>
          </a:prstGeom>
          <a:solidFill>
            <a:srgbClr val="F0F2F4"/>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p:cNvSpPr txBox="1"/>
          <p:nvPr/>
        </p:nvSpPr>
        <p:spPr>
          <a:xfrm>
            <a:off x="704870" y="2344866"/>
            <a:ext cx="10782260" cy="2554545"/>
          </a:xfrm>
          <a:prstGeom prst="rect">
            <a:avLst/>
          </a:prstGeom>
          <a:noFill/>
        </p:spPr>
        <p:txBody>
          <a:bodyPr wrap="square" rtlCol="0">
            <a:spAutoFit/>
          </a:bodyPr>
          <a:lstStyle/>
          <a:p>
            <a:r>
              <a:rPr lang="en-US" sz="4000" dirty="0" err="1">
                <a:solidFill>
                  <a:srgbClr val="164F86"/>
                </a:solidFill>
                <a:latin typeface="Consolas" panose="020B0609020204030204" pitchFamily="49" charset="0"/>
                <a:ea typeface="Courier New"/>
                <a:cs typeface="Consolas" panose="020B0609020204030204" pitchFamily="49" charset="0"/>
                <a:sym typeface="Courier New"/>
              </a:rPr>
              <a:t>covid_testing</a:t>
            </a:r>
            <a:r>
              <a:rPr lang="en-US" sz="4000" dirty="0">
                <a:solidFill>
                  <a:srgbClr val="164F86"/>
                </a:solidFill>
                <a:latin typeface="Consolas" panose="020B0609020204030204" pitchFamily="49" charset="0"/>
                <a:ea typeface="Courier New"/>
                <a:cs typeface="Consolas" panose="020B0609020204030204" pitchFamily="49" charset="0"/>
                <a:sym typeface="Courier New"/>
              </a:rPr>
              <a:t> %&gt;% </a:t>
            </a:r>
          </a:p>
          <a:p>
            <a:r>
              <a:rPr lang="en-US" sz="4000" dirty="0">
                <a:solidFill>
                  <a:srgbClr val="164F86"/>
                </a:solidFill>
                <a:latin typeface="Consolas" panose="020B0609020204030204" pitchFamily="49" charset="0"/>
                <a:ea typeface="Courier New"/>
                <a:cs typeface="Consolas" panose="020B0609020204030204" pitchFamily="49" charset="0"/>
                <a:sym typeface="Courier New"/>
              </a:rPr>
              <a:t>	filter(</a:t>
            </a:r>
            <a:r>
              <a:rPr lang="en-US" sz="4000" dirty="0" err="1">
                <a:solidFill>
                  <a:srgbClr val="164F86"/>
                </a:solidFill>
                <a:latin typeface="Consolas" panose="020B0609020204030204" pitchFamily="49" charset="0"/>
                <a:ea typeface="Courier New"/>
                <a:cs typeface="Consolas" panose="020B0609020204030204" pitchFamily="49" charset="0"/>
                <a:sym typeface="Courier New"/>
              </a:rPr>
              <a:t>pan_day</a:t>
            </a:r>
            <a:r>
              <a:rPr lang="en-US" sz="4000" dirty="0">
                <a:solidFill>
                  <a:srgbClr val="164F86"/>
                </a:solidFill>
                <a:latin typeface="Consolas" panose="020B0609020204030204" pitchFamily="49" charset="0"/>
                <a:ea typeface="Courier New"/>
                <a:cs typeface="Consolas" panose="020B0609020204030204" pitchFamily="49" charset="0"/>
                <a:sym typeface="Courier New"/>
              </a:rPr>
              <a:t> &lt;= 10) %&gt;%</a:t>
            </a:r>
          </a:p>
          <a:p>
            <a:r>
              <a:rPr lang="en-US" sz="4000" dirty="0">
                <a:solidFill>
                  <a:srgbClr val="164F86"/>
                </a:solidFill>
                <a:latin typeface="Consolas" panose="020B0609020204030204" pitchFamily="49" charset="0"/>
                <a:ea typeface="Courier New"/>
                <a:cs typeface="Consolas" panose="020B0609020204030204" pitchFamily="49" charset="0"/>
                <a:sym typeface="Courier New"/>
              </a:rPr>
              <a:t>	select(</a:t>
            </a:r>
            <a:r>
              <a:rPr lang="en-US" sz="4000" dirty="0" err="1">
                <a:solidFill>
                  <a:srgbClr val="164F86"/>
                </a:solidFill>
                <a:latin typeface="Consolas" panose="020B0609020204030204" pitchFamily="49" charset="0"/>
                <a:ea typeface="Courier New"/>
                <a:cs typeface="Consolas" panose="020B0609020204030204" pitchFamily="49" charset="0"/>
                <a:sym typeface="Courier New"/>
              </a:rPr>
              <a:t>clinic_name</a:t>
            </a:r>
            <a:r>
              <a:rPr lang="en-US" sz="4000" dirty="0">
                <a:solidFill>
                  <a:srgbClr val="164F86"/>
                </a:solidFill>
                <a:latin typeface="Consolas" panose="020B0609020204030204" pitchFamily="49" charset="0"/>
                <a:ea typeface="Courier New"/>
                <a:cs typeface="Consolas" panose="020B0609020204030204" pitchFamily="49" charset="0"/>
                <a:sym typeface="Courier New"/>
              </a:rPr>
              <a:t>)</a:t>
            </a:r>
          </a:p>
          <a:p>
            <a:endParaRPr lang="en-US" sz="4000" dirty="0">
              <a:solidFill>
                <a:srgbClr val="164F86"/>
              </a:solidFill>
              <a:latin typeface="Consolas" panose="020B0609020204030204" pitchFamily="49" charset="0"/>
              <a:ea typeface="Courier New"/>
              <a:cs typeface="Consolas" panose="020B0609020204030204" pitchFamily="49" charset="0"/>
              <a:sym typeface="Courier New"/>
            </a:endParaRPr>
          </a:p>
        </p:txBody>
      </p:sp>
      <p:sp>
        <p:nvSpPr>
          <p:cNvPr id="5" name="TextBox 4">
            <a:extLst>
              <a:ext uri="{FF2B5EF4-FFF2-40B4-BE49-F238E27FC236}">
                <a16:creationId xmlns:a16="http://schemas.microsoft.com/office/drawing/2014/main" id="{0073D0BB-CB46-2697-9103-F31FE83BEA7E}"/>
              </a:ext>
            </a:extLst>
          </p:cNvPr>
          <p:cNvSpPr txBox="1"/>
          <p:nvPr/>
        </p:nvSpPr>
        <p:spPr>
          <a:xfrm>
            <a:off x="1231043" y="5552552"/>
            <a:ext cx="9729914" cy="1077218"/>
          </a:xfrm>
          <a:prstGeom prst="rect">
            <a:avLst/>
          </a:prstGeom>
          <a:noFill/>
        </p:spPr>
        <p:txBody>
          <a:bodyPr wrap="square">
            <a:spAutoFit/>
          </a:bodyPr>
          <a:lstStyle/>
          <a:p>
            <a:pPr algn="ctr"/>
            <a:r>
              <a:rPr lang="en-US" sz="3200" dirty="0">
                <a:latin typeface="Calibri" panose="020F0502020204030204" pitchFamily="34" charset="0"/>
              </a:rPr>
              <a:t>Note: You may see the new pipe </a:t>
            </a:r>
            <a:r>
              <a:rPr lang="en-US" sz="3200" b="1" dirty="0">
                <a:latin typeface="Calibri" panose="020F0502020204030204" pitchFamily="34" charset="0"/>
              </a:rPr>
              <a:t>|&gt; </a:t>
            </a:r>
            <a:r>
              <a:rPr lang="en-US" sz="3200" dirty="0">
                <a:latin typeface="Calibri" panose="020F0502020204030204" pitchFamily="34" charset="0"/>
              </a:rPr>
              <a:t>in newer versions of R</a:t>
            </a:r>
            <a:endParaRPr lang="en-US" sz="3200" b="1" dirty="0">
              <a:latin typeface="Calibri" panose="020F0502020204030204" pitchFamily="34" charset="0"/>
            </a:endParaRPr>
          </a:p>
          <a:p>
            <a:pPr algn="ctr"/>
            <a:r>
              <a:rPr lang="en-US" sz="3200" dirty="0">
                <a:latin typeface="Calibri" panose="020F0502020204030204" pitchFamily="34" charset="0"/>
              </a:rPr>
              <a:t>Equivalent to %&gt;%</a:t>
            </a:r>
          </a:p>
        </p:txBody>
      </p:sp>
    </p:spTree>
    <p:extLst>
      <p:ext uri="{BB962C8B-B14F-4D97-AF65-F5344CB8AC3E}">
        <p14:creationId xmlns:p14="http://schemas.microsoft.com/office/powerpoint/2010/main" val="57468616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a:xfrm>
            <a:off x="1024128" y="585216"/>
            <a:ext cx="9720072" cy="1499616"/>
          </a:xfrm>
        </p:spPr>
        <p:txBody>
          <a:bodyPr/>
          <a:lstStyle/>
          <a:p>
            <a:r>
              <a:rPr lang="en-US" dirty="0"/>
              <a:t>Pop Quiz</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a:xfrm>
            <a:off x="935665" y="1924493"/>
            <a:ext cx="9932963" cy="4933507"/>
          </a:xfrm>
        </p:spPr>
        <p:txBody>
          <a:bodyPr>
            <a:normAutofit/>
          </a:bodyPr>
          <a:lstStyle/>
          <a:p>
            <a:pPr marL="0" indent="0" algn="ctr">
              <a:buNone/>
            </a:pPr>
            <a:r>
              <a:rPr lang="en-US" sz="4400" dirty="0"/>
              <a:t>Which of the following is equivalent to:</a:t>
            </a:r>
          </a:p>
          <a:p>
            <a:pPr marL="0" indent="0" algn="ctr">
              <a:buNone/>
            </a:pPr>
            <a:br>
              <a:rPr lang="en-US" sz="1400" dirty="0"/>
            </a:br>
            <a:r>
              <a:rPr lang="en-US" sz="4400" dirty="0">
                <a:solidFill>
                  <a:srgbClr val="0070C0"/>
                </a:solidFill>
                <a:latin typeface="Consolas" panose="020B0609020204030204" pitchFamily="49" charset="0"/>
                <a:ea typeface="Monaco" charset="0"/>
                <a:cs typeface="Consolas" panose="020B0609020204030204" pitchFamily="49" charset="0"/>
              </a:rPr>
              <a:t>data %&gt;% select(</a:t>
            </a:r>
            <a:r>
              <a:rPr lang="en-US" sz="4400" dirty="0" err="1">
                <a:solidFill>
                  <a:srgbClr val="0070C0"/>
                </a:solidFill>
                <a:latin typeface="Consolas" panose="020B0609020204030204" pitchFamily="49" charset="0"/>
                <a:ea typeface="Monaco" charset="0"/>
                <a:cs typeface="Consolas" panose="020B0609020204030204" pitchFamily="49" charset="0"/>
              </a:rPr>
              <a:t>column_name</a:t>
            </a:r>
            <a:r>
              <a:rPr lang="en-US" sz="4400" dirty="0">
                <a:solidFill>
                  <a:srgbClr val="0070C0"/>
                </a:solidFill>
                <a:latin typeface="Consolas" panose="020B0609020204030204" pitchFamily="49" charset="0"/>
                <a:ea typeface="Monaco" charset="0"/>
                <a:cs typeface="Consolas" panose="020B0609020204030204" pitchFamily="49" charset="0"/>
              </a:rPr>
              <a:t>)</a:t>
            </a:r>
            <a:endParaRPr lang="en-US" sz="5400" dirty="0">
              <a:latin typeface="Consolas" panose="020B0609020204030204" pitchFamily="49" charset="0"/>
            </a:endParaRPr>
          </a:p>
          <a:p>
            <a:pPr marL="0" indent="0">
              <a:buNone/>
            </a:pPr>
            <a:r>
              <a:rPr lang="en-US" sz="4400" dirty="0"/>
              <a:t>A. </a:t>
            </a:r>
            <a:r>
              <a:rPr lang="en-US" sz="3600" dirty="0">
                <a:solidFill>
                  <a:srgbClr val="0070C0"/>
                </a:solidFill>
                <a:latin typeface="Consolas" panose="020B0609020204030204" pitchFamily="49" charset="0"/>
                <a:ea typeface="Monaco" charset="0"/>
                <a:cs typeface="Consolas" panose="020B0609020204030204" pitchFamily="49" charset="0"/>
              </a:rPr>
              <a:t>data(select(</a:t>
            </a:r>
            <a:r>
              <a:rPr lang="en-US" sz="3600" dirty="0" err="1">
                <a:solidFill>
                  <a:srgbClr val="0070C0"/>
                </a:solidFill>
                <a:latin typeface="Consolas" panose="020B0609020204030204" pitchFamily="49" charset="0"/>
                <a:ea typeface="Monaco" charset="0"/>
                <a:cs typeface="Consolas" panose="020B0609020204030204" pitchFamily="49" charset="0"/>
              </a:rPr>
              <a:t>column_name</a:t>
            </a:r>
            <a:r>
              <a:rPr lang="en-US" sz="3600" dirty="0">
                <a:solidFill>
                  <a:srgbClr val="0070C0"/>
                </a:solidFill>
                <a:latin typeface="Consolas" panose="020B0609020204030204" pitchFamily="49" charset="0"/>
                <a:ea typeface="Monaco" charset="0"/>
                <a:cs typeface="Consolas" panose="020B0609020204030204" pitchFamily="49" charset="0"/>
              </a:rPr>
              <a:t>))</a:t>
            </a:r>
            <a:endParaRPr lang="en-US" sz="4400" dirty="0">
              <a:latin typeface="Consolas" panose="020B0609020204030204" pitchFamily="49" charset="0"/>
            </a:endParaRPr>
          </a:p>
          <a:p>
            <a:pPr marL="0" indent="0">
              <a:buNone/>
            </a:pPr>
            <a:r>
              <a:rPr lang="en-US" sz="4400" dirty="0"/>
              <a:t>B. </a:t>
            </a:r>
            <a:r>
              <a:rPr lang="en-US" sz="3600" dirty="0">
                <a:solidFill>
                  <a:srgbClr val="0070C0"/>
                </a:solidFill>
                <a:latin typeface="Consolas" panose="020B0609020204030204" pitchFamily="49" charset="0"/>
                <a:ea typeface="Monaco" charset="0"/>
                <a:cs typeface="Consolas" panose="020B0609020204030204" pitchFamily="49" charset="0"/>
              </a:rPr>
              <a:t>select</a:t>
            </a:r>
            <a:r>
              <a:rPr lang="en-US" sz="3600" dirty="0">
                <a:solidFill>
                  <a:srgbClr val="0070C0"/>
                </a:solidFill>
                <a:latin typeface="Consolas" panose="020B0609020204030204" pitchFamily="49" charset="0"/>
              </a:rPr>
              <a:t>(</a:t>
            </a:r>
            <a:r>
              <a:rPr lang="en-US" sz="3600" dirty="0">
                <a:solidFill>
                  <a:srgbClr val="0070C0"/>
                </a:solidFill>
                <a:latin typeface="Consolas" panose="020B0609020204030204" pitchFamily="49" charset="0"/>
                <a:ea typeface="Monaco" charset="0"/>
                <a:cs typeface="Consolas" panose="020B0609020204030204" pitchFamily="49" charset="0"/>
              </a:rPr>
              <a:t>data</a:t>
            </a:r>
            <a:r>
              <a:rPr lang="en-US" sz="3600" dirty="0">
                <a:solidFill>
                  <a:srgbClr val="0070C0"/>
                </a:solidFill>
                <a:latin typeface="Consolas" panose="020B0609020204030204" pitchFamily="49" charset="0"/>
              </a:rPr>
              <a:t>(</a:t>
            </a:r>
            <a:r>
              <a:rPr lang="en-US" sz="3600" dirty="0" err="1">
                <a:solidFill>
                  <a:srgbClr val="0070C0"/>
                </a:solidFill>
                <a:latin typeface="Consolas" panose="020B0609020204030204" pitchFamily="49" charset="0"/>
                <a:ea typeface="Monaco" charset="0"/>
                <a:cs typeface="Consolas" panose="020B0609020204030204" pitchFamily="49" charset="0"/>
              </a:rPr>
              <a:t>column_name</a:t>
            </a:r>
            <a:r>
              <a:rPr lang="en-US" sz="3600" dirty="0">
                <a:solidFill>
                  <a:srgbClr val="0070C0"/>
                </a:solidFill>
                <a:latin typeface="Consolas" panose="020B0609020204030204" pitchFamily="49" charset="0"/>
              </a:rPr>
              <a:t>))</a:t>
            </a:r>
          </a:p>
          <a:p>
            <a:pPr marL="0" indent="0">
              <a:buNone/>
            </a:pPr>
            <a:r>
              <a:rPr lang="en-US" sz="4400" dirty="0"/>
              <a:t>C. </a:t>
            </a:r>
            <a:r>
              <a:rPr lang="en-US" sz="3600" dirty="0">
                <a:solidFill>
                  <a:srgbClr val="0070C0"/>
                </a:solidFill>
                <a:latin typeface="Consolas" panose="020B0609020204030204" pitchFamily="49" charset="0"/>
                <a:ea typeface="Monaco" charset="0"/>
                <a:cs typeface="Consolas" panose="020B0609020204030204" pitchFamily="49" charset="0"/>
              </a:rPr>
              <a:t>select</a:t>
            </a:r>
            <a:r>
              <a:rPr lang="en-US" sz="3600" dirty="0">
                <a:solidFill>
                  <a:srgbClr val="0070C0"/>
                </a:solidFill>
                <a:latin typeface="Consolas" panose="020B0609020204030204" pitchFamily="49" charset="0"/>
              </a:rPr>
              <a:t>(</a:t>
            </a:r>
            <a:r>
              <a:rPr lang="en-US" sz="3600" dirty="0" err="1">
                <a:solidFill>
                  <a:srgbClr val="0070C0"/>
                </a:solidFill>
                <a:latin typeface="Consolas" panose="020B0609020204030204" pitchFamily="49" charset="0"/>
                <a:ea typeface="Monaco" charset="0"/>
                <a:cs typeface="Consolas" panose="020B0609020204030204" pitchFamily="49" charset="0"/>
              </a:rPr>
              <a:t>column_name</a:t>
            </a:r>
            <a:r>
              <a:rPr lang="en-US" sz="3600" dirty="0">
                <a:solidFill>
                  <a:srgbClr val="0070C0"/>
                </a:solidFill>
                <a:latin typeface="Consolas" panose="020B0609020204030204" pitchFamily="49" charset="0"/>
              </a:rPr>
              <a:t>, </a:t>
            </a:r>
            <a:r>
              <a:rPr lang="en-US" sz="3600" dirty="0">
                <a:solidFill>
                  <a:srgbClr val="0070C0"/>
                </a:solidFill>
                <a:latin typeface="Consolas" panose="020B0609020204030204" pitchFamily="49" charset="0"/>
                <a:ea typeface="Monaco" charset="0"/>
                <a:cs typeface="Consolas" panose="020B0609020204030204" pitchFamily="49" charset="0"/>
              </a:rPr>
              <a:t>data</a:t>
            </a:r>
            <a:r>
              <a:rPr lang="en-US" sz="3600" dirty="0">
                <a:solidFill>
                  <a:srgbClr val="0070C0"/>
                </a:solidFill>
                <a:latin typeface="Consolas" panose="020B0609020204030204" pitchFamily="49" charset="0"/>
              </a:rPr>
              <a:t>)</a:t>
            </a:r>
          </a:p>
          <a:p>
            <a:pPr marL="0" indent="0">
              <a:buNone/>
            </a:pPr>
            <a:r>
              <a:rPr lang="en-US" sz="4400" dirty="0"/>
              <a:t>D. </a:t>
            </a:r>
            <a:r>
              <a:rPr lang="en-US" sz="3600" dirty="0">
                <a:solidFill>
                  <a:srgbClr val="0070C0"/>
                </a:solidFill>
                <a:latin typeface="Consolas" panose="020B0609020204030204" pitchFamily="49" charset="0"/>
                <a:ea typeface="Monaco" charset="0"/>
                <a:cs typeface="Consolas" panose="020B0609020204030204" pitchFamily="49" charset="0"/>
              </a:rPr>
              <a:t>select</a:t>
            </a:r>
            <a:r>
              <a:rPr lang="en-US" sz="3600" dirty="0">
                <a:solidFill>
                  <a:srgbClr val="0070C0"/>
                </a:solidFill>
                <a:latin typeface="Consolas" panose="020B0609020204030204" pitchFamily="49" charset="0"/>
              </a:rPr>
              <a:t>(</a:t>
            </a:r>
            <a:r>
              <a:rPr lang="en-US" sz="3600" dirty="0">
                <a:solidFill>
                  <a:srgbClr val="0070C0"/>
                </a:solidFill>
                <a:latin typeface="Consolas" panose="020B0609020204030204" pitchFamily="49" charset="0"/>
                <a:ea typeface="Monaco" charset="0"/>
                <a:cs typeface="Consolas" panose="020B0609020204030204" pitchFamily="49" charset="0"/>
              </a:rPr>
              <a:t>data</a:t>
            </a:r>
            <a:r>
              <a:rPr lang="en-US" sz="3600" dirty="0">
                <a:solidFill>
                  <a:srgbClr val="0070C0"/>
                </a:solidFill>
                <a:latin typeface="Consolas" panose="020B0609020204030204" pitchFamily="49" charset="0"/>
              </a:rPr>
              <a:t>, </a:t>
            </a:r>
            <a:r>
              <a:rPr lang="en-US" sz="3600" dirty="0" err="1">
                <a:solidFill>
                  <a:srgbClr val="0070C0"/>
                </a:solidFill>
                <a:latin typeface="Consolas" panose="020B0609020204030204" pitchFamily="49" charset="0"/>
                <a:ea typeface="Monaco" charset="0"/>
                <a:cs typeface="Consolas" panose="020B0609020204030204" pitchFamily="49" charset="0"/>
              </a:rPr>
              <a:t>column_name</a:t>
            </a:r>
            <a:r>
              <a:rPr lang="en-US" sz="3600" dirty="0">
                <a:solidFill>
                  <a:srgbClr val="0070C0"/>
                </a:solidFill>
                <a:latin typeface="Consolas" panose="020B0609020204030204" pitchFamily="49" charset="0"/>
              </a:rPr>
              <a:t>)</a:t>
            </a:r>
          </a:p>
        </p:txBody>
      </p:sp>
    </p:spTree>
    <p:extLst>
      <p:ext uri="{BB962C8B-B14F-4D97-AF65-F5344CB8AC3E}">
        <p14:creationId xmlns:p14="http://schemas.microsoft.com/office/powerpoint/2010/main" val="356871597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Create new columns</a:t>
            </a:r>
          </a:p>
        </p:txBody>
      </p:sp>
    </p:spTree>
    <p:extLst>
      <p:ext uri="{BB962C8B-B14F-4D97-AF65-F5344CB8AC3E}">
        <p14:creationId xmlns:p14="http://schemas.microsoft.com/office/powerpoint/2010/main" val="28946206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3" name="Google Shape;293;p32"/>
          <p:cNvSpPr txBox="1">
            <a:spLocks noGrp="1"/>
          </p:cNvSpPr>
          <p:nvPr>
            <p:ph type="title"/>
          </p:nvPr>
        </p:nvSpPr>
        <p:spPr>
          <a:xfrm>
            <a:off x="0" y="684400"/>
            <a:ext cx="12192000"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latin typeface="Consolas" panose="020B0609020204030204" pitchFamily="49" charset="0"/>
              </a:rPr>
              <a:t>mutate()</a:t>
            </a:r>
            <a:endParaRPr dirty="0">
              <a:latin typeface="Consolas" panose="020B0609020204030204" pitchFamily="49" charset="0"/>
            </a:endParaRPr>
          </a:p>
        </p:txBody>
      </p:sp>
      <p:pic>
        <p:nvPicPr>
          <p:cNvPr id="13" name="Picture 12"/>
          <p:cNvPicPr>
            <a:picLocks noChangeAspect="1"/>
          </p:cNvPicPr>
          <p:nvPr/>
        </p:nvPicPr>
        <p:blipFill>
          <a:blip r:embed="rId3"/>
          <a:stretch>
            <a:fillRect/>
          </a:stretch>
        </p:blipFill>
        <p:spPr>
          <a:xfrm>
            <a:off x="2868595" y="2672531"/>
            <a:ext cx="6454811" cy="1760404"/>
          </a:xfrm>
          <a:prstGeom prst="rect">
            <a:avLst/>
          </a:prstGeom>
        </p:spPr>
      </p:pic>
      <p:grpSp>
        <p:nvGrpSpPr>
          <p:cNvPr id="3" name="Group 2"/>
          <p:cNvGrpSpPr/>
          <p:nvPr/>
        </p:nvGrpSpPr>
        <p:grpSpPr>
          <a:xfrm>
            <a:off x="6342117" y="4505673"/>
            <a:ext cx="2928396" cy="1586106"/>
            <a:chOff x="6009784" y="4089073"/>
            <a:chExt cx="2928396" cy="2552214"/>
          </a:xfrm>
        </p:grpSpPr>
        <p:sp>
          <p:nvSpPr>
            <p:cNvPr id="7" name="Rounded Rectangular Callout 2"/>
            <p:cNvSpPr/>
            <p:nvPr/>
          </p:nvSpPr>
          <p:spPr>
            <a:xfrm>
              <a:off x="6009784" y="4089073"/>
              <a:ext cx="2928396" cy="2552214"/>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2552214">
                  <a:moveTo>
                    <a:pt x="0" y="1124701"/>
                  </a:moveTo>
                  <a:cubicBezTo>
                    <a:pt x="0" y="967019"/>
                    <a:pt x="127827" y="839192"/>
                    <a:pt x="285509" y="839192"/>
                  </a:cubicBezTo>
                  <a:lnTo>
                    <a:pt x="904754" y="862342"/>
                  </a:lnTo>
                  <a:lnTo>
                    <a:pt x="1050884" y="0"/>
                  </a:lnTo>
                  <a:lnTo>
                    <a:pt x="1220165" y="839192"/>
                  </a:lnTo>
                  <a:lnTo>
                    <a:pt x="2642887" y="839192"/>
                  </a:lnTo>
                  <a:cubicBezTo>
                    <a:pt x="2800569" y="839192"/>
                    <a:pt x="2928396" y="967019"/>
                    <a:pt x="2928396" y="1124701"/>
                  </a:cubicBezTo>
                  <a:lnTo>
                    <a:pt x="2928396" y="1124696"/>
                  </a:lnTo>
                  <a:lnTo>
                    <a:pt x="2928396" y="1124696"/>
                  </a:lnTo>
                  <a:lnTo>
                    <a:pt x="2928396" y="1552951"/>
                  </a:lnTo>
                  <a:lnTo>
                    <a:pt x="2928396" y="2266705"/>
                  </a:lnTo>
                  <a:cubicBezTo>
                    <a:pt x="2928396" y="2424387"/>
                    <a:pt x="2800569" y="2552214"/>
                    <a:pt x="2642887" y="2552214"/>
                  </a:cubicBezTo>
                  <a:lnTo>
                    <a:pt x="1220165" y="2552214"/>
                  </a:lnTo>
                  <a:lnTo>
                    <a:pt x="488066" y="2552214"/>
                  </a:lnTo>
                  <a:lnTo>
                    <a:pt x="488066" y="2552214"/>
                  </a:lnTo>
                  <a:lnTo>
                    <a:pt x="285509" y="2552214"/>
                  </a:lnTo>
                  <a:cubicBezTo>
                    <a:pt x="127827" y="2552214"/>
                    <a:pt x="0" y="2424387"/>
                    <a:pt x="0" y="2266705"/>
                  </a:cubicBezTo>
                  <a:lnTo>
                    <a:pt x="0" y="1552951"/>
                  </a:lnTo>
                  <a:lnTo>
                    <a:pt x="0" y="1124696"/>
                  </a:lnTo>
                  <a:lnTo>
                    <a:pt x="0" y="1124696"/>
                  </a:lnTo>
                  <a:lnTo>
                    <a:pt x="0" y="1124701"/>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8" name="Google Shape;324;p34"/>
            <p:cNvSpPr txBox="1"/>
            <p:nvPr/>
          </p:nvSpPr>
          <p:spPr>
            <a:xfrm>
              <a:off x="6009784" y="5036357"/>
              <a:ext cx="2928395" cy="1510232"/>
            </a:xfrm>
            <a:prstGeom prst="rect">
              <a:avLst/>
            </a:prstGeom>
            <a:noFill/>
            <a:ln>
              <a:noFill/>
            </a:ln>
          </p:spPr>
          <p:txBody>
            <a:bodyPr spcFirstLastPara="1" wrap="square" lIns="0" tIns="8504" rIns="0" bIns="0" anchor="t" anchorCtr="0">
              <a:noAutofit/>
            </a:bodyPr>
            <a:lstStyle/>
            <a:p>
              <a:pPr marL="8164" algn="ctr">
                <a:lnSpc>
                  <a:spcPct val="116753"/>
                </a:lnSpc>
              </a:pPr>
              <a:r>
                <a:rPr lang="en-US" sz="2400" b="1" dirty="0">
                  <a:solidFill>
                    <a:srgbClr val="FFFFFF"/>
                  </a:solidFill>
                  <a:latin typeface="Trebuchet MS"/>
                  <a:ea typeface="Trebuchet MS"/>
                  <a:cs typeface="Trebuchet MS"/>
                  <a:sym typeface="Trebuchet MS"/>
                </a:rPr>
                <a:t>=</a:t>
              </a:r>
              <a:r>
                <a:rPr lang="en-US" sz="2062" dirty="0">
                  <a:solidFill>
                    <a:srgbClr val="FFFFFF"/>
                  </a:solidFill>
                  <a:latin typeface="Trebuchet MS"/>
                  <a:ea typeface="Trebuchet MS"/>
                  <a:cs typeface="Trebuchet MS"/>
                  <a:sym typeface="Trebuchet MS"/>
                </a:rPr>
                <a:t> Number of rows</a:t>
              </a:r>
            </a:p>
            <a:p>
              <a:pPr marL="8164" algn="ctr">
                <a:lnSpc>
                  <a:spcPct val="116753"/>
                </a:lnSpc>
              </a:pPr>
              <a:r>
                <a:rPr lang="en-US" sz="2400" b="1" dirty="0">
                  <a:solidFill>
                    <a:srgbClr val="FFFFFF"/>
                  </a:solidFill>
                  <a:latin typeface="Trebuchet MS"/>
                  <a:ea typeface="Calibri"/>
                  <a:cs typeface="Calibri"/>
                  <a:sym typeface="Trebuchet MS"/>
                </a:rPr>
                <a:t>↑</a:t>
              </a:r>
              <a:r>
                <a:rPr lang="en-US" sz="2062" dirty="0">
                  <a:solidFill>
                    <a:srgbClr val="FFFFFF"/>
                  </a:solidFill>
                  <a:latin typeface="Trebuchet MS"/>
                  <a:ea typeface="Calibri"/>
                  <a:cs typeface="Calibri"/>
                  <a:sym typeface="Trebuchet MS"/>
                </a:rPr>
                <a:t> Number of Columns</a:t>
              </a:r>
              <a:endParaRPr sz="2062" dirty="0">
                <a:latin typeface="Calibri"/>
                <a:ea typeface="Calibri"/>
                <a:cs typeface="Calibri"/>
                <a:sym typeface="Calibri"/>
              </a:endParaRPr>
            </a:p>
          </p:txBody>
        </p:sp>
      </p:grpSp>
      <p:sp>
        <p:nvSpPr>
          <p:cNvPr id="14" name="Google Shape;296;p32"/>
          <p:cNvSpPr txBox="1"/>
          <p:nvPr/>
        </p:nvSpPr>
        <p:spPr>
          <a:xfrm>
            <a:off x="2125774" y="1673939"/>
            <a:ext cx="7940453" cy="488905"/>
          </a:xfrm>
          <a:prstGeom prst="rect">
            <a:avLst/>
          </a:prstGeom>
          <a:noFill/>
          <a:ln>
            <a:noFill/>
          </a:ln>
        </p:spPr>
        <p:txBody>
          <a:bodyPr spcFirstLastPara="1" wrap="square" lIns="0" tIns="6455" rIns="0" bIns="0" anchor="t" anchorCtr="0">
            <a:noAutofit/>
          </a:bodyPr>
          <a:lstStyle/>
          <a:p>
            <a:pPr marL="6803" algn="ctr"/>
            <a:r>
              <a:rPr lang="en-US" sz="3200" dirty="0">
                <a:latin typeface="Tw Cen MT" panose="020B0602020104020603" pitchFamily="34" charset="77"/>
                <a:ea typeface="Calibri"/>
                <a:cs typeface="Calibri"/>
                <a:sym typeface="Calibri"/>
              </a:rPr>
              <a:t>Create new calculated columns</a:t>
            </a:r>
            <a:endParaRPr sz="3200" dirty="0">
              <a:latin typeface="Tw Cen MT" panose="020B0602020104020603" pitchFamily="34" charset="77"/>
              <a:ea typeface="Calibri"/>
              <a:cs typeface="Calibri"/>
              <a:sym typeface="Calibri"/>
            </a:endParaRPr>
          </a:p>
        </p:txBody>
      </p:sp>
    </p:spTree>
    <p:extLst>
      <p:ext uri="{BB962C8B-B14F-4D97-AF65-F5344CB8AC3E}">
        <p14:creationId xmlns:p14="http://schemas.microsoft.com/office/powerpoint/2010/main" val="1915263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6" name="Google Shape;131;p17"/>
          <p:cNvSpPr/>
          <p:nvPr/>
        </p:nvSpPr>
        <p:spPr>
          <a:xfrm>
            <a:off x="1603948" y="2255454"/>
            <a:ext cx="8580582" cy="1497972"/>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1760075" y="2313797"/>
            <a:ext cx="8424455" cy="1200329"/>
          </a:xfrm>
          <a:prstGeom prst="rect">
            <a:avLst/>
          </a:prstGeom>
        </p:spPr>
        <p:txBody>
          <a:bodyPr wrap="square">
            <a:spAutoFit/>
          </a:bodyPr>
          <a:lstStyle/>
          <a:p>
            <a:r>
              <a:rPr lang="en-US" sz="3200" dirty="0" err="1">
                <a:latin typeface="Consolas" panose="020B0609020204030204" pitchFamily="49" charset="0"/>
                <a:ea typeface="Courier New"/>
                <a:cs typeface="Consolas" panose="020B0609020204030204" pitchFamily="49" charset="0"/>
                <a:sym typeface="Courier New"/>
              </a:rPr>
              <a:t>covid_testing</a:t>
            </a:r>
            <a:r>
              <a:rPr lang="en-US" sz="3200" dirty="0">
                <a:latin typeface="Consolas" panose="020B0609020204030204" pitchFamily="49" charset="0"/>
                <a:ea typeface="Courier New"/>
                <a:cs typeface="Consolas" panose="020B0609020204030204" pitchFamily="49" charset="0"/>
                <a:sym typeface="Courier New"/>
              </a:rPr>
              <a:t> %&gt;%</a:t>
            </a:r>
          </a:p>
          <a:p>
            <a:r>
              <a:rPr lang="en-US" sz="3200" dirty="0">
                <a:latin typeface="Consolas" panose="020B0609020204030204" pitchFamily="49" charset="0"/>
                <a:ea typeface="Courier New"/>
                <a:cs typeface="Consolas" panose="020B0609020204030204" pitchFamily="49" charset="0"/>
                <a:sym typeface="Courier New"/>
              </a:rPr>
              <a:t>	mutate(</a:t>
            </a:r>
            <a:r>
              <a:rPr lang="en-US" sz="3200" dirty="0" err="1">
                <a:solidFill>
                  <a:srgbClr val="538DD5"/>
                </a:solidFill>
                <a:latin typeface="Consolas" panose="020B0609020204030204" pitchFamily="49" charset="0"/>
                <a:ea typeface="Courier New"/>
                <a:cs typeface="Consolas" panose="020B0609020204030204" pitchFamily="49" charset="0"/>
                <a:sym typeface="Courier New"/>
              </a:rPr>
              <a:t>new_column</a:t>
            </a:r>
            <a:r>
              <a:rPr lang="en-US" sz="3200" dirty="0">
                <a:latin typeface="Consolas" panose="020B0609020204030204" pitchFamily="49" charset="0"/>
                <a:ea typeface="Courier New"/>
                <a:cs typeface="Consolas" panose="020B0609020204030204" pitchFamily="49" charset="0"/>
                <a:sym typeface="Courier New"/>
              </a:rPr>
              <a:t> </a:t>
            </a:r>
            <a:r>
              <a:rPr lang="en-US" sz="4000" b="1" dirty="0">
                <a:solidFill>
                  <a:schemeClr val="accent3"/>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 </a:t>
            </a:r>
            <a:r>
              <a:rPr lang="en-US" sz="3200" dirty="0">
                <a:solidFill>
                  <a:schemeClr val="accent2"/>
                </a:solidFill>
                <a:latin typeface="Consolas" panose="020B0609020204030204" pitchFamily="49" charset="0"/>
                <a:ea typeface="Courier New"/>
                <a:cs typeface="Consolas" panose="020B0609020204030204" pitchFamily="49" charset="0"/>
                <a:sym typeface="Courier New"/>
              </a:rPr>
              <a:t>calculation</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7" name="Google Shape;172;p20"/>
          <p:cNvSpPr/>
          <p:nvPr/>
        </p:nvSpPr>
        <p:spPr>
          <a:xfrm flipH="1">
            <a:off x="5703631" y="3384167"/>
            <a:ext cx="1900999" cy="2199471"/>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 name="connsiteX0" fmla="*/ 6812950 w 7169286"/>
              <a:gd name="connsiteY0" fmla="*/ 1302460 h 3920180"/>
              <a:gd name="connsiteX1" fmla="*/ 356337 w 7169286"/>
              <a:gd name="connsiteY1" fmla="*/ 1302460 h 3920180"/>
              <a:gd name="connsiteX2" fmla="*/ 307986 w 7169286"/>
              <a:gd name="connsiteY2" fmla="*/ 1305713 h 3920180"/>
              <a:gd name="connsiteX3" fmla="*/ 261611 w 7169286"/>
              <a:gd name="connsiteY3" fmla="*/ 1315189 h 3920180"/>
              <a:gd name="connsiteX4" fmla="*/ 217637 w 7169286"/>
              <a:gd name="connsiteY4" fmla="*/ 1330463 h 3920180"/>
              <a:gd name="connsiteX5" fmla="*/ 176489 w 7169286"/>
              <a:gd name="connsiteY5" fmla="*/ 1351111 h 3920180"/>
              <a:gd name="connsiteX6" fmla="*/ 138592 w 7169286"/>
              <a:gd name="connsiteY6" fmla="*/ 1376709 h 3920180"/>
              <a:gd name="connsiteX7" fmla="*/ 104371 w 7169286"/>
              <a:gd name="connsiteY7" fmla="*/ 1406831 h 3920180"/>
              <a:gd name="connsiteX8" fmla="*/ 74249 w 7169286"/>
              <a:gd name="connsiteY8" fmla="*/ 1441052 h 3920180"/>
              <a:gd name="connsiteX9" fmla="*/ 48651 w 7169286"/>
              <a:gd name="connsiteY9" fmla="*/ 1478949 h 3920180"/>
              <a:gd name="connsiteX10" fmla="*/ 28003 w 7169286"/>
              <a:gd name="connsiteY10" fmla="*/ 1520097 h 3920180"/>
              <a:gd name="connsiteX11" fmla="*/ 12729 w 7169286"/>
              <a:gd name="connsiteY11" fmla="*/ 1564071 h 3920180"/>
              <a:gd name="connsiteX12" fmla="*/ 3253 w 7169286"/>
              <a:gd name="connsiteY12" fmla="*/ 1610446 h 3920180"/>
              <a:gd name="connsiteX13" fmla="*/ 0 w 7169286"/>
              <a:gd name="connsiteY13" fmla="*/ 1658797 h 3920180"/>
              <a:gd name="connsiteX14" fmla="*/ 0 w 7169286"/>
              <a:gd name="connsiteY14" fmla="*/ 3563844 h 3920180"/>
              <a:gd name="connsiteX15" fmla="*/ 3253 w 7169286"/>
              <a:gd name="connsiteY15" fmla="*/ 3612196 h 3920180"/>
              <a:gd name="connsiteX16" fmla="*/ 12729 w 7169286"/>
              <a:gd name="connsiteY16" fmla="*/ 3658571 h 3920180"/>
              <a:gd name="connsiteX17" fmla="*/ 28003 w 7169286"/>
              <a:gd name="connsiteY17" fmla="*/ 3702544 h 3920180"/>
              <a:gd name="connsiteX18" fmla="*/ 48651 w 7169286"/>
              <a:gd name="connsiteY18" fmla="*/ 3743692 h 3920180"/>
              <a:gd name="connsiteX19" fmla="*/ 74249 w 7169286"/>
              <a:gd name="connsiteY19" fmla="*/ 3781589 h 3920180"/>
              <a:gd name="connsiteX20" fmla="*/ 104371 w 7169286"/>
              <a:gd name="connsiteY20" fmla="*/ 3815810 h 3920180"/>
              <a:gd name="connsiteX21" fmla="*/ 138592 w 7169286"/>
              <a:gd name="connsiteY21" fmla="*/ 3845932 h 3920180"/>
              <a:gd name="connsiteX22" fmla="*/ 176489 w 7169286"/>
              <a:gd name="connsiteY22" fmla="*/ 3871529 h 3920180"/>
              <a:gd name="connsiteX23" fmla="*/ 217637 w 7169286"/>
              <a:gd name="connsiteY23" fmla="*/ 3892177 h 3920180"/>
              <a:gd name="connsiteX24" fmla="*/ 261611 w 7169286"/>
              <a:gd name="connsiteY24" fmla="*/ 3907452 h 3920180"/>
              <a:gd name="connsiteX25" fmla="*/ 307986 w 7169286"/>
              <a:gd name="connsiteY25" fmla="*/ 3916928 h 3920180"/>
              <a:gd name="connsiteX26" fmla="*/ 356337 w 7169286"/>
              <a:gd name="connsiteY26" fmla="*/ 3920181 h 3920180"/>
              <a:gd name="connsiteX27" fmla="*/ 6812950 w 7169286"/>
              <a:gd name="connsiteY27" fmla="*/ 3920181 h 3920180"/>
              <a:gd name="connsiteX28" fmla="*/ 6861301 w 7169286"/>
              <a:gd name="connsiteY28" fmla="*/ 3916928 h 3920180"/>
              <a:gd name="connsiteX29" fmla="*/ 6907675 w 7169286"/>
              <a:gd name="connsiteY29" fmla="*/ 3907452 h 3920180"/>
              <a:gd name="connsiteX30" fmla="*/ 6951648 w 7169286"/>
              <a:gd name="connsiteY30" fmla="*/ 3892177 h 3920180"/>
              <a:gd name="connsiteX31" fmla="*/ 6992795 w 7169286"/>
              <a:gd name="connsiteY31" fmla="*/ 3871529 h 3920180"/>
              <a:gd name="connsiteX32" fmla="*/ 7030692 w 7169286"/>
              <a:gd name="connsiteY32" fmla="*/ 3845932 h 3920180"/>
              <a:gd name="connsiteX33" fmla="*/ 7064914 w 7169286"/>
              <a:gd name="connsiteY33" fmla="*/ 3815810 h 3920180"/>
              <a:gd name="connsiteX34" fmla="*/ 7095036 w 7169286"/>
              <a:gd name="connsiteY34" fmla="*/ 3781589 h 3920180"/>
              <a:gd name="connsiteX35" fmla="*/ 7120633 w 7169286"/>
              <a:gd name="connsiteY35" fmla="*/ 3743692 h 3920180"/>
              <a:gd name="connsiteX36" fmla="*/ 7141281 w 7169286"/>
              <a:gd name="connsiteY36" fmla="*/ 3702544 h 3920180"/>
              <a:gd name="connsiteX37" fmla="*/ 7156556 w 7169286"/>
              <a:gd name="connsiteY37" fmla="*/ 3658571 h 3920180"/>
              <a:gd name="connsiteX38" fmla="*/ 7166032 w 7169286"/>
              <a:gd name="connsiteY38" fmla="*/ 3612196 h 3920180"/>
              <a:gd name="connsiteX39" fmla="*/ 7169285 w 7169286"/>
              <a:gd name="connsiteY39" fmla="*/ 3563844 h 3920180"/>
              <a:gd name="connsiteX40" fmla="*/ 7169285 w 7169286"/>
              <a:gd name="connsiteY40" fmla="*/ 1658797 h 3920180"/>
              <a:gd name="connsiteX41" fmla="*/ 7166032 w 7169286"/>
              <a:gd name="connsiteY41" fmla="*/ 1610446 h 3920180"/>
              <a:gd name="connsiteX42" fmla="*/ 7156556 w 7169286"/>
              <a:gd name="connsiteY42" fmla="*/ 1564071 h 3920180"/>
              <a:gd name="connsiteX43" fmla="*/ 7141281 w 7169286"/>
              <a:gd name="connsiteY43" fmla="*/ 1520097 h 3920180"/>
              <a:gd name="connsiteX44" fmla="*/ 7120633 w 7169286"/>
              <a:gd name="connsiteY44" fmla="*/ 1478949 h 3920180"/>
              <a:gd name="connsiteX45" fmla="*/ 7095036 w 7169286"/>
              <a:gd name="connsiteY45" fmla="*/ 1441052 h 3920180"/>
              <a:gd name="connsiteX46" fmla="*/ 7064914 w 7169286"/>
              <a:gd name="connsiteY46" fmla="*/ 1406831 h 3920180"/>
              <a:gd name="connsiteX47" fmla="*/ 7030692 w 7169286"/>
              <a:gd name="connsiteY47" fmla="*/ 1376709 h 3920180"/>
              <a:gd name="connsiteX48" fmla="*/ 6992795 w 7169286"/>
              <a:gd name="connsiteY48" fmla="*/ 1351111 h 3920180"/>
              <a:gd name="connsiteX49" fmla="*/ 6951648 w 7169286"/>
              <a:gd name="connsiteY49" fmla="*/ 1330463 h 3920180"/>
              <a:gd name="connsiteX50" fmla="*/ 6907675 w 7169286"/>
              <a:gd name="connsiteY50" fmla="*/ 1315189 h 3920180"/>
              <a:gd name="connsiteX51" fmla="*/ 6861301 w 7169286"/>
              <a:gd name="connsiteY51" fmla="*/ 1305713 h 3920180"/>
              <a:gd name="connsiteX52" fmla="*/ 6812950 w 7169286"/>
              <a:gd name="connsiteY52" fmla="*/ 1302460 h 3920180"/>
              <a:gd name="connsiteX0" fmla="*/ 2664091 w 7169286"/>
              <a:gd name="connsiteY0" fmla="*/ 0 h 3920180"/>
              <a:gd name="connsiteX1" fmla="*/ 2348194 w 7169286"/>
              <a:gd name="connsiteY1" fmla="*/ 1319206 h 3920180"/>
              <a:gd name="connsiteX2" fmla="*/ 2993816 w 7169286"/>
              <a:gd name="connsiteY2" fmla="*/ 1319206 h 3920180"/>
              <a:gd name="connsiteX3" fmla="*/ 2664091 w 7169286"/>
              <a:gd name="connsiteY3" fmla="*/ 0 h 3920180"/>
            </a:gdLst>
            <a:ahLst/>
            <a:cxnLst>
              <a:cxn ang="0">
                <a:pos x="connsiteX0" y="connsiteY0"/>
              </a:cxn>
              <a:cxn ang="0">
                <a:pos x="connsiteX1" y="connsiteY1"/>
              </a:cxn>
              <a:cxn ang="0">
                <a:pos x="connsiteX2" y="connsiteY2"/>
              </a:cxn>
              <a:cxn ang="0">
                <a:pos x="connsiteX3" y="connsiteY3"/>
              </a:cxn>
            </a:cxnLst>
            <a:rect l="l" t="t" r="r" b="b"/>
            <a:pathLst>
              <a:path w="7169286" h="3920180" extrusionOk="0">
                <a:moveTo>
                  <a:pt x="6812950" y="1302460"/>
                </a:moveTo>
                <a:lnTo>
                  <a:pt x="356337" y="1302460"/>
                </a:lnTo>
                <a:lnTo>
                  <a:pt x="307986" y="1305713"/>
                </a:lnTo>
                <a:lnTo>
                  <a:pt x="261611" y="1315189"/>
                </a:lnTo>
                <a:lnTo>
                  <a:pt x="217637" y="1330463"/>
                </a:lnTo>
                <a:lnTo>
                  <a:pt x="176489" y="1351111"/>
                </a:lnTo>
                <a:lnTo>
                  <a:pt x="138592" y="1376709"/>
                </a:lnTo>
                <a:lnTo>
                  <a:pt x="104371" y="1406831"/>
                </a:lnTo>
                <a:lnTo>
                  <a:pt x="74249" y="1441052"/>
                </a:lnTo>
                <a:lnTo>
                  <a:pt x="48651" y="1478949"/>
                </a:lnTo>
                <a:lnTo>
                  <a:pt x="28003" y="1520097"/>
                </a:lnTo>
                <a:lnTo>
                  <a:pt x="12729" y="1564071"/>
                </a:lnTo>
                <a:lnTo>
                  <a:pt x="3253" y="1610446"/>
                </a:lnTo>
                <a:lnTo>
                  <a:pt x="0" y="1658797"/>
                </a:lnTo>
                <a:lnTo>
                  <a:pt x="0" y="3563844"/>
                </a:lnTo>
                <a:lnTo>
                  <a:pt x="3253" y="3612196"/>
                </a:lnTo>
                <a:lnTo>
                  <a:pt x="12729" y="3658571"/>
                </a:lnTo>
                <a:lnTo>
                  <a:pt x="28003" y="3702544"/>
                </a:lnTo>
                <a:lnTo>
                  <a:pt x="48651" y="3743692"/>
                </a:lnTo>
                <a:lnTo>
                  <a:pt x="74249" y="3781589"/>
                </a:lnTo>
                <a:lnTo>
                  <a:pt x="104371" y="3815810"/>
                </a:lnTo>
                <a:lnTo>
                  <a:pt x="138592" y="3845932"/>
                </a:lnTo>
                <a:lnTo>
                  <a:pt x="176489" y="3871529"/>
                </a:lnTo>
                <a:lnTo>
                  <a:pt x="217637" y="3892177"/>
                </a:lnTo>
                <a:lnTo>
                  <a:pt x="261611" y="3907452"/>
                </a:lnTo>
                <a:lnTo>
                  <a:pt x="307986" y="3916928"/>
                </a:lnTo>
                <a:lnTo>
                  <a:pt x="356337" y="3920181"/>
                </a:lnTo>
                <a:lnTo>
                  <a:pt x="6812950" y="3920181"/>
                </a:lnTo>
                <a:lnTo>
                  <a:pt x="6861301" y="3916928"/>
                </a:lnTo>
                <a:lnTo>
                  <a:pt x="6907675" y="3907452"/>
                </a:lnTo>
                <a:lnTo>
                  <a:pt x="6951648" y="3892177"/>
                </a:lnTo>
                <a:lnTo>
                  <a:pt x="6992795" y="3871529"/>
                </a:lnTo>
                <a:lnTo>
                  <a:pt x="7030692" y="3845932"/>
                </a:lnTo>
                <a:lnTo>
                  <a:pt x="7064914" y="3815810"/>
                </a:lnTo>
                <a:lnTo>
                  <a:pt x="7095036" y="3781589"/>
                </a:lnTo>
                <a:lnTo>
                  <a:pt x="7120633" y="3743692"/>
                </a:lnTo>
                <a:lnTo>
                  <a:pt x="7141281" y="3702544"/>
                </a:lnTo>
                <a:lnTo>
                  <a:pt x="7156556" y="3658571"/>
                </a:lnTo>
                <a:lnTo>
                  <a:pt x="7166032" y="3612196"/>
                </a:lnTo>
                <a:lnTo>
                  <a:pt x="7169285" y="3563844"/>
                </a:lnTo>
                <a:lnTo>
                  <a:pt x="7169285" y="1658797"/>
                </a:lnTo>
                <a:lnTo>
                  <a:pt x="7166032" y="1610446"/>
                </a:lnTo>
                <a:lnTo>
                  <a:pt x="7156556" y="1564071"/>
                </a:lnTo>
                <a:lnTo>
                  <a:pt x="7141281" y="1520097"/>
                </a:lnTo>
                <a:lnTo>
                  <a:pt x="7120633" y="1478949"/>
                </a:lnTo>
                <a:lnTo>
                  <a:pt x="7095036" y="1441052"/>
                </a:lnTo>
                <a:lnTo>
                  <a:pt x="7064914" y="1406831"/>
                </a:lnTo>
                <a:lnTo>
                  <a:pt x="7030692" y="1376709"/>
                </a:lnTo>
                <a:lnTo>
                  <a:pt x="6992795" y="1351111"/>
                </a:lnTo>
                <a:lnTo>
                  <a:pt x="6951648" y="1330463"/>
                </a:lnTo>
                <a:lnTo>
                  <a:pt x="6907675" y="1315189"/>
                </a:lnTo>
                <a:lnTo>
                  <a:pt x="6861301" y="1305713"/>
                </a:lnTo>
                <a:lnTo>
                  <a:pt x="6812950" y="1302460"/>
                </a:lnTo>
                <a:close/>
              </a:path>
              <a:path w="7169286" h="3920180" extrusionOk="0">
                <a:moveTo>
                  <a:pt x="2664091" y="0"/>
                </a:moveTo>
                <a:lnTo>
                  <a:pt x="2348194" y="1319206"/>
                </a:lnTo>
                <a:lnTo>
                  <a:pt x="2993816" y="1319206"/>
                </a:lnTo>
                <a:lnTo>
                  <a:pt x="2664091" y="0"/>
                </a:lnTo>
                <a:close/>
              </a:path>
            </a:pathLst>
          </a:custGeom>
          <a:solidFill>
            <a:srgbClr val="A0C283"/>
          </a:solidFill>
          <a:ln>
            <a:noFill/>
          </a:ln>
        </p:spPr>
        <p:txBody>
          <a:bodyPr spcFirstLastPara="1" wrap="square" lIns="0" tIns="0" rIns="0" bIns="0" anchor="t" anchorCtr="0">
            <a:noAutofit/>
          </a:bodyPr>
          <a:lstStyle/>
          <a:p>
            <a:endParaRPr sz="964"/>
          </a:p>
        </p:txBody>
      </p:sp>
      <p:sp>
        <p:nvSpPr>
          <p:cNvPr id="19" name="Google Shape;137;p17"/>
          <p:cNvSpPr/>
          <p:nvPr/>
        </p:nvSpPr>
        <p:spPr>
          <a:xfrm>
            <a:off x="3055667" y="3452981"/>
            <a:ext cx="2342916" cy="2153752"/>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365126">
                <a:moveTo>
                  <a:pt x="0" y="1046506"/>
                </a:moveTo>
                <a:cubicBezTo>
                  <a:pt x="0" y="900852"/>
                  <a:pt x="118076" y="782776"/>
                  <a:pt x="263730" y="782776"/>
                </a:cubicBezTo>
                <a:lnTo>
                  <a:pt x="1209057" y="760462"/>
                </a:lnTo>
                <a:lnTo>
                  <a:pt x="1961588" y="0"/>
                </a:lnTo>
                <a:lnTo>
                  <a:pt x="1478117" y="793934"/>
                </a:lnTo>
                <a:lnTo>
                  <a:pt x="1920071" y="782776"/>
                </a:lnTo>
                <a:cubicBezTo>
                  <a:pt x="2065725" y="782776"/>
                  <a:pt x="2183801" y="900852"/>
                  <a:pt x="2183801" y="1046506"/>
                </a:cubicBezTo>
                <a:lnTo>
                  <a:pt x="2183801" y="1046501"/>
                </a:lnTo>
                <a:lnTo>
                  <a:pt x="2183801" y="1046501"/>
                </a:lnTo>
                <a:lnTo>
                  <a:pt x="2183801" y="1442089"/>
                </a:lnTo>
                <a:lnTo>
                  <a:pt x="2183801" y="2101396"/>
                </a:lnTo>
                <a:cubicBezTo>
                  <a:pt x="2183801" y="2247050"/>
                  <a:pt x="2065725" y="2365126"/>
                  <a:pt x="1920071" y="2365126"/>
                </a:cubicBezTo>
                <a:lnTo>
                  <a:pt x="909917" y="2365126"/>
                </a:lnTo>
                <a:lnTo>
                  <a:pt x="363967" y="2365126"/>
                </a:lnTo>
                <a:lnTo>
                  <a:pt x="363967" y="2365126"/>
                </a:lnTo>
                <a:lnTo>
                  <a:pt x="263730" y="2365126"/>
                </a:lnTo>
                <a:cubicBezTo>
                  <a:pt x="118076" y="2365126"/>
                  <a:pt x="0" y="2247050"/>
                  <a:pt x="0" y="2101396"/>
                </a:cubicBezTo>
                <a:lnTo>
                  <a:pt x="0" y="1442089"/>
                </a:lnTo>
                <a:lnTo>
                  <a:pt x="0" y="1046501"/>
                </a:lnTo>
                <a:lnTo>
                  <a:pt x="0" y="1046501"/>
                </a:lnTo>
                <a:lnTo>
                  <a:pt x="0" y="1046506"/>
                </a:lnTo>
                <a:close/>
              </a:path>
            </a:pathLst>
          </a:custGeom>
          <a:solidFill>
            <a:srgbClr val="78AAD6"/>
          </a:solidFill>
          <a:ln>
            <a:noFill/>
          </a:ln>
        </p:spPr>
        <p:txBody>
          <a:bodyPr spcFirstLastPara="1" wrap="square" lIns="0" tIns="0" rIns="0" bIns="0" anchor="t" anchorCtr="0">
            <a:noAutofit/>
          </a:bodyPr>
          <a:lstStyle/>
          <a:p>
            <a:endParaRPr sz="964"/>
          </a:p>
        </p:txBody>
      </p:sp>
      <p:sp>
        <p:nvSpPr>
          <p:cNvPr id="20" name="Google Shape;138;p17"/>
          <p:cNvSpPr txBox="1"/>
          <p:nvPr/>
        </p:nvSpPr>
        <p:spPr>
          <a:xfrm>
            <a:off x="3065827" y="4372700"/>
            <a:ext cx="2327721" cy="1143810"/>
          </a:xfrm>
          <a:prstGeom prst="rect">
            <a:avLst/>
          </a:prstGeom>
          <a:noFill/>
          <a:ln>
            <a:noFill/>
          </a:ln>
        </p:spPr>
        <p:txBody>
          <a:bodyPr spcFirstLastPara="1" wrap="square" lIns="0" tIns="32652" rIns="0" bIns="0" anchor="t" anchorCtr="0">
            <a:noAutofit/>
          </a:bodyPr>
          <a:lstStyle/>
          <a:p>
            <a:pPr marL="208524" marR="2721" indent="-202061" algn="ctr">
              <a:lnSpc>
                <a:spcPct val="113506"/>
              </a:lnSpc>
            </a:pPr>
            <a:r>
              <a:rPr lang="en-US" sz="2800" dirty="0">
                <a:solidFill>
                  <a:srgbClr val="FFFFFF"/>
                </a:solidFill>
                <a:latin typeface="Trebuchet MS"/>
                <a:ea typeface="Trebuchet MS"/>
                <a:cs typeface="Trebuchet MS"/>
                <a:sym typeface="Trebuchet MS"/>
              </a:rPr>
              <a:t>name for new column</a:t>
            </a:r>
            <a:endParaRPr sz="2800" dirty="0">
              <a:latin typeface="Trebuchet MS"/>
              <a:ea typeface="Trebuchet MS"/>
              <a:cs typeface="Trebuchet MS"/>
              <a:sym typeface="Trebuchet MS"/>
            </a:endParaRPr>
          </a:p>
        </p:txBody>
      </p:sp>
      <p:sp>
        <p:nvSpPr>
          <p:cNvPr id="21" name="Google Shape;172;p20"/>
          <p:cNvSpPr/>
          <p:nvPr/>
        </p:nvSpPr>
        <p:spPr>
          <a:xfrm>
            <a:off x="7839178" y="3423718"/>
            <a:ext cx="3840689" cy="2153752"/>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Lst>
            <a:ahLst/>
            <a:cxnLst>
              <a:cxn ang="0">
                <a:pos x="connsiteX0" y="connsiteY0"/>
              </a:cxn>
              <a:cxn ang="0">
                <a:pos x="connsiteX1" y="connsiteY1"/>
              </a:cxn>
              <a:cxn ang="0">
                <a:pos x="connsiteX2" y="connsiteY2"/>
              </a:cxn>
              <a:cxn ang="0">
                <a:pos x="connsiteX3" y="connsiteY3"/>
              </a:cxn>
            </a:cxnLst>
            <a:rect l="l" t="t" r="r" b="b"/>
            <a:pathLst>
              <a:path w="7169286" h="3838694" extrusionOk="0">
                <a:moveTo>
                  <a:pt x="6812950" y="1220972"/>
                </a:moveTo>
                <a:lnTo>
                  <a:pt x="356337" y="1220972"/>
                </a:lnTo>
                <a:lnTo>
                  <a:pt x="307986" y="1224225"/>
                </a:lnTo>
                <a:lnTo>
                  <a:pt x="261611" y="1233701"/>
                </a:lnTo>
                <a:lnTo>
                  <a:pt x="217637" y="1248975"/>
                </a:lnTo>
                <a:lnTo>
                  <a:pt x="176489" y="1269623"/>
                </a:lnTo>
                <a:lnTo>
                  <a:pt x="138592" y="1295221"/>
                </a:lnTo>
                <a:lnTo>
                  <a:pt x="104371" y="1325343"/>
                </a:lnTo>
                <a:lnTo>
                  <a:pt x="74249" y="1359564"/>
                </a:lnTo>
                <a:lnTo>
                  <a:pt x="48651" y="1397461"/>
                </a:lnTo>
                <a:lnTo>
                  <a:pt x="28003" y="1438609"/>
                </a:lnTo>
                <a:lnTo>
                  <a:pt x="12729" y="1482583"/>
                </a:lnTo>
                <a:lnTo>
                  <a:pt x="3253" y="1528958"/>
                </a:lnTo>
                <a:lnTo>
                  <a:pt x="0" y="1577309"/>
                </a:lnTo>
                <a:lnTo>
                  <a:pt x="0" y="3482356"/>
                </a:lnTo>
                <a:lnTo>
                  <a:pt x="3253" y="3530708"/>
                </a:lnTo>
                <a:lnTo>
                  <a:pt x="12729" y="3577083"/>
                </a:lnTo>
                <a:lnTo>
                  <a:pt x="28003" y="3621056"/>
                </a:lnTo>
                <a:lnTo>
                  <a:pt x="48651" y="3662204"/>
                </a:lnTo>
                <a:lnTo>
                  <a:pt x="74249" y="3700101"/>
                </a:lnTo>
                <a:lnTo>
                  <a:pt x="104371" y="3734322"/>
                </a:lnTo>
                <a:lnTo>
                  <a:pt x="138592" y="3764444"/>
                </a:lnTo>
                <a:lnTo>
                  <a:pt x="176489" y="3790041"/>
                </a:lnTo>
                <a:lnTo>
                  <a:pt x="217637" y="3810689"/>
                </a:lnTo>
                <a:lnTo>
                  <a:pt x="261611" y="3825964"/>
                </a:lnTo>
                <a:lnTo>
                  <a:pt x="307986" y="3835440"/>
                </a:lnTo>
                <a:lnTo>
                  <a:pt x="356337" y="3838693"/>
                </a:lnTo>
                <a:lnTo>
                  <a:pt x="6812950" y="3838693"/>
                </a:lnTo>
                <a:lnTo>
                  <a:pt x="6861301" y="3835440"/>
                </a:lnTo>
                <a:lnTo>
                  <a:pt x="6907675" y="3825964"/>
                </a:lnTo>
                <a:lnTo>
                  <a:pt x="6951648" y="3810689"/>
                </a:lnTo>
                <a:lnTo>
                  <a:pt x="6992795" y="3790041"/>
                </a:lnTo>
                <a:lnTo>
                  <a:pt x="7030692" y="3764444"/>
                </a:lnTo>
                <a:lnTo>
                  <a:pt x="7064914" y="3734322"/>
                </a:lnTo>
                <a:lnTo>
                  <a:pt x="7095036" y="3700101"/>
                </a:lnTo>
                <a:lnTo>
                  <a:pt x="7120633" y="3662204"/>
                </a:lnTo>
                <a:lnTo>
                  <a:pt x="7141281" y="3621056"/>
                </a:lnTo>
                <a:lnTo>
                  <a:pt x="7156556" y="3577083"/>
                </a:lnTo>
                <a:lnTo>
                  <a:pt x="7166032" y="3530708"/>
                </a:lnTo>
                <a:lnTo>
                  <a:pt x="7169285" y="3482356"/>
                </a:lnTo>
                <a:lnTo>
                  <a:pt x="7169285" y="1577309"/>
                </a:lnTo>
                <a:lnTo>
                  <a:pt x="7166032" y="1528958"/>
                </a:lnTo>
                <a:lnTo>
                  <a:pt x="7156556" y="1482583"/>
                </a:lnTo>
                <a:lnTo>
                  <a:pt x="7141281" y="1438609"/>
                </a:lnTo>
                <a:lnTo>
                  <a:pt x="7120633" y="1397461"/>
                </a:lnTo>
                <a:lnTo>
                  <a:pt x="7095036" y="1359564"/>
                </a:lnTo>
                <a:lnTo>
                  <a:pt x="7064914" y="1325343"/>
                </a:lnTo>
                <a:lnTo>
                  <a:pt x="7030692" y="1295221"/>
                </a:lnTo>
                <a:lnTo>
                  <a:pt x="6992795" y="1269623"/>
                </a:lnTo>
                <a:lnTo>
                  <a:pt x="6951648" y="1248975"/>
                </a:lnTo>
                <a:lnTo>
                  <a:pt x="6907675" y="1233701"/>
                </a:lnTo>
                <a:lnTo>
                  <a:pt x="6861301" y="1224225"/>
                </a:lnTo>
                <a:lnTo>
                  <a:pt x="6812950" y="1220972"/>
                </a:lnTo>
                <a:close/>
              </a:path>
              <a:path w="7169286" h="3838694" extrusionOk="0">
                <a:moveTo>
                  <a:pt x="997315" y="0"/>
                </a:moveTo>
                <a:lnTo>
                  <a:pt x="2348194" y="1237718"/>
                </a:lnTo>
                <a:lnTo>
                  <a:pt x="2993816" y="1237718"/>
                </a:lnTo>
                <a:lnTo>
                  <a:pt x="997315" y="0"/>
                </a:lnTo>
                <a:close/>
              </a:path>
            </a:pathLst>
          </a:custGeom>
          <a:solidFill>
            <a:srgbClr val="D3908F"/>
          </a:solidFill>
          <a:ln>
            <a:noFill/>
          </a:ln>
        </p:spPr>
        <p:txBody>
          <a:bodyPr spcFirstLastPara="1" wrap="square" lIns="0" tIns="0" rIns="0" bIns="0" anchor="t" anchorCtr="0">
            <a:noAutofit/>
          </a:bodyPr>
          <a:lstStyle/>
          <a:p>
            <a:endParaRPr sz="964"/>
          </a:p>
        </p:txBody>
      </p:sp>
      <p:sp>
        <p:nvSpPr>
          <p:cNvPr id="22" name="Google Shape;173;p20"/>
          <p:cNvSpPr txBox="1"/>
          <p:nvPr/>
        </p:nvSpPr>
        <p:spPr>
          <a:xfrm>
            <a:off x="7897480" y="4370119"/>
            <a:ext cx="3760474" cy="1146391"/>
          </a:xfrm>
          <a:prstGeom prst="rect">
            <a:avLst/>
          </a:prstGeom>
          <a:noFill/>
          <a:ln>
            <a:noFill/>
          </a:ln>
        </p:spPr>
        <p:txBody>
          <a:bodyPr spcFirstLastPara="1" wrap="square" lIns="0" tIns="8504" rIns="0" bIns="0" anchor="t" anchorCtr="0">
            <a:noAutofit/>
          </a:bodyPr>
          <a:lstStyle/>
          <a:p>
            <a:pPr algn="ctr">
              <a:lnSpc>
                <a:spcPct val="116753"/>
              </a:lnSpc>
            </a:pPr>
            <a:r>
              <a:rPr lang="en-US" sz="2800" dirty="0">
                <a:solidFill>
                  <a:srgbClr val="FFFFFF"/>
                </a:solidFill>
                <a:latin typeface="Trebuchet MS"/>
                <a:ea typeface="Trebuchet MS"/>
                <a:cs typeface="Trebuchet MS"/>
                <a:sym typeface="Trebuchet MS"/>
              </a:rPr>
              <a:t>what to put in the new column</a:t>
            </a:r>
            <a:endParaRPr sz="2800" dirty="0">
              <a:latin typeface="Trebuchet MS"/>
              <a:ea typeface="Trebuchet MS"/>
              <a:cs typeface="Trebuchet MS"/>
              <a:sym typeface="Trebuchet MS"/>
            </a:endParaRPr>
          </a:p>
        </p:txBody>
      </p:sp>
      <p:sp>
        <p:nvSpPr>
          <p:cNvPr id="23" name="Google Shape;173;p20"/>
          <p:cNvSpPr txBox="1"/>
          <p:nvPr/>
        </p:nvSpPr>
        <p:spPr>
          <a:xfrm>
            <a:off x="5698596" y="4372701"/>
            <a:ext cx="1906034" cy="1303548"/>
          </a:xfrm>
          <a:prstGeom prst="rect">
            <a:avLst/>
          </a:prstGeom>
          <a:noFill/>
          <a:ln>
            <a:noFill/>
          </a:ln>
        </p:spPr>
        <p:txBody>
          <a:bodyPr spcFirstLastPara="1" wrap="square" lIns="0" tIns="8504" rIns="0" bIns="0" anchor="t" anchorCtr="0">
            <a:noAutofit/>
          </a:bodyPr>
          <a:lstStyle/>
          <a:p>
            <a:pPr algn="ctr">
              <a:lnSpc>
                <a:spcPct val="116753"/>
              </a:lnSpc>
            </a:pPr>
            <a:r>
              <a:rPr lang="en-US" sz="2800" b="1" dirty="0">
                <a:solidFill>
                  <a:srgbClr val="FFFFFF"/>
                </a:solidFill>
                <a:latin typeface="Trebuchet MS"/>
                <a:ea typeface="Trebuchet MS"/>
                <a:cs typeface="Trebuchet MS"/>
                <a:sym typeface="Trebuchet MS"/>
              </a:rPr>
              <a:t>single </a:t>
            </a:r>
          </a:p>
          <a:p>
            <a:pPr algn="ctr">
              <a:lnSpc>
                <a:spcPct val="116753"/>
              </a:lnSpc>
            </a:pPr>
            <a:r>
              <a:rPr lang="en-US" sz="2800" b="1" dirty="0">
                <a:solidFill>
                  <a:srgbClr val="FFFFFF"/>
                </a:solidFill>
                <a:latin typeface="Trebuchet MS"/>
                <a:ea typeface="Trebuchet MS"/>
                <a:cs typeface="Trebuchet MS"/>
                <a:sym typeface="Trebuchet MS"/>
              </a:rPr>
              <a:t>equals</a:t>
            </a:r>
            <a:endParaRPr sz="2800" b="1" dirty="0">
              <a:latin typeface="Trebuchet MS"/>
              <a:ea typeface="Trebuchet MS"/>
              <a:cs typeface="Trebuchet MS"/>
              <a:sym typeface="Trebuchet MS"/>
            </a:endParaRPr>
          </a:p>
        </p:txBody>
      </p:sp>
      <p:sp>
        <p:nvSpPr>
          <p:cNvPr id="18" name="Google Shape;293;p32">
            <a:extLst>
              <a:ext uri="{FF2B5EF4-FFF2-40B4-BE49-F238E27FC236}">
                <a16:creationId xmlns:a16="http://schemas.microsoft.com/office/drawing/2014/main" id="{D1E974D4-549D-C64B-9EEA-B64D62BCB7EE}"/>
              </a:ext>
            </a:extLst>
          </p:cNvPr>
          <p:cNvSpPr txBox="1">
            <a:spLocks noGrp="1"/>
          </p:cNvSpPr>
          <p:nvPr>
            <p:ph type="title"/>
          </p:nvPr>
        </p:nvSpPr>
        <p:spPr>
          <a:xfrm>
            <a:off x="0" y="684400"/>
            <a:ext cx="12192000"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latin typeface="Consolas" panose="020B0609020204030204" pitchFamily="49" charset="0"/>
              </a:rPr>
              <a:t>mutate()</a:t>
            </a:r>
            <a:endParaRPr dirty="0">
              <a:latin typeface="Consolas" panose="020B0609020204030204" pitchFamily="49" charset="0"/>
            </a:endParaRPr>
          </a:p>
        </p:txBody>
      </p:sp>
      <p:sp>
        <p:nvSpPr>
          <p:cNvPr id="24" name="Google Shape;296;p32">
            <a:extLst>
              <a:ext uri="{FF2B5EF4-FFF2-40B4-BE49-F238E27FC236}">
                <a16:creationId xmlns:a16="http://schemas.microsoft.com/office/drawing/2014/main" id="{B58D439C-3EEE-0744-9B32-FD9C3DC5FFC4}"/>
              </a:ext>
            </a:extLst>
          </p:cNvPr>
          <p:cNvSpPr txBox="1"/>
          <p:nvPr/>
        </p:nvSpPr>
        <p:spPr>
          <a:xfrm>
            <a:off x="2125774" y="1673939"/>
            <a:ext cx="7940453" cy="488905"/>
          </a:xfrm>
          <a:prstGeom prst="rect">
            <a:avLst/>
          </a:prstGeom>
          <a:noFill/>
          <a:ln>
            <a:noFill/>
          </a:ln>
        </p:spPr>
        <p:txBody>
          <a:bodyPr spcFirstLastPara="1" wrap="square" lIns="0" tIns="6455" rIns="0" bIns="0" anchor="t" anchorCtr="0">
            <a:noAutofit/>
          </a:bodyPr>
          <a:lstStyle/>
          <a:p>
            <a:pPr marL="6803" algn="ctr"/>
            <a:r>
              <a:rPr lang="en-US" sz="3200" dirty="0">
                <a:latin typeface="Tw Cen MT" panose="020B0602020104020603" pitchFamily="34" charset="77"/>
                <a:ea typeface="Calibri"/>
                <a:cs typeface="Calibri"/>
                <a:sym typeface="Calibri"/>
              </a:rPr>
              <a:t>Create new calculated columns</a:t>
            </a:r>
            <a:endParaRPr sz="3200" dirty="0">
              <a:latin typeface="Tw Cen MT" panose="020B0602020104020603" pitchFamily="34" charset="77"/>
              <a:ea typeface="Calibri"/>
              <a:cs typeface="Calibri"/>
              <a:sym typeface="Calibri"/>
            </a:endParaRPr>
          </a:p>
        </p:txBody>
      </p:sp>
    </p:spTree>
    <p:extLst>
      <p:ext uri="{BB962C8B-B14F-4D97-AF65-F5344CB8AC3E}">
        <p14:creationId xmlns:p14="http://schemas.microsoft.com/office/powerpoint/2010/main" val="30818334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8" name="Google Shape;131;p17"/>
          <p:cNvSpPr/>
          <p:nvPr/>
        </p:nvSpPr>
        <p:spPr>
          <a:xfrm>
            <a:off x="712200" y="2255454"/>
            <a:ext cx="11169106" cy="1497972"/>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14" name="Rectangle 13"/>
          <p:cNvSpPr/>
          <p:nvPr/>
        </p:nvSpPr>
        <p:spPr>
          <a:xfrm>
            <a:off x="712200" y="2313797"/>
            <a:ext cx="11587960" cy="1200329"/>
          </a:xfrm>
          <a:prstGeom prst="rect">
            <a:avLst/>
          </a:prstGeom>
        </p:spPr>
        <p:txBody>
          <a:bodyPr wrap="square">
            <a:spAutoFit/>
          </a:bodyPr>
          <a:lstStyle/>
          <a:p>
            <a:r>
              <a:rPr lang="en-US" sz="3200" dirty="0" err="1">
                <a:latin typeface="Consolas" panose="020B0609020204030204" pitchFamily="49" charset="0"/>
                <a:ea typeface="Courier New"/>
                <a:cs typeface="Consolas" panose="020B0609020204030204" pitchFamily="49" charset="0"/>
                <a:sym typeface="Courier New"/>
              </a:rPr>
              <a:t>covid_testing</a:t>
            </a:r>
            <a:r>
              <a:rPr lang="en-US" sz="3200" dirty="0">
                <a:latin typeface="Consolas" panose="020B0609020204030204" pitchFamily="49" charset="0"/>
                <a:ea typeface="Courier New"/>
                <a:cs typeface="Consolas" panose="020B0609020204030204" pitchFamily="49" charset="0"/>
                <a:sym typeface="Courier New"/>
              </a:rPr>
              <a:t> %&gt;%</a:t>
            </a:r>
          </a:p>
          <a:p>
            <a:r>
              <a:rPr lang="en-US" sz="3200" dirty="0">
                <a:latin typeface="Consolas" panose="020B0609020204030204" pitchFamily="49" charset="0"/>
                <a:ea typeface="Courier New"/>
                <a:cs typeface="Consolas" panose="020B0609020204030204" pitchFamily="49" charset="0"/>
                <a:sym typeface="Courier New"/>
              </a:rPr>
              <a:t>	mutate(</a:t>
            </a:r>
            <a:r>
              <a:rPr lang="en-US" sz="3200" dirty="0" err="1">
                <a:solidFill>
                  <a:srgbClr val="538DD5"/>
                </a:solidFill>
                <a:latin typeface="Consolas" panose="020B0609020204030204" pitchFamily="49" charset="0"/>
                <a:ea typeface="Courier New"/>
                <a:cs typeface="Consolas" panose="020B0609020204030204" pitchFamily="49" charset="0"/>
                <a:sym typeface="Courier New"/>
              </a:rPr>
              <a:t>c_r_tat_mins</a:t>
            </a:r>
            <a:r>
              <a:rPr lang="en-US" sz="3200" dirty="0">
                <a:latin typeface="Consolas" panose="020B0609020204030204" pitchFamily="49" charset="0"/>
                <a:ea typeface="Courier New"/>
                <a:cs typeface="Consolas" panose="020B0609020204030204" pitchFamily="49" charset="0"/>
                <a:sym typeface="Courier New"/>
              </a:rPr>
              <a:t> </a:t>
            </a:r>
            <a:r>
              <a:rPr lang="en-US" sz="4000" b="1" dirty="0">
                <a:solidFill>
                  <a:schemeClr val="accent3"/>
                </a:solidFill>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 </a:t>
            </a:r>
            <a:r>
              <a:rPr lang="en-US" sz="3200" dirty="0" err="1">
                <a:solidFill>
                  <a:schemeClr val="accent2"/>
                </a:solidFill>
                <a:latin typeface="Consolas" panose="020B0609020204030204" pitchFamily="49" charset="0"/>
                <a:ea typeface="Courier New"/>
                <a:cs typeface="Consolas" panose="020B0609020204030204" pitchFamily="49" charset="0"/>
                <a:sym typeface="Courier New"/>
              </a:rPr>
              <a:t>col_rec_tat</a:t>
            </a:r>
            <a:r>
              <a:rPr lang="en-US" sz="3200" dirty="0">
                <a:solidFill>
                  <a:schemeClr val="accent2"/>
                </a:solidFill>
                <a:latin typeface="Consolas" panose="020B0609020204030204" pitchFamily="49" charset="0"/>
                <a:ea typeface="Courier New"/>
                <a:cs typeface="Consolas" panose="020B0609020204030204" pitchFamily="49" charset="0"/>
                <a:sym typeface="Courier New"/>
              </a:rPr>
              <a:t> * 60</a:t>
            </a:r>
            <a:r>
              <a:rPr lang="en-US" sz="3200" dirty="0">
                <a:latin typeface="Consolas" panose="020B0609020204030204" pitchFamily="49" charset="0"/>
                <a:ea typeface="Courier New"/>
                <a:cs typeface="Consolas" panose="020B0609020204030204" pitchFamily="49" charset="0"/>
                <a:sym typeface="Courier New"/>
              </a:rPr>
              <a:t>) </a:t>
            </a:r>
            <a:endParaRPr lang="en-US" dirty="0"/>
          </a:p>
        </p:txBody>
      </p:sp>
      <p:sp>
        <p:nvSpPr>
          <p:cNvPr id="12" name="Google Shape;387;p40"/>
          <p:cNvSpPr/>
          <p:nvPr/>
        </p:nvSpPr>
        <p:spPr>
          <a:xfrm>
            <a:off x="5184328" y="5124631"/>
            <a:ext cx="333375" cy="231922"/>
          </a:xfrm>
          <a:custGeom>
            <a:avLst/>
            <a:gdLst/>
            <a:ahLst/>
            <a:cxnLst/>
            <a:rect l="l" t="t" r="r" b="b"/>
            <a:pathLst>
              <a:path w="622300" h="382270" extrusionOk="0">
                <a:moveTo>
                  <a:pt x="357634" y="0"/>
                </a:moveTo>
                <a:lnTo>
                  <a:pt x="357634" y="133825"/>
                </a:lnTo>
                <a:lnTo>
                  <a:pt x="0" y="133825"/>
                </a:lnTo>
                <a:lnTo>
                  <a:pt x="0" y="247816"/>
                </a:lnTo>
                <a:lnTo>
                  <a:pt x="357634" y="247816"/>
                </a:lnTo>
                <a:lnTo>
                  <a:pt x="357634" y="381642"/>
                </a:lnTo>
                <a:lnTo>
                  <a:pt x="622084" y="190821"/>
                </a:lnTo>
                <a:lnTo>
                  <a:pt x="357634" y="0"/>
                </a:lnTo>
                <a:close/>
              </a:path>
            </a:pathLst>
          </a:custGeom>
          <a:solidFill>
            <a:srgbClr val="53585F"/>
          </a:solidFill>
          <a:ln>
            <a:noFill/>
          </a:ln>
        </p:spPr>
        <p:txBody>
          <a:bodyPr spcFirstLastPara="1" wrap="square" lIns="0" tIns="0" rIns="0" bIns="0" anchor="t" anchorCtr="0">
            <a:noAutofit/>
          </a:bodyPr>
          <a:lstStyle/>
          <a:p>
            <a:endParaRPr sz="964"/>
          </a:p>
        </p:txBody>
      </p:sp>
      <p:sp>
        <p:nvSpPr>
          <p:cNvPr id="18" name="Google Shape;324;p34"/>
          <p:cNvSpPr txBox="1"/>
          <p:nvPr/>
        </p:nvSpPr>
        <p:spPr>
          <a:xfrm>
            <a:off x="8195267" y="998054"/>
            <a:ext cx="2949467" cy="1043052"/>
          </a:xfrm>
          <a:prstGeom prst="rect">
            <a:avLst/>
          </a:prstGeom>
          <a:noFill/>
          <a:ln>
            <a:noFill/>
          </a:ln>
        </p:spPr>
        <p:txBody>
          <a:bodyPr spcFirstLastPara="1" wrap="square" lIns="0" tIns="8504" rIns="0" bIns="0" anchor="t" anchorCtr="0">
            <a:noAutofit/>
          </a:bodyPr>
          <a:lstStyle/>
          <a:p>
            <a:pPr marL="8164" algn="ctr">
              <a:lnSpc>
                <a:spcPct val="116753"/>
              </a:lnSpc>
            </a:pPr>
            <a:r>
              <a:rPr lang="en-US" sz="2062" dirty="0">
                <a:solidFill>
                  <a:schemeClr val="bg1"/>
                </a:solidFill>
                <a:latin typeface="Calibri"/>
                <a:ea typeface="Calibri"/>
                <a:cs typeface="Calibri"/>
                <a:sym typeface="Calibri"/>
              </a:rPr>
              <a:t>calculation can involve another column in the data frame</a:t>
            </a:r>
            <a:endParaRPr sz="2062" dirty="0">
              <a:solidFill>
                <a:schemeClr val="bg1"/>
              </a:solidFill>
              <a:latin typeface="Calibri"/>
              <a:ea typeface="Calibri"/>
              <a:cs typeface="Calibri"/>
              <a:sym typeface="Calibri"/>
            </a:endParaRPr>
          </a:p>
        </p:txBody>
      </p:sp>
      <p:graphicFrame>
        <p:nvGraphicFramePr>
          <p:cNvPr id="4" name="Table 3"/>
          <p:cNvGraphicFramePr>
            <a:graphicFrameLocks noGrp="1"/>
          </p:cNvGraphicFramePr>
          <p:nvPr/>
        </p:nvGraphicFramePr>
        <p:xfrm>
          <a:off x="558945" y="4022186"/>
          <a:ext cx="4507107" cy="2355755"/>
        </p:xfrm>
        <a:graphic>
          <a:graphicData uri="http://schemas.openxmlformats.org/drawingml/2006/table">
            <a:tbl>
              <a:tblPr/>
              <a:tblGrid>
                <a:gridCol w="1502369">
                  <a:extLst>
                    <a:ext uri="{9D8B030D-6E8A-4147-A177-3AD203B41FA5}">
                      <a16:colId xmlns:a16="http://schemas.microsoft.com/office/drawing/2014/main" val="2953353645"/>
                    </a:ext>
                  </a:extLst>
                </a:gridCol>
                <a:gridCol w="1502369">
                  <a:extLst>
                    <a:ext uri="{9D8B030D-6E8A-4147-A177-3AD203B41FA5}">
                      <a16:colId xmlns:a16="http://schemas.microsoft.com/office/drawing/2014/main" val="2850260362"/>
                    </a:ext>
                  </a:extLst>
                </a:gridCol>
                <a:gridCol w="1502369">
                  <a:extLst>
                    <a:ext uri="{9D8B030D-6E8A-4147-A177-3AD203B41FA5}">
                      <a16:colId xmlns:a16="http://schemas.microsoft.com/office/drawing/2014/main" val="1083288691"/>
                    </a:ext>
                  </a:extLst>
                </a:gridCol>
              </a:tblGrid>
              <a:tr h="751663">
                <a:tc>
                  <a:txBody>
                    <a:bodyPr/>
                    <a:lstStyle/>
                    <a:p>
                      <a:pPr algn="ctr" fontAlgn="t"/>
                      <a:r>
                        <a:rPr lang="en-US" sz="2000" b="1" i="0" u="none" strike="noStrike" dirty="0" err="1">
                          <a:solidFill>
                            <a:schemeClr val="bg1"/>
                          </a:solidFill>
                          <a:effectLst/>
                          <a:latin typeface="Arial" panose="020B0604020202020204" pitchFamily="34" charset="0"/>
                        </a:rPr>
                        <a:t>mrn</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col_rec_tat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rec_ver_tat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extLst>
                  <a:ext uri="{0D108BD9-81ED-4DB2-BD59-A6C34878D82A}">
                    <a16:rowId xmlns:a16="http://schemas.microsoft.com/office/drawing/2014/main" val="1299481679"/>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5000876</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29.5</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11.5</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745838708"/>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5006017</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a:solidFill>
                            <a:srgbClr val="000000"/>
                          </a:solidFill>
                          <a:effectLst/>
                          <a:latin typeface="Arial" panose="020B0604020202020204" pitchFamily="34" charset="0"/>
                        </a:rPr>
                        <a:t>3.6</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5</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150813573"/>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5001412</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a:solidFill>
                            <a:srgbClr val="000000"/>
                          </a:solidFill>
                          <a:effectLst/>
                          <a:latin typeface="Arial" panose="020B0604020202020204" pitchFamily="34" charset="0"/>
                        </a:rPr>
                        <a:t>1.4</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5.2</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2481542292"/>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5000533</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2.3</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5.8</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extLst>
                  <a:ext uri="{0D108BD9-81ED-4DB2-BD59-A6C34878D82A}">
                    <a16:rowId xmlns:a16="http://schemas.microsoft.com/office/drawing/2014/main" val="1265016389"/>
                  </a:ext>
                </a:extLst>
              </a:tr>
            </a:tbl>
          </a:graphicData>
        </a:graphic>
      </p:graphicFrame>
      <p:graphicFrame>
        <p:nvGraphicFramePr>
          <p:cNvPr id="20" name="Table 19"/>
          <p:cNvGraphicFramePr>
            <a:graphicFrameLocks noGrp="1"/>
          </p:cNvGraphicFramePr>
          <p:nvPr/>
        </p:nvGraphicFramePr>
        <p:xfrm>
          <a:off x="5635979" y="4040833"/>
          <a:ext cx="6380760" cy="2355755"/>
        </p:xfrm>
        <a:graphic>
          <a:graphicData uri="http://schemas.openxmlformats.org/drawingml/2006/table">
            <a:tbl>
              <a:tblPr/>
              <a:tblGrid>
                <a:gridCol w="1595190">
                  <a:extLst>
                    <a:ext uri="{9D8B030D-6E8A-4147-A177-3AD203B41FA5}">
                      <a16:colId xmlns:a16="http://schemas.microsoft.com/office/drawing/2014/main" val="2953353645"/>
                    </a:ext>
                  </a:extLst>
                </a:gridCol>
                <a:gridCol w="1595190">
                  <a:extLst>
                    <a:ext uri="{9D8B030D-6E8A-4147-A177-3AD203B41FA5}">
                      <a16:colId xmlns:a16="http://schemas.microsoft.com/office/drawing/2014/main" val="2850260362"/>
                    </a:ext>
                  </a:extLst>
                </a:gridCol>
                <a:gridCol w="1595190">
                  <a:extLst>
                    <a:ext uri="{9D8B030D-6E8A-4147-A177-3AD203B41FA5}">
                      <a16:colId xmlns:a16="http://schemas.microsoft.com/office/drawing/2014/main" val="1083288691"/>
                    </a:ext>
                  </a:extLst>
                </a:gridCol>
                <a:gridCol w="1595190">
                  <a:extLst>
                    <a:ext uri="{9D8B030D-6E8A-4147-A177-3AD203B41FA5}">
                      <a16:colId xmlns:a16="http://schemas.microsoft.com/office/drawing/2014/main" val="2986944758"/>
                    </a:ext>
                  </a:extLst>
                </a:gridCol>
              </a:tblGrid>
              <a:tr h="751663">
                <a:tc>
                  <a:txBody>
                    <a:bodyPr/>
                    <a:lstStyle/>
                    <a:p>
                      <a:pPr algn="ctr" fontAlgn="t"/>
                      <a:r>
                        <a:rPr lang="en-US" sz="2000" b="1" i="0" u="none" strike="noStrike" dirty="0" err="1">
                          <a:solidFill>
                            <a:schemeClr val="bg1"/>
                          </a:solidFill>
                          <a:effectLst/>
                          <a:latin typeface="Arial" panose="020B0604020202020204" pitchFamily="34" charset="0"/>
                        </a:rPr>
                        <a:t>mrn</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col_rec_tat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fontAlgn="t"/>
                      <a:r>
                        <a:rPr lang="en-US" sz="2000" b="1" i="0" u="none" strike="noStrike" dirty="0" err="1">
                          <a:solidFill>
                            <a:schemeClr val="bg1"/>
                          </a:solidFill>
                          <a:effectLst/>
                          <a:latin typeface="Arial" panose="020B0604020202020204" pitchFamily="34" charset="0"/>
                        </a:rPr>
                        <a:t>rec_ver_tat</a:t>
                      </a:r>
                      <a:endParaRPr lang="en-US" sz="2000" b="1" i="0" u="none" strike="noStrike" dirty="0">
                        <a:solidFill>
                          <a:schemeClr val="bg1"/>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A6A6A6"/>
                    </a:solidFill>
                  </a:tcPr>
                </a:tc>
                <a:tc>
                  <a:txBody>
                    <a:bodyPr/>
                    <a:lstStyle/>
                    <a:p>
                      <a:pPr algn="ctr" rtl="0" fontAlgn="ctr"/>
                      <a:r>
                        <a:rPr lang="en-US" sz="2000" b="1" i="0" u="none" strike="noStrike" dirty="0" err="1">
                          <a:solidFill>
                            <a:srgbClr val="FFFFFF"/>
                          </a:solidFill>
                          <a:effectLst/>
                          <a:latin typeface="Arial" panose="020B0604020202020204" pitchFamily="34" charset="0"/>
                        </a:rPr>
                        <a:t>c_r_tat_mins</a:t>
                      </a:r>
                      <a:endParaRPr lang="en-US" sz="2000" b="1" i="0" u="none" strike="noStrike" dirty="0">
                        <a:solidFill>
                          <a:srgbClr val="FFFFFF"/>
                        </a:solidFill>
                        <a:effectLst/>
                        <a:latin typeface="Arial" panose="020B0604020202020204" pitchFamily="34" charset="0"/>
                      </a:endParaRP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538DD5"/>
                    </a:solidFill>
                  </a:tcPr>
                </a:tc>
                <a:extLst>
                  <a:ext uri="{0D108BD9-81ED-4DB2-BD59-A6C34878D82A}">
                    <a16:rowId xmlns:a16="http://schemas.microsoft.com/office/drawing/2014/main" val="1299481679"/>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5000876</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29.5</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11.5</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000" b="0" i="0" u="none" strike="noStrike" dirty="0">
                          <a:solidFill>
                            <a:srgbClr val="000000"/>
                          </a:solidFill>
                          <a:effectLst/>
                          <a:latin typeface="Arial" panose="020B0604020202020204" pitchFamily="34" charset="0"/>
                        </a:rPr>
                        <a:t>1770</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745838708"/>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5006017</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a:solidFill>
                            <a:srgbClr val="000000"/>
                          </a:solidFill>
                          <a:effectLst/>
                          <a:latin typeface="Arial" panose="020B0604020202020204" pitchFamily="34" charset="0"/>
                        </a:rPr>
                        <a:t>3.6</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5</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000" b="0" i="0" u="none" strike="noStrike" dirty="0">
                          <a:solidFill>
                            <a:srgbClr val="000000"/>
                          </a:solidFill>
                          <a:effectLst/>
                          <a:latin typeface="Arial" panose="020B0604020202020204" pitchFamily="34" charset="0"/>
                        </a:rPr>
                        <a:t>216</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150813573"/>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5001412</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a:solidFill>
                            <a:srgbClr val="000000"/>
                          </a:solidFill>
                          <a:effectLst/>
                          <a:latin typeface="Arial" panose="020B0604020202020204" pitchFamily="34" charset="0"/>
                        </a:rPr>
                        <a:t>1.4</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5.2</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000" b="0" i="0" u="none" strike="noStrike" dirty="0">
                          <a:solidFill>
                            <a:srgbClr val="000000"/>
                          </a:solidFill>
                          <a:effectLst/>
                          <a:latin typeface="Arial" panose="020B0604020202020204" pitchFamily="34" charset="0"/>
                        </a:rPr>
                        <a:t>84</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2481542292"/>
                  </a:ext>
                </a:extLst>
              </a:tr>
              <a:tr h="401023">
                <a:tc>
                  <a:txBody>
                    <a:bodyPr/>
                    <a:lstStyle/>
                    <a:p>
                      <a:pPr algn="ctr" rtl="0" fontAlgn="ctr"/>
                      <a:r>
                        <a:rPr lang="en-US" sz="2000" b="0" i="0" u="none" strike="noStrike" dirty="0">
                          <a:solidFill>
                            <a:srgbClr val="000000"/>
                          </a:solidFill>
                          <a:effectLst/>
                          <a:latin typeface="Arial" panose="020B0604020202020204" pitchFamily="34" charset="0"/>
                        </a:rPr>
                        <a:t>5000533</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2.3</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fontAlgn="t"/>
                      <a:r>
                        <a:rPr lang="en-US" sz="2000" b="0" i="0" u="none" strike="noStrike" dirty="0">
                          <a:solidFill>
                            <a:srgbClr val="000000"/>
                          </a:solidFill>
                          <a:effectLst/>
                          <a:latin typeface="Arial" panose="020B0604020202020204" pitchFamily="34" charset="0"/>
                        </a:rPr>
                        <a:t>5.8</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D9D9D9"/>
                    </a:solidFill>
                  </a:tcPr>
                </a:tc>
                <a:tc>
                  <a:txBody>
                    <a:bodyPr/>
                    <a:lstStyle/>
                    <a:p>
                      <a:pPr algn="ctr" rtl="0" fontAlgn="ctr"/>
                      <a:r>
                        <a:rPr lang="en-US" sz="2000" b="0" i="0" u="none" strike="noStrike" dirty="0">
                          <a:solidFill>
                            <a:srgbClr val="000000"/>
                          </a:solidFill>
                          <a:effectLst/>
                          <a:latin typeface="Arial" panose="020B0604020202020204" pitchFamily="34" charset="0"/>
                        </a:rPr>
                        <a:t>138</a:t>
                      </a:r>
                    </a:p>
                  </a:txBody>
                  <a:tcPr marL="3175" marR="3175" marT="3175" marB="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8DB4E2"/>
                    </a:solidFill>
                  </a:tcPr>
                </a:tc>
                <a:extLst>
                  <a:ext uri="{0D108BD9-81ED-4DB2-BD59-A6C34878D82A}">
                    <a16:rowId xmlns:a16="http://schemas.microsoft.com/office/drawing/2014/main" val="1265016389"/>
                  </a:ext>
                </a:extLst>
              </a:tr>
            </a:tbl>
          </a:graphicData>
        </a:graphic>
      </p:graphicFrame>
      <p:sp>
        <p:nvSpPr>
          <p:cNvPr id="16" name="Google Shape;293;p32">
            <a:extLst>
              <a:ext uri="{FF2B5EF4-FFF2-40B4-BE49-F238E27FC236}">
                <a16:creationId xmlns:a16="http://schemas.microsoft.com/office/drawing/2014/main" id="{139390EC-319A-B24C-B389-19925CFD9F68}"/>
              </a:ext>
            </a:extLst>
          </p:cNvPr>
          <p:cNvSpPr txBox="1">
            <a:spLocks noGrp="1"/>
          </p:cNvSpPr>
          <p:nvPr>
            <p:ph type="title"/>
          </p:nvPr>
        </p:nvSpPr>
        <p:spPr>
          <a:xfrm>
            <a:off x="0" y="684400"/>
            <a:ext cx="12192000" cy="777536"/>
          </a:xfrm>
          <a:prstGeom prst="rect">
            <a:avLst/>
          </a:prstGeom>
          <a:noFill/>
          <a:ln>
            <a:noFill/>
          </a:ln>
        </p:spPr>
        <p:txBody>
          <a:bodyPr spcFirstLastPara="1" wrap="square" lIns="0" tIns="6455" rIns="0" bIns="0" anchor="t" anchorCtr="0">
            <a:noAutofit/>
          </a:bodyPr>
          <a:lstStyle/>
          <a:p>
            <a:pPr marL="6803"/>
            <a:r>
              <a:rPr lang="en-US" dirty="0">
                <a:solidFill>
                  <a:srgbClr val="000000"/>
                </a:solidFill>
                <a:latin typeface="Consolas" panose="020B0609020204030204" pitchFamily="49" charset="0"/>
              </a:rPr>
              <a:t>mutate()</a:t>
            </a:r>
            <a:endParaRPr dirty="0">
              <a:latin typeface="Consolas" panose="020B0609020204030204" pitchFamily="49" charset="0"/>
            </a:endParaRPr>
          </a:p>
        </p:txBody>
      </p:sp>
      <p:sp>
        <p:nvSpPr>
          <p:cNvPr id="17" name="Google Shape;296;p32">
            <a:extLst>
              <a:ext uri="{FF2B5EF4-FFF2-40B4-BE49-F238E27FC236}">
                <a16:creationId xmlns:a16="http://schemas.microsoft.com/office/drawing/2014/main" id="{C649CDBA-BC90-894F-B5EE-256613561991}"/>
              </a:ext>
            </a:extLst>
          </p:cNvPr>
          <p:cNvSpPr txBox="1"/>
          <p:nvPr/>
        </p:nvSpPr>
        <p:spPr>
          <a:xfrm>
            <a:off x="2125774" y="1673939"/>
            <a:ext cx="7940453" cy="488905"/>
          </a:xfrm>
          <a:prstGeom prst="rect">
            <a:avLst/>
          </a:prstGeom>
          <a:noFill/>
          <a:ln>
            <a:noFill/>
          </a:ln>
        </p:spPr>
        <p:txBody>
          <a:bodyPr spcFirstLastPara="1" wrap="square" lIns="0" tIns="6455" rIns="0" bIns="0" anchor="t" anchorCtr="0">
            <a:noAutofit/>
          </a:bodyPr>
          <a:lstStyle/>
          <a:p>
            <a:pPr marL="6803" algn="ctr"/>
            <a:r>
              <a:rPr lang="en-US" sz="3200" dirty="0">
                <a:latin typeface="Tw Cen MT" panose="020B0602020104020603" pitchFamily="34" charset="77"/>
                <a:ea typeface="Calibri"/>
                <a:cs typeface="Calibri"/>
                <a:sym typeface="Calibri"/>
              </a:rPr>
              <a:t>Create new calculated columns</a:t>
            </a:r>
            <a:endParaRPr sz="3200" dirty="0">
              <a:latin typeface="Tw Cen MT" panose="020B0602020104020603" pitchFamily="34" charset="77"/>
              <a:ea typeface="Calibri"/>
              <a:cs typeface="Calibri"/>
              <a:sym typeface="Calibri"/>
            </a:endParaRPr>
          </a:p>
        </p:txBody>
      </p:sp>
    </p:spTree>
    <p:extLst>
      <p:ext uri="{BB962C8B-B14F-4D97-AF65-F5344CB8AC3E}">
        <p14:creationId xmlns:p14="http://schemas.microsoft.com/office/powerpoint/2010/main" val="4086247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E1AA3D-CC1E-C74E-A634-995E791A2433}"/>
              </a:ext>
            </a:extLst>
          </p:cNvPr>
          <p:cNvSpPr>
            <a:spLocks noGrp="1"/>
          </p:cNvSpPr>
          <p:nvPr>
            <p:ph type="title"/>
          </p:nvPr>
        </p:nvSpPr>
        <p:spPr/>
        <p:txBody>
          <a:bodyPr/>
          <a:lstStyle/>
          <a:p>
            <a:r>
              <a:rPr lang="en-US" dirty="0"/>
              <a:t>Your Turn #1</a:t>
            </a:r>
          </a:p>
        </p:txBody>
      </p:sp>
      <p:sp>
        <p:nvSpPr>
          <p:cNvPr id="3" name="Text Placeholder 2">
            <a:extLst>
              <a:ext uri="{FF2B5EF4-FFF2-40B4-BE49-F238E27FC236}">
                <a16:creationId xmlns:a16="http://schemas.microsoft.com/office/drawing/2014/main" id="{EE19BCF9-CEA1-7D4C-9B3A-71C9D9023AEA}"/>
              </a:ext>
            </a:extLst>
          </p:cNvPr>
          <p:cNvSpPr>
            <a:spLocks noGrp="1"/>
          </p:cNvSpPr>
          <p:nvPr>
            <p:ph type="body" sz="quarter" idx="13"/>
          </p:nvPr>
        </p:nvSpPr>
        <p:spPr/>
        <p:txBody>
          <a:bodyPr>
            <a:normAutofit lnSpcReduction="10000"/>
          </a:bodyPr>
          <a:lstStyle/>
          <a:p>
            <a:pPr marL="0" indent="0">
              <a:buNone/>
            </a:pPr>
            <a:r>
              <a:rPr lang="en-US" sz="4400" dirty="0"/>
              <a:t>Open </a:t>
            </a:r>
            <a:r>
              <a:rPr lang="en-US" sz="3600" dirty="0">
                <a:solidFill>
                  <a:srgbClr val="0070C0"/>
                </a:solidFill>
                <a:latin typeface="Consolas" panose="020B0609020204030204" pitchFamily="49" charset="0"/>
                <a:ea typeface="Monaco" charset="0"/>
                <a:cs typeface="Consolas" panose="020B0609020204030204" pitchFamily="49" charset="0"/>
              </a:rPr>
              <a:t>03 – </a:t>
            </a:r>
            <a:r>
              <a:rPr lang="en-US" sz="3600" dirty="0" err="1">
                <a:solidFill>
                  <a:srgbClr val="0070C0"/>
                </a:solidFill>
                <a:latin typeface="Consolas" panose="020B0609020204030204" pitchFamily="49" charset="0"/>
                <a:ea typeface="Monaco" charset="0"/>
                <a:cs typeface="Consolas" panose="020B0609020204030204" pitchFamily="49" charset="0"/>
              </a:rPr>
              <a:t>Transform.qmd</a:t>
            </a:r>
            <a:r>
              <a:rPr lang="en-US" sz="4400" dirty="0"/>
              <a:t> and work through the first set of exercises.</a:t>
            </a:r>
          </a:p>
          <a:p>
            <a:pPr marL="0" indent="0">
              <a:buNone/>
            </a:pPr>
            <a:endParaRPr lang="en-US" sz="4400" dirty="0"/>
          </a:p>
          <a:p>
            <a:pPr marL="0" indent="0">
              <a:buNone/>
            </a:pPr>
            <a:r>
              <a:rPr lang="en-US" sz="4400" dirty="0"/>
              <a:t>Type “done!” in the chat when you are finished.</a:t>
            </a:r>
          </a:p>
        </p:txBody>
      </p:sp>
    </p:spTree>
    <p:extLst>
      <p:ext uri="{BB962C8B-B14F-4D97-AF65-F5344CB8AC3E}">
        <p14:creationId xmlns:p14="http://schemas.microsoft.com/office/powerpoint/2010/main" val="183454170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A69A81-EACE-CA4A-8F32-2988B1716969}"/>
              </a:ext>
            </a:extLst>
          </p:cNvPr>
          <p:cNvSpPr>
            <a:spLocks noGrp="1"/>
          </p:cNvSpPr>
          <p:nvPr>
            <p:ph type="title"/>
          </p:nvPr>
        </p:nvSpPr>
        <p:spPr/>
        <p:txBody>
          <a:bodyPr/>
          <a:lstStyle/>
          <a:p>
            <a:r>
              <a:rPr lang="en-US" sz="5400" dirty="0">
                <a:solidFill>
                  <a:schemeClr val="tx1"/>
                </a:solidFill>
              </a:rPr>
              <a:t>Grouping your data</a:t>
            </a:r>
            <a:endParaRPr lang="en-US" dirty="0">
              <a:solidFill>
                <a:schemeClr val="tx1"/>
              </a:solidFill>
            </a:endParaRPr>
          </a:p>
        </p:txBody>
      </p:sp>
    </p:spTree>
    <p:extLst>
      <p:ext uri="{BB962C8B-B14F-4D97-AF65-F5344CB8AC3E}">
        <p14:creationId xmlns:p14="http://schemas.microsoft.com/office/powerpoint/2010/main" val="4780471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Google Shape;154;p18"/>
          <p:cNvGraphicFramePr/>
          <p:nvPr/>
        </p:nvGraphicFramePr>
        <p:xfrm>
          <a:off x="1629651" y="2861916"/>
          <a:ext cx="3622445" cy="2690254"/>
        </p:xfrm>
        <a:graphic>
          <a:graphicData uri="http://schemas.openxmlformats.org/drawingml/2006/table">
            <a:tbl>
              <a:tblPr firstRow="1" bandRow="1">
                <a:noFill/>
              </a:tblPr>
              <a:tblGrid>
                <a:gridCol w="724508">
                  <a:extLst>
                    <a:ext uri="{9D8B030D-6E8A-4147-A177-3AD203B41FA5}">
                      <a16:colId xmlns:a16="http://schemas.microsoft.com/office/drawing/2014/main" val="20000"/>
                    </a:ext>
                  </a:extLst>
                </a:gridCol>
                <a:gridCol w="685367">
                  <a:extLst>
                    <a:ext uri="{9D8B030D-6E8A-4147-A177-3AD203B41FA5}">
                      <a16:colId xmlns:a16="http://schemas.microsoft.com/office/drawing/2014/main" val="20001"/>
                    </a:ext>
                  </a:extLst>
                </a:gridCol>
                <a:gridCol w="992072">
                  <a:extLst>
                    <a:ext uri="{9D8B030D-6E8A-4147-A177-3AD203B41FA5}">
                      <a16:colId xmlns:a16="http://schemas.microsoft.com/office/drawing/2014/main" val="20002"/>
                    </a:ext>
                  </a:extLst>
                </a:gridCol>
                <a:gridCol w="1220498">
                  <a:extLst>
                    <a:ext uri="{9D8B030D-6E8A-4147-A177-3AD203B41FA5}">
                      <a16:colId xmlns:a16="http://schemas.microsoft.com/office/drawing/2014/main" val="20003"/>
                    </a:ext>
                  </a:extLst>
                </a:gridCol>
              </a:tblGrid>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tx1">
                        <a:lumMod val="95000"/>
                        <a:lumOff val="5000"/>
                      </a:schemeClr>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sp>
        <p:nvSpPr>
          <p:cNvPr id="4" name="Right Arrow 3"/>
          <p:cNvSpPr/>
          <p:nvPr/>
        </p:nvSpPr>
        <p:spPr>
          <a:xfrm>
            <a:off x="5811233" y="2941197"/>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Google Shape;154;p18"/>
          <p:cNvGraphicFramePr/>
          <p:nvPr/>
        </p:nvGraphicFramePr>
        <p:xfrm>
          <a:off x="7218468" y="2552806"/>
          <a:ext cx="3622445" cy="1152966"/>
        </p:xfrm>
        <a:graphic>
          <a:graphicData uri="http://schemas.openxmlformats.org/drawingml/2006/table">
            <a:tbl>
              <a:tblPr firstRow="1" bandRow="1">
                <a:noFill/>
                <a:effectLst>
                  <a:outerShdw blurRad="50800" dist="533400" dir="2700000" algn="tl" rotWithShape="0">
                    <a:prstClr val="black">
                      <a:alpha val="40000"/>
                    </a:prstClr>
                  </a:outerShdw>
                </a:effectLst>
              </a:tblPr>
              <a:tblGrid>
                <a:gridCol w="724508">
                  <a:extLst>
                    <a:ext uri="{9D8B030D-6E8A-4147-A177-3AD203B41FA5}">
                      <a16:colId xmlns:a16="http://schemas.microsoft.com/office/drawing/2014/main" val="20000"/>
                    </a:ext>
                  </a:extLst>
                </a:gridCol>
                <a:gridCol w="685367">
                  <a:extLst>
                    <a:ext uri="{9D8B030D-6E8A-4147-A177-3AD203B41FA5}">
                      <a16:colId xmlns:a16="http://schemas.microsoft.com/office/drawing/2014/main" val="20001"/>
                    </a:ext>
                  </a:extLst>
                </a:gridCol>
                <a:gridCol w="992072">
                  <a:extLst>
                    <a:ext uri="{9D8B030D-6E8A-4147-A177-3AD203B41FA5}">
                      <a16:colId xmlns:a16="http://schemas.microsoft.com/office/drawing/2014/main" val="20002"/>
                    </a:ext>
                  </a:extLst>
                </a:gridCol>
                <a:gridCol w="1220498">
                  <a:extLst>
                    <a:ext uri="{9D8B030D-6E8A-4147-A177-3AD203B41FA5}">
                      <a16:colId xmlns:a16="http://schemas.microsoft.com/office/drawing/2014/main" val="20003"/>
                    </a:ext>
                  </a:extLst>
                </a:gridCol>
              </a:tblGrid>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tx1">
                        <a:lumMod val="95000"/>
                        <a:lumOff val="5000"/>
                      </a:schemeClr>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951213" y="686765"/>
            <a:ext cx="2628989" cy="923330"/>
          </a:xfrm>
          <a:prstGeom prst="rect">
            <a:avLst/>
          </a:prstGeom>
          <a:noFill/>
        </p:spPr>
        <p:txBody>
          <a:bodyPr wrap="none" rtlCol="0">
            <a:spAutoFit/>
          </a:bodyPr>
          <a:lstStyle/>
          <a:p>
            <a:r>
              <a:rPr lang="en-US" sz="5400" dirty="0" err="1">
                <a:latin typeface="+mj-lt"/>
                <a:sym typeface="Calibri"/>
              </a:rPr>
              <a:t>group_by</a:t>
            </a:r>
            <a:r>
              <a:rPr lang="en-US" sz="5400" dirty="0">
                <a:latin typeface="Calibri"/>
                <a:sym typeface="Calibri"/>
              </a:rPr>
              <a:t>()</a:t>
            </a:r>
            <a:endParaRPr lang="en-US" dirty="0"/>
          </a:p>
        </p:txBody>
      </p:sp>
      <p:sp>
        <p:nvSpPr>
          <p:cNvPr id="8"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9" name="Google Shape;154;p18"/>
          <p:cNvGraphicFramePr/>
          <p:nvPr/>
        </p:nvGraphicFramePr>
        <p:xfrm>
          <a:off x="7510605" y="3129289"/>
          <a:ext cx="3622445" cy="1152966"/>
        </p:xfrm>
        <a:graphic>
          <a:graphicData uri="http://schemas.openxmlformats.org/drawingml/2006/table">
            <a:tbl>
              <a:tblPr firstRow="1" bandRow="1">
                <a:noFill/>
                <a:effectLst>
                  <a:outerShdw blurRad="50800" dist="533400" dir="2700000" algn="tl" rotWithShape="0">
                    <a:prstClr val="black">
                      <a:alpha val="40000"/>
                    </a:prstClr>
                  </a:outerShdw>
                </a:effectLst>
              </a:tblPr>
              <a:tblGrid>
                <a:gridCol w="724508">
                  <a:extLst>
                    <a:ext uri="{9D8B030D-6E8A-4147-A177-3AD203B41FA5}">
                      <a16:colId xmlns:a16="http://schemas.microsoft.com/office/drawing/2014/main" val="20000"/>
                    </a:ext>
                  </a:extLst>
                </a:gridCol>
                <a:gridCol w="685367">
                  <a:extLst>
                    <a:ext uri="{9D8B030D-6E8A-4147-A177-3AD203B41FA5}">
                      <a16:colId xmlns:a16="http://schemas.microsoft.com/office/drawing/2014/main" val="20001"/>
                    </a:ext>
                  </a:extLst>
                </a:gridCol>
                <a:gridCol w="992072">
                  <a:extLst>
                    <a:ext uri="{9D8B030D-6E8A-4147-A177-3AD203B41FA5}">
                      <a16:colId xmlns:a16="http://schemas.microsoft.com/office/drawing/2014/main" val="20002"/>
                    </a:ext>
                  </a:extLst>
                </a:gridCol>
                <a:gridCol w="1220498">
                  <a:extLst>
                    <a:ext uri="{9D8B030D-6E8A-4147-A177-3AD203B41FA5}">
                      <a16:colId xmlns:a16="http://schemas.microsoft.com/office/drawing/2014/main" val="20003"/>
                    </a:ext>
                  </a:extLst>
                </a:gridCol>
              </a:tblGrid>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tx1">
                        <a:lumMod val="95000"/>
                        <a:lumOff val="5000"/>
                      </a:schemeClr>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bl>
          </a:graphicData>
        </a:graphic>
      </p:graphicFrame>
      <p:graphicFrame>
        <p:nvGraphicFramePr>
          <p:cNvPr id="10" name="Google Shape;154;p18"/>
          <p:cNvGraphicFramePr/>
          <p:nvPr/>
        </p:nvGraphicFramePr>
        <p:xfrm>
          <a:off x="7802743" y="3705772"/>
          <a:ext cx="3622445" cy="1152966"/>
        </p:xfrm>
        <a:graphic>
          <a:graphicData uri="http://schemas.openxmlformats.org/drawingml/2006/table">
            <a:tbl>
              <a:tblPr firstRow="1" bandRow="1">
                <a:noFill/>
                <a:effectLst>
                  <a:outerShdw blurRad="50800" dist="533400" dir="2700000" algn="tl" rotWithShape="0">
                    <a:prstClr val="black">
                      <a:alpha val="40000"/>
                    </a:prstClr>
                  </a:outerShdw>
                </a:effectLst>
              </a:tblPr>
              <a:tblGrid>
                <a:gridCol w="724508">
                  <a:extLst>
                    <a:ext uri="{9D8B030D-6E8A-4147-A177-3AD203B41FA5}">
                      <a16:colId xmlns:a16="http://schemas.microsoft.com/office/drawing/2014/main" val="20000"/>
                    </a:ext>
                  </a:extLst>
                </a:gridCol>
                <a:gridCol w="685367">
                  <a:extLst>
                    <a:ext uri="{9D8B030D-6E8A-4147-A177-3AD203B41FA5}">
                      <a16:colId xmlns:a16="http://schemas.microsoft.com/office/drawing/2014/main" val="20001"/>
                    </a:ext>
                  </a:extLst>
                </a:gridCol>
                <a:gridCol w="992072">
                  <a:extLst>
                    <a:ext uri="{9D8B030D-6E8A-4147-A177-3AD203B41FA5}">
                      <a16:colId xmlns:a16="http://schemas.microsoft.com/office/drawing/2014/main" val="20002"/>
                    </a:ext>
                  </a:extLst>
                </a:gridCol>
                <a:gridCol w="1220498">
                  <a:extLst>
                    <a:ext uri="{9D8B030D-6E8A-4147-A177-3AD203B41FA5}">
                      <a16:colId xmlns:a16="http://schemas.microsoft.com/office/drawing/2014/main" val="20003"/>
                    </a:ext>
                  </a:extLst>
                </a:gridCol>
              </a:tblGrid>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tx1">
                        <a:lumMod val="95000"/>
                        <a:lumOff val="5000"/>
                      </a:schemeClr>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960996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1072054" y="712657"/>
            <a:ext cx="2628989" cy="923330"/>
          </a:xfrm>
          <a:prstGeom prst="rect">
            <a:avLst/>
          </a:prstGeom>
          <a:noFill/>
        </p:spPr>
        <p:txBody>
          <a:bodyPr wrap="none" rtlCol="0">
            <a:spAutoFit/>
          </a:bodyPr>
          <a:lstStyle/>
          <a:p>
            <a:r>
              <a:rPr lang="en-US" sz="5400" dirty="0" err="1">
                <a:latin typeface="+mj-lt"/>
                <a:sym typeface="Calibri"/>
              </a:rPr>
              <a:t>group_by</a:t>
            </a:r>
            <a:r>
              <a:rPr lang="en-US" sz="5400" dirty="0">
                <a:latin typeface="Calibri"/>
                <a:sym typeface="Calibri"/>
              </a:rPr>
              <a:t>()</a:t>
            </a:r>
            <a:endParaRPr lang="en-US" dirty="0"/>
          </a:p>
        </p:txBody>
      </p:sp>
      <p:sp>
        <p:nvSpPr>
          <p:cNvPr id="5" name="Google Shape;131;p17"/>
          <p:cNvSpPr/>
          <p:nvPr/>
        </p:nvSpPr>
        <p:spPr>
          <a:xfrm>
            <a:off x="3241040" y="2796189"/>
            <a:ext cx="5516880" cy="1265621"/>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6" name="Rectangle 5"/>
          <p:cNvSpPr/>
          <p:nvPr/>
        </p:nvSpPr>
        <p:spPr>
          <a:xfrm>
            <a:off x="3334875" y="2854532"/>
            <a:ext cx="8424455" cy="1077218"/>
          </a:xfrm>
          <a:prstGeom prst="rect">
            <a:avLst/>
          </a:prstGeom>
        </p:spPr>
        <p:txBody>
          <a:bodyPr wrap="square">
            <a:spAutoFit/>
          </a:bodyPr>
          <a:lstStyle/>
          <a:p>
            <a:r>
              <a:rPr lang="en-US" sz="3200" dirty="0" err="1">
                <a:latin typeface="Consolas" panose="020B0609020204030204" pitchFamily="49" charset="0"/>
                <a:ea typeface="Courier New"/>
                <a:cs typeface="Consolas" panose="020B0609020204030204" pitchFamily="49" charset="0"/>
                <a:sym typeface="Courier New"/>
              </a:rPr>
              <a:t>covid_testing</a:t>
            </a:r>
            <a:r>
              <a:rPr lang="en-US" sz="3200" dirty="0">
                <a:latin typeface="Consolas" panose="020B0609020204030204" pitchFamily="49" charset="0"/>
                <a:ea typeface="Courier New"/>
                <a:cs typeface="Consolas" panose="020B0609020204030204" pitchFamily="49" charset="0"/>
                <a:sym typeface="Courier New"/>
              </a:rPr>
              <a:t> %&gt;%</a:t>
            </a:r>
          </a:p>
          <a:p>
            <a:r>
              <a:rPr lang="en-US" sz="3200" dirty="0">
                <a:latin typeface="Consolas" panose="020B0609020204030204" pitchFamily="49" charset="0"/>
                <a:ea typeface="Courier New"/>
                <a:cs typeface="Consolas" panose="020B0609020204030204" pitchFamily="49" charset="0"/>
                <a:sym typeface="Courier New"/>
              </a:rPr>
              <a:t>	</a:t>
            </a:r>
            <a:r>
              <a:rPr lang="en-US" sz="3200" dirty="0" err="1">
                <a:latin typeface="Consolas" panose="020B0609020204030204" pitchFamily="49" charset="0"/>
                <a:ea typeface="Courier New"/>
                <a:cs typeface="Consolas" panose="020B0609020204030204" pitchFamily="49" charset="0"/>
                <a:sym typeface="Courier New"/>
              </a:rPr>
              <a:t>group_by</a:t>
            </a:r>
            <a:r>
              <a:rPr lang="en-US" sz="3200" dirty="0">
                <a:latin typeface="Consolas" panose="020B0609020204030204" pitchFamily="49" charset="0"/>
                <a:ea typeface="Courier New"/>
                <a:cs typeface="Consolas" panose="020B0609020204030204" pitchFamily="49" charset="0"/>
                <a:sym typeface="Courier New"/>
              </a:rPr>
              <a:t>(</a:t>
            </a:r>
            <a:r>
              <a:rPr lang="en-US" sz="3200" dirty="0">
                <a:solidFill>
                  <a:srgbClr val="538DD5"/>
                </a:solidFill>
                <a:latin typeface="Consolas" panose="020B0609020204030204" pitchFamily="49" charset="0"/>
                <a:ea typeface="Courier New"/>
                <a:cs typeface="Consolas" panose="020B0609020204030204" pitchFamily="49" charset="0"/>
                <a:sym typeface="Courier New"/>
              </a:rPr>
              <a:t>variable</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8" name="Google Shape;137;p17"/>
          <p:cNvSpPr/>
          <p:nvPr/>
        </p:nvSpPr>
        <p:spPr>
          <a:xfrm>
            <a:off x="4630466" y="3924704"/>
            <a:ext cx="3135583" cy="2033420"/>
          </a:xfrm>
          <a:custGeom>
            <a:avLst/>
            <a:gdLst>
              <a:gd name="connsiteX0" fmla="*/ 0 w 2183801"/>
              <a:gd name="connsiteY0" fmla="*/ 263730 h 1582350"/>
              <a:gd name="connsiteX1" fmla="*/ 263730 w 2183801"/>
              <a:gd name="connsiteY1" fmla="*/ 0 h 1582350"/>
              <a:gd name="connsiteX2" fmla="*/ 363967 w 2183801"/>
              <a:gd name="connsiteY2" fmla="*/ 0 h 1582350"/>
              <a:gd name="connsiteX3" fmla="*/ 27341 w 2183801"/>
              <a:gd name="connsiteY3" fmla="*/ -668416 h 1582350"/>
              <a:gd name="connsiteX4" fmla="*/ 909917 w 2183801"/>
              <a:gd name="connsiteY4" fmla="*/ 0 h 1582350"/>
              <a:gd name="connsiteX5" fmla="*/ 1920071 w 2183801"/>
              <a:gd name="connsiteY5" fmla="*/ 0 h 1582350"/>
              <a:gd name="connsiteX6" fmla="*/ 2183801 w 2183801"/>
              <a:gd name="connsiteY6" fmla="*/ 263730 h 1582350"/>
              <a:gd name="connsiteX7" fmla="*/ 2183801 w 2183801"/>
              <a:gd name="connsiteY7" fmla="*/ 263725 h 1582350"/>
              <a:gd name="connsiteX8" fmla="*/ 2183801 w 2183801"/>
              <a:gd name="connsiteY8" fmla="*/ 263725 h 1582350"/>
              <a:gd name="connsiteX9" fmla="*/ 2183801 w 2183801"/>
              <a:gd name="connsiteY9" fmla="*/ 659313 h 1582350"/>
              <a:gd name="connsiteX10" fmla="*/ 2183801 w 2183801"/>
              <a:gd name="connsiteY10" fmla="*/ 1318620 h 1582350"/>
              <a:gd name="connsiteX11" fmla="*/ 1920071 w 2183801"/>
              <a:gd name="connsiteY11" fmla="*/ 1582350 h 1582350"/>
              <a:gd name="connsiteX12" fmla="*/ 909917 w 2183801"/>
              <a:gd name="connsiteY12" fmla="*/ 1582350 h 1582350"/>
              <a:gd name="connsiteX13" fmla="*/ 363967 w 2183801"/>
              <a:gd name="connsiteY13" fmla="*/ 1582350 h 1582350"/>
              <a:gd name="connsiteX14" fmla="*/ 363967 w 2183801"/>
              <a:gd name="connsiteY14" fmla="*/ 1582350 h 1582350"/>
              <a:gd name="connsiteX15" fmla="*/ 263730 w 2183801"/>
              <a:gd name="connsiteY15" fmla="*/ 1582350 h 1582350"/>
              <a:gd name="connsiteX16" fmla="*/ 0 w 2183801"/>
              <a:gd name="connsiteY16" fmla="*/ 1318620 h 1582350"/>
              <a:gd name="connsiteX17" fmla="*/ 0 w 2183801"/>
              <a:gd name="connsiteY17" fmla="*/ 659313 h 1582350"/>
              <a:gd name="connsiteX18" fmla="*/ 0 w 2183801"/>
              <a:gd name="connsiteY18" fmla="*/ 263725 h 1582350"/>
              <a:gd name="connsiteX19" fmla="*/ 0 w 2183801"/>
              <a:gd name="connsiteY19" fmla="*/ 263725 h 1582350"/>
              <a:gd name="connsiteX20" fmla="*/ 0 w 2183801"/>
              <a:gd name="connsiteY20" fmla="*/ 263730 h 1582350"/>
              <a:gd name="connsiteX0" fmla="*/ 0 w 2183801"/>
              <a:gd name="connsiteY0" fmla="*/ 932146 h 2250766"/>
              <a:gd name="connsiteX1" fmla="*/ 263730 w 2183801"/>
              <a:gd name="connsiteY1" fmla="*/ 668416 h 2250766"/>
              <a:gd name="connsiteX2" fmla="*/ 536687 w 2183801"/>
              <a:gd name="connsiteY2" fmla="*/ 668416 h 2250766"/>
              <a:gd name="connsiteX3" fmla="*/ 27341 w 2183801"/>
              <a:gd name="connsiteY3" fmla="*/ 0 h 2250766"/>
              <a:gd name="connsiteX4" fmla="*/ 909917 w 2183801"/>
              <a:gd name="connsiteY4" fmla="*/ 668416 h 2250766"/>
              <a:gd name="connsiteX5" fmla="*/ 1920071 w 2183801"/>
              <a:gd name="connsiteY5" fmla="*/ 668416 h 2250766"/>
              <a:gd name="connsiteX6" fmla="*/ 2183801 w 2183801"/>
              <a:gd name="connsiteY6" fmla="*/ 932146 h 2250766"/>
              <a:gd name="connsiteX7" fmla="*/ 2183801 w 2183801"/>
              <a:gd name="connsiteY7" fmla="*/ 932141 h 2250766"/>
              <a:gd name="connsiteX8" fmla="*/ 2183801 w 2183801"/>
              <a:gd name="connsiteY8" fmla="*/ 932141 h 2250766"/>
              <a:gd name="connsiteX9" fmla="*/ 2183801 w 2183801"/>
              <a:gd name="connsiteY9" fmla="*/ 1327729 h 2250766"/>
              <a:gd name="connsiteX10" fmla="*/ 2183801 w 2183801"/>
              <a:gd name="connsiteY10" fmla="*/ 1987036 h 2250766"/>
              <a:gd name="connsiteX11" fmla="*/ 1920071 w 2183801"/>
              <a:gd name="connsiteY11" fmla="*/ 2250766 h 2250766"/>
              <a:gd name="connsiteX12" fmla="*/ 909917 w 2183801"/>
              <a:gd name="connsiteY12" fmla="*/ 2250766 h 2250766"/>
              <a:gd name="connsiteX13" fmla="*/ 363967 w 2183801"/>
              <a:gd name="connsiteY13" fmla="*/ 2250766 h 2250766"/>
              <a:gd name="connsiteX14" fmla="*/ 363967 w 2183801"/>
              <a:gd name="connsiteY14" fmla="*/ 2250766 h 2250766"/>
              <a:gd name="connsiteX15" fmla="*/ 263730 w 2183801"/>
              <a:gd name="connsiteY15" fmla="*/ 2250766 h 2250766"/>
              <a:gd name="connsiteX16" fmla="*/ 0 w 2183801"/>
              <a:gd name="connsiteY16" fmla="*/ 1987036 h 2250766"/>
              <a:gd name="connsiteX17" fmla="*/ 0 w 2183801"/>
              <a:gd name="connsiteY17" fmla="*/ 1327729 h 2250766"/>
              <a:gd name="connsiteX18" fmla="*/ 0 w 2183801"/>
              <a:gd name="connsiteY18" fmla="*/ 932141 h 2250766"/>
              <a:gd name="connsiteX19" fmla="*/ 0 w 2183801"/>
              <a:gd name="connsiteY19" fmla="*/ 932141 h 2250766"/>
              <a:gd name="connsiteX20" fmla="*/ 0 w 2183801"/>
              <a:gd name="connsiteY20" fmla="*/ 932146 h 2250766"/>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909917 w 2423251"/>
              <a:gd name="connsiteY4" fmla="*/ 690730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536687 w 2423251"/>
              <a:gd name="connsiteY2" fmla="*/ 690730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423251"/>
              <a:gd name="connsiteY0" fmla="*/ 954460 h 2273080"/>
              <a:gd name="connsiteX1" fmla="*/ 263730 w 2423251"/>
              <a:gd name="connsiteY1" fmla="*/ 690730 h 2273080"/>
              <a:gd name="connsiteX2" fmla="*/ 1209057 w 2423251"/>
              <a:gd name="connsiteY2" fmla="*/ 668416 h 2273080"/>
              <a:gd name="connsiteX3" fmla="*/ 2423251 w 2423251"/>
              <a:gd name="connsiteY3" fmla="*/ 0 h 2273080"/>
              <a:gd name="connsiteX4" fmla="*/ 1478117 w 2423251"/>
              <a:gd name="connsiteY4" fmla="*/ 701888 h 2273080"/>
              <a:gd name="connsiteX5" fmla="*/ 1920071 w 2423251"/>
              <a:gd name="connsiteY5" fmla="*/ 690730 h 2273080"/>
              <a:gd name="connsiteX6" fmla="*/ 2183801 w 2423251"/>
              <a:gd name="connsiteY6" fmla="*/ 954460 h 2273080"/>
              <a:gd name="connsiteX7" fmla="*/ 2183801 w 2423251"/>
              <a:gd name="connsiteY7" fmla="*/ 954455 h 2273080"/>
              <a:gd name="connsiteX8" fmla="*/ 2183801 w 2423251"/>
              <a:gd name="connsiteY8" fmla="*/ 954455 h 2273080"/>
              <a:gd name="connsiteX9" fmla="*/ 2183801 w 2423251"/>
              <a:gd name="connsiteY9" fmla="*/ 1350043 h 2273080"/>
              <a:gd name="connsiteX10" fmla="*/ 2183801 w 2423251"/>
              <a:gd name="connsiteY10" fmla="*/ 2009350 h 2273080"/>
              <a:gd name="connsiteX11" fmla="*/ 1920071 w 2423251"/>
              <a:gd name="connsiteY11" fmla="*/ 2273080 h 2273080"/>
              <a:gd name="connsiteX12" fmla="*/ 909917 w 2423251"/>
              <a:gd name="connsiteY12" fmla="*/ 2273080 h 2273080"/>
              <a:gd name="connsiteX13" fmla="*/ 363967 w 2423251"/>
              <a:gd name="connsiteY13" fmla="*/ 2273080 h 2273080"/>
              <a:gd name="connsiteX14" fmla="*/ 363967 w 2423251"/>
              <a:gd name="connsiteY14" fmla="*/ 2273080 h 2273080"/>
              <a:gd name="connsiteX15" fmla="*/ 263730 w 2423251"/>
              <a:gd name="connsiteY15" fmla="*/ 2273080 h 2273080"/>
              <a:gd name="connsiteX16" fmla="*/ 0 w 2423251"/>
              <a:gd name="connsiteY16" fmla="*/ 2009350 h 2273080"/>
              <a:gd name="connsiteX17" fmla="*/ 0 w 2423251"/>
              <a:gd name="connsiteY17" fmla="*/ 1350043 h 2273080"/>
              <a:gd name="connsiteX18" fmla="*/ 0 w 2423251"/>
              <a:gd name="connsiteY18" fmla="*/ 954455 h 2273080"/>
              <a:gd name="connsiteX19" fmla="*/ 0 w 2423251"/>
              <a:gd name="connsiteY19" fmla="*/ 954455 h 2273080"/>
              <a:gd name="connsiteX20" fmla="*/ 0 w 2423251"/>
              <a:gd name="connsiteY20" fmla="*/ 954460 h 2273080"/>
              <a:gd name="connsiteX0" fmla="*/ 0 w 2183801"/>
              <a:gd name="connsiteY0" fmla="*/ 1046506 h 2365126"/>
              <a:gd name="connsiteX1" fmla="*/ 263730 w 2183801"/>
              <a:gd name="connsiteY1" fmla="*/ 782776 h 2365126"/>
              <a:gd name="connsiteX2" fmla="*/ 1209057 w 2183801"/>
              <a:gd name="connsiteY2" fmla="*/ 760462 h 2365126"/>
              <a:gd name="connsiteX3" fmla="*/ 1961588 w 2183801"/>
              <a:gd name="connsiteY3" fmla="*/ 0 h 2365126"/>
              <a:gd name="connsiteX4" fmla="*/ 1478117 w 2183801"/>
              <a:gd name="connsiteY4" fmla="*/ 793934 h 2365126"/>
              <a:gd name="connsiteX5" fmla="*/ 1920071 w 2183801"/>
              <a:gd name="connsiteY5" fmla="*/ 782776 h 2365126"/>
              <a:gd name="connsiteX6" fmla="*/ 2183801 w 2183801"/>
              <a:gd name="connsiteY6" fmla="*/ 1046506 h 2365126"/>
              <a:gd name="connsiteX7" fmla="*/ 2183801 w 2183801"/>
              <a:gd name="connsiteY7" fmla="*/ 1046501 h 2365126"/>
              <a:gd name="connsiteX8" fmla="*/ 2183801 w 2183801"/>
              <a:gd name="connsiteY8" fmla="*/ 1046501 h 2365126"/>
              <a:gd name="connsiteX9" fmla="*/ 2183801 w 2183801"/>
              <a:gd name="connsiteY9" fmla="*/ 1442089 h 2365126"/>
              <a:gd name="connsiteX10" fmla="*/ 2183801 w 2183801"/>
              <a:gd name="connsiteY10" fmla="*/ 2101396 h 2365126"/>
              <a:gd name="connsiteX11" fmla="*/ 1920071 w 2183801"/>
              <a:gd name="connsiteY11" fmla="*/ 2365126 h 2365126"/>
              <a:gd name="connsiteX12" fmla="*/ 909917 w 2183801"/>
              <a:gd name="connsiteY12" fmla="*/ 2365126 h 2365126"/>
              <a:gd name="connsiteX13" fmla="*/ 363967 w 2183801"/>
              <a:gd name="connsiteY13" fmla="*/ 2365126 h 2365126"/>
              <a:gd name="connsiteX14" fmla="*/ 363967 w 2183801"/>
              <a:gd name="connsiteY14" fmla="*/ 2365126 h 2365126"/>
              <a:gd name="connsiteX15" fmla="*/ 263730 w 2183801"/>
              <a:gd name="connsiteY15" fmla="*/ 2365126 h 2365126"/>
              <a:gd name="connsiteX16" fmla="*/ 0 w 2183801"/>
              <a:gd name="connsiteY16" fmla="*/ 2101396 h 2365126"/>
              <a:gd name="connsiteX17" fmla="*/ 0 w 2183801"/>
              <a:gd name="connsiteY17" fmla="*/ 1442089 h 2365126"/>
              <a:gd name="connsiteX18" fmla="*/ 0 w 2183801"/>
              <a:gd name="connsiteY18" fmla="*/ 1046501 h 2365126"/>
              <a:gd name="connsiteX19" fmla="*/ 0 w 2183801"/>
              <a:gd name="connsiteY19" fmla="*/ 1046501 h 2365126"/>
              <a:gd name="connsiteX20" fmla="*/ 0 w 2183801"/>
              <a:gd name="connsiteY20" fmla="*/ 1046506 h 2365126"/>
              <a:gd name="connsiteX0" fmla="*/ 0 w 2183801"/>
              <a:gd name="connsiteY0" fmla="*/ 1129596 h 2448216"/>
              <a:gd name="connsiteX1" fmla="*/ 263730 w 2183801"/>
              <a:gd name="connsiteY1" fmla="*/ 865866 h 2448216"/>
              <a:gd name="connsiteX2" fmla="*/ 1209057 w 2183801"/>
              <a:gd name="connsiteY2" fmla="*/ 843552 h 2448216"/>
              <a:gd name="connsiteX3" fmla="*/ 1806423 w 2183801"/>
              <a:gd name="connsiteY3" fmla="*/ 0 h 2448216"/>
              <a:gd name="connsiteX4" fmla="*/ 1478117 w 2183801"/>
              <a:gd name="connsiteY4" fmla="*/ 877024 h 2448216"/>
              <a:gd name="connsiteX5" fmla="*/ 1920071 w 2183801"/>
              <a:gd name="connsiteY5" fmla="*/ 865866 h 2448216"/>
              <a:gd name="connsiteX6" fmla="*/ 2183801 w 2183801"/>
              <a:gd name="connsiteY6" fmla="*/ 1129596 h 2448216"/>
              <a:gd name="connsiteX7" fmla="*/ 2183801 w 2183801"/>
              <a:gd name="connsiteY7" fmla="*/ 1129591 h 2448216"/>
              <a:gd name="connsiteX8" fmla="*/ 2183801 w 2183801"/>
              <a:gd name="connsiteY8" fmla="*/ 1129591 h 2448216"/>
              <a:gd name="connsiteX9" fmla="*/ 2183801 w 2183801"/>
              <a:gd name="connsiteY9" fmla="*/ 1525179 h 2448216"/>
              <a:gd name="connsiteX10" fmla="*/ 2183801 w 2183801"/>
              <a:gd name="connsiteY10" fmla="*/ 2184486 h 2448216"/>
              <a:gd name="connsiteX11" fmla="*/ 1920071 w 2183801"/>
              <a:gd name="connsiteY11" fmla="*/ 2448216 h 2448216"/>
              <a:gd name="connsiteX12" fmla="*/ 909917 w 2183801"/>
              <a:gd name="connsiteY12" fmla="*/ 2448216 h 2448216"/>
              <a:gd name="connsiteX13" fmla="*/ 363967 w 2183801"/>
              <a:gd name="connsiteY13" fmla="*/ 2448216 h 2448216"/>
              <a:gd name="connsiteX14" fmla="*/ 363967 w 2183801"/>
              <a:gd name="connsiteY14" fmla="*/ 2448216 h 2448216"/>
              <a:gd name="connsiteX15" fmla="*/ 263730 w 2183801"/>
              <a:gd name="connsiteY15" fmla="*/ 2448216 h 2448216"/>
              <a:gd name="connsiteX16" fmla="*/ 0 w 2183801"/>
              <a:gd name="connsiteY16" fmla="*/ 2184486 h 2448216"/>
              <a:gd name="connsiteX17" fmla="*/ 0 w 2183801"/>
              <a:gd name="connsiteY17" fmla="*/ 1525179 h 2448216"/>
              <a:gd name="connsiteX18" fmla="*/ 0 w 2183801"/>
              <a:gd name="connsiteY18" fmla="*/ 1129591 h 2448216"/>
              <a:gd name="connsiteX19" fmla="*/ 0 w 2183801"/>
              <a:gd name="connsiteY19" fmla="*/ 1129591 h 2448216"/>
              <a:gd name="connsiteX20" fmla="*/ 0 w 2183801"/>
              <a:gd name="connsiteY20" fmla="*/ 1129596 h 24482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83801" h="2448216">
                <a:moveTo>
                  <a:pt x="0" y="1129596"/>
                </a:moveTo>
                <a:cubicBezTo>
                  <a:pt x="0" y="983942"/>
                  <a:pt x="118076" y="865866"/>
                  <a:pt x="263730" y="865866"/>
                </a:cubicBezTo>
                <a:lnTo>
                  <a:pt x="1209057" y="843552"/>
                </a:lnTo>
                <a:lnTo>
                  <a:pt x="1806423" y="0"/>
                </a:lnTo>
                <a:lnTo>
                  <a:pt x="1478117" y="877024"/>
                </a:lnTo>
                <a:lnTo>
                  <a:pt x="1920071" y="865866"/>
                </a:lnTo>
                <a:cubicBezTo>
                  <a:pt x="2065725" y="865866"/>
                  <a:pt x="2183801" y="983942"/>
                  <a:pt x="2183801" y="1129596"/>
                </a:cubicBezTo>
                <a:lnTo>
                  <a:pt x="2183801" y="1129591"/>
                </a:lnTo>
                <a:lnTo>
                  <a:pt x="2183801" y="1129591"/>
                </a:lnTo>
                <a:lnTo>
                  <a:pt x="2183801" y="1525179"/>
                </a:lnTo>
                <a:lnTo>
                  <a:pt x="2183801" y="2184486"/>
                </a:lnTo>
                <a:cubicBezTo>
                  <a:pt x="2183801" y="2330140"/>
                  <a:pt x="2065725" y="2448216"/>
                  <a:pt x="1920071" y="2448216"/>
                </a:cubicBezTo>
                <a:lnTo>
                  <a:pt x="909917" y="2448216"/>
                </a:lnTo>
                <a:lnTo>
                  <a:pt x="363967" y="2448216"/>
                </a:lnTo>
                <a:lnTo>
                  <a:pt x="363967" y="2448216"/>
                </a:lnTo>
                <a:lnTo>
                  <a:pt x="263730" y="2448216"/>
                </a:lnTo>
                <a:cubicBezTo>
                  <a:pt x="118076" y="2448216"/>
                  <a:pt x="0" y="2330140"/>
                  <a:pt x="0" y="2184486"/>
                </a:cubicBezTo>
                <a:lnTo>
                  <a:pt x="0" y="1525179"/>
                </a:lnTo>
                <a:lnTo>
                  <a:pt x="0" y="1129591"/>
                </a:lnTo>
                <a:lnTo>
                  <a:pt x="0" y="1129591"/>
                </a:lnTo>
                <a:lnTo>
                  <a:pt x="0" y="1129596"/>
                </a:lnTo>
                <a:close/>
              </a:path>
            </a:pathLst>
          </a:custGeom>
          <a:solidFill>
            <a:srgbClr val="78AAD6"/>
          </a:solidFill>
          <a:ln>
            <a:noFill/>
          </a:ln>
        </p:spPr>
        <p:txBody>
          <a:bodyPr spcFirstLastPara="1" wrap="square" lIns="0" tIns="0" rIns="0" bIns="0" anchor="t" anchorCtr="0">
            <a:noAutofit/>
          </a:bodyPr>
          <a:lstStyle/>
          <a:p>
            <a:endParaRPr sz="964"/>
          </a:p>
        </p:txBody>
      </p:sp>
      <p:sp>
        <p:nvSpPr>
          <p:cNvPr id="9" name="Google Shape;138;p17"/>
          <p:cNvSpPr txBox="1"/>
          <p:nvPr/>
        </p:nvSpPr>
        <p:spPr>
          <a:xfrm>
            <a:off x="4785563" y="4814314"/>
            <a:ext cx="2913812" cy="1143810"/>
          </a:xfrm>
          <a:prstGeom prst="rect">
            <a:avLst/>
          </a:prstGeom>
          <a:noFill/>
          <a:ln>
            <a:noFill/>
          </a:ln>
        </p:spPr>
        <p:txBody>
          <a:bodyPr spcFirstLastPara="1" wrap="square" lIns="0" tIns="32652" rIns="0" bIns="0" anchor="t" anchorCtr="0">
            <a:noAutofit/>
          </a:bodyPr>
          <a:lstStyle/>
          <a:p>
            <a:pPr marL="208524" marR="2721" indent="-202061" algn="ctr">
              <a:lnSpc>
                <a:spcPct val="113506"/>
              </a:lnSpc>
            </a:pPr>
            <a:r>
              <a:rPr lang="en-US" sz="2800" b="1" dirty="0">
                <a:solidFill>
                  <a:srgbClr val="FFFFFF"/>
                </a:solidFill>
                <a:latin typeface="Trebuchet MS"/>
                <a:ea typeface="Trebuchet MS"/>
                <a:cs typeface="Trebuchet MS"/>
                <a:sym typeface="Trebuchet MS"/>
              </a:rPr>
              <a:t>name of variable to group by</a:t>
            </a:r>
            <a:endParaRPr sz="2800" dirty="0">
              <a:latin typeface="Trebuchet MS"/>
              <a:ea typeface="Trebuchet MS"/>
              <a:cs typeface="Trebuchet MS"/>
              <a:sym typeface="Trebuchet MS"/>
            </a:endParaRPr>
          </a:p>
        </p:txBody>
      </p:sp>
      <p:sp>
        <p:nvSpPr>
          <p:cNvPr id="13" name="Google Shape;296;p32"/>
          <p:cNvSpPr txBox="1"/>
          <p:nvPr/>
        </p:nvSpPr>
        <p:spPr>
          <a:xfrm>
            <a:off x="1072054" y="2075342"/>
            <a:ext cx="10762594" cy="1167589"/>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3200" i="1" dirty="0">
                <a:latin typeface="Calibri"/>
                <a:ea typeface="Calibri"/>
                <a:cs typeface="Calibri"/>
                <a:sym typeface="Calibri"/>
              </a:rPr>
              <a:t>Grouping observations based on a specific </a:t>
            </a:r>
            <a:r>
              <a:rPr lang="en-US" sz="3200" i="1" dirty="0">
                <a:solidFill>
                  <a:srgbClr val="0070C0"/>
                </a:solidFill>
                <a:latin typeface="Calibri"/>
                <a:ea typeface="Calibri"/>
                <a:cs typeface="Calibri"/>
                <a:sym typeface="Calibri"/>
              </a:rPr>
              <a:t>variable</a:t>
            </a:r>
            <a:r>
              <a:rPr lang="en-US" sz="3200" i="1" dirty="0">
                <a:latin typeface="Calibri"/>
                <a:ea typeface="Calibri"/>
                <a:cs typeface="Calibri"/>
                <a:sym typeface="Calibri"/>
              </a:rPr>
              <a:t>’s values</a:t>
            </a:r>
            <a:endParaRPr sz="3200" i="1" dirty="0">
              <a:latin typeface="Calibri"/>
              <a:ea typeface="Calibri"/>
              <a:cs typeface="Calibri"/>
              <a:sym typeface="Calibri"/>
            </a:endParaRPr>
          </a:p>
        </p:txBody>
      </p:sp>
      <p:sp>
        <p:nvSpPr>
          <p:cNvPr id="10"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Tree>
    <p:extLst>
      <p:ext uri="{BB962C8B-B14F-4D97-AF65-F5344CB8AC3E}">
        <p14:creationId xmlns:p14="http://schemas.microsoft.com/office/powerpoint/2010/main" val="19245048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80759" y="742329"/>
            <a:ext cx="2628989" cy="923330"/>
          </a:xfrm>
          <a:prstGeom prst="rect">
            <a:avLst/>
          </a:prstGeom>
          <a:noFill/>
        </p:spPr>
        <p:txBody>
          <a:bodyPr wrap="none" rtlCol="0">
            <a:spAutoFit/>
          </a:bodyPr>
          <a:lstStyle/>
          <a:p>
            <a:r>
              <a:rPr lang="en-US" sz="5400" dirty="0" err="1">
                <a:latin typeface="+mj-lt"/>
                <a:sym typeface="Calibri"/>
              </a:rPr>
              <a:t>group_by</a:t>
            </a:r>
            <a:r>
              <a:rPr lang="en-US" sz="5400" dirty="0">
                <a:latin typeface="Calibri"/>
                <a:sym typeface="Calibri"/>
              </a:rPr>
              <a:t>()</a:t>
            </a:r>
            <a:endParaRPr lang="en-US" dirty="0"/>
          </a:p>
        </p:txBody>
      </p:sp>
      <p:sp>
        <p:nvSpPr>
          <p:cNvPr id="5" name="Google Shape;131;p17"/>
          <p:cNvSpPr/>
          <p:nvPr/>
        </p:nvSpPr>
        <p:spPr>
          <a:xfrm>
            <a:off x="3291840" y="2427522"/>
            <a:ext cx="5638800" cy="1284159"/>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6" name="Rectangle 5"/>
          <p:cNvSpPr/>
          <p:nvPr/>
        </p:nvSpPr>
        <p:spPr>
          <a:xfrm>
            <a:off x="3588875" y="2485865"/>
            <a:ext cx="5189365" cy="1077218"/>
          </a:xfrm>
          <a:prstGeom prst="rect">
            <a:avLst/>
          </a:prstGeom>
        </p:spPr>
        <p:txBody>
          <a:bodyPr wrap="square">
            <a:spAutoFit/>
          </a:bodyPr>
          <a:lstStyle/>
          <a:p>
            <a:r>
              <a:rPr lang="en-US" sz="3200" dirty="0" err="1">
                <a:latin typeface="Consolas" panose="020B0609020204030204" pitchFamily="49" charset="0"/>
                <a:ea typeface="Courier New"/>
                <a:cs typeface="Consolas" panose="020B0609020204030204" pitchFamily="49" charset="0"/>
                <a:sym typeface="Courier New"/>
              </a:rPr>
              <a:t>covid_testing</a:t>
            </a:r>
            <a:r>
              <a:rPr lang="en-US" sz="3200" dirty="0">
                <a:latin typeface="Consolas" panose="020B0609020204030204" pitchFamily="49" charset="0"/>
                <a:ea typeface="Courier New"/>
                <a:cs typeface="Consolas" panose="020B0609020204030204" pitchFamily="49" charset="0"/>
                <a:sym typeface="Courier New"/>
              </a:rPr>
              <a:t> %&gt;%</a:t>
            </a:r>
            <a:endParaRPr lang="en-US" sz="3200" dirty="0">
              <a:solidFill>
                <a:schemeClr val="bg2">
                  <a:lumMod val="90000"/>
                </a:schemeClr>
              </a:solidFill>
              <a:latin typeface="Consolas" panose="020B0609020204030204" pitchFamily="49" charset="0"/>
              <a:ea typeface="Courier New"/>
              <a:cs typeface="Consolas" panose="020B0609020204030204" pitchFamily="49" charset="0"/>
              <a:sym typeface="Courier New"/>
            </a:endParaRPr>
          </a:p>
          <a:p>
            <a:r>
              <a:rPr lang="en-US" sz="3200" dirty="0">
                <a:latin typeface="Consolas" panose="020B0609020204030204" pitchFamily="49" charset="0"/>
                <a:ea typeface="Courier New"/>
                <a:cs typeface="Consolas" panose="020B0609020204030204" pitchFamily="49" charset="0"/>
                <a:sym typeface="Courier New"/>
              </a:rPr>
              <a:t>	</a:t>
            </a:r>
            <a:r>
              <a:rPr lang="en-US" sz="3200" dirty="0" err="1">
                <a:latin typeface="Consolas" panose="020B0609020204030204" pitchFamily="49" charset="0"/>
                <a:ea typeface="Courier New"/>
                <a:cs typeface="Consolas" panose="020B0609020204030204" pitchFamily="49" charset="0"/>
                <a:sym typeface="Courier New"/>
              </a:rPr>
              <a:t>group_by</a:t>
            </a:r>
            <a:r>
              <a:rPr lang="en-US" sz="3200" dirty="0">
                <a:latin typeface="Consolas" panose="020B0609020204030204" pitchFamily="49" charset="0"/>
                <a:ea typeface="Courier New"/>
                <a:cs typeface="Consolas" panose="020B0609020204030204" pitchFamily="49" charset="0"/>
                <a:sym typeface="Courier New"/>
              </a:rPr>
              <a:t>(</a:t>
            </a:r>
            <a:r>
              <a:rPr lang="en-US" sz="3200" dirty="0" err="1">
                <a:solidFill>
                  <a:srgbClr val="538DD5"/>
                </a:solidFill>
                <a:latin typeface="Consolas" panose="020B0609020204030204" pitchFamily="49" charset="0"/>
                <a:ea typeface="Courier New"/>
                <a:cs typeface="Consolas" panose="020B0609020204030204" pitchFamily="49" charset="0"/>
                <a:sym typeface="Courier New"/>
              </a:rPr>
              <a:t>pan_day</a:t>
            </a:r>
            <a:r>
              <a:rPr lang="en-US" sz="3200" dirty="0">
                <a:latin typeface="Consolas" panose="020B0609020204030204" pitchFamily="49" charset="0"/>
                <a:ea typeface="Courier New"/>
                <a:cs typeface="Consolas" panose="020B0609020204030204" pitchFamily="49" charset="0"/>
                <a:sym typeface="Courier New"/>
              </a:rPr>
              <a:t>)</a:t>
            </a:r>
            <a:endParaRPr lang="en-US" sz="800" dirty="0"/>
          </a:p>
        </p:txBody>
      </p:sp>
      <p:sp>
        <p:nvSpPr>
          <p:cNvPr id="13" name="Google Shape;296;p32"/>
          <p:cNvSpPr txBox="1"/>
          <p:nvPr/>
        </p:nvSpPr>
        <p:spPr>
          <a:xfrm>
            <a:off x="1100629" y="1684817"/>
            <a:ext cx="7335447" cy="502623"/>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3200" i="1" dirty="0">
                <a:latin typeface="Calibri"/>
                <a:ea typeface="Calibri"/>
                <a:cs typeface="Calibri"/>
                <a:sym typeface="Calibri"/>
              </a:rPr>
              <a:t>Group observations by </a:t>
            </a:r>
            <a:r>
              <a:rPr lang="en-US" sz="3200" i="1" dirty="0" err="1">
                <a:solidFill>
                  <a:srgbClr val="0070C0"/>
                </a:solidFill>
                <a:latin typeface="Calibri"/>
                <a:ea typeface="Calibri"/>
                <a:cs typeface="Calibri"/>
                <a:sym typeface="Calibri"/>
              </a:rPr>
              <a:t>pan_day</a:t>
            </a:r>
            <a:endParaRPr sz="3200" i="1" dirty="0">
              <a:solidFill>
                <a:srgbClr val="0070C0"/>
              </a:solidFill>
              <a:latin typeface="Calibri"/>
              <a:ea typeface="Calibri"/>
              <a:cs typeface="Calibri"/>
              <a:sym typeface="Calibri"/>
            </a:endParaRPr>
          </a:p>
        </p:txBody>
      </p:sp>
      <p:sp>
        <p:nvSpPr>
          <p:cNvPr id="11"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pic>
        <p:nvPicPr>
          <p:cNvPr id="12" name="Picture 11">
            <a:extLst>
              <a:ext uri="{FF2B5EF4-FFF2-40B4-BE49-F238E27FC236}">
                <a16:creationId xmlns:a16="http://schemas.microsoft.com/office/drawing/2014/main" id="{8DF64473-2DDE-EB4D-8BA5-28D9E3923954}"/>
              </a:ext>
            </a:extLst>
          </p:cNvPr>
          <p:cNvPicPr>
            <a:picLocks noChangeAspect="1"/>
          </p:cNvPicPr>
          <p:nvPr/>
        </p:nvPicPr>
        <p:blipFill>
          <a:blip r:embed="rId4"/>
          <a:stretch>
            <a:fillRect/>
          </a:stretch>
        </p:blipFill>
        <p:spPr>
          <a:xfrm>
            <a:off x="3195115" y="3927295"/>
            <a:ext cx="5921437" cy="2713992"/>
          </a:xfrm>
          <a:prstGeom prst="rect">
            <a:avLst/>
          </a:prstGeom>
        </p:spPr>
      </p:pic>
      <p:sp>
        <p:nvSpPr>
          <p:cNvPr id="14" name="Rounded Rectangle 13">
            <a:extLst>
              <a:ext uri="{FF2B5EF4-FFF2-40B4-BE49-F238E27FC236}">
                <a16:creationId xmlns:a16="http://schemas.microsoft.com/office/drawing/2014/main" id="{8D4421FF-4B94-2142-9F28-7551BEAB67CA}"/>
              </a:ext>
            </a:extLst>
          </p:cNvPr>
          <p:cNvSpPr/>
          <p:nvPr/>
        </p:nvSpPr>
        <p:spPr>
          <a:xfrm>
            <a:off x="3209863" y="4243796"/>
            <a:ext cx="3356973" cy="301213"/>
          </a:xfrm>
          <a:prstGeom prst="roundRect">
            <a:avLst/>
          </a:prstGeom>
          <a:noFill/>
          <a:ln w="57150"/>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16446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880759" y="742329"/>
            <a:ext cx="2628989" cy="923330"/>
          </a:xfrm>
          <a:prstGeom prst="rect">
            <a:avLst/>
          </a:prstGeom>
          <a:noFill/>
        </p:spPr>
        <p:txBody>
          <a:bodyPr wrap="none" rtlCol="0">
            <a:spAutoFit/>
          </a:bodyPr>
          <a:lstStyle/>
          <a:p>
            <a:r>
              <a:rPr lang="en-US" sz="5400" dirty="0" err="1">
                <a:latin typeface="+mj-lt"/>
                <a:sym typeface="Calibri"/>
              </a:rPr>
              <a:t>group_by</a:t>
            </a:r>
            <a:r>
              <a:rPr lang="en-US" sz="5400" dirty="0">
                <a:latin typeface="Calibri"/>
                <a:sym typeface="Calibri"/>
              </a:rPr>
              <a:t>()</a:t>
            </a:r>
            <a:endParaRPr lang="en-US" dirty="0"/>
          </a:p>
        </p:txBody>
      </p:sp>
      <p:sp>
        <p:nvSpPr>
          <p:cNvPr id="5" name="Google Shape;131;p17"/>
          <p:cNvSpPr/>
          <p:nvPr/>
        </p:nvSpPr>
        <p:spPr>
          <a:xfrm>
            <a:off x="1072055" y="2255454"/>
            <a:ext cx="10762593" cy="1628003"/>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6" name="Rectangle 5"/>
          <p:cNvSpPr/>
          <p:nvPr/>
        </p:nvSpPr>
        <p:spPr>
          <a:xfrm>
            <a:off x="1760075" y="2313797"/>
            <a:ext cx="9392596" cy="1569660"/>
          </a:xfrm>
          <a:prstGeom prst="rect">
            <a:avLst/>
          </a:prstGeom>
        </p:spPr>
        <p:txBody>
          <a:bodyPr wrap="square">
            <a:spAutoFit/>
          </a:bodyPr>
          <a:lstStyle/>
          <a:p>
            <a:r>
              <a:rPr lang="en-US" sz="3200" dirty="0" err="1">
                <a:latin typeface="Consolas" panose="020B0609020204030204" pitchFamily="49" charset="0"/>
                <a:ea typeface="Courier New"/>
                <a:cs typeface="Consolas" panose="020B0609020204030204" pitchFamily="49" charset="0"/>
                <a:sym typeface="Courier New"/>
              </a:rPr>
              <a:t>covid_testing</a:t>
            </a:r>
            <a:r>
              <a:rPr lang="en-US" sz="3200" dirty="0">
                <a:latin typeface="Consolas" panose="020B0609020204030204" pitchFamily="49" charset="0"/>
                <a:ea typeface="Courier New"/>
                <a:cs typeface="Consolas" panose="020B0609020204030204" pitchFamily="49" charset="0"/>
                <a:sym typeface="Courier New"/>
              </a:rPr>
              <a:t> %&gt;%</a:t>
            </a:r>
          </a:p>
          <a:p>
            <a:r>
              <a:rPr lang="en-US" sz="3200" dirty="0">
                <a:solidFill>
                  <a:schemeClr val="bg2">
                    <a:lumMod val="90000"/>
                  </a:schemeClr>
                </a:solidFill>
                <a:latin typeface="Consolas" panose="020B0609020204030204" pitchFamily="49" charset="0"/>
                <a:ea typeface="Courier New"/>
                <a:cs typeface="Consolas" panose="020B0609020204030204" pitchFamily="49" charset="0"/>
                <a:sym typeface="Courier New"/>
              </a:rPr>
              <a:t>	select(</a:t>
            </a:r>
            <a:r>
              <a:rPr lang="en-US" sz="3200" dirty="0" err="1">
                <a:solidFill>
                  <a:schemeClr val="bg2">
                    <a:lumMod val="90000"/>
                  </a:schemeClr>
                </a:solidFill>
                <a:latin typeface="Consolas" panose="020B0609020204030204" pitchFamily="49" charset="0"/>
                <a:ea typeface="Courier New"/>
                <a:cs typeface="Consolas" panose="020B0609020204030204" pitchFamily="49" charset="0"/>
                <a:sym typeface="Courier New"/>
              </a:rPr>
              <a:t>mrn</a:t>
            </a:r>
            <a:r>
              <a:rPr lang="en-US" sz="3200" dirty="0">
                <a:solidFill>
                  <a:schemeClr val="bg2">
                    <a:lumMod val="90000"/>
                  </a:schemeClr>
                </a:solidFill>
                <a:latin typeface="Consolas" panose="020B0609020204030204" pitchFamily="49" charset="0"/>
                <a:ea typeface="Courier New"/>
                <a:cs typeface="Consolas" panose="020B0609020204030204" pitchFamily="49" charset="0"/>
                <a:sym typeface="Courier New"/>
              </a:rPr>
              <a:t>, </a:t>
            </a:r>
            <a:r>
              <a:rPr lang="en-US" sz="3200" dirty="0" err="1">
                <a:solidFill>
                  <a:schemeClr val="bg2">
                    <a:lumMod val="90000"/>
                  </a:schemeClr>
                </a:solidFill>
                <a:latin typeface="Consolas" panose="020B0609020204030204" pitchFamily="49" charset="0"/>
                <a:ea typeface="Courier New"/>
                <a:cs typeface="Consolas" panose="020B0609020204030204" pitchFamily="49" charset="0"/>
                <a:sym typeface="Courier New"/>
              </a:rPr>
              <a:t>pan_day</a:t>
            </a:r>
            <a:r>
              <a:rPr lang="en-US" sz="3200" dirty="0">
                <a:solidFill>
                  <a:schemeClr val="bg2">
                    <a:lumMod val="90000"/>
                  </a:schemeClr>
                </a:solidFill>
                <a:latin typeface="Consolas" panose="020B0609020204030204" pitchFamily="49" charset="0"/>
                <a:ea typeface="Courier New"/>
                <a:cs typeface="Consolas" panose="020B0609020204030204" pitchFamily="49" charset="0"/>
                <a:sym typeface="Courier New"/>
              </a:rPr>
              <a:t>, </a:t>
            </a:r>
            <a:r>
              <a:rPr lang="en-US" sz="3200" dirty="0" err="1">
                <a:solidFill>
                  <a:schemeClr val="bg2">
                    <a:lumMod val="90000"/>
                  </a:schemeClr>
                </a:solidFill>
                <a:latin typeface="Consolas" panose="020B0609020204030204" pitchFamily="49" charset="0"/>
                <a:ea typeface="Courier New"/>
                <a:cs typeface="Consolas" panose="020B0609020204030204" pitchFamily="49" charset="0"/>
                <a:sym typeface="Courier New"/>
              </a:rPr>
              <a:t>clinic_name</a:t>
            </a:r>
            <a:r>
              <a:rPr lang="en-US" sz="3200" dirty="0">
                <a:solidFill>
                  <a:schemeClr val="bg2">
                    <a:lumMod val="90000"/>
                  </a:schemeClr>
                </a:solidFill>
                <a:latin typeface="Consolas" panose="020B0609020204030204" pitchFamily="49" charset="0"/>
                <a:ea typeface="Courier New"/>
                <a:cs typeface="Consolas" panose="020B0609020204030204" pitchFamily="49" charset="0"/>
                <a:sym typeface="Courier New"/>
              </a:rPr>
              <a:t>) %&gt;%</a:t>
            </a:r>
          </a:p>
          <a:p>
            <a:r>
              <a:rPr lang="en-US" sz="3200" dirty="0">
                <a:latin typeface="Consolas" panose="020B0609020204030204" pitchFamily="49" charset="0"/>
                <a:ea typeface="Courier New"/>
                <a:cs typeface="Consolas" panose="020B0609020204030204" pitchFamily="49" charset="0"/>
                <a:sym typeface="Courier New"/>
              </a:rPr>
              <a:t>	</a:t>
            </a:r>
            <a:r>
              <a:rPr lang="en-US" sz="3200" dirty="0" err="1">
                <a:latin typeface="Consolas" panose="020B0609020204030204" pitchFamily="49" charset="0"/>
                <a:ea typeface="Courier New"/>
                <a:cs typeface="Consolas" panose="020B0609020204030204" pitchFamily="49" charset="0"/>
                <a:sym typeface="Courier New"/>
              </a:rPr>
              <a:t>group_by</a:t>
            </a:r>
            <a:r>
              <a:rPr lang="en-US" sz="3200" dirty="0">
                <a:latin typeface="Consolas" panose="020B0609020204030204" pitchFamily="49" charset="0"/>
                <a:ea typeface="Courier New"/>
                <a:cs typeface="Consolas" panose="020B0609020204030204" pitchFamily="49" charset="0"/>
                <a:sym typeface="Courier New"/>
              </a:rPr>
              <a:t>(</a:t>
            </a:r>
            <a:r>
              <a:rPr lang="en-US" sz="3200" dirty="0" err="1">
                <a:solidFill>
                  <a:srgbClr val="538DD5"/>
                </a:solidFill>
                <a:latin typeface="Consolas" panose="020B0609020204030204" pitchFamily="49" charset="0"/>
                <a:ea typeface="Courier New"/>
                <a:cs typeface="Consolas" panose="020B0609020204030204" pitchFamily="49" charset="0"/>
                <a:sym typeface="Courier New"/>
              </a:rPr>
              <a:t>pan_day</a:t>
            </a:r>
            <a:r>
              <a:rPr lang="en-US" sz="32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dirty="0" err="1">
                <a:solidFill>
                  <a:srgbClr val="538DD5"/>
                </a:solidFill>
                <a:latin typeface="Consolas" panose="020B0609020204030204" pitchFamily="49" charset="0"/>
                <a:ea typeface="Courier New"/>
                <a:cs typeface="Consolas" panose="020B0609020204030204" pitchFamily="49" charset="0"/>
                <a:sym typeface="Courier New"/>
              </a:rPr>
              <a:t>clinic_name</a:t>
            </a:r>
            <a:r>
              <a:rPr lang="en-US" sz="3200" dirty="0">
                <a:latin typeface="Consolas" panose="020B0609020204030204" pitchFamily="49" charset="0"/>
                <a:ea typeface="Courier New"/>
                <a:cs typeface="Consolas" panose="020B0609020204030204" pitchFamily="49" charset="0"/>
                <a:sym typeface="Courier New"/>
              </a:rPr>
              <a:t>)</a:t>
            </a:r>
            <a:endParaRPr lang="en-US" sz="800" dirty="0"/>
          </a:p>
        </p:txBody>
      </p:sp>
      <p:sp>
        <p:nvSpPr>
          <p:cNvPr id="13" name="Google Shape;296;p32"/>
          <p:cNvSpPr txBox="1"/>
          <p:nvPr/>
        </p:nvSpPr>
        <p:spPr>
          <a:xfrm>
            <a:off x="1100629" y="1684817"/>
            <a:ext cx="9621448" cy="502623"/>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3200" i="1" dirty="0">
                <a:latin typeface="Calibri"/>
                <a:ea typeface="Calibri"/>
                <a:cs typeface="Calibri"/>
                <a:sym typeface="Calibri"/>
              </a:rPr>
              <a:t>Group observations by `</a:t>
            </a:r>
            <a:r>
              <a:rPr lang="en-US" sz="3200" i="1" dirty="0" err="1">
                <a:solidFill>
                  <a:srgbClr val="0070C0"/>
                </a:solidFill>
                <a:latin typeface="Calibri"/>
                <a:ea typeface="Calibri"/>
                <a:cs typeface="Calibri"/>
                <a:sym typeface="Calibri"/>
              </a:rPr>
              <a:t>pan_day</a:t>
            </a:r>
            <a:r>
              <a:rPr lang="en-US" sz="3200" i="1" dirty="0">
                <a:latin typeface="Calibri"/>
                <a:ea typeface="Calibri"/>
                <a:cs typeface="Calibri"/>
                <a:sym typeface="Calibri"/>
              </a:rPr>
              <a:t>` and `</a:t>
            </a:r>
            <a:r>
              <a:rPr lang="en-US" sz="3200" i="1" dirty="0" err="1">
                <a:solidFill>
                  <a:srgbClr val="0070C0"/>
                </a:solidFill>
                <a:latin typeface="Calibri"/>
                <a:ea typeface="Calibri"/>
                <a:cs typeface="Calibri"/>
                <a:sym typeface="Calibri"/>
              </a:rPr>
              <a:t>clinic_name</a:t>
            </a:r>
            <a:r>
              <a:rPr lang="en-US" sz="3200" i="1" dirty="0">
                <a:latin typeface="Calibri"/>
                <a:ea typeface="Calibri"/>
                <a:cs typeface="Calibri"/>
                <a:sym typeface="Calibri"/>
              </a:rPr>
              <a:t>`</a:t>
            </a:r>
            <a:endParaRPr sz="3200" i="1" dirty="0">
              <a:latin typeface="Calibri"/>
              <a:ea typeface="Calibri"/>
              <a:cs typeface="Calibri"/>
              <a:sym typeface="Calibri"/>
            </a:endParaRPr>
          </a:p>
        </p:txBody>
      </p:sp>
      <p:sp>
        <p:nvSpPr>
          <p:cNvPr id="11"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pic>
        <p:nvPicPr>
          <p:cNvPr id="3" name="Picture 2">
            <a:extLst>
              <a:ext uri="{FF2B5EF4-FFF2-40B4-BE49-F238E27FC236}">
                <a16:creationId xmlns:a16="http://schemas.microsoft.com/office/drawing/2014/main" id="{36E539E9-ED60-DF4D-8DB8-036D1A475200}"/>
              </a:ext>
            </a:extLst>
          </p:cNvPr>
          <p:cNvPicPr>
            <a:picLocks noChangeAspect="1"/>
          </p:cNvPicPr>
          <p:nvPr/>
        </p:nvPicPr>
        <p:blipFill>
          <a:blip r:embed="rId4"/>
          <a:stretch>
            <a:fillRect/>
          </a:stretch>
        </p:blipFill>
        <p:spPr>
          <a:xfrm>
            <a:off x="1641987" y="3980967"/>
            <a:ext cx="4999686" cy="2499843"/>
          </a:xfrm>
          <a:prstGeom prst="rect">
            <a:avLst/>
          </a:prstGeom>
        </p:spPr>
      </p:pic>
      <p:sp>
        <p:nvSpPr>
          <p:cNvPr id="12" name="Rounded Rectangle 11">
            <a:extLst>
              <a:ext uri="{FF2B5EF4-FFF2-40B4-BE49-F238E27FC236}">
                <a16:creationId xmlns:a16="http://schemas.microsoft.com/office/drawing/2014/main" id="{4D4E7655-247D-EE4F-844A-69AB1769C681}"/>
              </a:ext>
            </a:extLst>
          </p:cNvPr>
          <p:cNvSpPr/>
          <p:nvPr/>
        </p:nvSpPr>
        <p:spPr>
          <a:xfrm>
            <a:off x="1597744" y="4239423"/>
            <a:ext cx="4999690" cy="309717"/>
          </a:xfrm>
          <a:prstGeom prst="roundRect">
            <a:avLst/>
          </a:prstGeom>
          <a:noFill/>
          <a:ln w="57150"/>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3215205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6" name="Google Shape;296;p32"/>
          <p:cNvSpPr txBox="1"/>
          <p:nvPr/>
        </p:nvSpPr>
        <p:spPr>
          <a:xfrm>
            <a:off x="1758718" y="1950720"/>
            <a:ext cx="6159054" cy="890808"/>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3200" dirty="0">
                <a:latin typeface="Calibri"/>
                <a:ea typeface="Calibri"/>
                <a:cs typeface="Calibri"/>
                <a:sym typeface="Calibri"/>
              </a:rPr>
              <a:t>Make summaries of your data</a:t>
            </a:r>
            <a:endParaRPr sz="3200" dirty="0">
              <a:latin typeface="Calibri"/>
              <a:ea typeface="Calibri"/>
              <a:cs typeface="Calibri"/>
              <a:sym typeface="Calibri"/>
            </a:endParaRP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pic>
        <p:nvPicPr>
          <p:cNvPr id="6" name="Picture 5"/>
          <p:cNvPicPr>
            <a:picLocks noChangeAspect="1"/>
          </p:cNvPicPr>
          <p:nvPr/>
        </p:nvPicPr>
        <p:blipFill>
          <a:blip r:embed="rId4"/>
          <a:stretch>
            <a:fillRect/>
          </a:stretch>
        </p:blipFill>
        <p:spPr>
          <a:xfrm>
            <a:off x="2724340" y="2673888"/>
            <a:ext cx="5439827" cy="2066804"/>
          </a:xfrm>
          <a:prstGeom prst="rect">
            <a:avLst/>
          </a:prstGeom>
        </p:spPr>
      </p:pic>
      <p:sp>
        <p:nvSpPr>
          <p:cNvPr id="2" name="Rounded Rectangle 1"/>
          <p:cNvSpPr/>
          <p:nvPr/>
        </p:nvSpPr>
        <p:spPr>
          <a:xfrm>
            <a:off x="4765040" y="2987040"/>
            <a:ext cx="1010920" cy="1753652"/>
          </a:xfrm>
          <a:prstGeom prst="roundRect">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p:cNvSpPr txBox="1"/>
          <p:nvPr/>
        </p:nvSpPr>
        <p:spPr>
          <a:xfrm>
            <a:off x="986757" y="750622"/>
            <a:ext cx="2830647" cy="923330"/>
          </a:xfrm>
          <a:prstGeom prst="rect">
            <a:avLst/>
          </a:prstGeom>
          <a:noFill/>
        </p:spPr>
        <p:txBody>
          <a:bodyPr wrap="none" rtlCol="0">
            <a:spAutoFit/>
          </a:bodyPr>
          <a:lstStyle/>
          <a:p>
            <a:r>
              <a:rPr lang="en-US" sz="5400" dirty="0">
                <a:latin typeface="+mj-lt"/>
                <a:sym typeface="Calibri"/>
              </a:rPr>
              <a:t>summarize</a:t>
            </a:r>
            <a:r>
              <a:rPr lang="en-US" sz="5400" dirty="0">
                <a:sym typeface="Calibri"/>
              </a:rPr>
              <a:t>()</a:t>
            </a:r>
            <a:endParaRPr lang="en-US" dirty="0"/>
          </a:p>
        </p:txBody>
      </p:sp>
      <p:sp>
        <p:nvSpPr>
          <p:cNvPr id="4" name="Rectangle 3">
            <a:extLst>
              <a:ext uri="{FF2B5EF4-FFF2-40B4-BE49-F238E27FC236}">
                <a16:creationId xmlns:a16="http://schemas.microsoft.com/office/drawing/2014/main" id="{EA493C65-B51F-E941-8996-74CCA516164B}"/>
              </a:ext>
            </a:extLst>
          </p:cNvPr>
          <p:cNvSpPr/>
          <p:nvPr/>
        </p:nvSpPr>
        <p:spPr>
          <a:xfrm>
            <a:off x="7212330" y="2673888"/>
            <a:ext cx="705442" cy="70939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417685163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6" name="Google Shape;131;p17"/>
          <p:cNvSpPr/>
          <p:nvPr/>
        </p:nvSpPr>
        <p:spPr>
          <a:xfrm>
            <a:off x="847205" y="2375374"/>
            <a:ext cx="10762593" cy="1497972"/>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a:p>
        </p:txBody>
      </p:sp>
      <p:sp>
        <p:nvSpPr>
          <p:cNvPr id="296" name="Google Shape;296;p32"/>
          <p:cNvSpPr txBox="1"/>
          <p:nvPr/>
        </p:nvSpPr>
        <p:spPr>
          <a:xfrm>
            <a:off x="847205" y="1882660"/>
            <a:ext cx="6159054" cy="1167589"/>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2800" dirty="0">
                <a:latin typeface="Calibri"/>
                <a:ea typeface="Calibri"/>
                <a:cs typeface="Calibri"/>
                <a:sym typeface="Calibri"/>
              </a:rPr>
              <a:t>Make summaries of your data</a:t>
            </a:r>
          </a:p>
        </p:txBody>
      </p:sp>
      <p:sp>
        <p:nvSpPr>
          <p:cNvPr id="14" name="Rectangle 13"/>
          <p:cNvSpPr/>
          <p:nvPr/>
        </p:nvSpPr>
        <p:spPr>
          <a:xfrm>
            <a:off x="1535224" y="2433717"/>
            <a:ext cx="10074573" cy="1200329"/>
          </a:xfrm>
          <a:prstGeom prst="rect">
            <a:avLst/>
          </a:prstGeom>
        </p:spPr>
        <p:txBody>
          <a:bodyPr wrap="square">
            <a:spAutoFit/>
          </a:bodyPr>
          <a:lstStyle/>
          <a:p>
            <a:r>
              <a:rPr lang="en-US" sz="3200" dirty="0" err="1">
                <a:latin typeface="Consolas" panose="020B0609020204030204" pitchFamily="49" charset="0"/>
                <a:ea typeface="Courier New"/>
                <a:cs typeface="Consolas" panose="020B0609020204030204" pitchFamily="49" charset="0"/>
                <a:sym typeface="Courier New"/>
              </a:rPr>
              <a:t>covid_testing</a:t>
            </a:r>
            <a:r>
              <a:rPr lang="en-US" sz="3200" dirty="0">
                <a:latin typeface="Consolas" panose="020B0609020204030204" pitchFamily="49" charset="0"/>
                <a:ea typeface="Courier New"/>
                <a:cs typeface="Consolas" panose="020B0609020204030204" pitchFamily="49" charset="0"/>
                <a:sym typeface="Courier New"/>
              </a:rPr>
              <a:t> %&gt;%</a:t>
            </a:r>
          </a:p>
          <a:p>
            <a:r>
              <a:rPr lang="en-US" sz="3200" dirty="0">
                <a:latin typeface="Consolas" panose="020B0609020204030204" pitchFamily="49" charset="0"/>
                <a:ea typeface="Courier New"/>
                <a:cs typeface="Consolas" panose="020B0609020204030204" pitchFamily="49" charset="0"/>
                <a:sym typeface="Courier New"/>
              </a:rPr>
              <a:t>	summarize(</a:t>
            </a:r>
            <a:r>
              <a:rPr lang="en-US" sz="3200" dirty="0" err="1">
                <a:solidFill>
                  <a:schemeClr val="accent2">
                    <a:lumMod val="60000"/>
                    <a:lumOff val="40000"/>
                  </a:schemeClr>
                </a:solidFill>
                <a:latin typeface="Consolas" panose="020B0609020204030204" pitchFamily="49" charset="0"/>
                <a:ea typeface="Courier New"/>
                <a:cs typeface="Consolas" panose="020B0609020204030204" pitchFamily="49" charset="0"/>
                <a:sym typeface="Courier New"/>
              </a:rPr>
              <a:t>new_variable</a:t>
            </a:r>
            <a:r>
              <a:rPr lang="en-US" sz="3200" dirty="0">
                <a:solidFill>
                  <a:schemeClr val="accent2">
                    <a:lumMod val="60000"/>
                    <a:lumOff val="40000"/>
                  </a:schemeClr>
                </a:solidFill>
                <a:latin typeface="Consolas" panose="020B0609020204030204" pitchFamily="49" charset="0"/>
                <a:ea typeface="Courier New"/>
                <a:cs typeface="Consolas" panose="020B0609020204030204" pitchFamily="49" charset="0"/>
                <a:sym typeface="Courier New"/>
              </a:rPr>
              <a:t> </a:t>
            </a:r>
            <a:r>
              <a:rPr lang="en-US" sz="4000" b="1" dirty="0">
                <a:latin typeface="Consolas" panose="020B0609020204030204" pitchFamily="49" charset="0"/>
                <a:ea typeface="Courier New"/>
                <a:cs typeface="Consolas" panose="020B0609020204030204" pitchFamily="49" charset="0"/>
                <a:sym typeface="Courier New"/>
              </a:rPr>
              <a:t>=</a:t>
            </a:r>
            <a:r>
              <a:rPr lang="en-US" sz="3200" dirty="0">
                <a:latin typeface="Consolas" panose="020B0609020204030204" pitchFamily="49" charset="0"/>
                <a:ea typeface="Courier New"/>
                <a:cs typeface="Consolas" panose="020B0609020204030204" pitchFamily="49" charset="0"/>
                <a:sym typeface="Courier New"/>
              </a:rPr>
              <a:t> </a:t>
            </a:r>
            <a:r>
              <a:rPr lang="en-US" sz="3200" dirty="0">
                <a:solidFill>
                  <a:srgbClr val="D3908F"/>
                </a:solidFill>
                <a:latin typeface="Consolas" panose="020B0609020204030204" pitchFamily="49" charset="0"/>
                <a:ea typeface="Courier New"/>
                <a:cs typeface="Consolas" panose="020B0609020204030204" pitchFamily="49" charset="0"/>
                <a:sym typeface="Courier New"/>
              </a:rPr>
              <a:t>calculation</a:t>
            </a:r>
            <a:r>
              <a:rPr lang="en-US" sz="3200" dirty="0">
                <a:latin typeface="Consolas" panose="020B0609020204030204" pitchFamily="49" charset="0"/>
                <a:ea typeface="Courier New"/>
                <a:cs typeface="Consolas" panose="020B0609020204030204" pitchFamily="49" charset="0"/>
                <a:sym typeface="Courier New"/>
              </a:rPr>
              <a:t>)</a:t>
            </a:r>
            <a:endParaRPr lang="en-US" dirty="0"/>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9" name="Google Shape;137;p17"/>
          <p:cNvSpPr/>
          <p:nvPr/>
        </p:nvSpPr>
        <p:spPr>
          <a:xfrm>
            <a:off x="2698230" y="4168817"/>
            <a:ext cx="2530995" cy="1557835"/>
          </a:xfrm>
          <a:prstGeom prst="wedgeRoundRectCallout">
            <a:avLst>
              <a:gd name="adj1" fmla="val 62427"/>
              <a:gd name="adj2" fmla="val -92068"/>
              <a:gd name="adj3" fmla="val 16667"/>
            </a:avLst>
          </a:prstGeom>
          <a:solidFill>
            <a:schemeClr val="accent2">
              <a:lumMod val="60000"/>
              <a:lumOff val="40000"/>
            </a:schemeClr>
          </a:solidFill>
          <a:ln>
            <a:noFill/>
          </a:ln>
        </p:spPr>
        <p:txBody>
          <a:bodyPr spcFirstLastPara="1" wrap="square" lIns="0" tIns="0" rIns="0" bIns="0" anchor="t" anchorCtr="0">
            <a:noAutofit/>
          </a:bodyPr>
          <a:lstStyle/>
          <a:p>
            <a:endParaRPr sz="964"/>
          </a:p>
        </p:txBody>
      </p:sp>
      <p:sp>
        <p:nvSpPr>
          <p:cNvPr id="20" name="Google Shape;138;p17"/>
          <p:cNvSpPr txBox="1"/>
          <p:nvPr/>
        </p:nvSpPr>
        <p:spPr>
          <a:xfrm>
            <a:off x="2796007" y="4432660"/>
            <a:ext cx="2327721" cy="1143810"/>
          </a:xfrm>
          <a:prstGeom prst="rect">
            <a:avLst/>
          </a:prstGeom>
          <a:noFill/>
          <a:ln>
            <a:noFill/>
          </a:ln>
        </p:spPr>
        <p:txBody>
          <a:bodyPr spcFirstLastPara="1" wrap="square" lIns="0" tIns="32652" rIns="0" bIns="0" anchor="t" anchorCtr="0">
            <a:noAutofit/>
          </a:bodyPr>
          <a:lstStyle/>
          <a:p>
            <a:pPr marL="208524" marR="2721" indent="-202061" algn="ctr">
              <a:lnSpc>
                <a:spcPct val="113506"/>
              </a:lnSpc>
            </a:pPr>
            <a:r>
              <a:rPr lang="en-US" sz="2800" b="1" dirty="0">
                <a:solidFill>
                  <a:srgbClr val="FFFFFF"/>
                </a:solidFill>
                <a:latin typeface="Trebuchet MS"/>
                <a:ea typeface="Trebuchet MS"/>
                <a:cs typeface="Trebuchet MS"/>
                <a:sym typeface="Trebuchet MS"/>
              </a:rPr>
              <a:t>name for new variable</a:t>
            </a:r>
            <a:endParaRPr sz="2800" dirty="0">
              <a:latin typeface="Trebuchet MS"/>
              <a:ea typeface="Trebuchet MS"/>
              <a:cs typeface="Trebuchet MS"/>
              <a:sym typeface="Trebuchet MS"/>
            </a:endParaRPr>
          </a:p>
        </p:txBody>
      </p:sp>
      <p:sp>
        <p:nvSpPr>
          <p:cNvPr id="21" name="Google Shape;172;p20"/>
          <p:cNvSpPr/>
          <p:nvPr/>
        </p:nvSpPr>
        <p:spPr>
          <a:xfrm>
            <a:off x="9100228" y="3560242"/>
            <a:ext cx="1977347" cy="2153752"/>
          </a:xfrm>
          <a:custGeom>
            <a:avLst/>
            <a:gdLst>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603384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66067 h 3683787"/>
              <a:gd name="connsiteX1" fmla="*/ 356337 w 7169284"/>
              <a:gd name="connsiteY1" fmla="*/ 1066067 h 3683787"/>
              <a:gd name="connsiteX2" fmla="*/ 307986 w 7169284"/>
              <a:gd name="connsiteY2" fmla="*/ 1069320 h 3683787"/>
              <a:gd name="connsiteX3" fmla="*/ 261611 w 7169284"/>
              <a:gd name="connsiteY3" fmla="*/ 1078796 h 3683787"/>
              <a:gd name="connsiteX4" fmla="*/ 217637 w 7169284"/>
              <a:gd name="connsiteY4" fmla="*/ 1094070 h 3683787"/>
              <a:gd name="connsiteX5" fmla="*/ 176489 w 7169284"/>
              <a:gd name="connsiteY5" fmla="*/ 1114718 h 3683787"/>
              <a:gd name="connsiteX6" fmla="*/ 138592 w 7169284"/>
              <a:gd name="connsiteY6" fmla="*/ 1140316 h 3683787"/>
              <a:gd name="connsiteX7" fmla="*/ 104371 w 7169284"/>
              <a:gd name="connsiteY7" fmla="*/ 1170438 h 3683787"/>
              <a:gd name="connsiteX8" fmla="*/ 74249 w 7169284"/>
              <a:gd name="connsiteY8" fmla="*/ 1204659 h 3683787"/>
              <a:gd name="connsiteX9" fmla="*/ 48651 w 7169284"/>
              <a:gd name="connsiteY9" fmla="*/ 1242556 h 3683787"/>
              <a:gd name="connsiteX10" fmla="*/ 28003 w 7169284"/>
              <a:gd name="connsiteY10" fmla="*/ 1283704 h 3683787"/>
              <a:gd name="connsiteX11" fmla="*/ 12729 w 7169284"/>
              <a:gd name="connsiteY11" fmla="*/ 1327678 h 3683787"/>
              <a:gd name="connsiteX12" fmla="*/ 3253 w 7169284"/>
              <a:gd name="connsiteY12" fmla="*/ 1374053 h 3683787"/>
              <a:gd name="connsiteX13" fmla="*/ 0 w 7169284"/>
              <a:gd name="connsiteY13" fmla="*/ 1422404 h 3683787"/>
              <a:gd name="connsiteX14" fmla="*/ 0 w 7169284"/>
              <a:gd name="connsiteY14" fmla="*/ 3327451 h 3683787"/>
              <a:gd name="connsiteX15" fmla="*/ 3253 w 7169284"/>
              <a:gd name="connsiteY15" fmla="*/ 3375803 h 3683787"/>
              <a:gd name="connsiteX16" fmla="*/ 12729 w 7169284"/>
              <a:gd name="connsiteY16" fmla="*/ 3422178 h 3683787"/>
              <a:gd name="connsiteX17" fmla="*/ 28003 w 7169284"/>
              <a:gd name="connsiteY17" fmla="*/ 3466151 h 3683787"/>
              <a:gd name="connsiteX18" fmla="*/ 48651 w 7169284"/>
              <a:gd name="connsiteY18" fmla="*/ 3507299 h 3683787"/>
              <a:gd name="connsiteX19" fmla="*/ 74249 w 7169284"/>
              <a:gd name="connsiteY19" fmla="*/ 3545196 h 3683787"/>
              <a:gd name="connsiteX20" fmla="*/ 104371 w 7169284"/>
              <a:gd name="connsiteY20" fmla="*/ 3579417 h 3683787"/>
              <a:gd name="connsiteX21" fmla="*/ 138592 w 7169284"/>
              <a:gd name="connsiteY21" fmla="*/ 3609539 h 3683787"/>
              <a:gd name="connsiteX22" fmla="*/ 176489 w 7169284"/>
              <a:gd name="connsiteY22" fmla="*/ 3635136 h 3683787"/>
              <a:gd name="connsiteX23" fmla="*/ 217637 w 7169284"/>
              <a:gd name="connsiteY23" fmla="*/ 3655784 h 3683787"/>
              <a:gd name="connsiteX24" fmla="*/ 261611 w 7169284"/>
              <a:gd name="connsiteY24" fmla="*/ 3671059 h 3683787"/>
              <a:gd name="connsiteX25" fmla="*/ 307986 w 7169284"/>
              <a:gd name="connsiteY25" fmla="*/ 3680535 h 3683787"/>
              <a:gd name="connsiteX26" fmla="*/ 356337 w 7169284"/>
              <a:gd name="connsiteY26" fmla="*/ 3683788 h 3683787"/>
              <a:gd name="connsiteX27" fmla="*/ 6812950 w 7169284"/>
              <a:gd name="connsiteY27" fmla="*/ 3683788 h 3683787"/>
              <a:gd name="connsiteX28" fmla="*/ 6861301 w 7169284"/>
              <a:gd name="connsiteY28" fmla="*/ 3680535 h 3683787"/>
              <a:gd name="connsiteX29" fmla="*/ 6907675 w 7169284"/>
              <a:gd name="connsiteY29" fmla="*/ 3671059 h 3683787"/>
              <a:gd name="connsiteX30" fmla="*/ 6951648 w 7169284"/>
              <a:gd name="connsiteY30" fmla="*/ 3655784 h 3683787"/>
              <a:gd name="connsiteX31" fmla="*/ 6992795 w 7169284"/>
              <a:gd name="connsiteY31" fmla="*/ 3635136 h 3683787"/>
              <a:gd name="connsiteX32" fmla="*/ 7030692 w 7169284"/>
              <a:gd name="connsiteY32" fmla="*/ 3609539 h 3683787"/>
              <a:gd name="connsiteX33" fmla="*/ 7064914 w 7169284"/>
              <a:gd name="connsiteY33" fmla="*/ 3579417 h 3683787"/>
              <a:gd name="connsiteX34" fmla="*/ 7095036 w 7169284"/>
              <a:gd name="connsiteY34" fmla="*/ 3545196 h 3683787"/>
              <a:gd name="connsiteX35" fmla="*/ 7120633 w 7169284"/>
              <a:gd name="connsiteY35" fmla="*/ 3507299 h 3683787"/>
              <a:gd name="connsiteX36" fmla="*/ 7141281 w 7169284"/>
              <a:gd name="connsiteY36" fmla="*/ 3466151 h 3683787"/>
              <a:gd name="connsiteX37" fmla="*/ 7156556 w 7169284"/>
              <a:gd name="connsiteY37" fmla="*/ 3422178 h 3683787"/>
              <a:gd name="connsiteX38" fmla="*/ 7166032 w 7169284"/>
              <a:gd name="connsiteY38" fmla="*/ 3375803 h 3683787"/>
              <a:gd name="connsiteX39" fmla="*/ 7169285 w 7169284"/>
              <a:gd name="connsiteY39" fmla="*/ 3327451 h 3683787"/>
              <a:gd name="connsiteX40" fmla="*/ 7169285 w 7169284"/>
              <a:gd name="connsiteY40" fmla="*/ 1422404 h 3683787"/>
              <a:gd name="connsiteX41" fmla="*/ 7166032 w 7169284"/>
              <a:gd name="connsiteY41" fmla="*/ 1374053 h 3683787"/>
              <a:gd name="connsiteX42" fmla="*/ 7156556 w 7169284"/>
              <a:gd name="connsiteY42" fmla="*/ 1327678 h 3683787"/>
              <a:gd name="connsiteX43" fmla="*/ 7141281 w 7169284"/>
              <a:gd name="connsiteY43" fmla="*/ 1283704 h 3683787"/>
              <a:gd name="connsiteX44" fmla="*/ 7120633 w 7169284"/>
              <a:gd name="connsiteY44" fmla="*/ 1242556 h 3683787"/>
              <a:gd name="connsiteX45" fmla="*/ 7095036 w 7169284"/>
              <a:gd name="connsiteY45" fmla="*/ 1204659 h 3683787"/>
              <a:gd name="connsiteX46" fmla="*/ 7064914 w 7169284"/>
              <a:gd name="connsiteY46" fmla="*/ 1170438 h 3683787"/>
              <a:gd name="connsiteX47" fmla="*/ 7030692 w 7169284"/>
              <a:gd name="connsiteY47" fmla="*/ 1140316 h 3683787"/>
              <a:gd name="connsiteX48" fmla="*/ 6992795 w 7169284"/>
              <a:gd name="connsiteY48" fmla="*/ 1114718 h 3683787"/>
              <a:gd name="connsiteX49" fmla="*/ 6951648 w 7169284"/>
              <a:gd name="connsiteY49" fmla="*/ 1094070 h 3683787"/>
              <a:gd name="connsiteX50" fmla="*/ 6907675 w 7169284"/>
              <a:gd name="connsiteY50" fmla="*/ 1078796 h 3683787"/>
              <a:gd name="connsiteX51" fmla="*/ 6861301 w 7169284"/>
              <a:gd name="connsiteY51" fmla="*/ 1069320 h 3683787"/>
              <a:gd name="connsiteX52" fmla="*/ 6812950 w 7169284"/>
              <a:gd name="connsiteY52" fmla="*/ 1066067 h 3683787"/>
              <a:gd name="connsiteX0" fmla="*/ 708093 w 7169284"/>
              <a:gd name="connsiteY0" fmla="*/ 0 h 3683787"/>
              <a:gd name="connsiteX1" fmla="*/ 603384 w 7169284"/>
              <a:gd name="connsiteY1" fmla="*/ 1066067 h 3683787"/>
              <a:gd name="connsiteX2" fmla="*/ 2993816 w 7169284"/>
              <a:gd name="connsiteY2" fmla="*/ 1082813 h 3683787"/>
              <a:gd name="connsiteX3" fmla="*/ 708093 w 7169284"/>
              <a:gd name="connsiteY3" fmla="*/ 0 h 3683787"/>
              <a:gd name="connsiteX0" fmla="*/ 6812950 w 7169286"/>
              <a:gd name="connsiteY0" fmla="*/ 1066067 h 3683789"/>
              <a:gd name="connsiteX1" fmla="*/ 356337 w 7169286"/>
              <a:gd name="connsiteY1" fmla="*/ 1066067 h 3683789"/>
              <a:gd name="connsiteX2" fmla="*/ 307986 w 7169286"/>
              <a:gd name="connsiteY2" fmla="*/ 1069320 h 3683789"/>
              <a:gd name="connsiteX3" fmla="*/ 261611 w 7169286"/>
              <a:gd name="connsiteY3" fmla="*/ 1078796 h 3683789"/>
              <a:gd name="connsiteX4" fmla="*/ 217637 w 7169286"/>
              <a:gd name="connsiteY4" fmla="*/ 1094070 h 3683789"/>
              <a:gd name="connsiteX5" fmla="*/ 176489 w 7169286"/>
              <a:gd name="connsiteY5" fmla="*/ 1114718 h 3683789"/>
              <a:gd name="connsiteX6" fmla="*/ 138592 w 7169286"/>
              <a:gd name="connsiteY6" fmla="*/ 1140316 h 3683789"/>
              <a:gd name="connsiteX7" fmla="*/ 104371 w 7169286"/>
              <a:gd name="connsiteY7" fmla="*/ 1170438 h 3683789"/>
              <a:gd name="connsiteX8" fmla="*/ 74249 w 7169286"/>
              <a:gd name="connsiteY8" fmla="*/ 1204659 h 3683789"/>
              <a:gd name="connsiteX9" fmla="*/ 48651 w 7169286"/>
              <a:gd name="connsiteY9" fmla="*/ 1242556 h 3683789"/>
              <a:gd name="connsiteX10" fmla="*/ 28003 w 7169286"/>
              <a:gd name="connsiteY10" fmla="*/ 1283704 h 3683789"/>
              <a:gd name="connsiteX11" fmla="*/ 12729 w 7169286"/>
              <a:gd name="connsiteY11" fmla="*/ 1327678 h 3683789"/>
              <a:gd name="connsiteX12" fmla="*/ 3253 w 7169286"/>
              <a:gd name="connsiteY12" fmla="*/ 1374053 h 3683789"/>
              <a:gd name="connsiteX13" fmla="*/ 0 w 7169286"/>
              <a:gd name="connsiteY13" fmla="*/ 1422404 h 3683789"/>
              <a:gd name="connsiteX14" fmla="*/ 0 w 7169286"/>
              <a:gd name="connsiteY14" fmla="*/ 3327451 h 3683789"/>
              <a:gd name="connsiteX15" fmla="*/ 3253 w 7169286"/>
              <a:gd name="connsiteY15" fmla="*/ 3375803 h 3683789"/>
              <a:gd name="connsiteX16" fmla="*/ 12729 w 7169286"/>
              <a:gd name="connsiteY16" fmla="*/ 3422178 h 3683789"/>
              <a:gd name="connsiteX17" fmla="*/ 28003 w 7169286"/>
              <a:gd name="connsiteY17" fmla="*/ 3466151 h 3683789"/>
              <a:gd name="connsiteX18" fmla="*/ 48651 w 7169286"/>
              <a:gd name="connsiteY18" fmla="*/ 3507299 h 3683789"/>
              <a:gd name="connsiteX19" fmla="*/ 74249 w 7169286"/>
              <a:gd name="connsiteY19" fmla="*/ 3545196 h 3683789"/>
              <a:gd name="connsiteX20" fmla="*/ 104371 w 7169286"/>
              <a:gd name="connsiteY20" fmla="*/ 3579417 h 3683789"/>
              <a:gd name="connsiteX21" fmla="*/ 138592 w 7169286"/>
              <a:gd name="connsiteY21" fmla="*/ 3609539 h 3683789"/>
              <a:gd name="connsiteX22" fmla="*/ 176489 w 7169286"/>
              <a:gd name="connsiteY22" fmla="*/ 3635136 h 3683789"/>
              <a:gd name="connsiteX23" fmla="*/ 217637 w 7169286"/>
              <a:gd name="connsiteY23" fmla="*/ 3655784 h 3683789"/>
              <a:gd name="connsiteX24" fmla="*/ 261611 w 7169286"/>
              <a:gd name="connsiteY24" fmla="*/ 3671059 h 3683789"/>
              <a:gd name="connsiteX25" fmla="*/ 307986 w 7169286"/>
              <a:gd name="connsiteY25" fmla="*/ 3680535 h 3683789"/>
              <a:gd name="connsiteX26" fmla="*/ 356337 w 7169286"/>
              <a:gd name="connsiteY26" fmla="*/ 3683788 h 3683789"/>
              <a:gd name="connsiteX27" fmla="*/ 6812950 w 7169286"/>
              <a:gd name="connsiteY27" fmla="*/ 3683788 h 3683789"/>
              <a:gd name="connsiteX28" fmla="*/ 6861301 w 7169286"/>
              <a:gd name="connsiteY28" fmla="*/ 3680535 h 3683789"/>
              <a:gd name="connsiteX29" fmla="*/ 6907675 w 7169286"/>
              <a:gd name="connsiteY29" fmla="*/ 3671059 h 3683789"/>
              <a:gd name="connsiteX30" fmla="*/ 6951648 w 7169286"/>
              <a:gd name="connsiteY30" fmla="*/ 3655784 h 3683789"/>
              <a:gd name="connsiteX31" fmla="*/ 6992795 w 7169286"/>
              <a:gd name="connsiteY31" fmla="*/ 3635136 h 3683789"/>
              <a:gd name="connsiteX32" fmla="*/ 7030692 w 7169286"/>
              <a:gd name="connsiteY32" fmla="*/ 3609539 h 3683789"/>
              <a:gd name="connsiteX33" fmla="*/ 7064914 w 7169286"/>
              <a:gd name="connsiteY33" fmla="*/ 3579417 h 3683789"/>
              <a:gd name="connsiteX34" fmla="*/ 7095036 w 7169286"/>
              <a:gd name="connsiteY34" fmla="*/ 3545196 h 3683789"/>
              <a:gd name="connsiteX35" fmla="*/ 7120633 w 7169286"/>
              <a:gd name="connsiteY35" fmla="*/ 3507299 h 3683789"/>
              <a:gd name="connsiteX36" fmla="*/ 7141281 w 7169286"/>
              <a:gd name="connsiteY36" fmla="*/ 3466151 h 3683789"/>
              <a:gd name="connsiteX37" fmla="*/ 7156556 w 7169286"/>
              <a:gd name="connsiteY37" fmla="*/ 3422178 h 3683789"/>
              <a:gd name="connsiteX38" fmla="*/ 7166032 w 7169286"/>
              <a:gd name="connsiteY38" fmla="*/ 3375803 h 3683789"/>
              <a:gd name="connsiteX39" fmla="*/ 7169285 w 7169286"/>
              <a:gd name="connsiteY39" fmla="*/ 3327451 h 3683789"/>
              <a:gd name="connsiteX40" fmla="*/ 7169285 w 7169286"/>
              <a:gd name="connsiteY40" fmla="*/ 1422404 h 3683789"/>
              <a:gd name="connsiteX41" fmla="*/ 7166032 w 7169286"/>
              <a:gd name="connsiteY41" fmla="*/ 1374053 h 3683789"/>
              <a:gd name="connsiteX42" fmla="*/ 7156556 w 7169286"/>
              <a:gd name="connsiteY42" fmla="*/ 1327678 h 3683789"/>
              <a:gd name="connsiteX43" fmla="*/ 7141281 w 7169286"/>
              <a:gd name="connsiteY43" fmla="*/ 1283704 h 3683789"/>
              <a:gd name="connsiteX44" fmla="*/ 7120633 w 7169286"/>
              <a:gd name="connsiteY44" fmla="*/ 1242556 h 3683789"/>
              <a:gd name="connsiteX45" fmla="*/ 7095036 w 7169286"/>
              <a:gd name="connsiteY45" fmla="*/ 1204659 h 3683789"/>
              <a:gd name="connsiteX46" fmla="*/ 7064914 w 7169286"/>
              <a:gd name="connsiteY46" fmla="*/ 1170438 h 3683789"/>
              <a:gd name="connsiteX47" fmla="*/ 7030692 w 7169286"/>
              <a:gd name="connsiteY47" fmla="*/ 1140316 h 3683789"/>
              <a:gd name="connsiteX48" fmla="*/ 6992795 w 7169286"/>
              <a:gd name="connsiteY48" fmla="*/ 1114718 h 3683789"/>
              <a:gd name="connsiteX49" fmla="*/ 6951648 w 7169286"/>
              <a:gd name="connsiteY49" fmla="*/ 1094070 h 3683789"/>
              <a:gd name="connsiteX50" fmla="*/ 6907675 w 7169286"/>
              <a:gd name="connsiteY50" fmla="*/ 1078796 h 3683789"/>
              <a:gd name="connsiteX51" fmla="*/ 6861301 w 7169286"/>
              <a:gd name="connsiteY51" fmla="*/ 1069320 h 3683789"/>
              <a:gd name="connsiteX52" fmla="*/ 6812950 w 7169286"/>
              <a:gd name="connsiteY52" fmla="*/ 1066067 h 3683789"/>
              <a:gd name="connsiteX0" fmla="*/ 708093 w 7169286"/>
              <a:gd name="connsiteY0" fmla="*/ 0 h 3683789"/>
              <a:gd name="connsiteX1" fmla="*/ 1836130 w 7169286"/>
              <a:gd name="connsiteY1" fmla="*/ 1066067 h 3683789"/>
              <a:gd name="connsiteX2" fmla="*/ 2993816 w 7169286"/>
              <a:gd name="connsiteY2" fmla="*/ 1082813 h 3683789"/>
              <a:gd name="connsiteX3" fmla="*/ 708093 w 7169286"/>
              <a:gd name="connsiteY3" fmla="*/ 0 h 3683789"/>
              <a:gd name="connsiteX0" fmla="*/ 6812950 w 7169284"/>
              <a:gd name="connsiteY0" fmla="*/ 1099560 h 3717280"/>
              <a:gd name="connsiteX1" fmla="*/ 356337 w 7169284"/>
              <a:gd name="connsiteY1" fmla="*/ 1099560 h 3717280"/>
              <a:gd name="connsiteX2" fmla="*/ 307986 w 7169284"/>
              <a:gd name="connsiteY2" fmla="*/ 1102813 h 3717280"/>
              <a:gd name="connsiteX3" fmla="*/ 261611 w 7169284"/>
              <a:gd name="connsiteY3" fmla="*/ 1112289 h 3717280"/>
              <a:gd name="connsiteX4" fmla="*/ 217637 w 7169284"/>
              <a:gd name="connsiteY4" fmla="*/ 1127563 h 3717280"/>
              <a:gd name="connsiteX5" fmla="*/ 176489 w 7169284"/>
              <a:gd name="connsiteY5" fmla="*/ 1148211 h 3717280"/>
              <a:gd name="connsiteX6" fmla="*/ 138592 w 7169284"/>
              <a:gd name="connsiteY6" fmla="*/ 1173809 h 3717280"/>
              <a:gd name="connsiteX7" fmla="*/ 104371 w 7169284"/>
              <a:gd name="connsiteY7" fmla="*/ 1203931 h 3717280"/>
              <a:gd name="connsiteX8" fmla="*/ 74249 w 7169284"/>
              <a:gd name="connsiteY8" fmla="*/ 1238152 h 3717280"/>
              <a:gd name="connsiteX9" fmla="*/ 48651 w 7169284"/>
              <a:gd name="connsiteY9" fmla="*/ 1276049 h 3717280"/>
              <a:gd name="connsiteX10" fmla="*/ 28003 w 7169284"/>
              <a:gd name="connsiteY10" fmla="*/ 1317197 h 3717280"/>
              <a:gd name="connsiteX11" fmla="*/ 12729 w 7169284"/>
              <a:gd name="connsiteY11" fmla="*/ 1361171 h 3717280"/>
              <a:gd name="connsiteX12" fmla="*/ 3253 w 7169284"/>
              <a:gd name="connsiteY12" fmla="*/ 1407546 h 3717280"/>
              <a:gd name="connsiteX13" fmla="*/ 0 w 7169284"/>
              <a:gd name="connsiteY13" fmla="*/ 1455897 h 3717280"/>
              <a:gd name="connsiteX14" fmla="*/ 0 w 7169284"/>
              <a:gd name="connsiteY14" fmla="*/ 3360944 h 3717280"/>
              <a:gd name="connsiteX15" fmla="*/ 3253 w 7169284"/>
              <a:gd name="connsiteY15" fmla="*/ 3409296 h 3717280"/>
              <a:gd name="connsiteX16" fmla="*/ 12729 w 7169284"/>
              <a:gd name="connsiteY16" fmla="*/ 3455671 h 3717280"/>
              <a:gd name="connsiteX17" fmla="*/ 28003 w 7169284"/>
              <a:gd name="connsiteY17" fmla="*/ 3499644 h 3717280"/>
              <a:gd name="connsiteX18" fmla="*/ 48651 w 7169284"/>
              <a:gd name="connsiteY18" fmla="*/ 3540792 h 3717280"/>
              <a:gd name="connsiteX19" fmla="*/ 74249 w 7169284"/>
              <a:gd name="connsiteY19" fmla="*/ 3578689 h 3717280"/>
              <a:gd name="connsiteX20" fmla="*/ 104371 w 7169284"/>
              <a:gd name="connsiteY20" fmla="*/ 3612910 h 3717280"/>
              <a:gd name="connsiteX21" fmla="*/ 138592 w 7169284"/>
              <a:gd name="connsiteY21" fmla="*/ 3643032 h 3717280"/>
              <a:gd name="connsiteX22" fmla="*/ 176489 w 7169284"/>
              <a:gd name="connsiteY22" fmla="*/ 3668629 h 3717280"/>
              <a:gd name="connsiteX23" fmla="*/ 217637 w 7169284"/>
              <a:gd name="connsiteY23" fmla="*/ 3689277 h 3717280"/>
              <a:gd name="connsiteX24" fmla="*/ 261611 w 7169284"/>
              <a:gd name="connsiteY24" fmla="*/ 3704552 h 3717280"/>
              <a:gd name="connsiteX25" fmla="*/ 307986 w 7169284"/>
              <a:gd name="connsiteY25" fmla="*/ 3714028 h 3717280"/>
              <a:gd name="connsiteX26" fmla="*/ 356337 w 7169284"/>
              <a:gd name="connsiteY26" fmla="*/ 3717281 h 3717280"/>
              <a:gd name="connsiteX27" fmla="*/ 6812950 w 7169284"/>
              <a:gd name="connsiteY27" fmla="*/ 3717281 h 3717280"/>
              <a:gd name="connsiteX28" fmla="*/ 6861301 w 7169284"/>
              <a:gd name="connsiteY28" fmla="*/ 3714028 h 3717280"/>
              <a:gd name="connsiteX29" fmla="*/ 6907675 w 7169284"/>
              <a:gd name="connsiteY29" fmla="*/ 3704552 h 3717280"/>
              <a:gd name="connsiteX30" fmla="*/ 6951648 w 7169284"/>
              <a:gd name="connsiteY30" fmla="*/ 3689277 h 3717280"/>
              <a:gd name="connsiteX31" fmla="*/ 6992795 w 7169284"/>
              <a:gd name="connsiteY31" fmla="*/ 3668629 h 3717280"/>
              <a:gd name="connsiteX32" fmla="*/ 7030692 w 7169284"/>
              <a:gd name="connsiteY32" fmla="*/ 3643032 h 3717280"/>
              <a:gd name="connsiteX33" fmla="*/ 7064914 w 7169284"/>
              <a:gd name="connsiteY33" fmla="*/ 3612910 h 3717280"/>
              <a:gd name="connsiteX34" fmla="*/ 7095036 w 7169284"/>
              <a:gd name="connsiteY34" fmla="*/ 3578689 h 3717280"/>
              <a:gd name="connsiteX35" fmla="*/ 7120633 w 7169284"/>
              <a:gd name="connsiteY35" fmla="*/ 3540792 h 3717280"/>
              <a:gd name="connsiteX36" fmla="*/ 7141281 w 7169284"/>
              <a:gd name="connsiteY36" fmla="*/ 3499644 h 3717280"/>
              <a:gd name="connsiteX37" fmla="*/ 7156556 w 7169284"/>
              <a:gd name="connsiteY37" fmla="*/ 3455671 h 3717280"/>
              <a:gd name="connsiteX38" fmla="*/ 7166032 w 7169284"/>
              <a:gd name="connsiteY38" fmla="*/ 3409296 h 3717280"/>
              <a:gd name="connsiteX39" fmla="*/ 7169285 w 7169284"/>
              <a:gd name="connsiteY39" fmla="*/ 3360944 h 3717280"/>
              <a:gd name="connsiteX40" fmla="*/ 7169285 w 7169284"/>
              <a:gd name="connsiteY40" fmla="*/ 1455897 h 3717280"/>
              <a:gd name="connsiteX41" fmla="*/ 7166032 w 7169284"/>
              <a:gd name="connsiteY41" fmla="*/ 1407546 h 3717280"/>
              <a:gd name="connsiteX42" fmla="*/ 7156556 w 7169284"/>
              <a:gd name="connsiteY42" fmla="*/ 1361171 h 3717280"/>
              <a:gd name="connsiteX43" fmla="*/ 7141281 w 7169284"/>
              <a:gd name="connsiteY43" fmla="*/ 1317197 h 3717280"/>
              <a:gd name="connsiteX44" fmla="*/ 7120633 w 7169284"/>
              <a:gd name="connsiteY44" fmla="*/ 1276049 h 3717280"/>
              <a:gd name="connsiteX45" fmla="*/ 7095036 w 7169284"/>
              <a:gd name="connsiteY45" fmla="*/ 1238152 h 3717280"/>
              <a:gd name="connsiteX46" fmla="*/ 7064914 w 7169284"/>
              <a:gd name="connsiteY46" fmla="*/ 1203931 h 3717280"/>
              <a:gd name="connsiteX47" fmla="*/ 7030692 w 7169284"/>
              <a:gd name="connsiteY47" fmla="*/ 1173809 h 3717280"/>
              <a:gd name="connsiteX48" fmla="*/ 6992795 w 7169284"/>
              <a:gd name="connsiteY48" fmla="*/ 1148211 h 3717280"/>
              <a:gd name="connsiteX49" fmla="*/ 6951648 w 7169284"/>
              <a:gd name="connsiteY49" fmla="*/ 1127563 h 3717280"/>
              <a:gd name="connsiteX50" fmla="*/ 6907675 w 7169284"/>
              <a:gd name="connsiteY50" fmla="*/ 1112289 h 3717280"/>
              <a:gd name="connsiteX51" fmla="*/ 6861301 w 7169284"/>
              <a:gd name="connsiteY51" fmla="*/ 1102813 h 3717280"/>
              <a:gd name="connsiteX52" fmla="*/ 6812950 w 7169284"/>
              <a:gd name="connsiteY52" fmla="*/ 1099560 h 3717280"/>
              <a:gd name="connsiteX0" fmla="*/ 2377043 w 7169284"/>
              <a:gd name="connsiteY0" fmla="*/ 0 h 3717280"/>
              <a:gd name="connsiteX1" fmla="*/ 1836130 w 7169284"/>
              <a:gd name="connsiteY1" fmla="*/ 1099560 h 3717280"/>
              <a:gd name="connsiteX2" fmla="*/ 2993816 w 7169284"/>
              <a:gd name="connsiteY2" fmla="*/ 1116306 h 3717280"/>
              <a:gd name="connsiteX3" fmla="*/ 2377043 w 7169284"/>
              <a:gd name="connsiteY3" fmla="*/ 0 h 3717280"/>
              <a:gd name="connsiteX0" fmla="*/ 6812950 w 7169286"/>
              <a:gd name="connsiteY0" fmla="*/ 1099560 h 3717282"/>
              <a:gd name="connsiteX1" fmla="*/ 356337 w 7169286"/>
              <a:gd name="connsiteY1" fmla="*/ 1099560 h 3717282"/>
              <a:gd name="connsiteX2" fmla="*/ 307986 w 7169286"/>
              <a:gd name="connsiteY2" fmla="*/ 1102813 h 3717282"/>
              <a:gd name="connsiteX3" fmla="*/ 261611 w 7169286"/>
              <a:gd name="connsiteY3" fmla="*/ 1112289 h 3717282"/>
              <a:gd name="connsiteX4" fmla="*/ 217637 w 7169286"/>
              <a:gd name="connsiteY4" fmla="*/ 1127563 h 3717282"/>
              <a:gd name="connsiteX5" fmla="*/ 176489 w 7169286"/>
              <a:gd name="connsiteY5" fmla="*/ 1148211 h 3717282"/>
              <a:gd name="connsiteX6" fmla="*/ 138592 w 7169286"/>
              <a:gd name="connsiteY6" fmla="*/ 1173809 h 3717282"/>
              <a:gd name="connsiteX7" fmla="*/ 104371 w 7169286"/>
              <a:gd name="connsiteY7" fmla="*/ 1203931 h 3717282"/>
              <a:gd name="connsiteX8" fmla="*/ 74249 w 7169286"/>
              <a:gd name="connsiteY8" fmla="*/ 1238152 h 3717282"/>
              <a:gd name="connsiteX9" fmla="*/ 48651 w 7169286"/>
              <a:gd name="connsiteY9" fmla="*/ 1276049 h 3717282"/>
              <a:gd name="connsiteX10" fmla="*/ 28003 w 7169286"/>
              <a:gd name="connsiteY10" fmla="*/ 1317197 h 3717282"/>
              <a:gd name="connsiteX11" fmla="*/ 12729 w 7169286"/>
              <a:gd name="connsiteY11" fmla="*/ 1361171 h 3717282"/>
              <a:gd name="connsiteX12" fmla="*/ 3253 w 7169286"/>
              <a:gd name="connsiteY12" fmla="*/ 1407546 h 3717282"/>
              <a:gd name="connsiteX13" fmla="*/ 0 w 7169286"/>
              <a:gd name="connsiteY13" fmla="*/ 1455897 h 3717282"/>
              <a:gd name="connsiteX14" fmla="*/ 0 w 7169286"/>
              <a:gd name="connsiteY14" fmla="*/ 3360944 h 3717282"/>
              <a:gd name="connsiteX15" fmla="*/ 3253 w 7169286"/>
              <a:gd name="connsiteY15" fmla="*/ 3409296 h 3717282"/>
              <a:gd name="connsiteX16" fmla="*/ 12729 w 7169286"/>
              <a:gd name="connsiteY16" fmla="*/ 3455671 h 3717282"/>
              <a:gd name="connsiteX17" fmla="*/ 28003 w 7169286"/>
              <a:gd name="connsiteY17" fmla="*/ 3499644 h 3717282"/>
              <a:gd name="connsiteX18" fmla="*/ 48651 w 7169286"/>
              <a:gd name="connsiteY18" fmla="*/ 3540792 h 3717282"/>
              <a:gd name="connsiteX19" fmla="*/ 74249 w 7169286"/>
              <a:gd name="connsiteY19" fmla="*/ 3578689 h 3717282"/>
              <a:gd name="connsiteX20" fmla="*/ 104371 w 7169286"/>
              <a:gd name="connsiteY20" fmla="*/ 3612910 h 3717282"/>
              <a:gd name="connsiteX21" fmla="*/ 138592 w 7169286"/>
              <a:gd name="connsiteY21" fmla="*/ 3643032 h 3717282"/>
              <a:gd name="connsiteX22" fmla="*/ 176489 w 7169286"/>
              <a:gd name="connsiteY22" fmla="*/ 3668629 h 3717282"/>
              <a:gd name="connsiteX23" fmla="*/ 217637 w 7169286"/>
              <a:gd name="connsiteY23" fmla="*/ 3689277 h 3717282"/>
              <a:gd name="connsiteX24" fmla="*/ 261611 w 7169286"/>
              <a:gd name="connsiteY24" fmla="*/ 3704552 h 3717282"/>
              <a:gd name="connsiteX25" fmla="*/ 307986 w 7169286"/>
              <a:gd name="connsiteY25" fmla="*/ 3714028 h 3717282"/>
              <a:gd name="connsiteX26" fmla="*/ 356337 w 7169286"/>
              <a:gd name="connsiteY26" fmla="*/ 3717281 h 3717282"/>
              <a:gd name="connsiteX27" fmla="*/ 6812950 w 7169286"/>
              <a:gd name="connsiteY27" fmla="*/ 3717281 h 3717282"/>
              <a:gd name="connsiteX28" fmla="*/ 6861301 w 7169286"/>
              <a:gd name="connsiteY28" fmla="*/ 3714028 h 3717282"/>
              <a:gd name="connsiteX29" fmla="*/ 6907675 w 7169286"/>
              <a:gd name="connsiteY29" fmla="*/ 3704552 h 3717282"/>
              <a:gd name="connsiteX30" fmla="*/ 6951648 w 7169286"/>
              <a:gd name="connsiteY30" fmla="*/ 3689277 h 3717282"/>
              <a:gd name="connsiteX31" fmla="*/ 6992795 w 7169286"/>
              <a:gd name="connsiteY31" fmla="*/ 3668629 h 3717282"/>
              <a:gd name="connsiteX32" fmla="*/ 7030692 w 7169286"/>
              <a:gd name="connsiteY32" fmla="*/ 3643032 h 3717282"/>
              <a:gd name="connsiteX33" fmla="*/ 7064914 w 7169286"/>
              <a:gd name="connsiteY33" fmla="*/ 3612910 h 3717282"/>
              <a:gd name="connsiteX34" fmla="*/ 7095036 w 7169286"/>
              <a:gd name="connsiteY34" fmla="*/ 3578689 h 3717282"/>
              <a:gd name="connsiteX35" fmla="*/ 7120633 w 7169286"/>
              <a:gd name="connsiteY35" fmla="*/ 3540792 h 3717282"/>
              <a:gd name="connsiteX36" fmla="*/ 7141281 w 7169286"/>
              <a:gd name="connsiteY36" fmla="*/ 3499644 h 3717282"/>
              <a:gd name="connsiteX37" fmla="*/ 7156556 w 7169286"/>
              <a:gd name="connsiteY37" fmla="*/ 3455671 h 3717282"/>
              <a:gd name="connsiteX38" fmla="*/ 7166032 w 7169286"/>
              <a:gd name="connsiteY38" fmla="*/ 3409296 h 3717282"/>
              <a:gd name="connsiteX39" fmla="*/ 7169285 w 7169286"/>
              <a:gd name="connsiteY39" fmla="*/ 3360944 h 3717282"/>
              <a:gd name="connsiteX40" fmla="*/ 7169285 w 7169286"/>
              <a:gd name="connsiteY40" fmla="*/ 1455897 h 3717282"/>
              <a:gd name="connsiteX41" fmla="*/ 7166032 w 7169286"/>
              <a:gd name="connsiteY41" fmla="*/ 1407546 h 3717282"/>
              <a:gd name="connsiteX42" fmla="*/ 7156556 w 7169286"/>
              <a:gd name="connsiteY42" fmla="*/ 1361171 h 3717282"/>
              <a:gd name="connsiteX43" fmla="*/ 7141281 w 7169286"/>
              <a:gd name="connsiteY43" fmla="*/ 1317197 h 3717282"/>
              <a:gd name="connsiteX44" fmla="*/ 7120633 w 7169286"/>
              <a:gd name="connsiteY44" fmla="*/ 1276049 h 3717282"/>
              <a:gd name="connsiteX45" fmla="*/ 7095036 w 7169286"/>
              <a:gd name="connsiteY45" fmla="*/ 1238152 h 3717282"/>
              <a:gd name="connsiteX46" fmla="*/ 7064914 w 7169286"/>
              <a:gd name="connsiteY46" fmla="*/ 1203931 h 3717282"/>
              <a:gd name="connsiteX47" fmla="*/ 7030692 w 7169286"/>
              <a:gd name="connsiteY47" fmla="*/ 1173809 h 3717282"/>
              <a:gd name="connsiteX48" fmla="*/ 6992795 w 7169286"/>
              <a:gd name="connsiteY48" fmla="*/ 1148211 h 3717282"/>
              <a:gd name="connsiteX49" fmla="*/ 6951648 w 7169286"/>
              <a:gd name="connsiteY49" fmla="*/ 1127563 h 3717282"/>
              <a:gd name="connsiteX50" fmla="*/ 6907675 w 7169286"/>
              <a:gd name="connsiteY50" fmla="*/ 1112289 h 3717282"/>
              <a:gd name="connsiteX51" fmla="*/ 6861301 w 7169286"/>
              <a:gd name="connsiteY51" fmla="*/ 1102813 h 3717282"/>
              <a:gd name="connsiteX52" fmla="*/ 6812950 w 7169286"/>
              <a:gd name="connsiteY52" fmla="*/ 1099560 h 3717282"/>
              <a:gd name="connsiteX0" fmla="*/ 2377043 w 7169286"/>
              <a:gd name="connsiteY0" fmla="*/ 0 h 3717282"/>
              <a:gd name="connsiteX1" fmla="*/ 2348194 w 7169286"/>
              <a:gd name="connsiteY1" fmla="*/ 1116306 h 3717282"/>
              <a:gd name="connsiteX2" fmla="*/ 2993816 w 7169286"/>
              <a:gd name="connsiteY2" fmla="*/ 1116306 h 3717282"/>
              <a:gd name="connsiteX3" fmla="*/ 2377043 w 7169286"/>
              <a:gd name="connsiteY3" fmla="*/ 0 h 3717282"/>
              <a:gd name="connsiteX0" fmla="*/ 6812950 w 7169284"/>
              <a:gd name="connsiteY0" fmla="*/ 1082814 h 3700534"/>
              <a:gd name="connsiteX1" fmla="*/ 356337 w 7169284"/>
              <a:gd name="connsiteY1" fmla="*/ 1082814 h 3700534"/>
              <a:gd name="connsiteX2" fmla="*/ 307986 w 7169284"/>
              <a:gd name="connsiteY2" fmla="*/ 1086067 h 3700534"/>
              <a:gd name="connsiteX3" fmla="*/ 261611 w 7169284"/>
              <a:gd name="connsiteY3" fmla="*/ 1095543 h 3700534"/>
              <a:gd name="connsiteX4" fmla="*/ 217637 w 7169284"/>
              <a:gd name="connsiteY4" fmla="*/ 1110817 h 3700534"/>
              <a:gd name="connsiteX5" fmla="*/ 176489 w 7169284"/>
              <a:gd name="connsiteY5" fmla="*/ 1131465 h 3700534"/>
              <a:gd name="connsiteX6" fmla="*/ 138592 w 7169284"/>
              <a:gd name="connsiteY6" fmla="*/ 1157063 h 3700534"/>
              <a:gd name="connsiteX7" fmla="*/ 104371 w 7169284"/>
              <a:gd name="connsiteY7" fmla="*/ 1187185 h 3700534"/>
              <a:gd name="connsiteX8" fmla="*/ 74249 w 7169284"/>
              <a:gd name="connsiteY8" fmla="*/ 1221406 h 3700534"/>
              <a:gd name="connsiteX9" fmla="*/ 48651 w 7169284"/>
              <a:gd name="connsiteY9" fmla="*/ 1259303 h 3700534"/>
              <a:gd name="connsiteX10" fmla="*/ 28003 w 7169284"/>
              <a:gd name="connsiteY10" fmla="*/ 1300451 h 3700534"/>
              <a:gd name="connsiteX11" fmla="*/ 12729 w 7169284"/>
              <a:gd name="connsiteY11" fmla="*/ 1344425 h 3700534"/>
              <a:gd name="connsiteX12" fmla="*/ 3253 w 7169284"/>
              <a:gd name="connsiteY12" fmla="*/ 1390800 h 3700534"/>
              <a:gd name="connsiteX13" fmla="*/ 0 w 7169284"/>
              <a:gd name="connsiteY13" fmla="*/ 1439151 h 3700534"/>
              <a:gd name="connsiteX14" fmla="*/ 0 w 7169284"/>
              <a:gd name="connsiteY14" fmla="*/ 3344198 h 3700534"/>
              <a:gd name="connsiteX15" fmla="*/ 3253 w 7169284"/>
              <a:gd name="connsiteY15" fmla="*/ 3392550 h 3700534"/>
              <a:gd name="connsiteX16" fmla="*/ 12729 w 7169284"/>
              <a:gd name="connsiteY16" fmla="*/ 3438925 h 3700534"/>
              <a:gd name="connsiteX17" fmla="*/ 28003 w 7169284"/>
              <a:gd name="connsiteY17" fmla="*/ 3482898 h 3700534"/>
              <a:gd name="connsiteX18" fmla="*/ 48651 w 7169284"/>
              <a:gd name="connsiteY18" fmla="*/ 3524046 h 3700534"/>
              <a:gd name="connsiteX19" fmla="*/ 74249 w 7169284"/>
              <a:gd name="connsiteY19" fmla="*/ 3561943 h 3700534"/>
              <a:gd name="connsiteX20" fmla="*/ 104371 w 7169284"/>
              <a:gd name="connsiteY20" fmla="*/ 3596164 h 3700534"/>
              <a:gd name="connsiteX21" fmla="*/ 138592 w 7169284"/>
              <a:gd name="connsiteY21" fmla="*/ 3626286 h 3700534"/>
              <a:gd name="connsiteX22" fmla="*/ 176489 w 7169284"/>
              <a:gd name="connsiteY22" fmla="*/ 3651883 h 3700534"/>
              <a:gd name="connsiteX23" fmla="*/ 217637 w 7169284"/>
              <a:gd name="connsiteY23" fmla="*/ 3672531 h 3700534"/>
              <a:gd name="connsiteX24" fmla="*/ 261611 w 7169284"/>
              <a:gd name="connsiteY24" fmla="*/ 3687806 h 3700534"/>
              <a:gd name="connsiteX25" fmla="*/ 307986 w 7169284"/>
              <a:gd name="connsiteY25" fmla="*/ 3697282 h 3700534"/>
              <a:gd name="connsiteX26" fmla="*/ 356337 w 7169284"/>
              <a:gd name="connsiteY26" fmla="*/ 3700535 h 3700534"/>
              <a:gd name="connsiteX27" fmla="*/ 6812950 w 7169284"/>
              <a:gd name="connsiteY27" fmla="*/ 3700535 h 3700534"/>
              <a:gd name="connsiteX28" fmla="*/ 6861301 w 7169284"/>
              <a:gd name="connsiteY28" fmla="*/ 3697282 h 3700534"/>
              <a:gd name="connsiteX29" fmla="*/ 6907675 w 7169284"/>
              <a:gd name="connsiteY29" fmla="*/ 3687806 h 3700534"/>
              <a:gd name="connsiteX30" fmla="*/ 6951648 w 7169284"/>
              <a:gd name="connsiteY30" fmla="*/ 3672531 h 3700534"/>
              <a:gd name="connsiteX31" fmla="*/ 6992795 w 7169284"/>
              <a:gd name="connsiteY31" fmla="*/ 3651883 h 3700534"/>
              <a:gd name="connsiteX32" fmla="*/ 7030692 w 7169284"/>
              <a:gd name="connsiteY32" fmla="*/ 3626286 h 3700534"/>
              <a:gd name="connsiteX33" fmla="*/ 7064914 w 7169284"/>
              <a:gd name="connsiteY33" fmla="*/ 3596164 h 3700534"/>
              <a:gd name="connsiteX34" fmla="*/ 7095036 w 7169284"/>
              <a:gd name="connsiteY34" fmla="*/ 3561943 h 3700534"/>
              <a:gd name="connsiteX35" fmla="*/ 7120633 w 7169284"/>
              <a:gd name="connsiteY35" fmla="*/ 3524046 h 3700534"/>
              <a:gd name="connsiteX36" fmla="*/ 7141281 w 7169284"/>
              <a:gd name="connsiteY36" fmla="*/ 3482898 h 3700534"/>
              <a:gd name="connsiteX37" fmla="*/ 7156556 w 7169284"/>
              <a:gd name="connsiteY37" fmla="*/ 3438925 h 3700534"/>
              <a:gd name="connsiteX38" fmla="*/ 7166032 w 7169284"/>
              <a:gd name="connsiteY38" fmla="*/ 3392550 h 3700534"/>
              <a:gd name="connsiteX39" fmla="*/ 7169285 w 7169284"/>
              <a:gd name="connsiteY39" fmla="*/ 3344198 h 3700534"/>
              <a:gd name="connsiteX40" fmla="*/ 7169285 w 7169284"/>
              <a:gd name="connsiteY40" fmla="*/ 1439151 h 3700534"/>
              <a:gd name="connsiteX41" fmla="*/ 7166032 w 7169284"/>
              <a:gd name="connsiteY41" fmla="*/ 1390800 h 3700534"/>
              <a:gd name="connsiteX42" fmla="*/ 7156556 w 7169284"/>
              <a:gd name="connsiteY42" fmla="*/ 1344425 h 3700534"/>
              <a:gd name="connsiteX43" fmla="*/ 7141281 w 7169284"/>
              <a:gd name="connsiteY43" fmla="*/ 1300451 h 3700534"/>
              <a:gd name="connsiteX44" fmla="*/ 7120633 w 7169284"/>
              <a:gd name="connsiteY44" fmla="*/ 1259303 h 3700534"/>
              <a:gd name="connsiteX45" fmla="*/ 7095036 w 7169284"/>
              <a:gd name="connsiteY45" fmla="*/ 1221406 h 3700534"/>
              <a:gd name="connsiteX46" fmla="*/ 7064914 w 7169284"/>
              <a:gd name="connsiteY46" fmla="*/ 1187185 h 3700534"/>
              <a:gd name="connsiteX47" fmla="*/ 7030692 w 7169284"/>
              <a:gd name="connsiteY47" fmla="*/ 1157063 h 3700534"/>
              <a:gd name="connsiteX48" fmla="*/ 6992795 w 7169284"/>
              <a:gd name="connsiteY48" fmla="*/ 1131465 h 3700534"/>
              <a:gd name="connsiteX49" fmla="*/ 6951648 w 7169284"/>
              <a:gd name="connsiteY49" fmla="*/ 1110817 h 3700534"/>
              <a:gd name="connsiteX50" fmla="*/ 6907675 w 7169284"/>
              <a:gd name="connsiteY50" fmla="*/ 1095543 h 3700534"/>
              <a:gd name="connsiteX51" fmla="*/ 6861301 w 7169284"/>
              <a:gd name="connsiteY51" fmla="*/ 1086067 h 3700534"/>
              <a:gd name="connsiteX52" fmla="*/ 6812950 w 7169284"/>
              <a:gd name="connsiteY52" fmla="*/ 1082814 h 3700534"/>
              <a:gd name="connsiteX0" fmla="*/ 2092563 w 7169284"/>
              <a:gd name="connsiteY0" fmla="*/ 0 h 3700534"/>
              <a:gd name="connsiteX1" fmla="*/ 2348194 w 7169284"/>
              <a:gd name="connsiteY1" fmla="*/ 1099560 h 3700534"/>
              <a:gd name="connsiteX2" fmla="*/ 2993816 w 7169284"/>
              <a:gd name="connsiteY2" fmla="*/ 1099560 h 3700534"/>
              <a:gd name="connsiteX3" fmla="*/ 2092563 w 7169284"/>
              <a:gd name="connsiteY3" fmla="*/ 0 h 3700534"/>
              <a:gd name="connsiteX0" fmla="*/ 6812950 w 7169286"/>
              <a:gd name="connsiteY0" fmla="*/ 1220972 h 3838694"/>
              <a:gd name="connsiteX1" fmla="*/ 356337 w 7169286"/>
              <a:gd name="connsiteY1" fmla="*/ 1220972 h 3838694"/>
              <a:gd name="connsiteX2" fmla="*/ 307986 w 7169286"/>
              <a:gd name="connsiteY2" fmla="*/ 1224225 h 3838694"/>
              <a:gd name="connsiteX3" fmla="*/ 261611 w 7169286"/>
              <a:gd name="connsiteY3" fmla="*/ 1233701 h 3838694"/>
              <a:gd name="connsiteX4" fmla="*/ 217637 w 7169286"/>
              <a:gd name="connsiteY4" fmla="*/ 1248975 h 3838694"/>
              <a:gd name="connsiteX5" fmla="*/ 176489 w 7169286"/>
              <a:gd name="connsiteY5" fmla="*/ 1269623 h 3838694"/>
              <a:gd name="connsiteX6" fmla="*/ 138592 w 7169286"/>
              <a:gd name="connsiteY6" fmla="*/ 1295221 h 3838694"/>
              <a:gd name="connsiteX7" fmla="*/ 104371 w 7169286"/>
              <a:gd name="connsiteY7" fmla="*/ 1325343 h 3838694"/>
              <a:gd name="connsiteX8" fmla="*/ 74249 w 7169286"/>
              <a:gd name="connsiteY8" fmla="*/ 1359564 h 3838694"/>
              <a:gd name="connsiteX9" fmla="*/ 48651 w 7169286"/>
              <a:gd name="connsiteY9" fmla="*/ 1397461 h 3838694"/>
              <a:gd name="connsiteX10" fmla="*/ 28003 w 7169286"/>
              <a:gd name="connsiteY10" fmla="*/ 1438609 h 3838694"/>
              <a:gd name="connsiteX11" fmla="*/ 12729 w 7169286"/>
              <a:gd name="connsiteY11" fmla="*/ 1482583 h 3838694"/>
              <a:gd name="connsiteX12" fmla="*/ 3253 w 7169286"/>
              <a:gd name="connsiteY12" fmla="*/ 1528958 h 3838694"/>
              <a:gd name="connsiteX13" fmla="*/ 0 w 7169286"/>
              <a:gd name="connsiteY13" fmla="*/ 1577309 h 3838694"/>
              <a:gd name="connsiteX14" fmla="*/ 0 w 7169286"/>
              <a:gd name="connsiteY14" fmla="*/ 3482356 h 3838694"/>
              <a:gd name="connsiteX15" fmla="*/ 3253 w 7169286"/>
              <a:gd name="connsiteY15" fmla="*/ 3530708 h 3838694"/>
              <a:gd name="connsiteX16" fmla="*/ 12729 w 7169286"/>
              <a:gd name="connsiteY16" fmla="*/ 3577083 h 3838694"/>
              <a:gd name="connsiteX17" fmla="*/ 28003 w 7169286"/>
              <a:gd name="connsiteY17" fmla="*/ 3621056 h 3838694"/>
              <a:gd name="connsiteX18" fmla="*/ 48651 w 7169286"/>
              <a:gd name="connsiteY18" fmla="*/ 3662204 h 3838694"/>
              <a:gd name="connsiteX19" fmla="*/ 74249 w 7169286"/>
              <a:gd name="connsiteY19" fmla="*/ 3700101 h 3838694"/>
              <a:gd name="connsiteX20" fmla="*/ 104371 w 7169286"/>
              <a:gd name="connsiteY20" fmla="*/ 3734322 h 3838694"/>
              <a:gd name="connsiteX21" fmla="*/ 138592 w 7169286"/>
              <a:gd name="connsiteY21" fmla="*/ 3764444 h 3838694"/>
              <a:gd name="connsiteX22" fmla="*/ 176489 w 7169286"/>
              <a:gd name="connsiteY22" fmla="*/ 3790041 h 3838694"/>
              <a:gd name="connsiteX23" fmla="*/ 217637 w 7169286"/>
              <a:gd name="connsiteY23" fmla="*/ 3810689 h 3838694"/>
              <a:gd name="connsiteX24" fmla="*/ 261611 w 7169286"/>
              <a:gd name="connsiteY24" fmla="*/ 3825964 h 3838694"/>
              <a:gd name="connsiteX25" fmla="*/ 307986 w 7169286"/>
              <a:gd name="connsiteY25" fmla="*/ 3835440 h 3838694"/>
              <a:gd name="connsiteX26" fmla="*/ 356337 w 7169286"/>
              <a:gd name="connsiteY26" fmla="*/ 3838693 h 3838694"/>
              <a:gd name="connsiteX27" fmla="*/ 6812950 w 7169286"/>
              <a:gd name="connsiteY27" fmla="*/ 3838693 h 3838694"/>
              <a:gd name="connsiteX28" fmla="*/ 6861301 w 7169286"/>
              <a:gd name="connsiteY28" fmla="*/ 3835440 h 3838694"/>
              <a:gd name="connsiteX29" fmla="*/ 6907675 w 7169286"/>
              <a:gd name="connsiteY29" fmla="*/ 3825964 h 3838694"/>
              <a:gd name="connsiteX30" fmla="*/ 6951648 w 7169286"/>
              <a:gd name="connsiteY30" fmla="*/ 3810689 h 3838694"/>
              <a:gd name="connsiteX31" fmla="*/ 6992795 w 7169286"/>
              <a:gd name="connsiteY31" fmla="*/ 3790041 h 3838694"/>
              <a:gd name="connsiteX32" fmla="*/ 7030692 w 7169286"/>
              <a:gd name="connsiteY32" fmla="*/ 3764444 h 3838694"/>
              <a:gd name="connsiteX33" fmla="*/ 7064914 w 7169286"/>
              <a:gd name="connsiteY33" fmla="*/ 3734322 h 3838694"/>
              <a:gd name="connsiteX34" fmla="*/ 7095036 w 7169286"/>
              <a:gd name="connsiteY34" fmla="*/ 3700101 h 3838694"/>
              <a:gd name="connsiteX35" fmla="*/ 7120633 w 7169286"/>
              <a:gd name="connsiteY35" fmla="*/ 3662204 h 3838694"/>
              <a:gd name="connsiteX36" fmla="*/ 7141281 w 7169286"/>
              <a:gd name="connsiteY36" fmla="*/ 3621056 h 3838694"/>
              <a:gd name="connsiteX37" fmla="*/ 7156556 w 7169286"/>
              <a:gd name="connsiteY37" fmla="*/ 3577083 h 3838694"/>
              <a:gd name="connsiteX38" fmla="*/ 7166032 w 7169286"/>
              <a:gd name="connsiteY38" fmla="*/ 3530708 h 3838694"/>
              <a:gd name="connsiteX39" fmla="*/ 7169285 w 7169286"/>
              <a:gd name="connsiteY39" fmla="*/ 3482356 h 3838694"/>
              <a:gd name="connsiteX40" fmla="*/ 7169285 w 7169286"/>
              <a:gd name="connsiteY40" fmla="*/ 1577309 h 3838694"/>
              <a:gd name="connsiteX41" fmla="*/ 7166032 w 7169286"/>
              <a:gd name="connsiteY41" fmla="*/ 1528958 h 3838694"/>
              <a:gd name="connsiteX42" fmla="*/ 7156556 w 7169286"/>
              <a:gd name="connsiteY42" fmla="*/ 1482583 h 3838694"/>
              <a:gd name="connsiteX43" fmla="*/ 7141281 w 7169286"/>
              <a:gd name="connsiteY43" fmla="*/ 1438609 h 3838694"/>
              <a:gd name="connsiteX44" fmla="*/ 7120633 w 7169286"/>
              <a:gd name="connsiteY44" fmla="*/ 1397461 h 3838694"/>
              <a:gd name="connsiteX45" fmla="*/ 7095036 w 7169286"/>
              <a:gd name="connsiteY45" fmla="*/ 1359564 h 3838694"/>
              <a:gd name="connsiteX46" fmla="*/ 7064914 w 7169286"/>
              <a:gd name="connsiteY46" fmla="*/ 1325343 h 3838694"/>
              <a:gd name="connsiteX47" fmla="*/ 7030692 w 7169286"/>
              <a:gd name="connsiteY47" fmla="*/ 1295221 h 3838694"/>
              <a:gd name="connsiteX48" fmla="*/ 6992795 w 7169286"/>
              <a:gd name="connsiteY48" fmla="*/ 1269623 h 3838694"/>
              <a:gd name="connsiteX49" fmla="*/ 6951648 w 7169286"/>
              <a:gd name="connsiteY49" fmla="*/ 1248975 h 3838694"/>
              <a:gd name="connsiteX50" fmla="*/ 6907675 w 7169286"/>
              <a:gd name="connsiteY50" fmla="*/ 1233701 h 3838694"/>
              <a:gd name="connsiteX51" fmla="*/ 6861301 w 7169286"/>
              <a:gd name="connsiteY51" fmla="*/ 1224225 h 3838694"/>
              <a:gd name="connsiteX52" fmla="*/ 6812950 w 7169286"/>
              <a:gd name="connsiteY52" fmla="*/ 1220972 h 3838694"/>
              <a:gd name="connsiteX0" fmla="*/ 997315 w 7169286"/>
              <a:gd name="connsiteY0" fmla="*/ 0 h 3838694"/>
              <a:gd name="connsiteX1" fmla="*/ 2348194 w 7169286"/>
              <a:gd name="connsiteY1" fmla="*/ 1237718 h 3838694"/>
              <a:gd name="connsiteX2" fmla="*/ 2993816 w 7169286"/>
              <a:gd name="connsiteY2" fmla="*/ 1237718 h 3838694"/>
              <a:gd name="connsiteX3" fmla="*/ 997315 w 7169286"/>
              <a:gd name="connsiteY3" fmla="*/ 0 h 3838694"/>
            </a:gdLst>
            <a:ahLst/>
            <a:cxnLst>
              <a:cxn ang="0">
                <a:pos x="connsiteX0" y="connsiteY0"/>
              </a:cxn>
              <a:cxn ang="0">
                <a:pos x="connsiteX1" y="connsiteY1"/>
              </a:cxn>
              <a:cxn ang="0">
                <a:pos x="connsiteX2" y="connsiteY2"/>
              </a:cxn>
              <a:cxn ang="0">
                <a:pos x="connsiteX3" y="connsiteY3"/>
              </a:cxn>
            </a:cxnLst>
            <a:rect l="l" t="t" r="r" b="b"/>
            <a:pathLst>
              <a:path w="7169286" h="3838694" extrusionOk="0">
                <a:moveTo>
                  <a:pt x="6812950" y="1220972"/>
                </a:moveTo>
                <a:lnTo>
                  <a:pt x="356337" y="1220972"/>
                </a:lnTo>
                <a:lnTo>
                  <a:pt x="307986" y="1224225"/>
                </a:lnTo>
                <a:lnTo>
                  <a:pt x="261611" y="1233701"/>
                </a:lnTo>
                <a:lnTo>
                  <a:pt x="217637" y="1248975"/>
                </a:lnTo>
                <a:lnTo>
                  <a:pt x="176489" y="1269623"/>
                </a:lnTo>
                <a:lnTo>
                  <a:pt x="138592" y="1295221"/>
                </a:lnTo>
                <a:lnTo>
                  <a:pt x="104371" y="1325343"/>
                </a:lnTo>
                <a:lnTo>
                  <a:pt x="74249" y="1359564"/>
                </a:lnTo>
                <a:lnTo>
                  <a:pt x="48651" y="1397461"/>
                </a:lnTo>
                <a:lnTo>
                  <a:pt x="28003" y="1438609"/>
                </a:lnTo>
                <a:lnTo>
                  <a:pt x="12729" y="1482583"/>
                </a:lnTo>
                <a:lnTo>
                  <a:pt x="3253" y="1528958"/>
                </a:lnTo>
                <a:lnTo>
                  <a:pt x="0" y="1577309"/>
                </a:lnTo>
                <a:lnTo>
                  <a:pt x="0" y="3482356"/>
                </a:lnTo>
                <a:lnTo>
                  <a:pt x="3253" y="3530708"/>
                </a:lnTo>
                <a:lnTo>
                  <a:pt x="12729" y="3577083"/>
                </a:lnTo>
                <a:lnTo>
                  <a:pt x="28003" y="3621056"/>
                </a:lnTo>
                <a:lnTo>
                  <a:pt x="48651" y="3662204"/>
                </a:lnTo>
                <a:lnTo>
                  <a:pt x="74249" y="3700101"/>
                </a:lnTo>
                <a:lnTo>
                  <a:pt x="104371" y="3734322"/>
                </a:lnTo>
                <a:lnTo>
                  <a:pt x="138592" y="3764444"/>
                </a:lnTo>
                <a:lnTo>
                  <a:pt x="176489" y="3790041"/>
                </a:lnTo>
                <a:lnTo>
                  <a:pt x="217637" y="3810689"/>
                </a:lnTo>
                <a:lnTo>
                  <a:pt x="261611" y="3825964"/>
                </a:lnTo>
                <a:lnTo>
                  <a:pt x="307986" y="3835440"/>
                </a:lnTo>
                <a:lnTo>
                  <a:pt x="356337" y="3838693"/>
                </a:lnTo>
                <a:lnTo>
                  <a:pt x="6812950" y="3838693"/>
                </a:lnTo>
                <a:lnTo>
                  <a:pt x="6861301" y="3835440"/>
                </a:lnTo>
                <a:lnTo>
                  <a:pt x="6907675" y="3825964"/>
                </a:lnTo>
                <a:lnTo>
                  <a:pt x="6951648" y="3810689"/>
                </a:lnTo>
                <a:lnTo>
                  <a:pt x="6992795" y="3790041"/>
                </a:lnTo>
                <a:lnTo>
                  <a:pt x="7030692" y="3764444"/>
                </a:lnTo>
                <a:lnTo>
                  <a:pt x="7064914" y="3734322"/>
                </a:lnTo>
                <a:lnTo>
                  <a:pt x="7095036" y="3700101"/>
                </a:lnTo>
                <a:lnTo>
                  <a:pt x="7120633" y="3662204"/>
                </a:lnTo>
                <a:lnTo>
                  <a:pt x="7141281" y="3621056"/>
                </a:lnTo>
                <a:lnTo>
                  <a:pt x="7156556" y="3577083"/>
                </a:lnTo>
                <a:lnTo>
                  <a:pt x="7166032" y="3530708"/>
                </a:lnTo>
                <a:lnTo>
                  <a:pt x="7169285" y="3482356"/>
                </a:lnTo>
                <a:lnTo>
                  <a:pt x="7169285" y="1577309"/>
                </a:lnTo>
                <a:lnTo>
                  <a:pt x="7166032" y="1528958"/>
                </a:lnTo>
                <a:lnTo>
                  <a:pt x="7156556" y="1482583"/>
                </a:lnTo>
                <a:lnTo>
                  <a:pt x="7141281" y="1438609"/>
                </a:lnTo>
                <a:lnTo>
                  <a:pt x="7120633" y="1397461"/>
                </a:lnTo>
                <a:lnTo>
                  <a:pt x="7095036" y="1359564"/>
                </a:lnTo>
                <a:lnTo>
                  <a:pt x="7064914" y="1325343"/>
                </a:lnTo>
                <a:lnTo>
                  <a:pt x="7030692" y="1295221"/>
                </a:lnTo>
                <a:lnTo>
                  <a:pt x="6992795" y="1269623"/>
                </a:lnTo>
                <a:lnTo>
                  <a:pt x="6951648" y="1248975"/>
                </a:lnTo>
                <a:lnTo>
                  <a:pt x="6907675" y="1233701"/>
                </a:lnTo>
                <a:lnTo>
                  <a:pt x="6861301" y="1224225"/>
                </a:lnTo>
                <a:lnTo>
                  <a:pt x="6812950" y="1220972"/>
                </a:lnTo>
                <a:close/>
              </a:path>
              <a:path w="7169286" h="3838694" extrusionOk="0">
                <a:moveTo>
                  <a:pt x="997315" y="0"/>
                </a:moveTo>
                <a:lnTo>
                  <a:pt x="2348194" y="1237718"/>
                </a:lnTo>
                <a:lnTo>
                  <a:pt x="2993816" y="1237718"/>
                </a:lnTo>
                <a:lnTo>
                  <a:pt x="997315" y="0"/>
                </a:lnTo>
                <a:close/>
              </a:path>
            </a:pathLst>
          </a:custGeom>
          <a:solidFill>
            <a:srgbClr val="D3908F"/>
          </a:solidFill>
          <a:ln>
            <a:noFill/>
          </a:ln>
        </p:spPr>
        <p:txBody>
          <a:bodyPr spcFirstLastPara="1" wrap="square" lIns="0" tIns="0" rIns="0" bIns="0" anchor="t" anchorCtr="0">
            <a:noAutofit/>
          </a:bodyPr>
          <a:lstStyle/>
          <a:p>
            <a:endParaRPr sz="964"/>
          </a:p>
        </p:txBody>
      </p:sp>
      <p:sp>
        <p:nvSpPr>
          <p:cNvPr id="22" name="Google Shape;173;p20"/>
          <p:cNvSpPr txBox="1"/>
          <p:nvPr/>
        </p:nvSpPr>
        <p:spPr>
          <a:xfrm>
            <a:off x="9333318" y="4426675"/>
            <a:ext cx="1658532" cy="1146391"/>
          </a:xfrm>
          <a:prstGeom prst="rect">
            <a:avLst/>
          </a:prstGeom>
          <a:noFill/>
          <a:ln>
            <a:noFill/>
          </a:ln>
        </p:spPr>
        <p:txBody>
          <a:bodyPr spcFirstLastPara="1" wrap="square" lIns="0" tIns="8504" rIns="0" bIns="0" anchor="ctr" anchorCtr="0">
            <a:noAutofit/>
          </a:bodyPr>
          <a:lstStyle/>
          <a:p>
            <a:pPr algn="ctr">
              <a:lnSpc>
                <a:spcPct val="116753"/>
              </a:lnSpc>
            </a:pPr>
            <a:r>
              <a:rPr lang="en-US" sz="2800" b="1" dirty="0">
                <a:solidFill>
                  <a:srgbClr val="FFFFFF"/>
                </a:solidFill>
                <a:latin typeface="Trebuchet MS"/>
                <a:ea typeface="Trebuchet MS"/>
                <a:cs typeface="Trebuchet MS"/>
                <a:sym typeface="Trebuchet MS"/>
              </a:rPr>
              <a:t>Value or function</a:t>
            </a:r>
            <a:endParaRPr sz="2800" dirty="0">
              <a:latin typeface="Trebuchet MS"/>
              <a:ea typeface="Trebuchet MS"/>
              <a:cs typeface="Trebuchet MS"/>
              <a:sym typeface="Trebuchet MS"/>
            </a:endParaRPr>
          </a:p>
        </p:txBody>
      </p:sp>
      <p:sp>
        <p:nvSpPr>
          <p:cNvPr id="3" name="TextBox 2"/>
          <p:cNvSpPr txBox="1"/>
          <p:nvPr/>
        </p:nvSpPr>
        <p:spPr>
          <a:xfrm>
            <a:off x="866079" y="781067"/>
            <a:ext cx="2875531" cy="923330"/>
          </a:xfrm>
          <a:prstGeom prst="rect">
            <a:avLst/>
          </a:prstGeom>
          <a:noFill/>
        </p:spPr>
        <p:txBody>
          <a:bodyPr wrap="none" rtlCol="0">
            <a:spAutoFit/>
          </a:bodyPr>
          <a:lstStyle/>
          <a:p>
            <a:r>
              <a:rPr lang="en-US" sz="5400" dirty="0">
                <a:latin typeface="+mj-lt"/>
                <a:sym typeface="Calibri"/>
              </a:rPr>
              <a:t>summarize</a:t>
            </a:r>
            <a:r>
              <a:rPr lang="en-US" sz="5400" dirty="0">
                <a:latin typeface="Calibri"/>
                <a:sym typeface="Calibri"/>
              </a:rPr>
              <a:t>()</a:t>
            </a:r>
            <a:endParaRPr lang="en-US" dirty="0"/>
          </a:p>
        </p:txBody>
      </p:sp>
      <p:sp>
        <p:nvSpPr>
          <p:cNvPr id="2" name="TextBox 1">
            <a:extLst>
              <a:ext uri="{FF2B5EF4-FFF2-40B4-BE49-F238E27FC236}">
                <a16:creationId xmlns:a16="http://schemas.microsoft.com/office/drawing/2014/main" id="{4E5DA503-43D8-234F-A574-470E275BF911}"/>
              </a:ext>
            </a:extLst>
          </p:cNvPr>
          <p:cNvSpPr txBox="1"/>
          <p:nvPr/>
        </p:nvSpPr>
        <p:spPr>
          <a:xfrm>
            <a:off x="751840" y="5974080"/>
            <a:ext cx="10240010" cy="584775"/>
          </a:xfrm>
          <a:prstGeom prst="rect">
            <a:avLst/>
          </a:prstGeom>
          <a:noFill/>
        </p:spPr>
        <p:txBody>
          <a:bodyPr wrap="square" rtlCol="0">
            <a:spAutoFit/>
          </a:bodyPr>
          <a:lstStyle/>
          <a:p>
            <a:pPr algn="ctr"/>
            <a:r>
              <a:rPr lang="en-US" sz="3200" dirty="0"/>
              <a:t>Performs calculation across all rows of data frame</a:t>
            </a:r>
          </a:p>
        </p:txBody>
      </p:sp>
    </p:spTree>
    <p:extLst>
      <p:ext uri="{BB962C8B-B14F-4D97-AF65-F5344CB8AC3E}">
        <p14:creationId xmlns:p14="http://schemas.microsoft.com/office/powerpoint/2010/main" val="296816445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6" name="Google Shape;131;p17"/>
          <p:cNvSpPr/>
          <p:nvPr/>
        </p:nvSpPr>
        <p:spPr>
          <a:xfrm>
            <a:off x="1072055" y="2280929"/>
            <a:ext cx="10762593" cy="1821891"/>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dirty="0"/>
          </a:p>
        </p:txBody>
      </p:sp>
      <p:sp>
        <p:nvSpPr>
          <p:cNvPr id="296" name="Google Shape;296;p32"/>
          <p:cNvSpPr txBox="1"/>
          <p:nvPr/>
        </p:nvSpPr>
        <p:spPr>
          <a:xfrm>
            <a:off x="1072055" y="1747595"/>
            <a:ext cx="6159054" cy="1167589"/>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2800" dirty="0">
                <a:latin typeface="Calibri"/>
                <a:ea typeface="Calibri"/>
                <a:cs typeface="Calibri"/>
                <a:sym typeface="Calibri"/>
              </a:rPr>
              <a:t>Make summaries of your data</a:t>
            </a: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13" name="Table 12"/>
          <p:cNvGraphicFramePr>
            <a:graphicFrameLocks noGrp="1"/>
          </p:cNvGraphicFramePr>
          <p:nvPr/>
        </p:nvGraphicFramePr>
        <p:xfrm>
          <a:off x="1900244" y="4358675"/>
          <a:ext cx="3736808" cy="2287415"/>
        </p:xfrm>
        <a:graphic>
          <a:graphicData uri="http://schemas.openxmlformats.org/drawingml/2006/table">
            <a:tbl>
              <a:tblPr firstRow="1" bandRow="1"/>
              <a:tblGrid>
                <a:gridCol w="1505607">
                  <a:extLst>
                    <a:ext uri="{9D8B030D-6E8A-4147-A177-3AD203B41FA5}">
                      <a16:colId xmlns:a16="http://schemas.microsoft.com/office/drawing/2014/main" val="20000"/>
                    </a:ext>
                  </a:extLst>
                </a:gridCol>
                <a:gridCol w="2231201">
                  <a:extLst>
                    <a:ext uri="{9D8B030D-6E8A-4147-A177-3AD203B41FA5}">
                      <a16:colId xmlns:a16="http://schemas.microsoft.com/office/drawing/2014/main" val="20001"/>
                    </a:ext>
                  </a:extLst>
                </a:gridCol>
              </a:tblGrid>
              <a:tr h="370840">
                <a:tc>
                  <a:txBody>
                    <a:bodyPr/>
                    <a:lstStyle/>
                    <a:p>
                      <a:pPr marL="0" lvl="0" indent="0" algn="ctr" rtl="0">
                        <a:spcBef>
                          <a:spcPts val="0"/>
                        </a:spcBef>
                        <a:spcAft>
                          <a:spcPts val="0"/>
                        </a:spcAft>
                        <a:buNone/>
                      </a:pPr>
                      <a:r>
                        <a:rPr lang="en-US" sz="2400" b="1" dirty="0" err="1">
                          <a:solidFill>
                            <a:schemeClr val="lt1"/>
                          </a:solidFill>
                        </a:rPr>
                        <a:t>mrn</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r>
                        <a:rPr lang="en-US" sz="2400" b="1" dirty="0" err="1">
                          <a:solidFill>
                            <a:schemeClr val="lt1"/>
                          </a:solidFill>
                        </a:rPr>
                        <a:t>pan_day</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dirty="0"/>
                        <a:t>5001412</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370840">
                <a:tc>
                  <a:txBody>
                    <a:bodyPr/>
                    <a:lstStyle/>
                    <a:p>
                      <a:pPr marL="0" lvl="0" indent="0" algn="ctr" rtl="0">
                        <a:spcBef>
                          <a:spcPts val="0"/>
                        </a:spcBef>
                        <a:spcAft>
                          <a:spcPts val="0"/>
                        </a:spcAft>
                        <a:buNone/>
                      </a:pPr>
                      <a:r>
                        <a:rPr lang="en-US" sz="2000" dirty="0"/>
                        <a:t>5000533</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2"/>
                  </a:ext>
                </a:extLst>
              </a:tr>
              <a:tr h="563687">
                <a:tc>
                  <a:txBody>
                    <a:bodyPr/>
                    <a:lstStyle/>
                    <a:p>
                      <a:pPr marL="0" lvl="0" indent="0" algn="ctr" rtl="0">
                        <a:spcBef>
                          <a:spcPts val="0"/>
                        </a:spcBef>
                        <a:spcAft>
                          <a:spcPts val="0"/>
                        </a:spcAft>
                        <a:buNone/>
                      </a:pPr>
                      <a:r>
                        <a:rPr lang="en-US" sz="2000" dirty="0"/>
                        <a:t>5009134</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3"/>
                  </a:ext>
                </a:extLst>
              </a:tr>
              <a:tr h="370840">
                <a:tc>
                  <a:txBody>
                    <a:bodyPr/>
                    <a:lstStyle/>
                    <a:p>
                      <a:pPr marL="0" lvl="0" indent="0" algn="ctr" rtl="0">
                        <a:spcBef>
                          <a:spcPts val="0"/>
                        </a:spcBef>
                        <a:spcAft>
                          <a:spcPts val="0"/>
                        </a:spcAft>
                        <a:buNone/>
                      </a:pPr>
                      <a:r>
                        <a:rPr lang="en-US" sz="2000" dirty="0"/>
                        <a:t>5008518</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8</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4"/>
                  </a:ext>
                </a:extLst>
              </a:tr>
            </a:tbl>
          </a:graphicData>
        </a:graphic>
      </p:graphicFrame>
      <p:sp>
        <p:nvSpPr>
          <p:cNvPr id="18" name="Google Shape;387;p40"/>
          <p:cNvSpPr/>
          <p:nvPr/>
        </p:nvSpPr>
        <p:spPr>
          <a:xfrm>
            <a:off x="5929312" y="4688886"/>
            <a:ext cx="333375" cy="231922"/>
          </a:xfrm>
          <a:custGeom>
            <a:avLst/>
            <a:gdLst/>
            <a:ahLst/>
            <a:cxnLst/>
            <a:rect l="l" t="t" r="r" b="b"/>
            <a:pathLst>
              <a:path w="622300" h="382270" extrusionOk="0">
                <a:moveTo>
                  <a:pt x="357634" y="0"/>
                </a:moveTo>
                <a:lnTo>
                  <a:pt x="357634" y="133825"/>
                </a:lnTo>
                <a:lnTo>
                  <a:pt x="0" y="133825"/>
                </a:lnTo>
                <a:lnTo>
                  <a:pt x="0" y="247816"/>
                </a:lnTo>
                <a:lnTo>
                  <a:pt x="357634" y="247816"/>
                </a:lnTo>
                <a:lnTo>
                  <a:pt x="357634" y="381642"/>
                </a:lnTo>
                <a:lnTo>
                  <a:pt x="622084" y="190821"/>
                </a:lnTo>
                <a:lnTo>
                  <a:pt x="357634"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4" name="Rounded Rectangular Callout 2"/>
          <p:cNvSpPr/>
          <p:nvPr/>
        </p:nvSpPr>
        <p:spPr>
          <a:xfrm rot="10800000" flipH="1">
            <a:off x="6865339" y="1382747"/>
            <a:ext cx="2878268" cy="2239347"/>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 name="connsiteX0" fmla="*/ 0 w 2928396"/>
              <a:gd name="connsiteY0" fmla="*/ 1439077 h 2866590"/>
              <a:gd name="connsiteX1" fmla="*/ 285509 w 2928396"/>
              <a:gd name="connsiteY1" fmla="*/ 1153568 h 2866590"/>
              <a:gd name="connsiteX2" fmla="*/ 904754 w 2928396"/>
              <a:gd name="connsiteY2" fmla="*/ 1176718 h 2866590"/>
              <a:gd name="connsiteX3" fmla="*/ 493059 w 2928396"/>
              <a:gd name="connsiteY3" fmla="*/ 0 h 2866590"/>
              <a:gd name="connsiteX4" fmla="*/ 1220165 w 2928396"/>
              <a:gd name="connsiteY4" fmla="*/ 1153568 h 2866590"/>
              <a:gd name="connsiteX5" fmla="*/ 2642887 w 2928396"/>
              <a:gd name="connsiteY5" fmla="*/ 1153568 h 2866590"/>
              <a:gd name="connsiteX6" fmla="*/ 2928396 w 2928396"/>
              <a:gd name="connsiteY6" fmla="*/ 1439077 h 2866590"/>
              <a:gd name="connsiteX7" fmla="*/ 2928396 w 2928396"/>
              <a:gd name="connsiteY7" fmla="*/ 1439072 h 2866590"/>
              <a:gd name="connsiteX8" fmla="*/ 2928396 w 2928396"/>
              <a:gd name="connsiteY8" fmla="*/ 1439072 h 2866590"/>
              <a:gd name="connsiteX9" fmla="*/ 2928396 w 2928396"/>
              <a:gd name="connsiteY9" fmla="*/ 1867327 h 2866590"/>
              <a:gd name="connsiteX10" fmla="*/ 2928396 w 2928396"/>
              <a:gd name="connsiteY10" fmla="*/ 2581081 h 2866590"/>
              <a:gd name="connsiteX11" fmla="*/ 2642887 w 2928396"/>
              <a:gd name="connsiteY11" fmla="*/ 2866590 h 2866590"/>
              <a:gd name="connsiteX12" fmla="*/ 1220165 w 2928396"/>
              <a:gd name="connsiteY12" fmla="*/ 2866590 h 2866590"/>
              <a:gd name="connsiteX13" fmla="*/ 488066 w 2928396"/>
              <a:gd name="connsiteY13" fmla="*/ 2866590 h 2866590"/>
              <a:gd name="connsiteX14" fmla="*/ 488066 w 2928396"/>
              <a:gd name="connsiteY14" fmla="*/ 2866590 h 2866590"/>
              <a:gd name="connsiteX15" fmla="*/ 285509 w 2928396"/>
              <a:gd name="connsiteY15" fmla="*/ 2866590 h 2866590"/>
              <a:gd name="connsiteX16" fmla="*/ 0 w 2928396"/>
              <a:gd name="connsiteY16" fmla="*/ 2581081 h 2866590"/>
              <a:gd name="connsiteX17" fmla="*/ 0 w 2928396"/>
              <a:gd name="connsiteY17" fmla="*/ 1867327 h 2866590"/>
              <a:gd name="connsiteX18" fmla="*/ 0 w 2928396"/>
              <a:gd name="connsiteY18" fmla="*/ 1439072 h 2866590"/>
              <a:gd name="connsiteX19" fmla="*/ 0 w 2928396"/>
              <a:gd name="connsiteY19" fmla="*/ 1439072 h 2866590"/>
              <a:gd name="connsiteX20" fmla="*/ 0 w 2928396"/>
              <a:gd name="connsiteY20" fmla="*/ 1439077 h 2866590"/>
              <a:gd name="connsiteX0" fmla="*/ 0 w 2928396"/>
              <a:gd name="connsiteY0" fmla="*/ 1770737 h 3198250"/>
              <a:gd name="connsiteX1" fmla="*/ 285509 w 2928396"/>
              <a:gd name="connsiteY1" fmla="*/ 1485228 h 3198250"/>
              <a:gd name="connsiteX2" fmla="*/ 904754 w 2928396"/>
              <a:gd name="connsiteY2" fmla="*/ 1508378 h 3198250"/>
              <a:gd name="connsiteX3" fmla="*/ 521125 w 2928396"/>
              <a:gd name="connsiteY3" fmla="*/ 0 h 3198250"/>
              <a:gd name="connsiteX4" fmla="*/ 1220165 w 2928396"/>
              <a:gd name="connsiteY4" fmla="*/ 1485228 h 3198250"/>
              <a:gd name="connsiteX5" fmla="*/ 2642887 w 2928396"/>
              <a:gd name="connsiteY5" fmla="*/ 1485228 h 3198250"/>
              <a:gd name="connsiteX6" fmla="*/ 2928396 w 2928396"/>
              <a:gd name="connsiteY6" fmla="*/ 1770737 h 3198250"/>
              <a:gd name="connsiteX7" fmla="*/ 2928396 w 2928396"/>
              <a:gd name="connsiteY7" fmla="*/ 1770732 h 3198250"/>
              <a:gd name="connsiteX8" fmla="*/ 2928396 w 2928396"/>
              <a:gd name="connsiteY8" fmla="*/ 1770732 h 3198250"/>
              <a:gd name="connsiteX9" fmla="*/ 2928396 w 2928396"/>
              <a:gd name="connsiteY9" fmla="*/ 2198987 h 3198250"/>
              <a:gd name="connsiteX10" fmla="*/ 2928396 w 2928396"/>
              <a:gd name="connsiteY10" fmla="*/ 2912741 h 3198250"/>
              <a:gd name="connsiteX11" fmla="*/ 2642887 w 2928396"/>
              <a:gd name="connsiteY11" fmla="*/ 3198250 h 3198250"/>
              <a:gd name="connsiteX12" fmla="*/ 1220165 w 2928396"/>
              <a:gd name="connsiteY12" fmla="*/ 3198250 h 3198250"/>
              <a:gd name="connsiteX13" fmla="*/ 488066 w 2928396"/>
              <a:gd name="connsiteY13" fmla="*/ 3198250 h 3198250"/>
              <a:gd name="connsiteX14" fmla="*/ 488066 w 2928396"/>
              <a:gd name="connsiteY14" fmla="*/ 3198250 h 3198250"/>
              <a:gd name="connsiteX15" fmla="*/ 285509 w 2928396"/>
              <a:gd name="connsiteY15" fmla="*/ 3198250 h 3198250"/>
              <a:gd name="connsiteX16" fmla="*/ 0 w 2928396"/>
              <a:gd name="connsiteY16" fmla="*/ 2912741 h 3198250"/>
              <a:gd name="connsiteX17" fmla="*/ 0 w 2928396"/>
              <a:gd name="connsiteY17" fmla="*/ 2198987 h 3198250"/>
              <a:gd name="connsiteX18" fmla="*/ 0 w 2928396"/>
              <a:gd name="connsiteY18" fmla="*/ 1770732 h 3198250"/>
              <a:gd name="connsiteX19" fmla="*/ 0 w 2928396"/>
              <a:gd name="connsiteY19" fmla="*/ 1770732 h 3198250"/>
              <a:gd name="connsiteX20" fmla="*/ 0 w 2928396"/>
              <a:gd name="connsiteY20" fmla="*/ 1770737 h 3198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3198250">
                <a:moveTo>
                  <a:pt x="0" y="1770737"/>
                </a:moveTo>
                <a:cubicBezTo>
                  <a:pt x="0" y="1613055"/>
                  <a:pt x="127827" y="1485228"/>
                  <a:pt x="285509" y="1485228"/>
                </a:cubicBezTo>
                <a:lnTo>
                  <a:pt x="904754" y="1508378"/>
                </a:lnTo>
                <a:lnTo>
                  <a:pt x="521125" y="0"/>
                </a:lnTo>
                <a:lnTo>
                  <a:pt x="1220165" y="1485228"/>
                </a:lnTo>
                <a:lnTo>
                  <a:pt x="2642887" y="1485228"/>
                </a:lnTo>
                <a:cubicBezTo>
                  <a:pt x="2800569" y="1485228"/>
                  <a:pt x="2928396" y="1613055"/>
                  <a:pt x="2928396" y="1770737"/>
                </a:cubicBezTo>
                <a:lnTo>
                  <a:pt x="2928396" y="1770732"/>
                </a:lnTo>
                <a:lnTo>
                  <a:pt x="2928396" y="1770732"/>
                </a:lnTo>
                <a:lnTo>
                  <a:pt x="2928396" y="2198987"/>
                </a:lnTo>
                <a:lnTo>
                  <a:pt x="2928396" y="2912741"/>
                </a:lnTo>
                <a:cubicBezTo>
                  <a:pt x="2928396" y="3070423"/>
                  <a:pt x="2800569" y="3198250"/>
                  <a:pt x="2642887" y="3198250"/>
                </a:cubicBezTo>
                <a:lnTo>
                  <a:pt x="1220165" y="3198250"/>
                </a:lnTo>
                <a:lnTo>
                  <a:pt x="488066" y="3198250"/>
                </a:lnTo>
                <a:lnTo>
                  <a:pt x="488066" y="3198250"/>
                </a:lnTo>
                <a:lnTo>
                  <a:pt x="285509" y="3198250"/>
                </a:lnTo>
                <a:cubicBezTo>
                  <a:pt x="127827" y="3198250"/>
                  <a:pt x="0" y="3070423"/>
                  <a:pt x="0" y="2912741"/>
                </a:cubicBezTo>
                <a:lnTo>
                  <a:pt x="0" y="2198987"/>
                </a:lnTo>
                <a:lnTo>
                  <a:pt x="0" y="1770732"/>
                </a:lnTo>
                <a:lnTo>
                  <a:pt x="0" y="1770732"/>
                </a:lnTo>
                <a:lnTo>
                  <a:pt x="0" y="1770737"/>
                </a:lnTo>
                <a:close/>
              </a:path>
            </a:pathLst>
          </a:custGeom>
          <a:solidFill>
            <a:schemeClr val="tx1">
              <a:lumMod val="65000"/>
              <a:lumOff val="3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Google Shape;324;p34"/>
          <p:cNvSpPr txBox="1"/>
          <p:nvPr/>
        </p:nvSpPr>
        <p:spPr>
          <a:xfrm>
            <a:off x="6962102" y="1593054"/>
            <a:ext cx="2655167" cy="735811"/>
          </a:xfrm>
          <a:prstGeom prst="rect">
            <a:avLst/>
          </a:prstGeom>
          <a:noFill/>
          <a:ln>
            <a:noFill/>
          </a:ln>
        </p:spPr>
        <p:txBody>
          <a:bodyPr spcFirstLastPara="1" wrap="square" lIns="0" tIns="8504" rIns="0" bIns="0" anchor="t" anchorCtr="0">
            <a:noAutofit/>
          </a:bodyPr>
          <a:lstStyle/>
          <a:p>
            <a:pPr marL="8164" algn="ctr">
              <a:lnSpc>
                <a:spcPct val="116753"/>
              </a:lnSpc>
            </a:pPr>
            <a:r>
              <a:rPr lang="en-US" sz="2062" dirty="0">
                <a:solidFill>
                  <a:schemeClr val="bg1"/>
                </a:solidFill>
                <a:latin typeface="Calibri"/>
                <a:ea typeface="Calibri"/>
                <a:cs typeface="Calibri"/>
                <a:sym typeface="Calibri"/>
              </a:rPr>
              <a:t>function that returns number </a:t>
            </a:r>
            <a:r>
              <a:rPr lang="en-US" sz="2062">
                <a:solidFill>
                  <a:schemeClr val="bg1"/>
                </a:solidFill>
                <a:latin typeface="Calibri"/>
                <a:ea typeface="Calibri"/>
                <a:cs typeface="Calibri"/>
                <a:sym typeface="Calibri"/>
              </a:rPr>
              <a:t>of observations</a:t>
            </a:r>
            <a:endParaRPr sz="2062" dirty="0">
              <a:solidFill>
                <a:schemeClr val="bg1"/>
              </a:solidFill>
              <a:latin typeface="Calibri"/>
              <a:ea typeface="Calibri"/>
              <a:cs typeface="Calibri"/>
              <a:sym typeface="Calibri"/>
            </a:endParaRPr>
          </a:p>
        </p:txBody>
      </p:sp>
      <p:sp>
        <p:nvSpPr>
          <p:cNvPr id="26" name="TextBox 25"/>
          <p:cNvSpPr txBox="1"/>
          <p:nvPr/>
        </p:nvSpPr>
        <p:spPr>
          <a:xfrm>
            <a:off x="815160" y="763285"/>
            <a:ext cx="2875531" cy="923330"/>
          </a:xfrm>
          <a:prstGeom prst="rect">
            <a:avLst/>
          </a:prstGeom>
          <a:noFill/>
        </p:spPr>
        <p:txBody>
          <a:bodyPr wrap="none" rtlCol="0">
            <a:spAutoFit/>
          </a:bodyPr>
          <a:lstStyle/>
          <a:p>
            <a:r>
              <a:rPr lang="en-US" sz="5400" dirty="0">
                <a:latin typeface="+mj-lt"/>
                <a:sym typeface="Calibri"/>
              </a:rPr>
              <a:t>summarize</a:t>
            </a:r>
            <a:r>
              <a:rPr lang="en-US" sz="5400" dirty="0">
                <a:latin typeface="Calibri"/>
                <a:sym typeface="Calibri"/>
              </a:rPr>
              <a:t>()</a:t>
            </a:r>
            <a:endParaRPr lang="en-US" dirty="0"/>
          </a:p>
        </p:txBody>
      </p:sp>
      <p:graphicFrame>
        <p:nvGraphicFramePr>
          <p:cNvPr id="27" name="Table 26"/>
          <p:cNvGraphicFramePr>
            <a:graphicFrameLocks noGrp="1"/>
          </p:cNvGraphicFramePr>
          <p:nvPr/>
        </p:nvGraphicFramePr>
        <p:xfrm>
          <a:off x="6655443" y="4358675"/>
          <a:ext cx="2051392" cy="892344"/>
        </p:xfrm>
        <a:graphic>
          <a:graphicData uri="http://schemas.openxmlformats.org/drawingml/2006/table">
            <a:tbl>
              <a:tblPr firstRow="1" bandRow="1"/>
              <a:tblGrid>
                <a:gridCol w="2051392">
                  <a:extLst>
                    <a:ext uri="{9D8B030D-6E8A-4147-A177-3AD203B41FA5}">
                      <a16:colId xmlns:a16="http://schemas.microsoft.com/office/drawing/2014/main" val="20000"/>
                    </a:ext>
                  </a:extLst>
                </a:gridCol>
              </a:tblGrid>
              <a:tr h="373817">
                <a:tc>
                  <a:txBody>
                    <a:bodyPr/>
                    <a:lstStyle/>
                    <a:p>
                      <a:pPr marL="0" lvl="0" indent="0" algn="ctr" rtl="0">
                        <a:spcBef>
                          <a:spcPts val="0"/>
                        </a:spcBef>
                        <a:spcAft>
                          <a:spcPts val="0"/>
                        </a:spcAft>
                        <a:buNone/>
                      </a:pPr>
                      <a:r>
                        <a:rPr lang="en-US" sz="2400" b="1" dirty="0" err="1">
                          <a:solidFill>
                            <a:schemeClr val="lt1"/>
                          </a:solidFill>
                        </a:rPr>
                        <a:t>order_count</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bl>
          </a:graphicData>
        </a:graphic>
      </p:graphicFrame>
      <p:sp>
        <p:nvSpPr>
          <p:cNvPr id="14" name="Rectangle 13"/>
          <p:cNvSpPr/>
          <p:nvPr/>
        </p:nvSpPr>
        <p:spPr>
          <a:xfrm>
            <a:off x="1760075" y="2410049"/>
            <a:ext cx="9392596" cy="1692771"/>
          </a:xfrm>
          <a:prstGeom prst="rect">
            <a:avLst/>
          </a:prstGeom>
        </p:spPr>
        <p:txBody>
          <a:bodyPr wrap="square">
            <a:spAutoFit/>
          </a:bodyPr>
          <a:lstStyle/>
          <a:p>
            <a:r>
              <a:rPr lang="en-US" sz="2400" dirty="0" err="1">
                <a:latin typeface="Consolas" panose="020B0609020204030204" pitchFamily="49" charset="0"/>
                <a:ea typeface="Courier New"/>
                <a:cs typeface="Consolas" panose="020B0609020204030204" pitchFamily="49" charset="0"/>
                <a:sym typeface="Courier New"/>
              </a:rPr>
              <a:t>covid_testing</a:t>
            </a:r>
            <a:r>
              <a:rPr lang="en-US" sz="2400" dirty="0">
                <a:latin typeface="Consolas" panose="020B0609020204030204" pitchFamily="49" charset="0"/>
                <a:ea typeface="Courier New"/>
                <a:cs typeface="Consolas" panose="020B0609020204030204" pitchFamily="49" charset="0"/>
                <a:sym typeface="Courier New"/>
              </a:rPr>
              <a:t> %&gt;%</a:t>
            </a:r>
          </a:p>
          <a:p>
            <a:r>
              <a:rPr lang="en-US" sz="2400" dirty="0">
                <a:solidFill>
                  <a:schemeClr val="bg1">
                    <a:lumMod val="65000"/>
                  </a:schemeClr>
                </a:solidFill>
                <a:latin typeface="Consolas" panose="020B0609020204030204" pitchFamily="49" charset="0"/>
                <a:ea typeface="Courier New"/>
                <a:cs typeface="Consolas" panose="020B0609020204030204" pitchFamily="49" charset="0"/>
                <a:sym typeface="Courier New"/>
              </a:rPr>
              <a:t>	</a:t>
            </a:r>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select(</a:t>
            </a:r>
            <a:r>
              <a:rPr lang="en-US" sz="2400" dirty="0" err="1">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mrn</a:t>
            </a:r>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 </a:t>
            </a:r>
            <a:r>
              <a:rPr lang="en-US" sz="2400" dirty="0" err="1">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pan_day</a:t>
            </a:r>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 %&gt;% </a:t>
            </a:r>
            <a:r>
              <a:rPr lang="en-US" sz="2400" dirty="0">
                <a:solidFill>
                  <a:schemeClr val="bg1">
                    <a:lumMod val="65000"/>
                  </a:schemeClr>
                </a:solidFill>
                <a:latin typeface="Consolas" panose="020B0609020204030204" pitchFamily="49" charset="0"/>
                <a:ea typeface="Courier New"/>
                <a:cs typeface="Consolas" panose="020B0609020204030204" pitchFamily="49" charset="0"/>
                <a:sym typeface="Courier New"/>
              </a:rPr>
              <a:t>	</a:t>
            </a:r>
          </a:p>
          <a:p>
            <a:r>
              <a:rPr lang="en-US" sz="2400" dirty="0">
                <a:solidFill>
                  <a:schemeClr val="bg1">
                    <a:lumMod val="65000"/>
                  </a:schemeClr>
                </a:solidFill>
                <a:latin typeface="Consolas" panose="020B0609020204030204" pitchFamily="49" charset="0"/>
                <a:ea typeface="Courier New"/>
                <a:cs typeface="Consolas" panose="020B0609020204030204" pitchFamily="49" charset="0"/>
                <a:sym typeface="Courier New"/>
              </a:rPr>
              <a:t>	</a:t>
            </a:r>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head(4) %&gt;%</a:t>
            </a:r>
          </a:p>
          <a:p>
            <a:r>
              <a:rPr lang="en-US" sz="2400" dirty="0">
                <a:latin typeface="Consolas" panose="020B0609020204030204" pitchFamily="49" charset="0"/>
                <a:ea typeface="Courier New"/>
                <a:cs typeface="Consolas" panose="020B0609020204030204" pitchFamily="49" charset="0"/>
                <a:sym typeface="Courier New"/>
              </a:rPr>
              <a:t>	summarize(</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order_count</a:t>
            </a:r>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b="1" dirty="0">
                <a:latin typeface="Consolas" panose="020B0609020204030204" pitchFamily="49" charset="0"/>
                <a:ea typeface="Courier New"/>
                <a:cs typeface="Consolas" panose="020B0609020204030204" pitchFamily="49" charset="0"/>
                <a:sym typeface="Courier New"/>
              </a:rPr>
              <a:t>=</a:t>
            </a:r>
            <a:r>
              <a:rPr lang="en-US" sz="2400" dirty="0">
                <a:latin typeface="Consolas" panose="020B0609020204030204" pitchFamily="49" charset="0"/>
                <a:ea typeface="Courier New"/>
                <a:cs typeface="Consolas" panose="020B0609020204030204" pitchFamily="49" charset="0"/>
                <a:sym typeface="Courier New"/>
              </a:rPr>
              <a:t> </a:t>
            </a:r>
            <a:r>
              <a:rPr lang="en-US" sz="2400" dirty="0">
                <a:solidFill>
                  <a:srgbClr val="8DB4E2"/>
                </a:solidFill>
                <a:latin typeface="Consolas" panose="020B0609020204030204" pitchFamily="49" charset="0"/>
                <a:ea typeface="Courier New"/>
                <a:cs typeface="Consolas" panose="020B0609020204030204" pitchFamily="49" charset="0"/>
                <a:sym typeface="Courier New"/>
              </a:rPr>
              <a:t>n()</a:t>
            </a:r>
            <a:r>
              <a:rPr lang="en-US" sz="2400" dirty="0">
                <a:latin typeface="Consolas" panose="020B0609020204030204" pitchFamily="49" charset="0"/>
                <a:ea typeface="Courier New"/>
                <a:cs typeface="Consolas" panose="020B0609020204030204" pitchFamily="49" charset="0"/>
                <a:sym typeface="Courier New"/>
              </a:rPr>
              <a:t>)</a:t>
            </a:r>
            <a:endParaRPr lang="en-US" sz="1400" dirty="0"/>
          </a:p>
        </p:txBody>
      </p:sp>
    </p:spTree>
    <p:extLst>
      <p:ext uri="{BB962C8B-B14F-4D97-AF65-F5344CB8AC3E}">
        <p14:creationId xmlns:p14="http://schemas.microsoft.com/office/powerpoint/2010/main" val="2427163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5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500"/>
                                        <p:tgtEl>
                                          <p:spTgt spid="25"/>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24" grpId="0" animBg="1"/>
      <p:bldP spid="25" grpId="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6" name="Google Shape;296;p32"/>
          <p:cNvSpPr txBox="1"/>
          <p:nvPr/>
        </p:nvSpPr>
        <p:spPr>
          <a:xfrm>
            <a:off x="1072055" y="1745910"/>
            <a:ext cx="6159054" cy="1167589"/>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2800" dirty="0">
                <a:latin typeface="Calibri"/>
                <a:ea typeface="Calibri"/>
                <a:cs typeface="Calibri"/>
                <a:sym typeface="Calibri"/>
              </a:rPr>
              <a:t>Additional summaries = new columns</a:t>
            </a: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8" name="Google Shape;387;p40"/>
          <p:cNvSpPr/>
          <p:nvPr/>
        </p:nvSpPr>
        <p:spPr>
          <a:xfrm>
            <a:off x="5619559" y="4854523"/>
            <a:ext cx="322654" cy="224464"/>
          </a:xfrm>
          <a:custGeom>
            <a:avLst/>
            <a:gdLst/>
            <a:ahLst/>
            <a:cxnLst/>
            <a:rect l="l" t="t" r="r" b="b"/>
            <a:pathLst>
              <a:path w="622300" h="382270" extrusionOk="0">
                <a:moveTo>
                  <a:pt x="357634" y="0"/>
                </a:moveTo>
                <a:lnTo>
                  <a:pt x="357634" y="133825"/>
                </a:lnTo>
                <a:lnTo>
                  <a:pt x="0" y="133825"/>
                </a:lnTo>
                <a:lnTo>
                  <a:pt x="0" y="247816"/>
                </a:lnTo>
                <a:lnTo>
                  <a:pt x="357634" y="247816"/>
                </a:lnTo>
                <a:lnTo>
                  <a:pt x="357634" y="381642"/>
                </a:lnTo>
                <a:lnTo>
                  <a:pt x="622084" y="190821"/>
                </a:lnTo>
                <a:lnTo>
                  <a:pt x="357634"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6" name="TextBox 25"/>
          <p:cNvSpPr txBox="1"/>
          <p:nvPr/>
        </p:nvSpPr>
        <p:spPr>
          <a:xfrm>
            <a:off x="879065" y="766937"/>
            <a:ext cx="2875531" cy="923330"/>
          </a:xfrm>
          <a:prstGeom prst="rect">
            <a:avLst/>
          </a:prstGeom>
          <a:noFill/>
        </p:spPr>
        <p:txBody>
          <a:bodyPr wrap="none" rtlCol="0">
            <a:spAutoFit/>
          </a:bodyPr>
          <a:lstStyle/>
          <a:p>
            <a:r>
              <a:rPr lang="en-US" sz="5400" dirty="0">
                <a:latin typeface="+mj-lt"/>
                <a:sym typeface="Calibri"/>
              </a:rPr>
              <a:t>summarize</a:t>
            </a:r>
            <a:r>
              <a:rPr lang="en-US" sz="5400" dirty="0">
                <a:latin typeface="Calibri"/>
                <a:sym typeface="Calibri"/>
              </a:rPr>
              <a:t>()</a:t>
            </a:r>
            <a:endParaRPr lang="en-US" dirty="0"/>
          </a:p>
        </p:txBody>
      </p:sp>
      <p:graphicFrame>
        <p:nvGraphicFramePr>
          <p:cNvPr id="27" name="Table 26"/>
          <p:cNvGraphicFramePr>
            <a:graphicFrameLocks noGrp="1"/>
          </p:cNvGraphicFramePr>
          <p:nvPr/>
        </p:nvGraphicFramePr>
        <p:xfrm>
          <a:off x="6319213" y="4601326"/>
          <a:ext cx="1985421" cy="863647"/>
        </p:xfrm>
        <a:graphic>
          <a:graphicData uri="http://schemas.openxmlformats.org/drawingml/2006/table">
            <a:tbl>
              <a:tblPr firstRow="1" bandRow="1"/>
              <a:tblGrid>
                <a:gridCol w="1985421">
                  <a:extLst>
                    <a:ext uri="{9D8B030D-6E8A-4147-A177-3AD203B41FA5}">
                      <a16:colId xmlns:a16="http://schemas.microsoft.com/office/drawing/2014/main" val="20000"/>
                    </a:ext>
                  </a:extLst>
                </a:gridCol>
              </a:tblGrid>
              <a:tr h="461323">
                <a:tc>
                  <a:txBody>
                    <a:bodyPr/>
                    <a:lstStyle/>
                    <a:p>
                      <a:pPr marL="0" lvl="0" indent="0" algn="ctr" rtl="0">
                        <a:spcBef>
                          <a:spcPts val="0"/>
                        </a:spcBef>
                        <a:spcAft>
                          <a:spcPts val="0"/>
                        </a:spcAft>
                        <a:buNone/>
                      </a:pPr>
                      <a:r>
                        <a:rPr lang="en-US" sz="2300" b="1" dirty="0" err="1">
                          <a:solidFill>
                            <a:schemeClr val="lt1"/>
                          </a:solidFill>
                        </a:rPr>
                        <a:t>order_count</a:t>
                      </a:r>
                      <a:endParaRPr sz="2300" b="1" dirty="0">
                        <a:solidFill>
                          <a:schemeClr val="lt1"/>
                        </a:solidFil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402324">
                <a:tc>
                  <a:txBody>
                    <a:bodyPr/>
                    <a:lstStyle/>
                    <a:p>
                      <a:pPr marL="0" lvl="0" indent="0" algn="ctr" rtl="0">
                        <a:spcBef>
                          <a:spcPts val="0"/>
                        </a:spcBef>
                        <a:spcAft>
                          <a:spcPts val="0"/>
                        </a:spcAft>
                        <a:buNone/>
                      </a:pPr>
                      <a:r>
                        <a:rPr lang="en-US" sz="1900" b="0" i="0" u="none" strike="noStrike" cap="none" dirty="0">
                          <a:solidFill>
                            <a:srgbClr val="000000"/>
                          </a:solidFill>
                          <a:latin typeface="Arial"/>
                          <a:ea typeface="Arial"/>
                          <a:cs typeface="Arial"/>
                          <a:sym typeface="Arial"/>
                        </a:rPr>
                        <a:t>4</a:t>
                      </a:r>
                      <a:endParaRPr sz="1900" b="0" i="0" u="none" strike="noStrike" cap="none" dirty="0">
                        <a:solidFill>
                          <a:srgbClr val="000000"/>
                        </a:solidFill>
                        <a:latin typeface="Arial"/>
                        <a:ea typeface="Arial"/>
                        <a:cs typeface="Arial"/>
                        <a:sym typeface="Aria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bl>
          </a:graphicData>
        </a:graphic>
      </p:graphicFrame>
      <p:graphicFrame>
        <p:nvGraphicFramePr>
          <p:cNvPr id="12" name="Table 11"/>
          <p:cNvGraphicFramePr>
            <a:graphicFrameLocks noGrp="1"/>
          </p:cNvGraphicFramePr>
          <p:nvPr/>
        </p:nvGraphicFramePr>
        <p:xfrm>
          <a:off x="8370605" y="4601326"/>
          <a:ext cx="1985421" cy="863647"/>
        </p:xfrm>
        <a:graphic>
          <a:graphicData uri="http://schemas.openxmlformats.org/drawingml/2006/table">
            <a:tbl>
              <a:tblPr firstRow="1" bandRow="1"/>
              <a:tblGrid>
                <a:gridCol w="1985421">
                  <a:extLst>
                    <a:ext uri="{9D8B030D-6E8A-4147-A177-3AD203B41FA5}">
                      <a16:colId xmlns:a16="http://schemas.microsoft.com/office/drawing/2014/main" val="20000"/>
                    </a:ext>
                  </a:extLst>
                </a:gridCol>
              </a:tblGrid>
              <a:tr h="461323">
                <a:tc>
                  <a:txBody>
                    <a:bodyPr/>
                    <a:lstStyle/>
                    <a:p>
                      <a:pPr marL="0" lvl="0" indent="0" algn="ctr" rtl="0">
                        <a:spcBef>
                          <a:spcPts val="0"/>
                        </a:spcBef>
                        <a:spcAft>
                          <a:spcPts val="0"/>
                        </a:spcAft>
                        <a:buNone/>
                      </a:pPr>
                      <a:r>
                        <a:rPr lang="en-US" sz="2300" b="1" dirty="0" err="1">
                          <a:solidFill>
                            <a:schemeClr val="lt1"/>
                          </a:solidFill>
                        </a:rPr>
                        <a:t>day_count</a:t>
                      </a:r>
                      <a:endParaRPr sz="2300" b="1" dirty="0">
                        <a:solidFill>
                          <a:schemeClr val="lt1"/>
                        </a:solidFil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402324">
                <a:tc>
                  <a:txBody>
                    <a:bodyPr/>
                    <a:lstStyle/>
                    <a:p>
                      <a:pPr marL="0" lvl="0" indent="0" algn="ctr" rtl="0">
                        <a:spcBef>
                          <a:spcPts val="0"/>
                        </a:spcBef>
                        <a:spcAft>
                          <a:spcPts val="0"/>
                        </a:spcAft>
                        <a:buNone/>
                      </a:pPr>
                      <a:r>
                        <a:rPr lang="en-US" sz="1900" b="0" i="0" u="none" strike="noStrike" cap="none" dirty="0">
                          <a:solidFill>
                            <a:srgbClr val="000000"/>
                          </a:solidFill>
                          <a:latin typeface="Arial"/>
                          <a:ea typeface="Arial"/>
                          <a:cs typeface="Arial"/>
                          <a:sym typeface="Arial"/>
                        </a:rPr>
                        <a:t>3</a:t>
                      </a:r>
                      <a:endParaRPr sz="1900" b="0" i="0" u="none" strike="noStrike" cap="none" dirty="0">
                        <a:solidFill>
                          <a:srgbClr val="000000"/>
                        </a:solidFill>
                        <a:latin typeface="Arial"/>
                        <a:ea typeface="Arial"/>
                        <a:cs typeface="Arial"/>
                        <a:sym typeface="Aria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bl>
          </a:graphicData>
        </a:graphic>
      </p:graphicFrame>
      <p:sp>
        <p:nvSpPr>
          <p:cNvPr id="19" name="Google Shape;131;p17"/>
          <p:cNvSpPr/>
          <p:nvPr/>
        </p:nvSpPr>
        <p:spPr>
          <a:xfrm>
            <a:off x="1072055" y="2196331"/>
            <a:ext cx="10762593" cy="2161934"/>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dirty="0"/>
          </a:p>
        </p:txBody>
      </p:sp>
      <p:sp>
        <p:nvSpPr>
          <p:cNvPr id="20" name="Rectangle 19"/>
          <p:cNvSpPr/>
          <p:nvPr/>
        </p:nvSpPr>
        <p:spPr>
          <a:xfrm>
            <a:off x="1622915" y="2173051"/>
            <a:ext cx="9392596" cy="2185214"/>
          </a:xfrm>
          <a:prstGeom prst="rect">
            <a:avLst/>
          </a:prstGeom>
        </p:spPr>
        <p:txBody>
          <a:bodyPr wrap="square">
            <a:spAutoFit/>
          </a:bodyPr>
          <a:lstStyle/>
          <a:p>
            <a:r>
              <a:rPr lang="en-US" sz="2400" dirty="0" err="1">
                <a:latin typeface="Consolas" panose="020B0609020204030204" pitchFamily="49" charset="0"/>
                <a:ea typeface="Courier New"/>
                <a:cs typeface="Consolas" panose="020B0609020204030204" pitchFamily="49" charset="0"/>
                <a:sym typeface="Courier New"/>
              </a:rPr>
              <a:t>covid_testing</a:t>
            </a:r>
            <a:r>
              <a:rPr lang="en-US" sz="2400" dirty="0">
                <a:latin typeface="Consolas" panose="020B0609020204030204" pitchFamily="49" charset="0"/>
                <a:ea typeface="Courier New"/>
                <a:cs typeface="Consolas" panose="020B0609020204030204" pitchFamily="49" charset="0"/>
                <a:sym typeface="Courier New"/>
              </a:rPr>
              <a:t> %&gt;%</a:t>
            </a:r>
          </a:p>
          <a:p>
            <a:r>
              <a:rPr lang="en-US" sz="2400" dirty="0">
                <a:solidFill>
                  <a:schemeClr val="bg1">
                    <a:lumMod val="65000"/>
                  </a:schemeClr>
                </a:solidFill>
                <a:latin typeface="Consolas" panose="020B0609020204030204" pitchFamily="49" charset="0"/>
                <a:ea typeface="Courier New"/>
                <a:cs typeface="Consolas" panose="020B0609020204030204" pitchFamily="49" charset="0"/>
                <a:sym typeface="Courier New"/>
              </a:rPr>
              <a:t>	</a:t>
            </a:r>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select(</a:t>
            </a:r>
            <a:r>
              <a:rPr lang="en-US" sz="2400" dirty="0" err="1">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mrn</a:t>
            </a:r>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 </a:t>
            </a:r>
            <a:r>
              <a:rPr lang="en-US" sz="2400" dirty="0" err="1">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pan_day</a:t>
            </a:r>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 %&gt;% 	</a:t>
            </a:r>
          </a:p>
          <a:p>
            <a:r>
              <a:rPr lang="en-US" sz="2400" dirty="0">
                <a:solidFill>
                  <a:schemeClr val="tx1">
                    <a:lumMod val="50000"/>
                    <a:lumOff val="50000"/>
                  </a:schemeClr>
                </a:solidFill>
                <a:latin typeface="Consolas" panose="020B0609020204030204" pitchFamily="49" charset="0"/>
                <a:ea typeface="Courier New"/>
                <a:cs typeface="Consolas" panose="020B0609020204030204" pitchFamily="49" charset="0"/>
                <a:sym typeface="Courier New"/>
              </a:rPr>
              <a:t>	head(4) %&gt;%</a:t>
            </a:r>
          </a:p>
          <a:p>
            <a:r>
              <a:rPr lang="en-US" sz="2400" dirty="0">
                <a:latin typeface="Consolas" panose="020B0609020204030204" pitchFamily="49" charset="0"/>
                <a:ea typeface="Courier New"/>
                <a:cs typeface="Consolas" panose="020B0609020204030204" pitchFamily="49" charset="0"/>
                <a:sym typeface="Courier New"/>
              </a:rPr>
              <a:t>	summarize(</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order_count</a:t>
            </a:r>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b="1" dirty="0">
                <a:latin typeface="Consolas" panose="020B0609020204030204" pitchFamily="49" charset="0"/>
                <a:ea typeface="Courier New"/>
                <a:cs typeface="Consolas" panose="020B0609020204030204" pitchFamily="49" charset="0"/>
                <a:sym typeface="Courier New"/>
              </a:rPr>
              <a:t>=</a:t>
            </a:r>
            <a:r>
              <a:rPr lang="en-US" sz="2400" dirty="0">
                <a:latin typeface="Consolas" panose="020B0609020204030204" pitchFamily="49" charset="0"/>
                <a:ea typeface="Courier New"/>
                <a:cs typeface="Consolas" panose="020B0609020204030204" pitchFamily="49" charset="0"/>
                <a:sym typeface="Courier New"/>
              </a:rPr>
              <a:t> </a:t>
            </a:r>
            <a:r>
              <a:rPr lang="en-US" sz="2400" dirty="0">
                <a:solidFill>
                  <a:srgbClr val="8DB4E2"/>
                </a:solidFill>
                <a:latin typeface="Consolas" panose="020B0609020204030204" pitchFamily="49" charset="0"/>
                <a:ea typeface="Courier New"/>
                <a:cs typeface="Consolas" panose="020B0609020204030204" pitchFamily="49" charset="0"/>
                <a:sym typeface="Courier New"/>
              </a:rPr>
              <a:t>n()</a:t>
            </a:r>
            <a:r>
              <a:rPr lang="en-US" sz="2400" dirty="0">
                <a:latin typeface="Consolas" panose="020B0609020204030204" pitchFamily="49" charset="0"/>
                <a:ea typeface="Courier New"/>
                <a:cs typeface="Consolas" panose="020B0609020204030204" pitchFamily="49" charset="0"/>
                <a:sym typeface="Courier New"/>
              </a:rPr>
              <a:t>,</a:t>
            </a:r>
            <a:endParaRPr lang="en-US" sz="1400" dirty="0"/>
          </a:p>
          <a:p>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day_count</a:t>
            </a:r>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b="1" dirty="0">
                <a:latin typeface="Consolas" panose="020B0609020204030204" pitchFamily="49" charset="0"/>
                <a:ea typeface="Courier New"/>
                <a:cs typeface="Consolas" panose="020B0609020204030204" pitchFamily="49" charset="0"/>
                <a:sym typeface="Courier New"/>
              </a:rPr>
              <a:t>=</a:t>
            </a:r>
            <a:r>
              <a:rPr lang="en-US" sz="2400" dirty="0">
                <a:solidFill>
                  <a:schemeClr val="accent2"/>
                </a:solidFill>
                <a:latin typeface="Consolas" panose="020B0609020204030204" pitchFamily="49" charset="0"/>
                <a:ea typeface="Courier New"/>
                <a:cs typeface="Consolas" panose="020B0609020204030204" pitchFamily="49" charset="0"/>
                <a:sym typeface="Courier New"/>
              </a:rPr>
              <a:t> </a:t>
            </a:r>
            <a:r>
              <a:rPr lang="en-US" sz="2400" dirty="0" err="1">
                <a:solidFill>
                  <a:srgbClr val="8DB4E2"/>
                </a:solidFill>
                <a:latin typeface="Consolas" panose="020B0609020204030204" pitchFamily="49" charset="0"/>
                <a:ea typeface="Courier New"/>
                <a:cs typeface="Consolas" panose="020B0609020204030204" pitchFamily="49" charset="0"/>
                <a:sym typeface="Courier New"/>
              </a:rPr>
              <a:t>n_distinct</a:t>
            </a:r>
            <a:r>
              <a:rPr lang="en-US" sz="2400" dirty="0">
                <a:solidFill>
                  <a:srgbClr val="8DB4E2"/>
                </a:solidFill>
                <a:latin typeface="Consolas" panose="020B0609020204030204" pitchFamily="49" charset="0"/>
                <a:ea typeface="Courier New"/>
                <a:cs typeface="Consolas" panose="020B0609020204030204" pitchFamily="49" charset="0"/>
                <a:sym typeface="Courier New"/>
              </a:rPr>
              <a:t>(</a:t>
            </a:r>
            <a:r>
              <a:rPr lang="en-US" sz="2400" dirty="0" err="1">
                <a:solidFill>
                  <a:srgbClr val="8DB4E2"/>
                </a:solidFill>
                <a:latin typeface="Consolas" panose="020B0609020204030204" pitchFamily="49" charset="0"/>
                <a:ea typeface="Courier New"/>
                <a:cs typeface="Consolas" panose="020B0609020204030204" pitchFamily="49" charset="0"/>
                <a:sym typeface="Courier New"/>
              </a:rPr>
              <a:t>pan_day</a:t>
            </a:r>
            <a:r>
              <a:rPr lang="en-US" sz="2400" dirty="0">
                <a:solidFill>
                  <a:srgbClr val="8DB4E2"/>
                </a:solidFill>
                <a:latin typeface="Consolas" panose="020B0609020204030204" pitchFamily="49" charset="0"/>
                <a:ea typeface="Courier New"/>
                <a:cs typeface="Consolas" panose="020B0609020204030204" pitchFamily="49" charset="0"/>
                <a:sym typeface="Courier New"/>
              </a:rPr>
              <a:t>)</a:t>
            </a:r>
            <a:r>
              <a:rPr lang="en-US" sz="2400" dirty="0">
                <a:latin typeface="Consolas" panose="020B0609020204030204" pitchFamily="49" charset="0"/>
                <a:ea typeface="Courier New"/>
                <a:cs typeface="Consolas" panose="020B0609020204030204" pitchFamily="49" charset="0"/>
                <a:sym typeface="Courier New"/>
              </a:rPr>
              <a:t>)</a:t>
            </a:r>
            <a:endParaRPr lang="en-US" sz="1400" dirty="0"/>
          </a:p>
        </p:txBody>
      </p:sp>
      <p:sp>
        <p:nvSpPr>
          <p:cNvPr id="24" name="Rounded Rectangular Callout 2"/>
          <p:cNvSpPr/>
          <p:nvPr/>
        </p:nvSpPr>
        <p:spPr>
          <a:xfrm rot="10800000" flipH="1">
            <a:off x="7336211" y="925131"/>
            <a:ext cx="2894275" cy="3019345"/>
          </a:xfrm>
          <a:custGeom>
            <a:avLst/>
            <a:gdLst>
              <a:gd name="connsiteX0" fmla="*/ 0 w 2928396"/>
              <a:gd name="connsiteY0" fmla="*/ 285509 h 1713022"/>
              <a:gd name="connsiteX1" fmla="*/ 285509 w 2928396"/>
              <a:gd name="connsiteY1" fmla="*/ 0 h 1713022"/>
              <a:gd name="connsiteX2" fmla="*/ 488066 w 2928396"/>
              <a:gd name="connsiteY2" fmla="*/ 0 h 1713022"/>
              <a:gd name="connsiteX3" fmla="*/ 1050884 w 2928396"/>
              <a:gd name="connsiteY3" fmla="*/ -839192 h 1713022"/>
              <a:gd name="connsiteX4" fmla="*/ 1220165 w 2928396"/>
              <a:gd name="connsiteY4" fmla="*/ 0 h 1713022"/>
              <a:gd name="connsiteX5" fmla="*/ 2642887 w 2928396"/>
              <a:gd name="connsiteY5" fmla="*/ 0 h 1713022"/>
              <a:gd name="connsiteX6" fmla="*/ 2928396 w 2928396"/>
              <a:gd name="connsiteY6" fmla="*/ 285509 h 1713022"/>
              <a:gd name="connsiteX7" fmla="*/ 2928396 w 2928396"/>
              <a:gd name="connsiteY7" fmla="*/ 285504 h 1713022"/>
              <a:gd name="connsiteX8" fmla="*/ 2928396 w 2928396"/>
              <a:gd name="connsiteY8" fmla="*/ 285504 h 1713022"/>
              <a:gd name="connsiteX9" fmla="*/ 2928396 w 2928396"/>
              <a:gd name="connsiteY9" fmla="*/ 713759 h 1713022"/>
              <a:gd name="connsiteX10" fmla="*/ 2928396 w 2928396"/>
              <a:gd name="connsiteY10" fmla="*/ 1427513 h 1713022"/>
              <a:gd name="connsiteX11" fmla="*/ 2642887 w 2928396"/>
              <a:gd name="connsiteY11" fmla="*/ 1713022 h 1713022"/>
              <a:gd name="connsiteX12" fmla="*/ 1220165 w 2928396"/>
              <a:gd name="connsiteY12" fmla="*/ 1713022 h 1713022"/>
              <a:gd name="connsiteX13" fmla="*/ 488066 w 2928396"/>
              <a:gd name="connsiteY13" fmla="*/ 1713022 h 1713022"/>
              <a:gd name="connsiteX14" fmla="*/ 488066 w 2928396"/>
              <a:gd name="connsiteY14" fmla="*/ 1713022 h 1713022"/>
              <a:gd name="connsiteX15" fmla="*/ 285509 w 2928396"/>
              <a:gd name="connsiteY15" fmla="*/ 1713022 h 1713022"/>
              <a:gd name="connsiteX16" fmla="*/ 0 w 2928396"/>
              <a:gd name="connsiteY16" fmla="*/ 1427513 h 1713022"/>
              <a:gd name="connsiteX17" fmla="*/ 0 w 2928396"/>
              <a:gd name="connsiteY17" fmla="*/ 713759 h 1713022"/>
              <a:gd name="connsiteX18" fmla="*/ 0 w 2928396"/>
              <a:gd name="connsiteY18" fmla="*/ 285504 h 1713022"/>
              <a:gd name="connsiteX19" fmla="*/ 0 w 2928396"/>
              <a:gd name="connsiteY19" fmla="*/ 285504 h 1713022"/>
              <a:gd name="connsiteX20" fmla="*/ 0 w 2928396"/>
              <a:gd name="connsiteY20" fmla="*/ 285509 h 1713022"/>
              <a:gd name="connsiteX0" fmla="*/ 0 w 2928396"/>
              <a:gd name="connsiteY0" fmla="*/ 1124701 h 2552214"/>
              <a:gd name="connsiteX1" fmla="*/ 285509 w 2928396"/>
              <a:gd name="connsiteY1" fmla="*/ 839192 h 2552214"/>
              <a:gd name="connsiteX2" fmla="*/ 904754 w 2928396"/>
              <a:gd name="connsiteY2" fmla="*/ 862342 h 2552214"/>
              <a:gd name="connsiteX3" fmla="*/ 1050884 w 2928396"/>
              <a:gd name="connsiteY3" fmla="*/ 0 h 2552214"/>
              <a:gd name="connsiteX4" fmla="*/ 1220165 w 2928396"/>
              <a:gd name="connsiteY4" fmla="*/ 839192 h 2552214"/>
              <a:gd name="connsiteX5" fmla="*/ 2642887 w 2928396"/>
              <a:gd name="connsiteY5" fmla="*/ 839192 h 2552214"/>
              <a:gd name="connsiteX6" fmla="*/ 2928396 w 2928396"/>
              <a:gd name="connsiteY6" fmla="*/ 1124701 h 2552214"/>
              <a:gd name="connsiteX7" fmla="*/ 2928396 w 2928396"/>
              <a:gd name="connsiteY7" fmla="*/ 1124696 h 2552214"/>
              <a:gd name="connsiteX8" fmla="*/ 2928396 w 2928396"/>
              <a:gd name="connsiteY8" fmla="*/ 1124696 h 2552214"/>
              <a:gd name="connsiteX9" fmla="*/ 2928396 w 2928396"/>
              <a:gd name="connsiteY9" fmla="*/ 1552951 h 2552214"/>
              <a:gd name="connsiteX10" fmla="*/ 2928396 w 2928396"/>
              <a:gd name="connsiteY10" fmla="*/ 2266705 h 2552214"/>
              <a:gd name="connsiteX11" fmla="*/ 2642887 w 2928396"/>
              <a:gd name="connsiteY11" fmla="*/ 2552214 h 2552214"/>
              <a:gd name="connsiteX12" fmla="*/ 1220165 w 2928396"/>
              <a:gd name="connsiteY12" fmla="*/ 2552214 h 2552214"/>
              <a:gd name="connsiteX13" fmla="*/ 488066 w 2928396"/>
              <a:gd name="connsiteY13" fmla="*/ 2552214 h 2552214"/>
              <a:gd name="connsiteX14" fmla="*/ 488066 w 2928396"/>
              <a:gd name="connsiteY14" fmla="*/ 2552214 h 2552214"/>
              <a:gd name="connsiteX15" fmla="*/ 285509 w 2928396"/>
              <a:gd name="connsiteY15" fmla="*/ 2552214 h 2552214"/>
              <a:gd name="connsiteX16" fmla="*/ 0 w 2928396"/>
              <a:gd name="connsiteY16" fmla="*/ 2266705 h 2552214"/>
              <a:gd name="connsiteX17" fmla="*/ 0 w 2928396"/>
              <a:gd name="connsiteY17" fmla="*/ 1552951 h 2552214"/>
              <a:gd name="connsiteX18" fmla="*/ 0 w 2928396"/>
              <a:gd name="connsiteY18" fmla="*/ 1124696 h 2552214"/>
              <a:gd name="connsiteX19" fmla="*/ 0 w 2928396"/>
              <a:gd name="connsiteY19" fmla="*/ 1124696 h 2552214"/>
              <a:gd name="connsiteX20" fmla="*/ 0 w 2928396"/>
              <a:gd name="connsiteY20" fmla="*/ 1124701 h 2552214"/>
              <a:gd name="connsiteX0" fmla="*/ 0 w 2928396"/>
              <a:gd name="connsiteY0" fmla="*/ 1439077 h 2866590"/>
              <a:gd name="connsiteX1" fmla="*/ 285509 w 2928396"/>
              <a:gd name="connsiteY1" fmla="*/ 1153568 h 2866590"/>
              <a:gd name="connsiteX2" fmla="*/ 904754 w 2928396"/>
              <a:gd name="connsiteY2" fmla="*/ 1176718 h 2866590"/>
              <a:gd name="connsiteX3" fmla="*/ 493059 w 2928396"/>
              <a:gd name="connsiteY3" fmla="*/ 0 h 2866590"/>
              <a:gd name="connsiteX4" fmla="*/ 1220165 w 2928396"/>
              <a:gd name="connsiteY4" fmla="*/ 1153568 h 2866590"/>
              <a:gd name="connsiteX5" fmla="*/ 2642887 w 2928396"/>
              <a:gd name="connsiteY5" fmla="*/ 1153568 h 2866590"/>
              <a:gd name="connsiteX6" fmla="*/ 2928396 w 2928396"/>
              <a:gd name="connsiteY6" fmla="*/ 1439077 h 2866590"/>
              <a:gd name="connsiteX7" fmla="*/ 2928396 w 2928396"/>
              <a:gd name="connsiteY7" fmla="*/ 1439072 h 2866590"/>
              <a:gd name="connsiteX8" fmla="*/ 2928396 w 2928396"/>
              <a:gd name="connsiteY8" fmla="*/ 1439072 h 2866590"/>
              <a:gd name="connsiteX9" fmla="*/ 2928396 w 2928396"/>
              <a:gd name="connsiteY9" fmla="*/ 1867327 h 2866590"/>
              <a:gd name="connsiteX10" fmla="*/ 2928396 w 2928396"/>
              <a:gd name="connsiteY10" fmla="*/ 2581081 h 2866590"/>
              <a:gd name="connsiteX11" fmla="*/ 2642887 w 2928396"/>
              <a:gd name="connsiteY11" fmla="*/ 2866590 h 2866590"/>
              <a:gd name="connsiteX12" fmla="*/ 1220165 w 2928396"/>
              <a:gd name="connsiteY12" fmla="*/ 2866590 h 2866590"/>
              <a:gd name="connsiteX13" fmla="*/ 488066 w 2928396"/>
              <a:gd name="connsiteY13" fmla="*/ 2866590 h 2866590"/>
              <a:gd name="connsiteX14" fmla="*/ 488066 w 2928396"/>
              <a:gd name="connsiteY14" fmla="*/ 2866590 h 2866590"/>
              <a:gd name="connsiteX15" fmla="*/ 285509 w 2928396"/>
              <a:gd name="connsiteY15" fmla="*/ 2866590 h 2866590"/>
              <a:gd name="connsiteX16" fmla="*/ 0 w 2928396"/>
              <a:gd name="connsiteY16" fmla="*/ 2581081 h 2866590"/>
              <a:gd name="connsiteX17" fmla="*/ 0 w 2928396"/>
              <a:gd name="connsiteY17" fmla="*/ 1867327 h 2866590"/>
              <a:gd name="connsiteX18" fmla="*/ 0 w 2928396"/>
              <a:gd name="connsiteY18" fmla="*/ 1439072 h 2866590"/>
              <a:gd name="connsiteX19" fmla="*/ 0 w 2928396"/>
              <a:gd name="connsiteY19" fmla="*/ 1439072 h 2866590"/>
              <a:gd name="connsiteX20" fmla="*/ 0 w 2928396"/>
              <a:gd name="connsiteY20" fmla="*/ 1439077 h 2866590"/>
              <a:gd name="connsiteX0" fmla="*/ 0 w 2928396"/>
              <a:gd name="connsiteY0" fmla="*/ 1770737 h 3198250"/>
              <a:gd name="connsiteX1" fmla="*/ 285509 w 2928396"/>
              <a:gd name="connsiteY1" fmla="*/ 1485228 h 3198250"/>
              <a:gd name="connsiteX2" fmla="*/ 904754 w 2928396"/>
              <a:gd name="connsiteY2" fmla="*/ 1508378 h 3198250"/>
              <a:gd name="connsiteX3" fmla="*/ 521125 w 2928396"/>
              <a:gd name="connsiteY3" fmla="*/ 0 h 3198250"/>
              <a:gd name="connsiteX4" fmla="*/ 1220165 w 2928396"/>
              <a:gd name="connsiteY4" fmla="*/ 1485228 h 3198250"/>
              <a:gd name="connsiteX5" fmla="*/ 2642887 w 2928396"/>
              <a:gd name="connsiteY5" fmla="*/ 1485228 h 3198250"/>
              <a:gd name="connsiteX6" fmla="*/ 2928396 w 2928396"/>
              <a:gd name="connsiteY6" fmla="*/ 1770737 h 3198250"/>
              <a:gd name="connsiteX7" fmla="*/ 2928396 w 2928396"/>
              <a:gd name="connsiteY7" fmla="*/ 1770732 h 3198250"/>
              <a:gd name="connsiteX8" fmla="*/ 2928396 w 2928396"/>
              <a:gd name="connsiteY8" fmla="*/ 1770732 h 3198250"/>
              <a:gd name="connsiteX9" fmla="*/ 2928396 w 2928396"/>
              <a:gd name="connsiteY9" fmla="*/ 2198987 h 3198250"/>
              <a:gd name="connsiteX10" fmla="*/ 2928396 w 2928396"/>
              <a:gd name="connsiteY10" fmla="*/ 2912741 h 3198250"/>
              <a:gd name="connsiteX11" fmla="*/ 2642887 w 2928396"/>
              <a:gd name="connsiteY11" fmla="*/ 3198250 h 3198250"/>
              <a:gd name="connsiteX12" fmla="*/ 1220165 w 2928396"/>
              <a:gd name="connsiteY12" fmla="*/ 3198250 h 3198250"/>
              <a:gd name="connsiteX13" fmla="*/ 488066 w 2928396"/>
              <a:gd name="connsiteY13" fmla="*/ 3198250 h 3198250"/>
              <a:gd name="connsiteX14" fmla="*/ 488066 w 2928396"/>
              <a:gd name="connsiteY14" fmla="*/ 3198250 h 3198250"/>
              <a:gd name="connsiteX15" fmla="*/ 285509 w 2928396"/>
              <a:gd name="connsiteY15" fmla="*/ 3198250 h 3198250"/>
              <a:gd name="connsiteX16" fmla="*/ 0 w 2928396"/>
              <a:gd name="connsiteY16" fmla="*/ 2912741 h 3198250"/>
              <a:gd name="connsiteX17" fmla="*/ 0 w 2928396"/>
              <a:gd name="connsiteY17" fmla="*/ 2198987 h 3198250"/>
              <a:gd name="connsiteX18" fmla="*/ 0 w 2928396"/>
              <a:gd name="connsiteY18" fmla="*/ 1770732 h 3198250"/>
              <a:gd name="connsiteX19" fmla="*/ 0 w 2928396"/>
              <a:gd name="connsiteY19" fmla="*/ 1770732 h 3198250"/>
              <a:gd name="connsiteX20" fmla="*/ 0 w 2928396"/>
              <a:gd name="connsiteY20" fmla="*/ 1770737 h 31982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928396" h="3198250">
                <a:moveTo>
                  <a:pt x="0" y="1770737"/>
                </a:moveTo>
                <a:cubicBezTo>
                  <a:pt x="0" y="1613055"/>
                  <a:pt x="127827" y="1485228"/>
                  <a:pt x="285509" y="1485228"/>
                </a:cubicBezTo>
                <a:lnTo>
                  <a:pt x="904754" y="1508378"/>
                </a:lnTo>
                <a:lnTo>
                  <a:pt x="521125" y="0"/>
                </a:lnTo>
                <a:lnTo>
                  <a:pt x="1220165" y="1485228"/>
                </a:lnTo>
                <a:lnTo>
                  <a:pt x="2642887" y="1485228"/>
                </a:lnTo>
                <a:cubicBezTo>
                  <a:pt x="2800569" y="1485228"/>
                  <a:pt x="2928396" y="1613055"/>
                  <a:pt x="2928396" y="1770737"/>
                </a:cubicBezTo>
                <a:lnTo>
                  <a:pt x="2928396" y="1770732"/>
                </a:lnTo>
                <a:lnTo>
                  <a:pt x="2928396" y="1770732"/>
                </a:lnTo>
                <a:lnTo>
                  <a:pt x="2928396" y="2198987"/>
                </a:lnTo>
                <a:lnTo>
                  <a:pt x="2928396" y="2912741"/>
                </a:lnTo>
                <a:cubicBezTo>
                  <a:pt x="2928396" y="3070423"/>
                  <a:pt x="2800569" y="3198250"/>
                  <a:pt x="2642887" y="3198250"/>
                </a:cubicBezTo>
                <a:lnTo>
                  <a:pt x="1220165" y="3198250"/>
                </a:lnTo>
                <a:lnTo>
                  <a:pt x="488066" y="3198250"/>
                </a:lnTo>
                <a:lnTo>
                  <a:pt x="488066" y="3198250"/>
                </a:lnTo>
                <a:lnTo>
                  <a:pt x="285509" y="3198250"/>
                </a:lnTo>
                <a:cubicBezTo>
                  <a:pt x="127827" y="3198250"/>
                  <a:pt x="0" y="3070423"/>
                  <a:pt x="0" y="2912741"/>
                </a:cubicBezTo>
                <a:lnTo>
                  <a:pt x="0" y="2198987"/>
                </a:lnTo>
                <a:lnTo>
                  <a:pt x="0" y="1770732"/>
                </a:lnTo>
                <a:lnTo>
                  <a:pt x="0" y="1770732"/>
                </a:lnTo>
                <a:lnTo>
                  <a:pt x="0" y="1770737"/>
                </a:lnTo>
                <a:close/>
              </a:path>
            </a:pathLst>
          </a:custGeom>
          <a:solidFill>
            <a:schemeClr val="tx1">
              <a:lumMod val="75000"/>
              <a:lumOff val="25000"/>
            </a:schemeClr>
          </a:solidFill>
          <a:ln>
            <a:solidFill>
              <a:schemeClr val="tx1">
                <a:lumMod val="75000"/>
                <a:lumOff val="25000"/>
              </a:schemeClr>
            </a:solidFill>
          </a:ln>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25" name="Google Shape;324;p34"/>
          <p:cNvSpPr txBox="1"/>
          <p:nvPr/>
        </p:nvSpPr>
        <p:spPr>
          <a:xfrm>
            <a:off x="7336211" y="1289074"/>
            <a:ext cx="2921257" cy="735811"/>
          </a:xfrm>
          <a:prstGeom prst="rect">
            <a:avLst/>
          </a:prstGeom>
          <a:noFill/>
          <a:ln>
            <a:noFill/>
          </a:ln>
        </p:spPr>
        <p:txBody>
          <a:bodyPr spcFirstLastPara="1" wrap="square" lIns="0" tIns="8504" rIns="0" bIns="0" anchor="t" anchorCtr="0">
            <a:noAutofit/>
          </a:bodyPr>
          <a:lstStyle/>
          <a:p>
            <a:pPr marL="8164" algn="ctr">
              <a:lnSpc>
                <a:spcPct val="116753"/>
              </a:lnSpc>
            </a:pPr>
            <a:r>
              <a:rPr lang="en-US" sz="2062" dirty="0">
                <a:solidFill>
                  <a:schemeClr val="bg1"/>
                </a:solidFill>
                <a:latin typeface="Calibri"/>
                <a:ea typeface="Calibri"/>
                <a:cs typeface="Calibri"/>
                <a:sym typeface="Calibri"/>
              </a:rPr>
              <a:t>function that returns number of distinct values</a:t>
            </a:r>
            <a:endParaRPr sz="2062" dirty="0">
              <a:solidFill>
                <a:schemeClr val="bg1"/>
              </a:solidFill>
              <a:latin typeface="Calibri"/>
              <a:ea typeface="Calibri"/>
              <a:cs typeface="Calibri"/>
              <a:sym typeface="Calibri"/>
            </a:endParaRPr>
          </a:p>
        </p:txBody>
      </p:sp>
      <p:graphicFrame>
        <p:nvGraphicFramePr>
          <p:cNvPr id="14" name="Table 13">
            <a:extLst>
              <a:ext uri="{FF2B5EF4-FFF2-40B4-BE49-F238E27FC236}">
                <a16:creationId xmlns:a16="http://schemas.microsoft.com/office/drawing/2014/main" id="{6C7B2B3D-CA1C-D847-87EF-F11145D34C0E}"/>
              </a:ext>
            </a:extLst>
          </p:cNvPr>
          <p:cNvGraphicFramePr>
            <a:graphicFrameLocks noGrp="1"/>
          </p:cNvGraphicFramePr>
          <p:nvPr/>
        </p:nvGraphicFramePr>
        <p:xfrm>
          <a:off x="1646781" y="4476935"/>
          <a:ext cx="3736808" cy="2287415"/>
        </p:xfrm>
        <a:graphic>
          <a:graphicData uri="http://schemas.openxmlformats.org/drawingml/2006/table">
            <a:tbl>
              <a:tblPr firstRow="1" bandRow="1"/>
              <a:tblGrid>
                <a:gridCol w="1505607">
                  <a:extLst>
                    <a:ext uri="{9D8B030D-6E8A-4147-A177-3AD203B41FA5}">
                      <a16:colId xmlns:a16="http://schemas.microsoft.com/office/drawing/2014/main" val="20000"/>
                    </a:ext>
                  </a:extLst>
                </a:gridCol>
                <a:gridCol w="2231201">
                  <a:extLst>
                    <a:ext uri="{9D8B030D-6E8A-4147-A177-3AD203B41FA5}">
                      <a16:colId xmlns:a16="http://schemas.microsoft.com/office/drawing/2014/main" val="20001"/>
                    </a:ext>
                  </a:extLst>
                </a:gridCol>
              </a:tblGrid>
              <a:tr h="370840">
                <a:tc>
                  <a:txBody>
                    <a:bodyPr/>
                    <a:lstStyle/>
                    <a:p>
                      <a:pPr marL="0" lvl="0" indent="0" algn="ctr" rtl="0">
                        <a:spcBef>
                          <a:spcPts val="0"/>
                        </a:spcBef>
                        <a:spcAft>
                          <a:spcPts val="0"/>
                        </a:spcAft>
                        <a:buNone/>
                      </a:pPr>
                      <a:r>
                        <a:rPr lang="en-US" sz="2400" b="1" dirty="0" err="1">
                          <a:solidFill>
                            <a:schemeClr val="lt1"/>
                          </a:solidFill>
                        </a:rPr>
                        <a:t>mrn</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r>
                        <a:rPr lang="en-US" sz="2400" b="1" dirty="0" err="1">
                          <a:solidFill>
                            <a:schemeClr val="lt1"/>
                          </a:solidFill>
                        </a:rPr>
                        <a:t>pan_day</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dirty="0"/>
                        <a:t>5001412</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370840">
                <a:tc>
                  <a:txBody>
                    <a:bodyPr/>
                    <a:lstStyle/>
                    <a:p>
                      <a:pPr marL="0" lvl="0" indent="0" algn="ctr" rtl="0">
                        <a:spcBef>
                          <a:spcPts val="0"/>
                        </a:spcBef>
                        <a:spcAft>
                          <a:spcPts val="0"/>
                        </a:spcAft>
                        <a:buNone/>
                      </a:pPr>
                      <a:r>
                        <a:rPr lang="en-US" sz="2000" dirty="0"/>
                        <a:t>5000533</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2"/>
                  </a:ext>
                </a:extLst>
              </a:tr>
              <a:tr h="563687">
                <a:tc>
                  <a:txBody>
                    <a:bodyPr/>
                    <a:lstStyle/>
                    <a:p>
                      <a:pPr marL="0" lvl="0" indent="0" algn="ctr" rtl="0">
                        <a:spcBef>
                          <a:spcPts val="0"/>
                        </a:spcBef>
                        <a:spcAft>
                          <a:spcPts val="0"/>
                        </a:spcAft>
                        <a:buNone/>
                      </a:pPr>
                      <a:r>
                        <a:rPr lang="en-US" sz="2000" dirty="0"/>
                        <a:t>5009134</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3"/>
                  </a:ext>
                </a:extLst>
              </a:tr>
              <a:tr h="370840">
                <a:tc>
                  <a:txBody>
                    <a:bodyPr/>
                    <a:lstStyle/>
                    <a:p>
                      <a:pPr marL="0" lvl="0" indent="0" algn="ctr" rtl="0">
                        <a:spcBef>
                          <a:spcPts val="0"/>
                        </a:spcBef>
                        <a:spcAft>
                          <a:spcPts val="0"/>
                        </a:spcAft>
                        <a:buNone/>
                      </a:pPr>
                      <a:r>
                        <a:rPr lang="en-US" sz="2000" dirty="0"/>
                        <a:t>5008518</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8</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3069495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animEffect transition="in" filter="fade">
                                      <p:cBhvr>
                                        <p:cTn id="13"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5" grpId="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6" name="Google Shape;296;p32"/>
          <p:cNvSpPr txBox="1"/>
          <p:nvPr/>
        </p:nvSpPr>
        <p:spPr>
          <a:xfrm>
            <a:off x="1072054" y="1745910"/>
            <a:ext cx="10762593" cy="1167589"/>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2800" dirty="0">
                <a:latin typeface="Calibri"/>
                <a:ea typeface="Calibri"/>
                <a:cs typeface="Calibri"/>
                <a:sym typeface="Calibri"/>
              </a:rPr>
              <a:t>Summarize supports calculations on summary stats</a:t>
            </a:r>
          </a:p>
        </p:txBody>
      </p:sp>
      <p:sp>
        <p:nvSpPr>
          <p:cNvPr id="15" name="Google Shape;46;p7"/>
          <p:cNvSpPr>
            <a:spLocks noChangeAspect="1"/>
          </p:cNvSpPr>
          <p:nvPr/>
        </p:nvSpPr>
        <p:spPr>
          <a:xfrm>
            <a:off x="11154103" y="5882749"/>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8" name="Google Shape;387;p40"/>
          <p:cNvSpPr/>
          <p:nvPr/>
        </p:nvSpPr>
        <p:spPr>
          <a:xfrm>
            <a:off x="4784325" y="4792382"/>
            <a:ext cx="322654" cy="224464"/>
          </a:xfrm>
          <a:custGeom>
            <a:avLst/>
            <a:gdLst/>
            <a:ahLst/>
            <a:cxnLst/>
            <a:rect l="l" t="t" r="r" b="b"/>
            <a:pathLst>
              <a:path w="622300" h="382270" extrusionOk="0">
                <a:moveTo>
                  <a:pt x="357634" y="0"/>
                </a:moveTo>
                <a:lnTo>
                  <a:pt x="357634" y="133825"/>
                </a:lnTo>
                <a:lnTo>
                  <a:pt x="0" y="133825"/>
                </a:lnTo>
                <a:lnTo>
                  <a:pt x="0" y="247816"/>
                </a:lnTo>
                <a:lnTo>
                  <a:pt x="357634" y="247816"/>
                </a:lnTo>
                <a:lnTo>
                  <a:pt x="357634" y="381642"/>
                </a:lnTo>
                <a:lnTo>
                  <a:pt x="622084" y="190821"/>
                </a:lnTo>
                <a:lnTo>
                  <a:pt x="357634"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6" name="TextBox 25"/>
          <p:cNvSpPr txBox="1"/>
          <p:nvPr/>
        </p:nvSpPr>
        <p:spPr>
          <a:xfrm>
            <a:off x="879065" y="766937"/>
            <a:ext cx="2875531" cy="923330"/>
          </a:xfrm>
          <a:prstGeom prst="rect">
            <a:avLst/>
          </a:prstGeom>
          <a:noFill/>
        </p:spPr>
        <p:txBody>
          <a:bodyPr wrap="none" rtlCol="0">
            <a:spAutoFit/>
          </a:bodyPr>
          <a:lstStyle/>
          <a:p>
            <a:r>
              <a:rPr lang="en-US" sz="5400" dirty="0">
                <a:latin typeface="+mj-lt"/>
                <a:sym typeface="Calibri"/>
              </a:rPr>
              <a:t>summarize</a:t>
            </a:r>
            <a:r>
              <a:rPr lang="en-US" sz="5400" dirty="0">
                <a:latin typeface="Calibri"/>
                <a:sym typeface="Calibri"/>
              </a:rPr>
              <a:t>()</a:t>
            </a:r>
            <a:endParaRPr lang="en-US" dirty="0"/>
          </a:p>
        </p:txBody>
      </p:sp>
      <p:graphicFrame>
        <p:nvGraphicFramePr>
          <p:cNvPr id="27" name="Table 26"/>
          <p:cNvGraphicFramePr>
            <a:graphicFrameLocks noGrp="1"/>
          </p:cNvGraphicFramePr>
          <p:nvPr>
            <p:extLst>
              <p:ext uri="{D42A27DB-BD31-4B8C-83A1-F6EECF244321}">
                <p14:modId xmlns:p14="http://schemas.microsoft.com/office/powerpoint/2010/main" val="2310768364"/>
              </p:ext>
            </p:extLst>
          </p:nvPr>
        </p:nvGraphicFramePr>
        <p:xfrm>
          <a:off x="5483979" y="4539185"/>
          <a:ext cx="1985421" cy="863647"/>
        </p:xfrm>
        <a:graphic>
          <a:graphicData uri="http://schemas.openxmlformats.org/drawingml/2006/table">
            <a:tbl>
              <a:tblPr firstRow="1" bandRow="1"/>
              <a:tblGrid>
                <a:gridCol w="1985421">
                  <a:extLst>
                    <a:ext uri="{9D8B030D-6E8A-4147-A177-3AD203B41FA5}">
                      <a16:colId xmlns:a16="http://schemas.microsoft.com/office/drawing/2014/main" val="20000"/>
                    </a:ext>
                  </a:extLst>
                </a:gridCol>
              </a:tblGrid>
              <a:tr h="461323">
                <a:tc>
                  <a:txBody>
                    <a:bodyPr/>
                    <a:lstStyle/>
                    <a:p>
                      <a:pPr marL="0" lvl="0" indent="0" algn="ctr" rtl="0">
                        <a:spcBef>
                          <a:spcPts val="0"/>
                        </a:spcBef>
                        <a:spcAft>
                          <a:spcPts val="0"/>
                        </a:spcAft>
                        <a:buNone/>
                      </a:pPr>
                      <a:r>
                        <a:rPr lang="en-US" sz="2300" b="1" dirty="0" err="1">
                          <a:solidFill>
                            <a:schemeClr val="lt1"/>
                          </a:solidFill>
                        </a:rPr>
                        <a:t>order_count</a:t>
                      </a:r>
                      <a:endParaRPr sz="2300" b="1" dirty="0">
                        <a:solidFill>
                          <a:schemeClr val="lt1"/>
                        </a:solidFil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402324">
                <a:tc>
                  <a:txBody>
                    <a:bodyPr/>
                    <a:lstStyle/>
                    <a:p>
                      <a:pPr marL="0" lvl="0" indent="0" algn="ctr" rtl="0">
                        <a:spcBef>
                          <a:spcPts val="0"/>
                        </a:spcBef>
                        <a:spcAft>
                          <a:spcPts val="0"/>
                        </a:spcAft>
                        <a:buNone/>
                      </a:pPr>
                      <a:r>
                        <a:rPr lang="en-US" sz="1900" b="0" i="0" u="none" strike="noStrike" cap="none" dirty="0">
                          <a:solidFill>
                            <a:srgbClr val="000000"/>
                          </a:solidFill>
                          <a:latin typeface="Arial"/>
                          <a:ea typeface="Arial"/>
                          <a:cs typeface="Arial"/>
                          <a:sym typeface="Arial"/>
                        </a:rPr>
                        <a:t>15524</a:t>
                      </a:r>
                      <a:endParaRPr sz="1900" b="0" i="0" u="none" strike="noStrike" cap="none" dirty="0">
                        <a:solidFill>
                          <a:srgbClr val="000000"/>
                        </a:solidFill>
                        <a:latin typeface="Arial"/>
                        <a:ea typeface="Arial"/>
                        <a:cs typeface="Arial"/>
                        <a:sym typeface="Aria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bl>
          </a:graphicData>
        </a:graphic>
      </p:graphicFrame>
      <p:graphicFrame>
        <p:nvGraphicFramePr>
          <p:cNvPr id="12" name="Table 11"/>
          <p:cNvGraphicFramePr>
            <a:graphicFrameLocks noGrp="1"/>
          </p:cNvGraphicFramePr>
          <p:nvPr/>
        </p:nvGraphicFramePr>
        <p:xfrm>
          <a:off x="7535371" y="4539185"/>
          <a:ext cx="1985421" cy="863647"/>
        </p:xfrm>
        <a:graphic>
          <a:graphicData uri="http://schemas.openxmlformats.org/drawingml/2006/table">
            <a:tbl>
              <a:tblPr firstRow="1" bandRow="1"/>
              <a:tblGrid>
                <a:gridCol w="1985421">
                  <a:extLst>
                    <a:ext uri="{9D8B030D-6E8A-4147-A177-3AD203B41FA5}">
                      <a16:colId xmlns:a16="http://schemas.microsoft.com/office/drawing/2014/main" val="20000"/>
                    </a:ext>
                  </a:extLst>
                </a:gridCol>
              </a:tblGrid>
              <a:tr h="461323">
                <a:tc>
                  <a:txBody>
                    <a:bodyPr/>
                    <a:lstStyle/>
                    <a:p>
                      <a:pPr marL="0" lvl="0" indent="0" algn="ctr" rtl="0">
                        <a:spcBef>
                          <a:spcPts val="0"/>
                        </a:spcBef>
                        <a:spcAft>
                          <a:spcPts val="0"/>
                        </a:spcAft>
                        <a:buNone/>
                      </a:pPr>
                      <a:r>
                        <a:rPr lang="en-US" sz="2300" b="1" dirty="0" err="1">
                          <a:solidFill>
                            <a:schemeClr val="lt1"/>
                          </a:solidFill>
                        </a:rPr>
                        <a:t>day_count</a:t>
                      </a:r>
                      <a:endParaRPr sz="2300" b="1" dirty="0">
                        <a:solidFill>
                          <a:schemeClr val="lt1"/>
                        </a:solidFil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402324">
                <a:tc>
                  <a:txBody>
                    <a:bodyPr/>
                    <a:lstStyle/>
                    <a:p>
                      <a:pPr marL="0" lvl="0" indent="0" algn="ctr" rtl="0">
                        <a:spcBef>
                          <a:spcPts val="0"/>
                        </a:spcBef>
                        <a:spcAft>
                          <a:spcPts val="0"/>
                        </a:spcAft>
                        <a:buNone/>
                      </a:pPr>
                      <a:r>
                        <a:rPr lang="en-US" sz="1900" b="0" i="0" u="none" strike="noStrike" cap="none" dirty="0">
                          <a:solidFill>
                            <a:srgbClr val="000000"/>
                          </a:solidFill>
                          <a:latin typeface="Arial"/>
                          <a:ea typeface="Arial"/>
                          <a:cs typeface="Arial"/>
                          <a:sym typeface="Arial"/>
                        </a:rPr>
                        <a:t>102</a:t>
                      </a:r>
                      <a:endParaRPr sz="1900" b="0" i="0" u="none" strike="noStrike" cap="none" dirty="0">
                        <a:solidFill>
                          <a:srgbClr val="000000"/>
                        </a:solidFill>
                        <a:latin typeface="Arial"/>
                        <a:ea typeface="Arial"/>
                        <a:cs typeface="Arial"/>
                        <a:sym typeface="Aria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bl>
          </a:graphicData>
        </a:graphic>
      </p:graphicFrame>
      <p:sp>
        <p:nvSpPr>
          <p:cNvPr id="19" name="Google Shape;131;p17"/>
          <p:cNvSpPr/>
          <p:nvPr/>
        </p:nvSpPr>
        <p:spPr>
          <a:xfrm>
            <a:off x="1072055" y="2196331"/>
            <a:ext cx="10762593" cy="1938992"/>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dirty="0"/>
          </a:p>
        </p:txBody>
      </p:sp>
      <p:sp>
        <p:nvSpPr>
          <p:cNvPr id="20" name="Rectangle 19"/>
          <p:cNvSpPr/>
          <p:nvPr/>
        </p:nvSpPr>
        <p:spPr>
          <a:xfrm>
            <a:off x="1622915" y="2173051"/>
            <a:ext cx="9392596" cy="1938992"/>
          </a:xfrm>
          <a:prstGeom prst="rect">
            <a:avLst/>
          </a:prstGeom>
        </p:spPr>
        <p:txBody>
          <a:bodyPr wrap="square">
            <a:spAutoFit/>
          </a:bodyPr>
          <a:lstStyle/>
          <a:p>
            <a:r>
              <a:rPr lang="en-US" sz="2400" dirty="0" err="1">
                <a:latin typeface="Consolas" panose="020B0609020204030204" pitchFamily="49" charset="0"/>
                <a:ea typeface="Courier New"/>
                <a:cs typeface="Consolas" panose="020B0609020204030204" pitchFamily="49" charset="0"/>
                <a:sym typeface="Courier New"/>
              </a:rPr>
              <a:t>covid_testing</a:t>
            </a:r>
            <a:r>
              <a:rPr lang="en-US" sz="2400" dirty="0">
                <a:latin typeface="Consolas" panose="020B0609020204030204" pitchFamily="49" charset="0"/>
                <a:ea typeface="Courier New"/>
                <a:cs typeface="Consolas" panose="020B0609020204030204" pitchFamily="49" charset="0"/>
                <a:sym typeface="Courier New"/>
              </a:rPr>
              <a:t> %&gt;% </a:t>
            </a:r>
            <a:r>
              <a:rPr lang="en-US" sz="2400" dirty="0">
                <a:solidFill>
                  <a:schemeClr val="bg1">
                    <a:lumMod val="65000"/>
                  </a:schemeClr>
                </a:solidFill>
                <a:latin typeface="Consolas" panose="020B0609020204030204" pitchFamily="49" charset="0"/>
                <a:ea typeface="Courier New"/>
                <a:cs typeface="Consolas" panose="020B0609020204030204" pitchFamily="49" charset="0"/>
                <a:sym typeface="Courier New"/>
              </a:rPr>
              <a:t>	</a:t>
            </a:r>
          </a:p>
          <a:p>
            <a:r>
              <a:rPr lang="en-US" sz="2400" dirty="0">
                <a:latin typeface="Consolas" panose="020B0609020204030204" pitchFamily="49" charset="0"/>
                <a:ea typeface="Courier New"/>
                <a:cs typeface="Consolas" panose="020B0609020204030204" pitchFamily="49" charset="0"/>
                <a:sym typeface="Courier New"/>
              </a:rPr>
              <a:t>	summarize(</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order_count</a:t>
            </a:r>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b="1" dirty="0">
                <a:latin typeface="Consolas" panose="020B0609020204030204" pitchFamily="49" charset="0"/>
                <a:ea typeface="Courier New"/>
                <a:cs typeface="Consolas" panose="020B0609020204030204" pitchFamily="49" charset="0"/>
                <a:sym typeface="Courier New"/>
              </a:rPr>
              <a:t>=</a:t>
            </a:r>
            <a:r>
              <a:rPr lang="en-US" sz="2400" dirty="0">
                <a:latin typeface="Consolas" panose="020B0609020204030204" pitchFamily="49" charset="0"/>
                <a:ea typeface="Courier New"/>
                <a:cs typeface="Consolas" panose="020B0609020204030204" pitchFamily="49" charset="0"/>
                <a:sym typeface="Courier New"/>
              </a:rPr>
              <a:t> </a:t>
            </a:r>
            <a:r>
              <a:rPr lang="en-US" sz="2400" dirty="0">
                <a:solidFill>
                  <a:srgbClr val="8DB4E2"/>
                </a:solidFill>
                <a:latin typeface="Consolas" panose="020B0609020204030204" pitchFamily="49" charset="0"/>
                <a:ea typeface="Courier New"/>
                <a:cs typeface="Consolas" panose="020B0609020204030204" pitchFamily="49" charset="0"/>
                <a:sym typeface="Courier New"/>
              </a:rPr>
              <a:t>n()</a:t>
            </a:r>
            <a:r>
              <a:rPr lang="en-US" sz="2400" dirty="0">
                <a:latin typeface="Consolas" panose="020B0609020204030204" pitchFamily="49" charset="0"/>
                <a:ea typeface="Courier New"/>
                <a:cs typeface="Consolas" panose="020B0609020204030204" pitchFamily="49" charset="0"/>
                <a:sym typeface="Courier New"/>
              </a:rPr>
              <a:t>,</a:t>
            </a:r>
            <a:endParaRPr lang="en-US" sz="1400" dirty="0"/>
          </a:p>
          <a:p>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day_count</a:t>
            </a:r>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b="1" dirty="0">
                <a:latin typeface="Consolas" panose="020B0609020204030204" pitchFamily="49" charset="0"/>
                <a:ea typeface="Courier New"/>
                <a:cs typeface="Consolas" panose="020B0609020204030204" pitchFamily="49" charset="0"/>
                <a:sym typeface="Courier New"/>
              </a:rPr>
              <a:t>=</a:t>
            </a:r>
            <a:r>
              <a:rPr lang="en-US" sz="2400" dirty="0">
                <a:solidFill>
                  <a:schemeClr val="accent2"/>
                </a:solidFill>
                <a:latin typeface="Consolas" panose="020B0609020204030204" pitchFamily="49" charset="0"/>
                <a:ea typeface="Courier New"/>
                <a:cs typeface="Consolas" panose="020B0609020204030204" pitchFamily="49" charset="0"/>
                <a:sym typeface="Courier New"/>
              </a:rPr>
              <a:t> </a:t>
            </a:r>
            <a:r>
              <a:rPr lang="en-US" sz="2400" dirty="0" err="1">
                <a:solidFill>
                  <a:srgbClr val="8DB4E2"/>
                </a:solidFill>
                <a:latin typeface="Consolas" panose="020B0609020204030204" pitchFamily="49" charset="0"/>
                <a:ea typeface="Courier New"/>
                <a:cs typeface="Consolas" panose="020B0609020204030204" pitchFamily="49" charset="0"/>
                <a:sym typeface="Courier New"/>
              </a:rPr>
              <a:t>n_distinct</a:t>
            </a:r>
            <a:r>
              <a:rPr lang="en-US" sz="2400" dirty="0">
                <a:solidFill>
                  <a:srgbClr val="8DB4E2"/>
                </a:solidFill>
                <a:latin typeface="Consolas" panose="020B0609020204030204" pitchFamily="49" charset="0"/>
                <a:ea typeface="Courier New"/>
                <a:cs typeface="Consolas" panose="020B0609020204030204" pitchFamily="49" charset="0"/>
                <a:sym typeface="Courier New"/>
              </a:rPr>
              <a:t>(</a:t>
            </a:r>
            <a:r>
              <a:rPr lang="en-US" sz="2400" dirty="0" err="1">
                <a:solidFill>
                  <a:srgbClr val="8DB4E2"/>
                </a:solidFill>
                <a:latin typeface="Consolas" panose="020B0609020204030204" pitchFamily="49" charset="0"/>
                <a:ea typeface="Courier New"/>
                <a:cs typeface="Consolas" panose="020B0609020204030204" pitchFamily="49" charset="0"/>
                <a:sym typeface="Courier New"/>
              </a:rPr>
              <a:t>pan_day</a:t>
            </a:r>
            <a:r>
              <a:rPr lang="en-US" sz="2400" dirty="0">
                <a:solidFill>
                  <a:srgbClr val="8DB4E2"/>
                </a:solidFill>
                <a:latin typeface="Consolas" panose="020B0609020204030204" pitchFamily="49" charset="0"/>
                <a:ea typeface="Courier New"/>
                <a:cs typeface="Consolas" panose="020B0609020204030204" pitchFamily="49" charset="0"/>
                <a:sym typeface="Courier New"/>
              </a:rPr>
              <a:t>)</a:t>
            </a:r>
            <a:r>
              <a:rPr lang="en-US" sz="2400" dirty="0">
                <a:latin typeface="Consolas" panose="020B0609020204030204" pitchFamily="49" charset="0"/>
                <a:ea typeface="Courier New"/>
                <a:cs typeface="Consolas" panose="020B0609020204030204" pitchFamily="49" charset="0"/>
                <a:sym typeface="Courier New"/>
              </a:rPr>
              <a:t>,</a:t>
            </a:r>
          </a:p>
          <a:p>
            <a:r>
              <a:rPr lang="en-US" sz="2400" dirty="0">
                <a:solidFill>
                  <a:srgbClr val="8DB4E2"/>
                </a:solidFill>
                <a:latin typeface="Consolas" panose="020B0609020204030204" pitchFamily="49" charset="0"/>
                <a:ea typeface="Courier New"/>
                <a:cs typeface="Consolas" panose="020B0609020204030204" pitchFamily="49" charset="0"/>
                <a:sym typeface="Courier New"/>
              </a:rPr>
              <a:t>		    </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orders_per_day</a:t>
            </a:r>
            <a:r>
              <a:rPr lang="en-US" sz="2400" dirty="0">
                <a:solidFill>
                  <a:srgbClr val="8DB4E2"/>
                </a:solidFill>
                <a:latin typeface="Consolas" panose="020B0609020204030204" pitchFamily="49" charset="0"/>
                <a:ea typeface="Courier New"/>
                <a:cs typeface="Consolas" panose="020B0609020204030204" pitchFamily="49" charset="0"/>
                <a:sym typeface="Courier New"/>
              </a:rPr>
              <a:t> </a:t>
            </a:r>
            <a:r>
              <a:rPr lang="en-US" sz="3200" b="1" dirty="0">
                <a:latin typeface="Consolas" panose="020B0609020204030204" pitchFamily="49" charset="0"/>
                <a:ea typeface="Courier New"/>
                <a:cs typeface="Consolas" panose="020B0609020204030204" pitchFamily="49" charset="0"/>
                <a:sym typeface="Courier New"/>
              </a:rPr>
              <a:t>=</a:t>
            </a:r>
            <a:r>
              <a:rPr lang="en-US" sz="2400" dirty="0">
                <a:solidFill>
                  <a:srgbClr val="8DB4E2"/>
                </a:solidFill>
                <a:latin typeface="Consolas" panose="020B0609020204030204" pitchFamily="49" charset="0"/>
                <a:ea typeface="Courier New"/>
                <a:cs typeface="Consolas" panose="020B0609020204030204" pitchFamily="49" charset="0"/>
                <a:sym typeface="Courier New"/>
              </a:rPr>
              <a:t> </a:t>
            </a:r>
            <a:r>
              <a:rPr lang="en-US" sz="2400" dirty="0" err="1">
                <a:solidFill>
                  <a:srgbClr val="8DB4E2"/>
                </a:solidFill>
                <a:latin typeface="Consolas" panose="020B0609020204030204" pitchFamily="49" charset="0"/>
                <a:ea typeface="Courier New"/>
                <a:cs typeface="Consolas" panose="020B0609020204030204" pitchFamily="49" charset="0"/>
                <a:sym typeface="Courier New"/>
              </a:rPr>
              <a:t>order_count</a:t>
            </a:r>
            <a:r>
              <a:rPr lang="en-US" sz="2400" dirty="0">
                <a:solidFill>
                  <a:srgbClr val="8DB4E2"/>
                </a:solidFill>
                <a:latin typeface="Consolas" panose="020B0609020204030204" pitchFamily="49" charset="0"/>
                <a:ea typeface="Courier New"/>
                <a:cs typeface="Consolas" panose="020B0609020204030204" pitchFamily="49" charset="0"/>
                <a:sym typeface="Courier New"/>
              </a:rPr>
              <a:t>/</a:t>
            </a:r>
            <a:r>
              <a:rPr lang="en-US" sz="2400" dirty="0" err="1">
                <a:solidFill>
                  <a:srgbClr val="8DB4E2"/>
                </a:solidFill>
                <a:latin typeface="Consolas" panose="020B0609020204030204" pitchFamily="49" charset="0"/>
                <a:ea typeface="Courier New"/>
                <a:cs typeface="Consolas" panose="020B0609020204030204" pitchFamily="49" charset="0"/>
                <a:sym typeface="Courier New"/>
              </a:rPr>
              <a:t>day_count</a:t>
            </a:r>
            <a:r>
              <a:rPr lang="en-US" sz="2400" dirty="0">
                <a:latin typeface="Consolas" panose="020B0609020204030204" pitchFamily="49" charset="0"/>
                <a:ea typeface="Courier New"/>
                <a:cs typeface="Consolas" panose="020B0609020204030204" pitchFamily="49" charset="0"/>
                <a:sym typeface="Courier New"/>
              </a:rPr>
              <a:t>)</a:t>
            </a:r>
            <a:endParaRPr lang="en-US" sz="1400" dirty="0"/>
          </a:p>
        </p:txBody>
      </p:sp>
      <p:graphicFrame>
        <p:nvGraphicFramePr>
          <p:cNvPr id="14" name="Table 13">
            <a:extLst>
              <a:ext uri="{FF2B5EF4-FFF2-40B4-BE49-F238E27FC236}">
                <a16:creationId xmlns:a16="http://schemas.microsoft.com/office/drawing/2014/main" id="{6C7B2B3D-CA1C-D847-87EF-F11145D34C0E}"/>
              </a:ext>
            </a:extLst>
          </p:cNvPr>
          <p:cNvGraphicFramePr>
            <a:graphicFrameLocks noGrp="1"/>
          </p:cNvGraphicFramePr>
          <p:nvPr/>
        </p:nvGraphicFramePr>
        <p:xfrm>
          <a:off x="846308" y="4353906"/>
          <a:ext cx="3736808" cy="2287415"/>
        </p:xfrm>
        <a:graphic>
          <a:graphicData uri="http://schemas.openxmlformats.org/drawingml/2006/table">
            <a:tbl>
              <a:tblPr firstRow="1" bandRow="1"/>
              <a:tblGrid>
                <a:gridCol w="1505607">
                  <a:extLst>
                    <a:ext uri="{9D8B030D-6E8A-4147-A177-3AD203B41FA5}">
                      <a16:colId xmlns:a16="http://schemas.microsoft.com/office/drawing/2014/main" val="20000"/>
                    </a:ext>
                  </a:extLst>
                </a:gridCol>
                <a:gridCol w="2231201">
                  <a:extLst>
                    <a:ext uri="{9D8B030D-6E8A-4147-A177-3AD203B41FA5}">
                      <a16:colId xmlns:a16="http://schemas.microsoft.com/office/drawing/2014/main" val="20001"/>
                    </a:ext>
                  </a:extLst>
                </a:gridCol>
              </a:tblGrid>
              <a:tr h="370840">
                <a:tc>
                  <a:txBody>
                    <a:bodyPr/>
                    <a:lstStyle/>
                    <a:p>
                      <a:pPr marL="0" lvl="0" indent="0" algn="ctr" rtl="0">
                        <a:spcBef>
                          <a:spcPts val="0"/>
                        </a:spcBef>
                        <a:spcAft>
                          <a:spcPts val="0"/>
                        </a:spcAft>
                        <a:buNone/>
                      </a:pPr>
                      <a:r>
                        <a:rPr lang="en-US" sz="2400" b="1" dirty="0" err="1">
                          <a:solidFill>
                            <a:schemeClr val="lt1"/>
                          </a:solidFill>
                        </a:rPr>
                        <a:t>mrn</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r>
                        <a:rPr lang="en-US" sz="2400" b="1" dirty="0" err="1">
                          <a:solidFill>
                            <a:schemeClr val="lt1"/>
                          </a:solidFill>
                        </a:rPr>
                        <a:t>pan_day</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dirty="0"/>
                        <a:t>5001412</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370840">
                <a:tc>
                  <a:txBody>
                    <a:bodyPr/>
                    <a:lstStyle/>
                    <a:p>
                      <a:pPr marL="0" lvl="0" indent="0" algn="ctr" rtl="0">
                        <a:spcBef>
                          <a:spcPts val="0"/>
                        </a:spcBef>
                        <a:spcAft>
                          <a:spcPts val="0"/>
                        </a:spcAft>
                        <a:buNone/>
                      </a:pPr>
                      <a:r>
                        <a:rPr lang="en-US" sz="2000" dirty="0"/>
                        <a:t>5000533</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2"/>
                  </a:ext>
                </a:extLst>
              </a:tr>
              <a:tr h="563687">
                <a:tc>
                  <a:txBody>
                    <a:bodyPr/>
                    <a:lstStyle/>
                    <a:p>
                      <a:pPr marL="0" lvl="0" indent="0" algn="ctr" rtl="0">
                        <a:spcBef>
                          <a:spcPts val="0"/>
                        </a:spcBef>
                        <a:spcAft>
                          <a:spcPts val="0"/>
                        </a:spcAft>
                        <a:buNone/>
                      </a:pPr>
                      <a:r>
                        <a:rPr lang="en-US" sz="2000" dirty="0"/>
                        <a:t>5009134</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3"/>
                  </a:ext>
                </a:extLst>
              </a:tr>
              <a:tr h="370840">
                <a:tc>
                  <a:txBody>
                    <a:bodyPr/>
                    <a:lstStyle/>
                    <a:p>
                      <a:pPr marL="0" lvl="0" indent="0" algn="ctr" rtl="0">
                        <a:spcBef>
                          <a:spcPts val="0"/>
                        </a:spcBef>
                        <a:spcAft>
                          <a:spcPts val="0"/>
                        </a:spcAft>
                        <a:buNone/>
                      </a:pPr>
                      <a:r>
                        <a:rPr lang="en-US" sz="2000" dirty="0"/>
                        <a:t>5008518</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8</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4"/>
                  </a:ext>
                </a:extLst>
              </a:tr>
            </a:tbl>
          </a:graphicData>
        </a:graphic>
      </p:graphicFrame>
      <p:graphicFrame>
        <p:nvGraphicFramePr>
          <p:cNvPr id="13" name="Table 12">
            <a:extLst>
              <a:ext uri="{FF2B5EF4-FFF2-40B4-BE49-F238E27FC236}">
                <a16:creationId xmlns:a16="http://schemas.microsoft.com/office/drawing/2014/main" id="{33411B5F-F0C5-DF45-89A2-E2247BA79176}"/>
              </a:ext>
            </a:extLst>
          </p:cNvPr>
          <p:cNvGraphicFramePr>
            <a:graphicFrameLocks noGrp="1"/>
          </p:cNvGraphicFramePr>
          <p:nvPr/>
        </p:nvGraphicFramePr>
        <p:xfrm>
          <a:off x="9597201" y="4539184"/>
          <a:ext cx="2237446" cy="863647"/>
        </p:xfrm>
        <a:graphic>
          <a:graphicData uri="http://schemas.openxmlformats.org/drawingml/2006/table">
            <a:tbl>
              <a:tblPr firstRow="1" bandRow="1"/>
              <a:tblGrid>
                <a:gridCol w="2237446">
                  <a:extLst>
                    <a:ext uri="{9D8B030D-6E8A-4147-A177-3AD203B41FA5}">
                      <a16:colId xmlns:a16="http://schemas.microsoft.com/office/drawing/2014/main" val="20000"/>
                    </a:ext>
                  </a:extLst>
                </a:gridCol>
              </a:tblGrid>
              <a:tr h="461323">
                <a:tc>
                  <a:txBody>
                    <a:bodyPr/>
                    <a:lstStyle/>
                    <a:p>
                      <a:pPr marL="0" lvl="0" indent="0" algn="ctr" rtl="0">
                        <a:spcBef>
                          <a:spcPts val="0"/>
                        </a:spcBef>
                        <a:spcAft>
                          <a:spcPts val="0"/>
                        </a:spcAft>
                        <a:buNone/>
                      </a:pPr>
                      <a:r>
                        <a:rPr lang="en-US" sz="2300" b="1" dirty="0" err="1">
                          <a:solidFill>
                            <a:schemeClr val="lt1"/>
                          </a:solidFill>
                        </a:rPr>
                        <a:t>orders_per_day</a:t>
                      </a:r>
                      <a:endParaRPr sz="2300" b="1" dirty="0">
                        <a:solidFill>
                          <a:schemeClr val="lt1"/>
                        </a:solidFil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402324">
                <a:tc>
                  <a:txBody>
                    <a:bodyPr/>
                    <a:lstStyle/>
                    <a:p>
                      <a:pPr marL="0" lvl="0" indent="0" algn="ctr" rtl="0">
                        <a:spcBef>
                          <a:spcPts val="0"/>
                        </a:spcBef>
                        <a:spcAft>
                          <a:spcPts val="0"/>
                        </a:spcAft>
                        <a:buNone/>
                      </a:pPr>
                      <a:r>
                        <a:rPr lang="en-US" sz="1900" b="0" i="0" u="none" strike="noStrike" cap="none" dirty="0">
                          <a:solidFill>
                            <a:srgbClr val="000000"/>
                          </a:solidFill>
                          <a:latin typeface="Arial"/>
                          <a:ea typeface="Arial"/>
                          <a:cs typeface="Arial"/>
                          <a:sym typeface="Arial"/>
                        </a:rPr>
                        <a:t>152</a:t>
                      </a:r>
                      <a:endParaRPr sz="1900" b="0" i="0" u="none" strike="noStrike" cap="none" dirty="0">
                        <a:solidFill>
                          <a:srgbClr val="000000"/>
                        </a:solidFill>
                        <a:latin typeface="Arial"/>
                        <a:ea typeface="Arial"/>
                        <a:cs typeface="Arial"/>
                        <a:sym typeface="Arial"/>
                      </a:endParaRPr>
                    </a:p>
                  </a:txBody>
                  <a:tcPr marL="47403" marR="47403" marT="53663" marB="53663"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207612380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p:cNvSpPr txBox="1"/>
          <p:nvPr/>
        </p:nvSpPr>
        <p:spPr>
          <a:xfrm>
            <a:off x="890984" y="758471"/>
            <a:ext cx="2468688" cy="923330"/>
          </a:xfrm>
          <a:prstGeom prst="rect">
            <a:avLst/>
          </a:prstGeom>
          <a:noFill/>
        </p:spPr>
        <p:txBody>
          <a:bodyPr wrap="none" rtlCol="0">
            <a:spAutoFit/>
          </a:bodyPr>
          <a:lstStyle/>
          <a:p>
            <a:pPr algn="ctr"/>
            <a:r>
              <a:rPr lang="en-US" sz="5400" dirty="0" err="1">
                <a:latin typeface="+mj-lt"/>
                <a:sym typeface="Calibri"/>
              </a:rPr>
              <a:t>group_by</a:t>
            </a:r>
            <a:r>
              <a:rPr lang="en-US" sz="5400" dirty="0">
                <a:latin typeface="+mj-lt"/>
                <a:sym typeface="Calibri"/>
              </a:rPr>
              <a:t>()</a:t>
            </a:r>
            <a:endParaRPr lang="en-US" sz="5400" dirty="0">
              <a:latin typeface="+mj-lt"/>
            </a:endParaRPr>
          </a:p>
        </p:txBody>
      </p:sp>
      <p:sp>
        <p:nvSpPr>
          <p:cNvPr id="8" name="TextBox 7"/>
          <p:cNvSpPr txBox="1"/>
          <p:nvPr/>
        </p:nvSpPr>
        <p:spPr>
          <a:xfrm>
            <a:off x="5281663" y="758471"/>
            <a:ext cx="2875531" cy="923330"/>
          </a:xfrm>
          <a:prstGeom prst="rect">
            <a:avLst/>
          </a:prstGeom>
          <a:noFill/>
        </p:spPr>
        <p:txBody>
          <a:bodyPr wrap="none" rtlCol="0">
            <a:spAutoFit/>
          </a:bodyPr>
          <a:lstStyle/>
          <a:p>
            <a:pPr algn="ctr"/>
            <a:r>
              <a:rPr lang="en-US" sz="5400" dirty="0">
                <a:latin typeface="+mj-lt"/>
                <a:sym typeface="Calibri"/>
              </a:rPr>
              <a:t>summarize</a:t>
            </a:r>
            <a:r>
              <a:rPr lang="en-US" sz="5400" dirty="0">
                <a:latin typeface="Calibri"/>
                <a:sym typeface="Calibri"/>
              </a:rPr>
              <a:t>()</a:t>
            </a:r>
            <a:endParaRPr lang="en-US" dirty="0"/>
          </a:p>
        </p:txBody>
      </p:sp>
      <p:sp>
        <p:nvSpPr>
          <p:cNvPr id="9" name="TextBox 8"/>
          <p:cNvSpPr txBox="1"/>
          <p:nvPr/>
        </p:nvSpPr>
        <p:spPr>
          <a:xfrm>
            <a:off x="3521410" y="831373"/>
            <a:ext cx="1598515" cy="923330"/>
          </a:xfrm>
          <a:prstGeom prst="rect">
            <a:avLst/>
          </a:prstGeom>
          <a:noFill/>
        </p:spPr>
        <p:txBody>
          <a:bodyPr wrap="none" rtlCol="0">
            <a:spAutoFit/>
          </a:bodyPr>
          <a:lstStyle/>
          <a:p>
            <a:r>
              <a:rPr lang="en-US" sz="5400" dirty="0">
                <a:latin typeface="+mj-lt"/>
                <a:sym typeface="Calibri"/>
              </a:rPr>
              <a:t>%&gt;%</a:t>
            </a:r>
            <a:endParaRPr lang="en-US" sz="5400" dirty="0">
              <a:latin typeface="+mj-lt"/>
            </a:endParaRPr>
          </a:p>
        </p:txBody>
      </p:sp>
      <p:graphicFrame>
        <p:nvGraphicFramePr>
          <p:cNvPr id="3" name="Google Shape;154;p18"/>
          <p:cNvGraphicFramePr/>
          <p:nvPr/>
        </p:nvGraphicFramePr>
        <p:xfrm>
          <a:off x="1606351" y="2967054"/>
          <a:ext cx="2401947" cy="2690254"/>
        </p:xfrm>
        <a:graphic>
          <a:graphicData uri="http://schemas.openxmlformats.org/drawingml/2006/table">
            <a:tbl>
              <a:tblPr firstRow="1" bandRow="1">
                <a:noFill/>
              </a:tblPr>
              <a:tblGrid>
                <a:gridCol w="724508">
                  <a:extLst>
                    <a:ext uri="{9D8B030D-6E8A-4147-A177-3AD203B41FA5}">
                      <a16:colId xmlns:a16="http://schemas.microsoft.com/office/drawing/2014/main" val="20000"/>
                    </a:ext>
                  </a:extLst>
                </a:gridCol>
                <a:gridCol w="685367">
                  <a:extLst>
                    <a:ext uri="{9D8B030D-6E8A-4147-A177-3AD203B41FA5}">
                      <a16:colId xmlns:a16="http://schemas.microsoft.com/office/drawing/2014/main" val="20001"/>
                    </a:ext>
                  </a:extLst>
                </a:gridCol>
                <a:gridCol w="992072">
                  <a:extLst>
                    <a:ext uri="{9D8B030D-6E8A-4147-A177-3AD203B41FA5}">
                      <a16:colId xmlns:a16="http://schemas.microsoft.com/office/drawing/2014/main" val="20002"/>
                    </a:ext>
                  </a:extLst>
                </a:gridCol>
              </a:tblGrid>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tx1">
                        <a:lumMod val="95000"/>
                        <a:lumOff val="5000"/>
                      </a:schemeClr>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sp>
        <p:nvSpPr>
          <p:cNvPr id="4" name="Right Arrow 3"/>
          <p:cNvSpPr/>
          <p:nvPr/>
        </p:nvSpPr>
        <p:spPr>
          <a:xfrm>
            <a:off x="4268089" y="3960514"/>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Arrow 9"/>
          <p:cNvSpPr/>
          <p:nvPr/>
        </p:nvSpPr>
        <p:spPr>
          <a:xfrm>
            <a:off x="8077727" y="4303413"/>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 name="Group 1"/>
          <p:cNvGrpSpPr/>
          <p:nvPr/>
        </p:nvGrpSpPr>
        <p:grpSpPr>
          <a:xfrm>
            <a:off x="5350840" y="2931327"/>
            <a:ext cx="2476438" cy="2690254"/>
            <a:chOff x="4377469" y="1940727"/>
            <a:chExt cx="2476438" cy="2690254"/>
          </a:xfrm>
        </p:grpSpPr>
        <p:graphicFrame>
          <p:nvGraphicFramePr>
            <p:cNvPr id="5" name="Google Shape;154;p18"/>
            <p:cNvGraphicFramePr/>
            <p:nvPr/>
          </p:nvGraphicFramePr>
          <p:xfrm>
            <a:off x="4451960" y="1940727"/>
            <a:ext cx="2401947" cy="2690254"/>
          </p:xfrm>
          <a:graphic>
            <a:graphicData uri="http://schemas.openxmlformats.org/drawingml/2006/table">
              <a:tbl>
                <a:tblPr firstRow="1" bandRow="1">
                  <a:noFill/>
                  <a:effectLst/>
                </a:tblPr>
                <a:tblGrid>
                  <a:gridCol w="724508">
                    <a:extLst>
                      <a:ext uri="{9D8B030D-6E8A-4147-A177-3AD203B41FA5}">
                        <a16:colId xmlns:a16="http://schemas.microsoft.com/office/drawing/2014/main" val="20000"/>
                      </a:ext>
                    </a:extLst>
                  </a:gridCol>
                  <a:gridCol w="685367">
                    <a:extLst>
                      <a:ext uri="{9D8B030D-6E8A-4147-A177-3AD203B41FA5}">
                        <a16:colId xmlns:a16="http://schemas.microsoft.com/office/drawing/2014/main" val="20001"/>
                      </a:ext>
                    </a:extLst>
                  </a:gridCol>
                  <a:gridCol w="992072">
                    <a:extLst>
                      <a:ext uri="{9D8B030D-6E8A-4147-A177-3AD203B41FA5}">
                        <a16:colId xmlns:a16="http://schemas.microsoft.com/office/drawing/2014/main" val="20002"/>
                      </a:ext>
                    </a:extLst>
                  </a:gridCol>
                </a:tblGrid>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tx1">
                          <a:lumMod val="95000"/>
                          <a:lumOff val="5000"/>
                        </a:schemeClr>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384322">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sp>
          <p:nvSpPr>
            <p:cNvPr id="11" name="Rounded Rectangle 10"/>
            <p:cNvSpPr/>
            <p:nvPr/>
          </p:nvSpPr>
          <p:spPr>
            <a:xfrm>
              <a:off x="4377470" y="2241176"/>
              <a:ext cx="2476437" cy="896471"/>
            </a:xfrm>
            <a:prstGeom prst="roundRect">
              <a:avLst/>
            </a:prstGeom>
            <a:noFill/>
            <a:ln w="57150"/>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2" name="Rounded Rectangle 11"/>
            <p:cNvSpPr/>
            <p:nvPr/>
          </p:nvSpPr>
          <p:spPr>
            <a:xfrm>
              <a:off x="4377470" y="3122313"/>
              <a:ext cx="2476437" cy="685800"/>
            </a:xfrm>
            <a:prstGeom prst="roundRect">
              <a:avLst/>
            </a:prstGeom>
            <a:noFill/>
            <a:ln w="57150"/>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Rounded Rectangle 12"/>
            <p:cNvSpPr/>
            <p:nvPr/>
          </p:nvSpPr>
          <p:spPr>
            <a:xfrm>
              <a:off x="4377469" y="3808113"/>
              <a:ext cx="2476437" cy="754334"/>
            </a:xfrm>
            <a:prstGeom prst="roundRect">
              <a:avLst/>
            </a:prstGeom>
            <a:noFill/>
            <a:ln w="57150"/>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en-US"/>
            </a:p>
          </p:txBody>
        </p:sp>
      </p:grpSp>
      <p:graphicFrame>
        <p:nvGraphicFramePr>
          <p:cNvPr id="14" name="Google Shape;154;p18"/>
          <p:cNvGraphicFramePr/>
          <p:nvPr/>
        </p:nvGraphicFramePr>
        <p:xfrm>
          <a:off x="9169819" y="3482785"/>
          <a:ext cx="1409875" cy="1537288"/>
        </p:xfrm>
        <a:graphic>
          <a:graphicData uri="http://schemas.openxmlformats.org/drawingml/2006/table">
            <a:tbl>
              <a:tblPr firstRow="1" bandRow="1">
                <a:noFill/>
                <a:effectLst/>
              </a:tblPr>
              <a:tblGrid>
                <a:gridCol w="724508">
                  <a:extLst>
                    <a:ext uri="{9D8B030D-6E8A-4147-A177-3AD203B41FA5}">
                      <a16:colId xmlns:a16="http://schemas.microsoft.com/office/drawing/2014/main" val="20000"/>
                    </a:ext>
                  </a:extLst>
                </a:gridCol>
                <a:gridCol w="685367">
                  <a:extLst>
                    <a:ext uri="{9D8B030D-6E8A-4147-A177-3AD203B41FA5}">
                      <a16:colId xmlns:a16="http://schemas.microsoft.com/office/drawing/2014/main" val="20001"/>
                    </a:ext>
                  </a:extLst>
                </a:gridCol>
              </a:tblGrid>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tx1">
                        <a:lumMod val="95000"/>
                        <a:lumOff val="5000"/>
                      </a:schemeClr>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accent6"/>
                    </a:solidFill>
                  </a:tcPr>
                </a:tc>
                <a:extLst>
                  <a:ext uri="{0D108BD9-81ED-4DB2-BD59-A6C34878D82A}">
                    <a16:rowId xmlns:a16="http://schemas.microsoft.com/office/drawing/2014/main" val="10000"/>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3908F"/>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accent6">
                        <a:lumMod val="60000"/>
                        <a:lumOff val="40000"/>
                      </a:schemeClr>
                    </a:solidFill>
                  </a:tcPr>
                </a:tc>
                <a:extLst>
                  <a:ext uri="{0D108BD9-81ED-4DB2-BD59-A6C34878D82A}">
                    <a16:rowId xmlns:a16="http://schemas.microsoft.com/office/drawing/2014/main" val="10001"/>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accent6">
                        <a:lumMod val="60000"/>
                        <a:lumOff val="40000"/>
                      </a:schemeClr>
                    </a:solidFill>
                  </a:tcPr>
                </a:tc>
                <a:extLst>
                  <a:ext uri="{0D108BD9-81ED-4DB2-BD59-A6C34878D82A}">
                    <a16:rowId xmlns:a16="http://schemas.microsoft.com/office/drawing/2014/main" val="10003"/>
                  </a:ext>
                </a:extLst>
              </a:tr>
              <a:tr h="384322">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8DB4E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lgn="ctr">
                      <a:solidFill>
                        <a:srgbClr val="FFFFFF"/>
                      </a:solidFill>
                      <a:prstDash val="solid"/>
                      <a:round/>
                      <a:headEnd type="none" w="sm" len="sm"/>
                      <a:tailEnd type="none" w="sm" len="sm"/>
                    </a:lnL>
                    <a:lnR w="12700" cap="flat" cmpd="sng" algn="ctr">
                      <a:solidFill>
                        <a:srgbClr val="FFFFFF"/>
                      </a:solidFill>
                      <a:prstDash val="solid"/>
                      <a:round/>
                      <a:headEnd type="none" w="sm" len="sm"/>
                      <a:tailEnd type="none" w="sm" len="sm"/>
                    </a:lnR>
                    <a:lnT w="12700" cap="flat" cmpd="sng" algn="ctr">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chemeClr val="accent6">
                        <a:lumMod val="60000"/>
                        <a:lumOff val="40000"/>
                      </a:schemeClr>
                    </a:solidFill>
                  </a:tcPr>
                </a:tc>
                <a:extLst>
                  <a:ext uri="{0D108BD9-81ED-4DB2-BD59-A6C34878D82A}">
                    <a16:rowId xmlns:a16="http://schemas.microsoft.com/office/drawing/2014/main" val="10006"/>
                  </a:ext>
                </a:extLst>
              </a:tr>
            </a:tbl>
          </a:graphicData>
        </a:graphic>
      </p:graphicFrame>
      <p:sp>
        <p:nvSpPr>
          <p:cNvPr id="16"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sp>
        <p:nvSpPr>
          <p:cNvPr id="17" name="Google Shape;296;p32"/>
          <p:cNvSpPr txBox="1"/>
          <p:nvPr/>
        </p:nvSpPr>
        <p:spPr>
          <a:xfrm>
            <a:off x="1510050" y="2115906"/>
            <a:ext cx="7411101" cy="890808"/>
          </a:xfrm>
          <a:prstGeom prst="rect">
            <a:avLst/>
          </a:prstGeom>
          <a:noFill/>
          <a:ln>
            <a:noFill/>
          </a:ln>
        </p:spPr>
        <p:txBody>
          <a:bodyPr spcFirstLastPara="1" wrap="square" lIns="0" tIns="6455" rIns="0" bIns="0" anchor="t" anchorCtr="0">
            <a:noAutofit/>
          </a:bodyPr>
          <a:lstStyle/>
          <a:p>
            <a:pPr marL="6803"/>
            <a:r>
              <a:rPr lang="en-US" sz="3600" dirty="0">
                <a:latin typeface="Calibri"/>
                <a:ea typeface="Calibri"/>
                <a:cs typeface="Calibri"/>
                <a:sym typeface="Calibri"/>
              </a:rPr>
              <a:t>Make summaries of your data </a:t>
            </a:r>
            <a:r>
              <a:rPr lang="en-US" sz="3600" i="1" dirty="0">
                <a:latin typeface="Calibri"/>
                <a:ea typeface="Calibri"/>
                <a:cs typeface="Calibri"/>
                <a:sym typeface="Calibri"/>
              </a:rPr>
              <a:t>by group</a:t>
            </a:r>
            <a:endParaRPr sz="3600" i="1" dirty="0">
              <a:latin typeface="Calibri"/>
              <a:ea typeface="Calibri"/>
              <a:cs typeface="Calibri"/>
              <a:sym typeface="Calibri"/>
            </a:endParaRPr>
          </a:p>
        </p:txBody>
      </p:sp>
      <p:sp>
        <p:nvSpPr>
          <p:cNvPr id="18" name="Right Arrow 17"/>
          <p:cNvSpPr/>
          <p:nvPr/>
        </p:nvSpPr>
        <p:spPr>
          <a:xfrm rot="611046">
            <a:off x="8077727" y="3682611"/>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ight Arrow 18"/>
          <p:cNvSpPr/>
          <p:nvPr/>
        </p:nvSpPr>
        <p:spPr>
          <a:xfrm rot="20988954" flipV="1">
            <a:off x="8077727" y="4892854"/>
            <a:ext cx="822960" cy="304800"/>
          </a:xfrm>
          <a:prstGeom prst="rightArrow">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9322605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6" name="Google Shape;131;p17"/>
          <p:cNvSpPr/>
          <p:nvPr/>
        </p:nvSpPr>
        <p:spPr>
          <a:xfrm>
            <a:off x="1072055" y="2280929"/>
            <a:ext cx="10762593" cy="1821891"/>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dirty="0"/>
          </a:p>
        </p:txBody>
      </p:sp>
      <p:sp>
        <p:nvSpPr>
          <p:cNvPr id="296" name="Google Shape;296;p32"/>
          <p:cNvSpPr txBox="1"/>
          <p:nvPr/>
        </p:nvSpPr>
        <p:spPr>
          <a:xfrm>
            <a:off x="1072055" y="1747595"/>
            <a:ext cx="6159054" cy="1167589"/>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2800" dirty="0">
                <a:latin typeface="Calibri"/>
                <a:ea typeface="Calibri"/>
                <a:cs typeface="Calibri"/>
                <a:sym typeface="Calibri"/>
              </a:rPr>
              <a:t>Make summaries of your data</a:t>
            </a: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13" name="Table 12"/>
          <p:cNvGraphicFramePr>
            <a:graphicFrameLocks noGrp="1"/>
          </p:cNvGraphicFramePr>
          <p:nvPr/>
        </p:nvGraphicFramePr>
        <p:xfrm>
          <a:off x="1900244" y="4358675"/>
          <a:ext cx="3736808" cy="2287415"/>
        </p:xfrm>
        <a:graphic>
          <a:graphicData uri="http://schemas.openxmlformats.org/drawingml/2006/table">
            <a:tbl>
              <a:tblPr firstRow="1" bandRow="1"/>
              <a:tblGrid>
                <a:gridCol w="1505607">
                  <a:extLst>
                    <a:ext uri="{9D8B030D-6E8A-4147-A177-3AD203B41FA5}">
                      <a16:colId xmlns:a16="http://schemas.microsoft.com/office/drawing/2014/main" val="20000"/>
                    </a:ext>
                  </a:extLst>
                </a:gridCol>
                <a:gridCol w="2231201">
                  <a:extLst>
                    <a:ext uri="{9D8B030D-6E8A-4147-A177-3AD203B41FA5}">
                      <a16:colId xmlns:a16="http://schemas.microsoft.com/office/drawing/2014/main" val="20001"/>
                    </a:ext>
                  </a:extLst>
                </a:gridCol>
              </a:tblGrid>
              <a:tr h="370840">
                <a:tc>
                  <a:txBody>
                    <a:bodyPr/>
                    <a:lstStyle/>
                    <a:p>
                      <a:pPr marL="0" lvl="0" indent="0" algn="ctr" rtl="0">
                        <a:spcBef>
                          <a:spcPts val="0"/>
                        </a:spcBef>
                        <a:spcAft>
                          <a:spcPts val="0"/>
                        </a:spcAft>
                        <a:buNone/>
                      </a:pPr>
                      <a:r>
                        <a:rPr lang="en-US" sz="2400" b="1" dirty="0" err="1">
                          <a:solidFill>
                            <a:schemeClr val="lt1"/>
                          </a:solidFill>
                        </a:rPr>
                        <a:t>mrn</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r>
                        <a:rPr lang="en-US" sz="2400" b="1" dirty="0" err="1">
                          <a:solidFill>
                            <a:schemeClr val="lt1"/>
                          </a:solidFill>
                        </a:rPr>
                        <a:t>pan_day</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dirty="0"/>
                        <a:t>5001412</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370840">
                <a:tc>
                  <a:txBody>
                    <a:bodyPr/>
                    <a:lstStyle/>
                    <a:p>
                      <a:pPr marL="0" lvl="0" indent="0" algn="ctr" rtl="0">
                        <a:spcBef>
                          <a:spcPts val="0"/>
                        </a:spcBef>
                        <a:spcAft>
                          <a:spcPts val="0"/>
                        </a:spcAft>
                        <a:buNone/>
                      </a:pPr>
                      <a:r>
                        <a:rPr lang="en-US" sz="2000" dirty="0"/>
                        <a:t>5000533</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2"/>
                  </a:ext>
                </a:extLst>
              </a:tr>
              <a:tr h="563687">
                <a:tc>
                  <a:txBody>
                    <a:bodyPr/>
                    <a:lstStyle/>
                    <a:p>
                      <a:pPr marL="0" lvl="0" indent="0" algn="ctr" rtl="0">
                        <a:spcBef>
                          <a:spcPts val="0"/>
                        </a:spcBef>
                        <a:spcAft>
                          <a:spcPts val="0"/>
                        </a:spcAft>
                        <a:buNone/>
                      </a:pPr>
                      <a:r>
                        <a:rPr lang="en-US" sz="2000" dirty="0"/>
                        <a:t>5009134</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3"/>
                  </a:ext>
                </a:extLst>
              </a:tr>
              <a:tr h="370840">
                <a:tc>
                  <a:txBody>
                    <a:bodyPr/>
                    <a:lstStyle/>
                    <a:p>
                      <a:pPr marL="0" lvl="0" indent="0" algn="ctr" rtl="0">
                        <a:spcBef>
                          <a:spcPts val="0"/>
                        </a:spcBef>
                        <a:spcAft>
                          <a:spcPts val="0"/>
                        </a:spcAft>
                        <a:buNone/>
                      </a:pPr>
                      <a:r>
                        <a:rPr lang="en-US" sz="2000" dirty="0"/>
                        <a:t>5008518</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8</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4"/>
                  </a:ext>
                </a:extLst>
              </a:tr>
            </a:tbl>
          </a:graphicData>
        </a:graphic>
      </p:graphicFrame>
      <p:sp>
        <p:nvSpPr>
          <p:cNvPr id="18" name="Google Shape;387;p40"/>
          <p:cNvSpPr/>
          <p:nvPr/>
        </p:nvSpPr>
        <p:spPr>
          <a:xfrm>
            <a:off x="5929312" y="4688886"/>
            <a:ext cx="333375" cy="231922"/>
          </a:xfrm>
          <a:custGeom>
            <a:avLst/>
            <a:gdLst/>
            <a:ahLst/>
            <a:cxnLst/>
            <a:rect l="l" t="t" r="r" b="b"/>
            <a:pathLst>
              <a:path w="622300" h="382270" extrusionOk="0">
                <a:moveTo>
                  <a:pt x="357634" y="0"/>
                </a:moveTo>
                <a:lnTo>
                  <a:pt x="357634" y="133825"/>
                </a:lnTo>
                <a:lnTo>
                  <a:pt x="0" y="133825"/>
                </a:lnTo>
                <a:lnTo>
                  <a:pt x="0" y="247816"/>
                </a:lnTo>
                <a:lnTo>
                  <a:pt x="357634" y="247816"/>
                </a:lnTo>
                <a:lnTo>
                  <a:pt x="357634" y="381642"/>
                </a:lnTo>
                <a:lnTo>
                  <a:pt x="622084" y="190821"/>
                </a:lnTo>
                <a:lnTo>
                  <a:pt x="357634"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6" name="TextBox 25"/>
          <p:cNvSpPr txBox="1"/>
          <p:nvPr/>
        </p:nvSpPr>
        <p:spPr>
          <a:xfrm>
            <a:off x="815160" y="763285"/>
            <a:ext cx="6825971" cy="923330"/>
          </a:xfrm>
          <a:prstGeom prst="rect">
            <a:avLst/>
          </a:prstGeom>
          <a:noFill/>
        </p:spPr>
        <p:txBody>
          <a:bodyPr wrap="none" rtlCol="0">
            <a:spAutoFit/>
          </a:bodyPr>
          <a:lstStyle/>
          <a:p>
            <a:r>
              <a:rPr lang="en-US" sz="5400" dirty="0" err="1">
                <a:latin typeface="+mj-lt"/>
                <a:sym typeface="Calibri"/>
              </a:rPr>
              <a:t>group_by</a:t>
            </a:r>
            <a:r>
              <a:rPr lang="en-US" sz="5400" dirty="0">
                <a:latin typeface="+mj-lt"/>
                <a:sym typeface="Calibri"/>
              </a:rPr>
              <a:t>() %&gt;% summarize</a:t>
            </a:r>
            <a:r>
              <a:rPr lang="en-US" sz="5400" dirty="0">
                <a:latin typeface="Calibri"/>
                <a:sym typeface="Calibri"/>
              </a:rPr>
              <a:t>()</a:t>
            </a:r>
            <a:endParaRPr lang="en-US" dirty="0"/>
          </a:p>
        </p:txBody>
      </p:sp>
      <p:graphicFrame>
        <p:nvGraphicFramePr>
          <p:cNvPr id="27" name="Table 26"/>
          <p:cNvGraphicFramePr>
            <a:graphicFrameLocks noGrp="1"/>
          </p:cNvGraphicFramePr>
          <p:nvPr/>
        </p:nvGraphicFramePr>
        <p:xfrm>
          <a:off x="6655443" y="4358675"/>
          <a:ext cx="2051392" cy="861864"/>
        </p:xfrm>
        <a:graphic>
          <a:graphicData uri="http://schemas.openxmlformats.org/drawingml/2006/table">
            <a:tbl>
              <a:tblPr firstRow="1" bandRow="1"/>
              <a:tblGrid>
                <a:gridCol w="2051392">
                  <a:extLst>
                    <a:ext uri="{9D8B030D-6E8A-4147-A177-3AD203B41FA5}">
                      <a16:colId xmlns:a16="http://schemas.microsoft.com/office/drawing/2014/main" val="20000"/>
                    </a:ext>
                  </a:extLst>
                </a:gridCol>
              </a:tblGrid>
              <a:tr h="373817">
                <a:tc>
                  <a:txBody>
                    <a:bodyPr/>
                    <a:lstStyle/>
                    <a:p>
                      <a:pPr marL="0" lvl="0" indent="0" algn="ctr" rtl="0">
                        <a:spcBef>
                          <a:spcPts val="0"/>
                        </a:spcBef>
                        <a:spcAft>
                          <a:spcPts val="0"/>
                        </a:spcAft>
                        <a:buNone/>
                      </a:pPr>
                      <a:r>
                        <a:rPr lang="en-US" sz="2400" b="1" dirty="0" err="1">
                          <a:solidFill>
                            <a:schemeClr val="lt1"/>
                          </a:solidFill>
                        </a:rPr>
                        <a:t>order_count</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1800" b="0" i="0" kern="1200" dirty="0">
                          <a:solidFill>
                            <a:schemeClr val="tx1"/>
                          </a:solidFill>
                          <a:effectLst/>
                          <a:latin typeface="+mn-lt"/>
                          <a:ea typeface="+mn-ea"/>
                          <a:cs typeface="+mn-cs"/>
                        </a:rPr>
                        <a:t>15524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bl>
          </a:graphicData>
        </a:graphic>
      </p:graphicFrame>
      <p:sp>
        <p:nvSpPr>
          <p:cNvPr id="14" name="Rectangle 13"/>
          <p:cNvSpPr/>
          <p:nvPr/>
        </p:nvSpPr>
        <p:spPr>
          <a:xfrm>
            <a:off x="1760075" y="2410049"/>
            <a:ext cx="9392596" cy="1323439"/>
          </a:xfrm>
          <a:prstGeom prst="rect">
            <a:avLst/>
          </a:prstGeom>
        </p:spPr>
        <p:txBody>
          <a:bodyPr wrap="square">
            <a:spAutoFit/>
          </a:bodyPr>
          <a:lstStyle/>
          <a:p>
            <a:r>
              <a:rPr lang="en-US" sz="2400" dirty="0" err="1">
                <a:latin typeface="Consolas" panose="020B0609020204030204" pitchFamily="49" charset="0"/>
                <a:ea typeface="Courier New"/>
                <a:cs typeface="Consolas" panose="020B0609020204030204" pitchFamily="49" charset="0"/>
                <a:sym typeface="Courier New"/>
              </a:rPr>
              <a:t>covid_testing</a:t>
            </a:r>
            <a:r>
              <a:rPr lang="en-US" sz="2400" dirty="0">
                <a:latin typeface="Consolas" panose="020B0609020204030204" pitchFamily="49" charset="0"/>
                <a:ea typeface="Courier New"/>
                <a:cs typeface="Consolas" panose="020B0609020204030204" pitchFamily="49" charset="0"/>
                <a:sym typeface="Courier New"/>
              </a:rPr>
              <a:t> %&gt;%</a:t>
            </a:r>
          </a:p>
          <a:p>
            <a:r>
              <a:rPr lang="en-US" sz="2400" dirty="0">
                <a:solidFill>
                  <a:srgbClr val="FF0000"/>
                </a:solidFill>
                <a:latin typeface="Consolas" panose="020B0609020204030204" pitchFamily="49" charset="0"/>
                <a:ea typeface="Courier New"/>
                <a:cs typeface="Consolas" panose="020B0609020204030204" pitchFamily="49" charset="0"/>
                <a:sym typeface="Courier New"/>
              </a:rPr>
              <a:t>	</a:t>
            </a:r>
          </a:p>
          <a:p>
            <a:r>
              <a:rPr lang="en-US" sz="2400" dirty="0">
                <a:solidFill>
                  <a:schemeClr val="bg1">
                    <a:lumMod val="65000"/>
                  </a:schemeClr>
                </a:solidFill>
                <a:latin typeface="Consolas" panose="020B0609020204030204" pitchFamily="49" charset="0"/>
                <a:ea typeface="Courier New"/>
                <a:cs typeface="Consolas" panose="020B0609020204030204" pitchFamily="49" charset="0"/>
                <a:sym typeface="Courier New"/>
              </a:rPr>
              <a:t>	</a:t>
            </a:r>
            <a:r>
              <a:rPr lang="en-US" sz="2400" dirty="0">
                <a:latin typeface="Consolas" panose="020B0609020204030204" pitchFamily="49" charset="0"/>
                <a:ea typeface="Courier New"/>
                <a:cs typeface="Consolas" panose="020B0609020204030204" pitchFamily="49" charset="0"/>
                <a:sym typeface="Courier New"/>
              </a:rPr>
              <a:t>summarize(</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order_count</a:t>
            </a:r>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b="1" dirty="0">
                <a:latin typeface="Consolas" panose="020B0609020204030204" pitchFamily="49" charset="0"/>
                <a:ea typeface="Courier New"/>
                <a:cs typeface="Consolas" panose="020B0609020204030204" pitchFamily="49" charset="0"/>
                <a:sym typeface="Courier New"/>
              </a:rPr>
              <a:t>=</a:t>
            </a:r>
            <a:r>
              <a:rPr lang="en-US" sz="2400" dirty="0">
                <a:latin typeface="Consolas" panose="020B0609020204030204" pitchFamily="49" charset="0"/>
                <a:ea typeface="Courier New"/>
                <a:cs typeface="Consolas" panose="020B0609020204030204" pitchFamily="49" charset="0"/>
                <a:sym typeface="Courier New"/>
              </a:rPr>
              <a:t> </a:t>
            </a:r>
            <a:r>
              <a:rPr lang="en-US" sz="2400" dirty="0">
                <a:solidFill>
                  <a:srgbClr val="8DB4E2"/>
                </a:solidFill>
                <a:latin typeface="Consolas" panose="020B0609020204030204" pitchFamily="49" charset="0"/>
                <a:ea typeface="Courier New"/>
                <a:cs typeface="Consolas" panose="020B0609020204030204" pitchFamily="49" charset="0"/>
                <a:sym typeface="Courier New"/>
              </a:rPr>
              <a:t>n()</a:t>
            </a:r>
            <a:r>
              <a:rPr lang="en-US" sz="2400" dirty="0">
                <a:latin typeface="Consolas" panose="020B0609020204030204" pitchFamily="49" charset="0"/>
                <a:ea typeface="Courier New"/>
                <a:cs typeface="Consolas" panose="020B0609020204030204" pitchFamily="49" charset="0"/>
                <a:sym typeface="Courier New"/>
              </a:rPr>
              <a:t>)</a:t>
            </a:r>
            <a:endParaRPr lang="en-US" sz="1400" dirty="0"/>
          </a:p>
        </p:txBody>
      </p:sp>
    </p:spTree>
    <p:extLst>
      <p:ext uri="{BB962C8B-B14F-4D97-AF65-F5344CB8AC3E}">
        <p14:creationId xmlns:p14="http://schemas.microsoft.com/office/powerpoint/2010/main" val="2885098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16" name="Google Shape;131;p17"/>
          <p:cNvSpPr/>
          <p:nvPr/>
        </p:nvSpPr>
        <p:spPr>
          <a:xfrm>
            <a:off x="1072055" y="2280929"/>
            <a:ext cx="10762593" cy="1821891"/>
          </a:xfrm>
          <a:custGeom>
            <a:avLst/>
            <a:gdLst/>
            <a:ahLst/>
            <a:cxnLst/>
            <a:rect l="l" t="t" r="r" b="b"/>
            <a:pathLst>
              <a:path w="14544040" h="1333500" extrusionOk="0">
                <a:moveTo>
                  <a:pt x="0" y="0"/>
                </a:moveTo>
                <a:lnTo>
                  <a:pt x="14543737" y="0"/>
                </a:lnTo>
                <a:lnTo>
                  <a:pt x="14543737" y="1333348"/>
                </a:lnTo>
                <a:lnTo>
                  <a:pt x="0" y="1333348"/>
                </a:lnTo>
                <a:lnTo>
                  <a:pt x="0" y="0"/>
                </a:lnTo>
                <a:close/>
              </a:path>
            </a:pathLst>
          </a:custGeom>
          <a:solidFill>
            <a:srgbClr val="F0F2F4"/>
          </a:solidFill>
          <a:ln>
            <a:solidFill>
              <a:schemeClr val="tx1">
                <a:lumMod val="85000"/>
                <a:lumOff val="15000"/>
              </a:schemeClr>
            </a:solidFill>
          </a:ln>
        </p:spPr>
        <p:txBody>
          <a:bodyPr spcFirstLastPara="1" wrap="square" lIns="0" tIns="0" rIns="0" bIns="0" anchor="t" anchorCtr="0">
            <a:noAutofit/>
          </a:bodyPr>
          <a:lstStyle/>
          <a:p>
            <a:endParaRPr sz="964" dirty="0"/>
          </a:p>
        </p:txBody>
      </p:sp>
      <p:sp>
        <p:nvSpPr>
          <p:cNvPr id="296" name="Google Shape;296;p32"/>
          <p:cNvSpPr txBox="1"/>
          <p:nvPr/>
        </p:nvSpPr>
        <p:spPr>
          <a:xfrm>
            <a:off x="1072055" y="1747595"/>
            <a:ext cx="6159054" cy="1167589"/>
          </a:xfrm>
          <a:prstGeom prst="rect">
            <a:avLst/>
          </a:prstGeom>
          <a:noFill/>
          <a:ln>
            <a:noFill/>
          </a:ln>
        </p:spPr>
        <p:txBody>
          <a:bodyPr spcFirstLastPara="1" wrap="square" lIns="0" tIns="6455" rIns="0" bIns="0" anchor="t" anchorCtr="0">
            <a:noAutofit/>
          </a:bodyPr>
          <a:lstStyle/>
          <a:p>
            <a:pPr marL="464003" indent="-457200">
              <a:buFont typeface="Arial" charset="0"/>
              <a:buChar char="•"/>
            </a:pPr>
            <a:r>
              <a:rPr lang="en-US" sz="2800" dirty="0">
                <a:latin typeface="Calibri"/>
                <a:ea typeface="Calibri"/>
                <a:cs typeface="Calibri"/>
                <a:sym typeface="Calibri"/>
              </a:rPr>
              <a:t>Make summaries of your data</a:t>
            </a:r>
          </a:p>
        </p:txBody>
      </p:sp>
      <p:sp>
        <p:nvSpPr>
          <p:cNvPr id="15" name="Google Shape;46;p7"/>
          <p:cNvSpPr>
            <a:spLocks noChangeAspect="1"/>
          </p:cNvSpPr>
          <p:nvPr/>
        </p:nvSpPr>
        <p:spPr>
          <a:xfrm>
            <a:off x="11152671" y="5805616"/>
            <a:ext cx="776274" cy="835671"/>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aphicFrame>
        <p:nvGraphicFramePr>
          <p:cNvPr id="13" name="Table 12"/>
          <p:cNvGraphicFramePr>
            <a:graphicFrameLocks noGrp="1"/>
          </p:cNvGraphicFramePr>
          <p:nvPr/>
        </p:nvGraphicFramePr>
        <p:xfrm>
          <a:off x="1900244" y="4358675"/>
          <a:ext cx="3736808" cy="2287415"/>
        </p:xfrm>
        <a:graphic>
          <a:graphicData uri="http://schemas.openxmlformats.org/drawingml/2006/table">
            <a:tbl>
              <a:tblPr firstRow="1" bandRow="1"/>
              <a:tblGrid>
                <a:gridCol w="1505607">
                  <a:extLst>
                    <a:ext uri="{9D8B030D-6E8A-4147-A177-3AD203B41FA5}">
                      <a16:colId xmlns:a16="http://schemas.microsoft.com/office/drawing/2014/main" val="20000"/>
                    </a:ext>
                  </a:extLst>
                </a:gridCol>
                <a:gridCol w="2231201">
                  <a:extLst>
                    <a:ext uri="{9D8B030D-6E8A-4147-A177-3AD203B41FA5}">
                      <a16:colId xmlns:a16="http://schemas.microsoft.com/office/drawing/2014/main" val="20001"/>
                    </a:ext>
                  </a:extLst>
                </a:gridCol>
              </a:tblGrid>
              <a:tr h="370840">
                <a:tc>
                  <a:txBody>
                    <a:bodyPr/>
                    <a:lstStyle/>
                    <a:p>
                      <a:pPr marL="0" lvl="0" indent="0" algn="ctr" rtl="0">
                        <a:spcBef>
                          <a:spcPts val="0"/>
                        </a:spcBef>
                        <a:spcAft>
                          <a:spcPts val="0"/>
                        </a:spcAft>
                        <a:buNone/>
                      </a:pPr>
                      <a:r>
                        <a:rPr lang="en-US" sz="2400" b="1" dirty="0" err="1">
                          <a:solidFill>
                            <a:schemeClr val="lt1"/>
                          </a:solidFill>
                        </a:rPr>
                        <a:t>mrn</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tc>
                  <a:txBody>
                    <a:bodyPr/>
                    <a:lstStyle/>
                    <a:p>
                      <a:pPr marL="0" lvl="0" indent="0" algn="ctr" rtl="0">
                        <a:spcBef>
                          <a:spcPts val="0"/>
                        </a:spcBef>
                        <a:spcAft>
                          <a:spcPts val="0"/>
                        </a:spcAft>
                        <a:buNone/>
                      </a:pPr>
                      <a:r>
                        <a:rPr lang="en-US" sz="2400" b="1" dirty="0" err="1">
                          <a:solidFill>
                            <a:schemeClr val="lt1"/>
                          </a:solidFill>
                        </a:rPr>
                        <a:t>pan_day</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A6A6A6"/>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dirty="0"/>
                        <a:t>5001412</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1"/>
                  </a:ext>
                </a:extLst>
              </a:tr>
              <a:tr h="370840">
                <a:tc>
                  <a:txBody>
                    <a:bodyPr/>
                    <a:lstStyle/>
                    <a:p>
                      <a:pPr marL="0" lvl="0" indent="0" algn="ctr" rtl="0">
                        <a:spcBef>
                          <a:spcPts val="0"/>
                        </a:spcBef>
                        <a:spcAft>
                          <a:spcPts val="0"/>
                        </a:spcAft>
                        <a:buNone/>
                      </a:pPr>
                      <a:r>
                        <a:rPr lang="en-US" sz="2000" dirty="0"/>
                        <a:t>5000533</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2"/>
                  </a:ext>
                </a:extLst>
              </a:tr>
              <a:tr h="563687">
                <a:tc>
                  <a:txBody>
                    <a:bodyPr/>
                    <a:lstStyle/>
                    <a:p>
                      <a:pPr marL="0" lvl="0" indent="0" algn="ctr" rtl="0">
                        <a:spcBef>
                          <a:spcPts val="0"/>
                        </a:spcBef>
                        <a:spcAft>
                          <a:spcPts val="0"/>
                        </a:spcAft>
                        <a:buNone/>
                      </a:pPr>
                      <a:r>
                        <a:rPr lang="en-US" sz="2000" dirty="0"/>
                        <a:t>5009134</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3"/>
                  </a:ext>
                </a:extLst>
              </a:tr>
              <a:tr h="370840">
                <a:tc>
                  <a:txBody>
                    <a:bodyPr/>
                    <a:lstStyle/>
                    <a:p>
                      <a:pPr marL="0" lvl="0" indent="0" algn="ctr" rtl="0">
                        <a:spcBef>
                          <a:spcPts val="0"/>
                        </a:spcBef>
                        <a:spcAft>
                          <a:spcPts val="0"/>
                        </a:spcAft>
                        <a:buNone/>
                      </a:pPr>
                      <a:r>
                        <a:rPr lang="en-US" sz="2000" dirty="0"/>
                        <a:t>5008518</a:t>
                      </a:r>
                      <a:endParaRPr sz="2000" dirty="0"/>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8</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D9D9D9"/>
                    </a:solidFill>
                  </a:tcPr>
                </a:tc>
                <a:extLst>
                  <a:ext uri="{0D108BD9-81ED-4DB2-BD59-A6C34878D82A}">
                    <a16:rowId xmlns:a16="http://schemas.microsoft.com/office/drawing/2014/main" val="10004"/>
                  </a:ext>
                </a:extLst>
              </a:tr>
            </a:tbl>
          </a:graphicData>
        </a:graphic>
      </p:graphicFrame>
      <p:sp>
        <p:nvSpPr>
          <p:cNvPr id="18" name="Google Shape;387;p40"/>
          <p:cNvSpPr/>
          <p:nvPr/>
        </p:nvSpPr>
        <p:spPr>
          <a:xfrm>
            <a:off x="5929312" y="4688886"/>
            <a:ext cx="333375" cy="231922"/>
          </a:xfrm>
          <a:custGeom>
            <a:avLst/>
            <a:gdLst/>
            <a:ahLst/>
            <a:cxnLst/>
            <a:rect l="l" t="t" r="r" b="b"/>
            <a:pathLst>
              <a:path w="622300" h="382270" extrusionOk="0">
                <a:moveTo>
                  <a:pt x="357634" y="0"/>
                </a:moveTo>
                <a:lnTo>
                  <a:pt x="357634" y="133825"/>
                </a:lnTo>
                <a:lnTo>
                  <a:pt x="0" y="133825"/>
                </a:lnTo>
                <a:lnTo>
                  <a:pt x="0" y="247816"/>
                </a:lnTo>
                <a:lnTo>
                  <a:pt x="357634" y="247816"/>
                </a:lnTo>
                <a:lnTo>
                  <a:pt x="357634" y="381642"/>
                </a:lnTo>
                <a:lnTo>
                  <a:pt x="622084" y="190821"/>
                </a:lnTo>
                <a:lnTo>
                  <a:pt x="357634" y="0"/>
                </a:lnTo>
                <a:close/>
              </a:path>
            </a:pathLst>
          </a:custGeom>
          <a:solidFill>
            <a:srgbClr val="53585F"/>
          </a:solidFill>
          <a:ln>
            <a:noFill/>
          </a:ln>
        </p:spPr>
        <p:txBody>
          <a:bodyPr spcFirstLastPara="1" wrap="square" lIns="0" tIns="0" rIns="0" bIns="0" anchor="t" anchorCtr="0">
            <a:noAutofit/>
          </a:bodyPr>
          <a:lstStyle/>
          <a:p>
            <a:endParaRPr sz="964"/>
          </a:p>
        </p:txBody>
      </p:sp>
      <p:sp>
        <p:nvSpPr>
          <p:cNvPr id="26" name="TextBox 25"/>
          <p:cNvSpPr txBox="1"/>
          <p:nvPr/>
        </p:nvSpPr>
        <p:spPr>
          <a:xfrm>
            <a:off x="815160" y="763285"/>
            <a:ext cx="6825971" cy="923330"/>
          </a:xfrm>
          <a:prstGeom prst="rect">
            <a:avLst/>
          </a:prstGeom>
          <a:noFill/>
        </p:spPr>
        <p:txBody>
          <a:bodyPr wrap="none" rtlCol="0">
            <a:spAutoFit/>
          </a:bodyPr>
          <a:lstStyle/>
          <a:p>
            <a:r>
              <a:rPr lang="en-US" sz="5400" dirty="0" err="1">
                <a:latin typeface="+mj-lt"/>
                <a:sym typeface="Calibri"/>
              </a:rPr>
              <a:t>group_by</a:t>
            </a:r>
            <a:r>
              <a:rPr lang="en-US" sz="5400" dirty="0">
                <a:latin typeface="+mj-lt"/>
                <a:sym typeface="Calibri"/>
              </a:rPr>
              <a:t>() %&gt;% summarize</a:t>
            </a:r>
            <a:r>
              <a:rPr lang="en-US" sz="5400" dirty="0">
                <a:latin typeface="Calibri"/>
                <a:sym typeface="Calibri"/>
              </a:rPr>
              <a:t>()</a:t>
            </a:r>
            <a:endParaRPr lang="en-US" dirty="0"/>
          </a:p>
        </p:txBody>
      </p:sp>
      <p:graphicFrame>
        <p:nvGraphicFramePr>
          <p:cNvPr id="27" name="Table 26"/>
          <p:cNvGraphicFramePr>
            <a:graphicFrameLocks noGrp="1"/>
          </p:cNvGraphicFramePr>
          <p:nvPr/>
        </p:nvGraphicFramePr>
        <p:xfrm>
          <a:off x="8606339" y="4310789"/>
          <a:ext cx="2051392" cy="2139420"/>
        </p:xfrm>
        <a:graphic>
          <a:graphicData uri="http://schemas.openxmlformats.org/drawingml/2006/table">
            <a:tbl>
              <a:tblPr firstRow="1" bandRow="1"/>
              <a:tblGrid>
                <a:gridCol w="2051392">
                  <a:extLst>
                    <a:ext uri="{9D8B030D-6E8A-4147-A177-3AD203B41FA5}">
                      <a16:colId xmlns:a16="http://schemas.microsoft.com/office/drawing/2014/main" val="20000"/>
                    </a:ext>
                  </a:extLst>
                </a:gridCol>
              </a:tblGrid>
              <a:tr h="373817">
                <a:tc>
                  <a:txBody>
                    <a:bodyPr/>
                    <a:lstStyle/>
                    <a:p>
                      <a:pPr marL="0" lvl="0" indent="0" algn="ctr" rtl="0">
                        <a:spcBef>
                          <a:spcPts val="0"/>
                        </a:spcBef>
                        <a:spcAft>
                          <a:spcPts val="0"/>
                        </a:spcAft>
                        <a:buNone/>
                      </a:pPr>
                      <a:r>
                        <a:rPr lang="en-US" sz="2400" b="1" dirty="0" err="1">
                          <a:solidFill>
                            <a:schemeClr val="lt1"/>
                          </a:solidFill>
                        </a:rPr>
                        <a:t>order_count</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538DD5"/>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1</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001"/>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2</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778434246"/>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3</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3860153828"/>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9</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8DB4E2"/>
                    </a:solidFill>
                  </a:tcPr>
                </a:tc>
                <a:extLst>
                  <a:ext uri="{0D108BD9-81ED-4DB2-BD59-A6C34878D82A}">
                    <a16:rowId xmlns:a16="http://schemas.microsoft.com/office/drawing/2014/main" val="1025789013"/>
                  </a:ext>
                </a:extLst>
              </a:tr>
            </a:tbl>
          </a:graphicData>
        </a:graphic>
      </p:graphicFrame>
      <p:sp>
        <p:nvSpPr>
          <p:cNvPr id="14" name="Rectangle 13"/>
          <p:cNvSpPr/>
          <p:nvPr/>
        </p:nvSpPr>
        <p:spPr>
          <a:xfrm>
            <a:off x="1760075" y="2410049"/>
            <a:ext cx="9392596" cy="1323439"/>
          </a:xfrm>
          <a:prstGeom prst="rect">
            <a:avLst/>
          </a:prstGeom>
        </p:spPr>
        <p:txBody>
          <a:bodyPr wrap="square">
            <a:spAutoFit/>
          </a:bodyPr>
          <a:lstStyle/>
          <a:p>
            <a:r>
              <a:rPr lang="en-US" sz="2400" dirty="0" err="1">
                <a:latin typeface="Consolas" panose="020B0609020204030204" pitchFamily="49" charset="0"/>
                <a:ea typeface="Courier New"/>
                <a:cs typeface="Consolas" panose="020B0609020204030204" pitchFamily="49" charset="0"/>
                <a:sym typeface="Courier New"/>
              </a:rPr>
              <a:t>covid_testing</a:t>
            </a:r>
            <a:r>
              <a:rPr lang="en-US" sz="2400" dirty="0">
                <a:latin typeface="Consolas" panose="020B0609020204030204" pitchFamily="49" charset="0"/>
                <a:ea typeface="Courier New"/>
                <a:cs typeface="Consolas" panose="020B0609020204030204" pitchFamily="49" charset="0"/>
                <a:sym typeface="Courier New"/>
              </a:rPr>
              <a:t> %&gt;%</a:t>
            </a:r>
          </a:p>
          <a:p>
            <a:r>
              <a:rPr lang="en-US" sz="2400" dirty="0">
                <a:solidFill>
                  <a:srgbClr val="FF0000"/>
                </a:solidFill>
                <a:latin typeface="Consolas" panose="020B0609020204030204" pitchFamily="49" charset="0"/>
                <a:ea typeface="Courier New"/>
                <a:cs typeface="Consolas" panose="020B0609020204030204" pitchFamily="49" charset="0"/>
                <a:sym typeface="Courier New"/>
              </a:rPr>
              <a:t>	</a:t>
            </a:r>
            <a:r>
              <a:rPr lang="en-US" sz="2400" dirty="0" err="1">
                <a:solidFill>
                  <a:srgbClr val="FF0000"/>
                </a:solidFill>
                <a:latin typeface="Consolas" panose="020B0609020204030204" pitchFamily="49" charset="0"/>
                <a:ea typeface="Courier New"/>
                <a:cs typeface="Consolas" panose="020B0609020204030204" pitchFamily="49" charset="0"/>
                <a:sym typeface="Courier New"/>
              </a:rPr>
              <a:t>group_by</a:t>
            </a:r>
            <a:r>
              <a:rPr lang="en-US" sz="2400" dirty="0">
                <a:solidFill>
                  <a:srgbClr val="FF0000"/>
                </a:solidFill>
                <a:latin typeface="Consolas" panose="020B0609020204030204" pitchFamily="49" charset="0"/>
                <a:ea typeface="Courier New"/>
                <a:cs typeface="Consolas" panose="020B0609020204030204" pitchFamily="49" charset="0"/>
                <a:sym typeface="Courier New"/>
              </a:rPr>
              <a:t>(</a:t>
            </a:r>
            <a:r>
              <a:rPr lang="en-US" sz="2400" dirty="0" err="1">
                <a:solidFill>
                  <a:srgbClr val="FF0000"/>
                </a:solidFill>
                <a:latin typeface="Consolas" panose="020B0609020204030204" pitchFamily="49" charset="0"/>
                <a:ea typeface="Courier New"/>
                <a:cs typeface="Consolas" panose="020B0609020204030204" pitchFamily="49" charset="0"/>
                <a:sym typeface="Courier New"/>
              </a:rPr>
              <a:t>pan_day</a:t>
            </a:r>
            <a:r>
              <a:rPr lang="en-US" sz="2400" dirty="0">
                <a:solidFill>
                  <a:srgbClr val="FF0000"/>
                </a:solidFill>
                <a:latin typeface="Consolas" panose="020B0609020204030204" pitchFamily="49" charset="0"/>
                <a:ea typeface="Courier New"/>
                <a:cs typeface="Consolas" panose="020B0609020204030204" pitchFamily="49" charset="0"/>
                <a:sym typeface="Courier New"/>
              </a:rPr>
              <a:t>) %&gt;%</a:t>
            </a:r>
          </a:p>
          <a:p>
            <a:r>
              <a:rPr lang="en-US" sz="2400" dirty="0">
                <a:solidFill>
                  <a:schemeClr val="bg1">
                    <a:lumMod val="65000"/>
                  </a:schemeClr>
                </a:solidFill>
                <a:latin typeface="Consolas" panose="020B0609020204030204" pitchFamily="49" charset="0"/>
                <a:ea typeface="Courier New"/>
                <a:cs typeface="Consolas" panose="020B0609020204030204" pitchFamily="49" charset="0"/>
                <a:sym typeface="Courier New"/>
              </a:rPr>
              <a:t>	</a:t>
            </a:r>
            <a:r>
              <a:rPr lang="en-US" sz="2400" dirty="0">
                <a:latin typeface="Consolas" panose="020B0609020204030204" pitchFamily="49" charset="0"/>
                <a:ea typeface="Courier New"/>
                <a:cs typeface="Consolas" panose="020B0609020204030204" pitchFamily="49" charset="0"/>
                <a:sym typeface="Courier New"/>
              </a:rPr>
              <a:t>summarize(</a:t>
            </a:r>
            <a:r>
              <a:rPr lang="en-US" sz="2400" dirty="0" err="1">
                <a:solidFill>
                  <a:srgbClr val="538DD5"/>
                </a:solidFill>
                <a:latin typeface="Consolas" panose="020B0609020204030204" pitchFamily="49" charset="0"/>
                <a:ea typeface="Courier New"/>
                <a:cs typeface="Consolas" panose="020B0609020204030204" pitchFamily="49" charset="0"/>
                <a:sym typeface="Courier New"/>
              </a:rPr>
              <a:t>order_count</a:t>
            </a:r>
            <a:r>
              <a:rPr lang="en-US" sz="2400" dirty="0">
                <a:solidFill>
                  <a:srgbClr val="538DD5"/>
                </a:solidFill>
                <a:latin typeface="Consolas" panose="020B0609020204030204" pitchFamily="49" charset="0"/>
                <a:ea typeface="Courier New"/>
                <a:cs typeface="Consolas" panose="020B0609020204030204" pitchFamily="49" charset="0"/>
                <a:sym typeface="Courier New"/>
              </a:rPr>
              <a:t> </a:t>
            </a:r>
            <a:r>
              <a:rPr lang="en-US" sz="3200" b="1" dirty="0">
                <a:solidFill>
                  <a:schemeClr val="accent3"/>
                </a:solidFill>
                <a:latin typeface="Consolas" panose="020B0609020204030204" pitchFamily="49" charset="0"/>
                <a:ea typeface="Courier New"/>
                <a:cs typeface="Consolas" panose="020B0609020204030204" pitchFamily="49" charset="0"/>
                <a:sym typeface="Courier New"/>
              </a:rPr>
              <a:t>=</a:t>
            </a:r>
            <a:r>
              <a:rPr lang="en-US" sz="2400" dirty="0">
                <a:latin typeface="Consolas" panose="020B0609020204030204" pitchFamily="49" charset="0"/>
                <a:ea typeface="Courier New"/>
                <a:cs typeface="Consolas" panose="020B0609020204030204" pitchFamily="49" charset="0"/>
                <a:sym typeface="Courier New"/>
              </a:rPr>
              <a:t> </a:t>
            </a:r>
            <a:r>
              <a:rPr lang="en-US" sz="2400" dirty="0">
                <a:solidFill>
                  <a:srgbClr val="8DB4E2"/>
                </a:solidFill>
                <a:latin typeface="Consolas" panose="020B0609020204030204" pitchFamily="49" charset="0"/>
                <a:ea typeface="Courier New"/>
                <a:cs typeface="Consolas" panose="020B0609020204030204" pitchFamily="49" charset="0"/>
                <a:sym typeface="Courier New"/>
              </a:rPr>
              <a:t>n()</a:t>
            </a:r>
            <a:r>
              <a:rPr lang="en-US" sz="2400" dirty="0">
                <a:latin typeface="Consolas" panose="020B0609020204030204" pitchFamily="49" charset="0"/>
                <a:ea typeface="Courier New"/>
                <a:cs typeface="Consolas" panose="020B0609020204030204" pitchFamily="49" charset="0"/>
                <a:sym typeface="Courier New"/>
              </a:rPr>
              <a:t>)</a:t>
            </a:r>
            <a:endParaRPr lang="en-US" sz="1400" dirty="0"/>
          </a:p>
        </p:txBody>
      </p:sp>
      <p:graphicFrame>
        <p:nvGraphicFramePr>
          <p:cNvPr id="10" name="Table 9">
            <a:extLst>
              <a:ext uri="{FF2B5EF4-FFF2-40B4-BE49-F238E27FC236}">
                <a16:creationId xmlns:a16="http://schemas.microsoft.com/office/drawing/2014/main" id="{F3C7F4C9-73FF-1A4B-95FE-6EB57DA1E636}"/>
              </a:ext>
            </a:extLst>
          </p:cNvPr>
          <p:cNvGraphicFramePr>
            <a:graphicFrameLocks noGrp="1"/>
          </p:cNvGraphicFramePr>
          <p:nvPr/>
        </p:nvGraphicFramePr>
        <p:xfrm>
          <a:off x="6554947" y="4302888"/>
          <a:ext cx="2051392" cy="2139420"/>
        </p:xfrm>
        <a:graphic>
          <a:graphicData uri="http://schemas.openxmlformats.org/drawingml/2006/table">
            <a:tbl>
              <a:tblPr firstRow="1" bandRow="1"/>
              <a:tblGrid>
                <a:gridCol w="2051392">
                  <a:extLst>
                    <a:ext uri="{9D8B030D-6E8A-4147-A177-3AD203B41FA5}">
                      <a16:colId xmlns:a16="http://schemas.microsoft.com/office/drawing/2014/main" val="20000"/>
                    </a:ext>
                  </a:extLst>
                </a:gridCol>
              </a:tblGrid>
              <a:tr h="373817">
                <a:tc>
                  <a:txBody>
                    <a:bodyPr/>
                    <a:lstStyle/>
                    <a:p>
                      <a:pPr marL="0" lvl="0" indent="0" algn="ctr" rtl="0">
                        <a:spcBef>
                          <a:spcPts val="0"/>
                        </a:spcBef>
                        <a:spcAft>
                          <a:spcPts val="0"/>
                        </a:spcAft>
                        <a:buNone/>
                      </a:pPr>
                      <a:r>
                        <a:rPr lang="en-US" sz="2400" b="1" dirty="0" err="1">
                          <a:solidFill>
                            <a:schemeClr val="lt1"/>
                          </a:solidFill>
                        </a:rPr>
                        <a:t>pan_day</a:t>
                      </a:r>
                      <a:endParaRPr sz="2400" b="1" dirty="0">
                        <a:solidFill>
                          <a:schemeClr val="lt1"/>
                        </a:solidFil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solidFill>
                  </a:tcPr>
                </a:tc>
                <a:extLst>
                  <a:ext uri="{0D108BD9-81ED-4DB2-BD59-A6C34878D82A}">
                    <a16:rowId xmlns:a16="http://schemas.microsoft.com/office/drawing/2014/main" val="10000"/>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4</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alpha val="50196"/>
                      </a:srgbClr>
                    </a:solidFill>
                  </a:tcPr>
                </a:tc>
                <a:extLst>
                  <a:ext uri="{0D108BD9-81ED-4DB2-BD59-A6C34878D82A}">
                    <a16:rowId xmlns:a16="http://schemas.microsoft.com/office/drawing/2014/main" val="10001"/>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7</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alpha val="50196"/>
                      </a:srgbClr>
                    </a:solidFill>
                  </a:tcPr>
                </a:tc>
                <a:extLst>
                  <a:ext uri="{0D108BD9-81ED-4DB2-BD59-A6C34878D82A}">
                    <a16:rowId xmlns:a16="http://schemas.microsoft.com/office/drawing/2014/main" val="1394885157"/>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8</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alpha val="50196"/>
                      </a:srgbClr>
                    </a:solidFill>
                  </a:tcPr>
                </a:tc>
                <a:extLst>
                  <a:ext uri="{0D108BD9-81ED-4DB2-BD59-A6C34878D82A}">
                    <a16:rowId xmlns:a16="http://schemas.microsoft.com/office/drawing/2014/main" val="3362528972"/>
                  </a:ext>
                </a:extLst>
              </a:tr>
              <a:tr h="370840">
                <a:tc>
                  <a:txBody>
                    <a:bodyPr/>
                    <a:lstStyle/>
                    <a:p>
                      <a:pPr marL="0" lvl="0" indent="0" algn="ctr" rtl="0">
                        <a:spcBef>
                          <a:spcPts val="0"/>
                        </a:spcBef>
                        <a:spcAft>
                          <a:spcPts val="0"/>
                        </a:spcAft>
                        <a:buNone/>
                      </a:pPr>
                      <a:r>
                        <a:rPr lang="en-US" sz="2000" b="0" i="0" u="none" strike="noStrike" cap="none" dirty="0">
                          <a:solidFill>
                            <a:srgbClr val="000000"/>
                          </a:solidFill>
                          <a:latin typeface="Arial"/>
                          <a:ea typeface="Arial"/>
                          <a:cs typeface="Arial"/>
                          <a:sym typeface="Arial"/>
                        </a:rPr>
                        <a:t>9</a:t>
                      </a:r>
                      <a:endParaRPr sz="2000" b="0" i="0" u="none" strike="noStrike" cap="none" dirty="0">
                        <a:solidFill>
                          <a:srgbClr val="000000"/>
                        </a:solidFill>
                        <a:latin typeface="Arial"/>
                        <a:ea typeface="Arial"/>
                        <a:cs typeface="Arial"/>
                        <a:sym typeface="Arial"/>
                      </a:endParaRPr>
                    </a:p>
                  </a:txBody>
                  <a:tcPr marL="48978" marR="48978" marT="55446" marB="55446" anchor="ctr">
                    <a:lnL w="28575" cap="flat" cmpd="sng" algn="ctr">
                      <a:solidFill>
                        <a:schemeClr val="bg1"/>
                      </a:solidFill>
                      <a:prstDash val="solid"/>
                      <a:round/>
                      <a:headEnd type="none" w="med" len="med"/>
                      <a:tailEnd type="none" w="med" len="med"/>
                    </a:lnL>
                    <a:lnR w="28575" cap="flat" cmpd="sng" algn="ctr">
                      <a:solidFill>
                        <a:schemeClr val="bg1"/>
                      </a:solidFill>
                      <a:prstDash val="solid"/>
                      <a:round/>
                      <a:headEnd type="none" w="med" len="med"/>
                      <a:tailEnd type="none" w="med" len="med"/>
                    </a:lnR>
                    <a:lnT w="28575" cap="flat" cmpd="sng" algn="ctr">
                      <a:solidFill>
                        <a:schemeClr val="bg1"/>
                      </a:solidFill>
                      <a:prstDash val="solid"/>
                      <a:round/>
                      <a:headEnd type="none" w="med" len="med"/>
                      <a:tailEnd type="none" w="med" len="med"/>
                    </a:lnT>
                    <a:lnB w="28575" cap="flat" cmpd="sng" algn="ctr">
                      <a:solidFill>
                        <a:schemeClr val="bg1"/>
                      </a:solidFill>
                      <a:prstDash val="solid"/>
                      <a:round/>
                      <a:headEnd type="none" w="med" len="med"/>
                      <a:tailEnd type="none" w="med" len="med"/>
                    </a:lnB>
                    <a:solidFill>
                      <a:srgbClr val="FF0000">
                        <a:alpha val="50196"/>
                      </a:srgbClr>
                    </a:solidFill>
                  </a:tcPr>
                </a:tc>
                <a:extLst>
                  <a:ext uri="{0D108BD9-81ED-4DB2-BD59-A6C34878D82A}">
                    <a16:rowId xmlns:a16="http://schemas.microsoft.com/office/drawing/2014/main" val="3121703329"/>
                  </a:ext>
                </a:extLst>
              </a:tr>
            </a:tbl>
          </a:graphicData>
        </a:graphic>
      </p:graphicFrame>
    </p:spTree>
    <p:extLst>
      <p:ext uri="{BB962C8B-B14F-4D97-AF65-F5344CB8AC3E}">
        <p14:creationId xmlns:p14="http://schemas.microsoft.com/office/powerpoint/2010/main" val="882865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422C01-0632-6388-3AF9-9F55EAB4D1F3}"/>
              </a:ext>
            </a:extLst>
          </p:cNvPr>
          <p:cNvSpPr>
            <a:spLocks noGrp="1"/>
          </p:cNvSpPr>
          <p:nvPr>
            <p:ph type="title"/>
          </p:nvPr>
        </p:nvSpPr>
        <p:spPr/>
        <p:txBody>
          <a:bodyPr/>
          <a:lstStyle/>
          <a:p>
            <a:r>
              <a:rPr lang="en-US" dirty="0"/>
              <a:t>Your Turn #2</a:t>
            </a:r>
          </a:p>
        </p:txBody>
      </p:sp>
      <p:sp>
        <p:nvSpPr>
          <p:cNvPr id="3" name="Text Placeholder 2">
            <a:extLst>
              <a:ext uri="{FF2B5EF4-FFF2-40B4-BE49-F238E27FC236}">
                <a16:creationId xmlns:a16="http://schemas.microsoft.com/office/drawing/2014/main" id="{DE43FC3E-238A-3B1C-85E9-FE4CB635C6D2}"/>
              </a:ext>
            </a:extLst>
          </p:cNvPr>
          <p:cNvSpPr>
            <a:spLocks noGrp="1"/>
          </p:cNvSpPr>
          <p:nvPr>
            <p:ph type="body" sz="quarter" idx="13"/>
          </p:nvPr>
        </p:nvSpPr>
        <p:spPr>
          <a:xfrm>
            <a:off x="1024128" y="2238375"/>
            <a:ext cx="9720072" cy="3848916"/>
          </a:xfrm>
        </p:spPr>
        <p:txBody>
          <a:bodyPr>
            <a:normAutofit fontScale="92500" lnSpcReduction="10000"/>
          </a:bodyPr>
          <a:lstStyle/>
          <a:p>
            <a:pPr marL="0" indent="0">
              <a:buNone/>
            </a:pPr>
            <a:r>
              <a:rPr lang="en-US" dirty="0"/>
              <a:t>Within </a:t>
            </a:r>
            <a:r>
              <a:rPr lang="en-US" sz="4000" dirty="0">
                <a:solidFill>
                  <a:srgbClr val="0070C0"/>
                </a:solidFill>
                <a:latin typeface="Consolas" panose="020B0609020204030204" pitchFamily="49" charset="0"/>
                <a:ea typeface="Monaco" charset="0"/>
                <a:cs typeface="Consolas" panose="020B0609020204030204" pitchFamily="49" charset="0"/>
              </a:rPr>
              <a:t>03 – </a:t>
            </a:r>
            <a:r>
              <a:rPr lang="en-US" sz="4000" dirty="0" err="1">
                <a:solidFill>
                  <a:srgbClr val="0070C0"/>
                </a:solidFill>
                <a:latin typeface="Consolas" panose="020B0609020204030204" pitchFamily="49" charset="0"/>
                <a:ea typeface="Monaco" charset="0"/>
                <a:cs typeface="Consolas" panose="020B0609020204030204" pitchFamily="49" charset="0"/>
              </a:rPr>
              <a:t>Transform.qmd</a:t>
            </a:r>
            <a:r>
              <a:rPr lang="en-US" dirty="0"/>
              <a:t> work through the second exercise, starting from where you stopped after the last exercise.</a:t>
            </a:r>
          </a:p>
          <a:p>
            <a:pPr marL="0" indent="0">
              <a:buNone/>
            </a:pPr>
            <a:endParaRPr lang="en-US" dirty="0"/>
          </a:p>
          <a:p>
            <a:pPr marL="0" indent="0">
              <a:buNone/>
            </a:pPr>
            <a:r>
              <a:rPr lang="en-US" sz="4800" dirty="0"/>
              <a:t>Type “done!” in the chat when you are finished.</a:t>
            </a:r>
          </a:p>
        </p:txBody>
      </p:sp>
    </p:spTree>
    <p:extLst>
      <p:ext uri="{BB962C8B-B14F-4D97-AF65-F5344CB8AC3E}">
        <p14:creationId xmlns:p14="http://schemas.microsoft.com/office/powerpoint/2010/main" val="4609685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E2864C1-603E-8842-AE96-D3526096E32C}"/>
              </a:ext>
            </a:extLst>
          </p:cNvPr>
          <p:cNvSpPr>
            <a:spLocks noGrp="1"/>
          </p:cNvSpPr>
          <p:nvPr>
            <p:ph idx="4294967295"/>
          </p:nvPr>
        </p:nvSpPr>
        <p:spPr>
          <a:xfrm>
            <a:off x="4187686" y="1932312"/>
            <a:ext cx="7618831" cy="1006074"/>
          </a:xfrm>
        </p:spPr>
        <p:txBody>
          <a:bodyPr>
            <a:normAutofit/>
          </a:bodyPr>
          <a:lstStyle/>
          <a:p>
            <a:pPr marL="0" indent="0">
              <a:buNone/>
            </a:pPr>
            <a:r>
              <a:rPr lang="en-US" sz="3200" dirty="0"/>
              <a:t>Extract columns with </a:t>
            </a:r>
            <a:r>
              <a:rPr lang="en-US" sz="2800" dirty="0">
                <a:latin typeface="Consolas" panose="020B0609020204030204" pitchFamily="49" charset="0"/>
              </a:rPr>
              <a:t>select()</a:t>
            </a:r>
            <a:endParaRPr lang="en-US" sz="3200" dirty="0">
              <a:latin typeface="Consolas" panose="020B0609020204030204" pitchFamily="49" charset="0"/>
            </a:endParaRPr>
          </a:p>
        </p:txBody>
      </p:sp>
      <p:sp>
        <p:nvSpPr>
          <p:cNvPr id="4" name="object 10">
            <a:extLst>
              <a:ext uri="{FF2B5EF4-FFF2-40B4-BE49-F238E27FC236}">
                <a16:creationId xmlns:a16="http://schemas.microsoft.com/office/drawing/2014/main" id="{76AF4A87-DBFF-1B44-A044-1B865727C039}"/>
              </a:ext>
            </a:extLst>
          </p:cNvPr>
          <p:cNvSpPr txBox="1"/>
          <p:nvPr/>
        </p:nvSpPr>
        <p:spPr>
          <a:xfrm>
            <a:off x="1765568" y="576094"/>
            <a:ext cx="9018175"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Recap</a:t>
            </a:r>
            <a:endParaRPr sz="4400" dirty="0">
              <a:latin typeface="Tw Cen MT" panose="020B0602020104020603" pitchFamily="34" charset="77"/>
              <a:cs typeface="Helvetica Neue"/>
            </a:endParaRPr>
          </a:p>
        </p:txBody>
      </p:sp>
      <p:grpSp>
        <p:nvGrpSpPr>
          <p:cNvPr id="6" name="Group 5">
            <a:extLst>
              <a:ext uri="{FF2B5EF4-FFF2-40B4-BE49-F238E27FC236}">
                <a16:creationId xmlns:a16="http://schemas.microsoft.com/office/drawing/2014/main" id="{7BD6099D-93BA-4044-B5A2-A0D34FDA56FE}"/>
              </a:ext>
            </a:extLst>
          </p:cNvPr>
          <p:cNvGrpSpPr/>
          <p:nvPr/>
        </p:nvGrpSpPr>
        <p:grpSpPr>
          <a:xfrm>
            <a:off x="1454258" y="1932312"/>
            <a:ext cx="2247767" cy="995844"/>
            <a:chOff x="593887" y="1722035"/>
            <a:chExt cx="2247767" cy="995844"/>
          </a:xfrm>
        </p:grpSpPr>
        <p:graphicFrame>
          <p:nvGraphicFramePr>
            <p:cNvPr id="10" name="Google Shape;147;p18">
              <a:extLst>
                <a:ext uri="{FF2B5EF4-FFF2-40B4-BE49-F238E27FC236}">
                  <a16:creationId xmlns:a16="http://schemas.microsoft.com/office/drawing/2014/main" id="{1745E705-87DD-3546-A5E7-2D5DC3A2CBE9}"/>
                </a:ext>
              </a:extLst>
            </p:cNvPr>
            <p:cNvGraphicFramePr/>
            <p:nvPr>
              <p:extLst>
                <p:ext uri="{D42A27DB-BD31-4B8C-83A1-F6EECF244321}">
                  <p14:modId xmlns:p14="http://schemas.microsoft.com/office/powerpoint/2010/main" val="2434750802"/>
                </p:ext>
              </p:extLst>
            </p:nvPr>
          </p:nvGraphicFramePr>
          <p:xfrm>
            <a:off x="593887" y="1722035"/>
            <a:ext cx="1046024" cy="968156"/>
          </p:xfrm>
          <a:graphic>
            <a:graphicData uri="http://schemas.openxmlformats.org/drawingml/2006/table">
              <a:tbl>
                <a:tblPr firstRow="1" bandRow="1">
                  <a:noFill/>
                </a:tblPr>
                <a:tblGrid>
                  <a:gridCol w="209210">
                    <a:extLst>
                      <a:ext uri="{9D8B030D-6E8A-4147-A177-3AD203B41FA5}">
                        <a16:colId xmlns:a16="http://schemas.microsoft.com/office/drawing/2014/main" val="20000"/>
                      </a:ext>
                    </a:extLst>
                  </a:gridCol>
                  <a:gridCol w="197908">
                    <a:extLst>
                      <a:ext uri="{9D8B030D-6E8A-4147-A177-3AD203B41FA5}">
                        <a16:colId xmlns:a16="http://schemas.microsoft.com/office/drawing/2014/main" val="20001"/>
                      </a:ext>
                    </a:extLst>
                  </a:gridCol>
                  <a:gridCol w="286473">
                    <a:extLst>
                      <a:ext uri="{9D8B030D-6E8A-4147-A177-3AD203B41FA5}">
                        <a16:colId xmlns:a16="http://schemas.microsoft.com/office/drawing/2014/main" val="20002"/>
                      </a:ext>
                    </a:extLst>
                  </a:gridCol>
                  <a:gridCol w="352433">
                    <a:extLst>
                      <a:ext uri="{9D8B030D-6E8A-4147-A177-3AD203B41FA5}">
                        <a16:colId xmlns:a16="http://schemas.microsoft.com/office/drawing/2014/main" val="20003"/>
                      </a:ext>
                    </a:extLst>
                  </a:gridCol>
                </a:tblGrid>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3"/>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5"/>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1" name="Google Shape;148;p18">
              <a:extLst>
                <a:ext uri="{FF2B5EF4-FFF2-40B4-BE49-F238E27FC236}">
                  <a16:creationId xmlns:a16="http://schemas.microsoft.com/office/drawing/2014/main" id="{D40F168D-7E8B-2049-97B7-940B96812DC7}"/>
                </a:ext>
              </a:extLst>
            </p:cNvPr>
            <p:cNvGraphicFramePr/>
            <p:nvPr>
              <p:extLst>
                <p:ext uri="{D42A27DB-BD31-4B8C-83A1-F6EECF244321}">
                  <p14:modId xmlns:p14="http://schemas.microsoft.com/office/powerpoint/2010/main" val="754175661"/>
                </p:ext>
              </p:extLst>
            </p:nvPr>
          </p:nvGraphicFramePr>
          <p:xfrm>
            <a:off x="2238454" y="1749723"/>
            <a:ext cx="603200" cy="968156"/>
          </p:xfrm>
          <a:graphic>
            <a:graphicData uri="http://schemas.openxmlformats.org/drawingml/2006/table">
              <a:tbl>
                <a:tblPr firstRow="1" bandRow="1">
                  <a:noFill/>
                </a:tblPr>
                <a:tblGrid>
                  <a:gridCol w="296502">
                    <a:extLst>
                      <a:ext uri="{9D8B030D-6E8A-4147-A177-3AD203B41FA5}">
                        <a16:colId xmlns:a16="http://schemas.microsoft.com/office/drawing/2014/main" val="20000"/>
                      </a:ext>
                    </a:extLst>
                  </a:gridCol>
                  <a:gridCol w="306698">
                    <a:extLst>
                      <a:ext uri="{9D8B030D-6E8A-4147-A177-3AD203B41FA5}">
                        <a16:colId xmlns:a16="http://schemas.microsoft.com/office/drawing/2014/main" val="20001"/>
                      </a:ext>
                    </a:extLst>
                  </a:gridCol>
                </a:tblGrid>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0365C0"/>
                      </a:solidFill>
                    </a:tcPr>
                  </a:tc>
                  <a:extLst>
                    <a:ext uri="{0D108BD9-81ED-4DB2-BD59-A6C34878D82A}">
                      <a16:rowId xmlns:a16="http://schemas.microsoft.com/office/drawing/2014/main" val="10000"/>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1"/>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2"/>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3"/>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4"/>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5"/>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8AAD6"/>
                      </a:solidFill>
                    </a:tcPr>
                  </a:tc>
                  <a:extLst>
                    <a:ext uri="{0D108BD9-81ED-4DB2-BD59-A6C34878D82A}">
                      <a16:rowId xmlns:a16="http://schemas.microsoft.com/office/drawing/2014/main" val="10006"/>
                    </a:ext>
                  </a:extLst>
                </a:tr>
              </a:tbl>
            </a:graphicData>
          </a:graphic>
        </p:graphicFrame>
        <p:sp>
          <p:nvSpPr>
            <p:cNvPr id="12" name="Google Shape;152;p18">
              <a:extLst>
                <a:ext uri="{FF2B5EF4-FFF2-40B4-BE49-F238E27FC236}">
                  <a16:creationId xmlns:a16="http://schemas.microsoft.com/office/drawing/2014/main" id="{DEADF342-73B1-2040-AF14-4CDD98875EBB}"/>
                </a:ext>
              </a:extLst>
            </p:cNvPr>
            <p:cNvSpPr/>
            <p:nvPr/>
          </p:nvSpPr>
          <p:spPr>
            <a:xfrm>
              <a:off x="1775840" y="2100439"/>
              <a:ext cx="326685" cy="211347"/>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pSp>
      <p:grpSp>
        <p:nvGrpSpPr>
          <p:cNvPr id="20" name="Group 19">
            <a:extLst>
              <a:ext uri="{FF2B5EF4-FFF2-40B4-BE49-F238E27FC236}">
                <a16:creationId xmlns:a16="http://schemas.microsoft.com/office/drawing/2014/main" id="{F7FD02C8-45FD-AC4C-9347-9497C6B4C4C8}"/>
              </a:ext>
            </a:extLst>
          </p:cNvPr>
          <p:cNvGrpSpPr/>
          <p:nvPr/>
        </p:nvGrpSpPr>
        <p:grpSpPr>
          <a:xfrm>
            <a:off x="1033366" y="3567394"/>
            <a:ext cx="2668660" cy="968156"/>
            <a:chOff x="593887" y="3068855"/>
            <a:chExt cx="2668660" cy="968156"/>
          </a:xfrm>
        </p:grpSpPr>
        <p:graphicFrame>
          <p:nvGraphicFramePr>
            <p:cNvPr id="13" name="Google Shape;154;p18">
              <a:extLst>
                <a:ext uri="{FF2B5EF4-FFF2-40B4-BE49-F238E27FC236}">
                  <a16:creationId xmlns:a16="http://schemas.microsoft.com/office/drawing/2014/main" id="{AAFA965D-DF2A-6C42-BC67-62B616730392}"/>
                </a:ext>
              </a:extLst>
            </p:cNvPr>
            <p:cNvGraphicFramePr/>
            <p:nvPr>
              <p:extLst>
                <p:ext uri="{D42A27DB-BD31-4B8C-83A1-F6EECF244321}">
                  <p14:modId xmlns:p14="http://schemas.microsoft.com/office/powerpoint/2010/main" val="1617864571"/>
                </p:ext>
              </p:extLst>
            </p:nvPr>
          </p:nvGraphicFramePr>
          <p:xfrm>
            <a:off x="593887" y="3068855"/>
            <a:ext cx="1046024" cy="968156"/>
          </p:xfrm>
          <a:graphic>
            <a:graphicData uri="http://schemas.openxmlformats.org/drawingml/2006/table">
              <a:tbl>
                <a:tblPr firstRow="1" bandRow="1">
                  <a:noFill/>
                </a:tblPr>
                <a:tblGrid>
                  <a:gridCol w="209210">
                    <a:extLst>
                      <a:ext uri="{9D8B030D-6E8A-4147-A177-3AD203B41FA5}">
                        <a16:colId xmlns:a16="http://schemas.microsoft.com/office/drawing/2014/main" val="20000"/>
                      </a:ext>
                    </a:extLst>
                  </a:gridCol>
                  <a:gridCol w="197908">
                    <a:extLst>
                      <a:ext uri="{9D8B030D-6E8A-4147-A177-3AD203B41FA5}">
                        <a16:colId xmlns:a16="http://schemas.microsoft.com/office/drawing/2014/main" val="20001"/>
                      </a:ext>
                    </a:extLst>
                  </a:gridCol>
                  <a:gridCol w="286473">
                    <a:extLst>
                      <a:ext uri="{9D8B030D-6E8A-4147-A177-3AD203B41FA5}">
                        <a16:colId xmlns:a16="http://schemas.microsoft.com/office/drawing/2014/main" val="20002"/>
                      </a:ext>
                    </a:extLst>
                  </a:gridCol>
                  <a:gridCol w="352433">
                    <a:extLst>
                      <a:ext uri="{9D8B030D-6E8A-4147-A177-3AD203B41FA5}">
                        <a16:colId xmlns:a16="http://schemas.microsoft.com/office/drawing/2014/main" val="20003"/>
                      </a:ext>
                    </a:extLst>
                  </a:gridCol>
                </a:tblGrid>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1"/>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2"/>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3"/>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4"/>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5"/>
                    </a:ext>
                  </a:extLst>
                </a:tr>
                <a:tr h="138308">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1D2"/>
                      </a:solidFill>
                    </a:tcPr>
                  </a:tc>
                  <a:extLst>
                    <a:ext uri="{0D108BD9-81ED-4DB2-BD59-A6C34878D82A}">
                      <a16:rowId xmlns:a16="http://schemas.microsoft.com/office/drawing/2014/main" val="10006"/>
                    </a:ext>
                  </a:extLst>
                </a:tr>
              </a:tbl>
            </a:graphicData>
          </a:graphic>
        </p:graphicFrame>
        <p:graphicFrame>
          <p:nvGraphicFramePr>
            <p:cNvPr id="14" name="Google Shape;156;p18">
              <a:extLst>
                <a:ext uri="{FF2B5EF4-FFF2-40B4-BE49-F238E27FC236}">
                  <a16:creationId xmlns:a16="http://schemas.microsoft.com/office/drawing/2014/main" id="{CE221E51-9868-B04B-BB8E-1B5FE62169F6}"/>
                </a:ext>
              </a:extLst>
            </p:cNvPr>
            <p:cNvGraphicFramePr/>
            <p:nvPr>
              <p:extLst>
                <p:ext uri="{D42A27DB-BD31-4B8C-83A1-F6EECF244321}">
                  <p14:modId xmlns:p14="http://schemas.microsoft.com/office/powerpoint/2010/main" val="2614054367"/>
                </p:ext>
              </p:extLst>
            </p:nvPr>
          </p:nvGraphicFramePr>
          <p:xfrm>
            <a:off x="2216523" y="3068855"/>
            <a:ext cx="1046024" cy="402120"/>
          </p:xfrm>
          <a:graphic>
            <a:graphicData uri="http://schemas.openxmlformats.org/drawingml/2006/table">
              <a:tbl>
                <a:tblPr firstRow="1" bandRow="1">
                  <a:noFill/>
                </a:tblPr>
                <a:tblGrid>
                  <a:gridCol w="209210">
                    <a:extLst>
                      <a:ext uri="{9D8B030D-6E8A-4147-A177-3AD203B41FA5}">
                        <a16:colId xmlns:a16="http://schemas.microsoft.com/office/drawing/2014/main" val="20000"/>
                      </a:ext>
                    </a:extLst>
                  </a:gridCol>
                  <a:gridCol w="197908">
                    <a:extLst>
                      <a:ext uri="{9D8B030D-6E8A-4147-A177-3AD203B41FA5}">
                        <a16:colId xmlns:a16="http://schemas.microsoft.com/office/drawing/2014/main" val="20001"/>
                      </a:ext>
                    </a:extLst>
                  </a:gridCol>
                  <a:gridCol w="286473">
                    <a:extLst>
                      <a:ext uri="{9D8B030D-6E8A-4147-A177-3AD203B41FA5}">
                        <a16:colId xmlns:a16="http://schemas.microsoft.com/office/drawing/2014/main" val="20002"/>
                      </a:ext>
                    </a:extLst>
                  </a:gridCol>
                  <a:gridCol w="352433">
                    <a:extLst>
                      <a:ext uri="{9D8B030D-6E8A-4147-A177-3AD203B41FA5}">
                        <a16:colId xmlns:a16="http://schemas.microsoft.com/office/drawing/2014/main" val="20003"/>
                      </a:ext>
                    </a:extLst>
                  </a:gridCol>
                </a:tblGrid>
                <a:tr h="134040">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767C85"/>
                      </a:solidFill>
                    </a:tcPr>
                  </a:tc>
                  <a:extLst>
                    <a:ext uri="{0D108BD9-81ED-4DB2-BD59-A6C34878D82A}">
                      <a16:rowId xmlns:a16="http://schemas.microsoft.com/office/drawing/2014/main" val="10000"/>
                    </a:ext>
                  </a:extLst>
                </a:tr>
                <a:tr h="13404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1"/>
                    </a:ext>
                  </a:extLst>
                </a:tr>
                <a:tr h="134040">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tc>
                    <a:txBody>
                      <a:bodyPr/>
                      <a:lstStyle/>
                      <a:p>
                        <a:pPr marL="0" marR="0" lvl="0" indent="0" algn="l" rtl="0">
                          <a:lnSpc>
                            <a:spcPct val="100000"/>
                          </a:lnSpc>
                          <a:spcBef>
                            <a:spcPts val="0"/>
                          </a:spcBef>
                          <a:spcAft>
                            <a:spcPts val="0"/>
                          </a:spcAft>
                          <a:buNone/>
                        </a:pPr>
                        <a:endParaRPr sz="300" u="none" strike="noStrike" cap="none" dirty="0">
                          <a:latin typeface="Times New Roman"/>
                          <a:ea typeface="Times New Roman"/>
                          <a:cs typeface="Times New Roman"/>
                          <a:sym typeface="Times New Roman"/>
                        </a:endParaRPr>
                      </a:p>
                    </a:txBody>
                    <a:tcPr marL="0" marR="0" marT="0" marB="0">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92B573"/>
                      </a:solidFill>
                    </a:tcPr>
                  </a:tc>
                  <a:extLst>
                    <a:ext uri="{0D108BD9-81ED-4DB2-BD59-A6C34878D82A}">
                      <a16:rowId xmlns:a16="http://schemas.microsoft.com/office/drawing/2014/main" val="10002"/>
                    </a:ext>
                  </a:extLst>
                </a:tr>
              </a:tbl>
            </a:graphicData>
          </a:graphic>
        </p:graphicFrame>
        <p:sp>
          <p:nvSpPr>
            <p:cNvPr id="15" name="Google Shape;152;p18">
              <a:extLst>
                <a:ext uri="{FF2B5EF4-FFF2-40B4-BE49-F238E27FC236}">
                  <a16:creationId xmlns:a16="http://schemas.microsoft.com/office/drawing/2014/main" id="{953A488E-38F8-AF4E-99A7-CD62C97E3E6B}"/>
                </a:ext>
              </a:extLst>
            </p:cNvPr>
            <p:cNvSpPr/>
            <p:nvPr/>
          </p:nvSpPr>
          <p:spPr>
            <a:xfrm>
              <a:off x="1764874" y="3164241"/>
              <a:ext cx="326685" cy="211347"/>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pSp>
      <p:grpSp>
        <p:nvGrpSpPr>
          <p:cNvPr id="23" name="Group 22">
            <a:extLst>
              <a:ext uri="{FF2B5EF4-FFF2-40B4-BE49-F238E27FC236}">
                <a16:creationId xmlns:a16="http://schemas.microsoft.com/office/drawing/2014/main" id="{083CA39A-79FA-4C45-AC13-9FB81CC49D08}"/>
              </a:ext>
            </a:extLst>
          </p:cNvPr>
          <p:cNvGrpSpPr/>
          <p:nvPr/>
        </p:nvGrpSpPr>
        <p:grpSpPr>
          <a:xfrm>
            <a:off x="219421" y="4921031"/>
            <a:ext cx="3482605" cy="912032"/>
            <a:chOff x="281013" y="5097164"/>
            <a:chExt cx="3482605" cy="912032"/>
          </a:xfrm>
        </p:grpSpPr>
        <p:pic>
          <p:nvPicPr>
            <p:cNvPr id="17" name="Picture 16">
              <a:extLst>
                <a:ext uri="{FF2B5EF4-FFF2-40B4-BE49-F238E27FC236}">
                  <a16:creationId xmlns:a16="http://schemas.microsoft.com/office/drawing/2014/main" id="{425F0177-33B0-EA40-901A-AF59885B5D2C}"/>
                </a:ext>
              </a:extLst>
            </p:cNvPr>
            <p:cNvPicPr>
              <a:picLocks noChangeAspect="1"/>
            </p:cNvPicPr>
            <p:nvPr/>
          </p:nvPicPr>
          <p:blipFill rotWithShape="1">
            <a:blip r:embed="rId4"/>
            <a:srcRect r="59207"/>
            <a:stretch/>
          </p:blipFill>
          <p:spPr>
            <a:xfrm>
              <a:off x="281013" y="5097164"/>
              <a:ext cx="1358898" cy="908520"/>
            </a:xfrm>
            <a:prstGeom prst="rect">
              <a:avLst/>
            </a:prstGeom>
          </p:spPr>
        </p:pic>
        <p:pic>
          <p:nvPicPr>
            <p:cNvPr id="18" name="Picture 17">
              <a:extLst>
                <a:ext uri="{FF2B5EF4-FFF2-40B4-BE49-F238E27FC236}">
                  <a16:creationId xmlns:a16="http://schemas.microsoft.com/office/drawing/2014/main" id="{5B6A5F4B-BA39-354C-8EB8-6D7B2EAF4259}"/>
                </a:ext>
              </a:extLst>
            </p:cNvPr>
            <p:cNvPicPr>
              <a:picLocks noChangeAspect="1"/>
            </p:cNvPicPr>
            <p:nvPr/>
          </p:nvPicPr>
          <p:blipFill rotWithShape="1">
            <a:blip r:embed="rId4"/>
            <a:srcRect l="50000"/>
            <a:stretch/>
          </p:blipFill>
          <p:spPr>
            <a:xfrm>
              <a:off x="2091560" y="5097164"/>
              <a:ext cx="1672058" cy="912032"/>
            </a:xfrm>
            <a:prstGeom prst="rect">
              <a:avLst/>
            </a:prstGeom>
          </p:spPr>
        </p:pic>
        <p:sp>
          <p:nvSpPr>
            <p:cNvPr id="19" name="Google Shape;152;p18">
              <a:extLst>
                <a:ext uri="{FF2B5EF4-FFF2-40B4-BE49-F238E27FC236}">
                  <a16:creationId xmlns:a16="http://schemas.microsoft.com/office/drawing/2014/main" id="{462C7D19-9D66-724F-8A20-892B6F088D4D}"/>
                </a:ext>
              </a:extLst>
            </p:cNvPr>
            <p:cNvSpPr/>
            <p:nvPr/>
          </p:nvSpPr>
          <p:spPr>
            <a:xfrm>
              <a:off x="1720629" y="5505495"/>
              <a:ext cx="326685" cy="211347"/>
            </a:xfrm>
            <a:prstGeom prst="rect">
              <a:avLst/>
            </a:prstGeom>
            <a:blipFill rotWithShape="1">
              <a:blip r:embed="rId3">
                <a:alphaModFix/>
              </a:blip>
              <a:stretch>
                <a:fillRect/>
              </a:stretch>
            </a:blipFill>
            <a:ln>
              <a:noFill/>
            </a:ln>
          </p:spPr>
          <p:txBody>
            <a:bodyPr spcFirstLastPara="1" wrap="square" lIns="0" tIns="0" rIns="0" bIns="0" anchor="t" anchorCtr="0">
              <a:noAutofit/>
            </a:bodyPr>
            <a:lstStyle/>
            <a:p>
              <a:endParaRPr sz="964"/>
            </a:p>
          </p:txBody>
        </p:sp>
      </p:grpSp>
      <p:sp>
        <p:nvSpPr>
          <p:cNvPr id="21" name="Content Placeholder 2">
            <a:extLst>
              <a:ext uri="{FF2B5EF4-FFF2-40B4-BE49-F238E27FC236}">
                <a16:creationId xmlns:a16="http://schemas.microsoft.com/office/drawing/2014/main" id="{2DEAB4D9-C338-6245-9259-A388CDA39D7F}"/>
              </a:ext>
            </a:extLst>
          </p:cNvPr>
          <p:cNvSpPr txBox="1">
            <a:spLocks/>
          </p:cNvSpPr>
          <p:nvPr/>
        </p:nvSpPr>
        <p:spPr>
          <a:xfrm>
            <a:off x="4187686" y="3567394"/>
            <a:ext cx="7618831" cy="1006074"/>
          </a:xfrm>
          <a:prstGeom prst="rect">
            <a:avLst/>
          </a:prstGeom>
        </p:spPr>
        <p:txBody>
          <a:bodyPr vert="horz" lIns="45720" tIns="45720" rIns="4572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buFont typeface="Tw Cen MT" panose="020B0602020104020603" pitchFamily="34" charset="0"/>
              <a:buNone/>
            </a:pPr>
            <a:r>
              <a:rPr lang="en-US" sz="3200" dirty="0"/>
              <a:t>Filter rows by logical criteria with </a:t>
            </a:r>
            <a:r>
              <a:rPr lang="en-US" sz="2800" dirty="0">
                <a:latin typeface="Consolas" panose="020B0609020204030204" pitchFamily="49" charset="0"/>
              </a:rPr>
              <a:t>filter()</a:t>
            </a:r>
            <a:endParaRPr lang="en-US" sz="3200" dirty="0">
              <a:latin typeface="Consolas" panose="020B0609020204030204" pitchFamily="49" charset="0"/>
            </a:endParaRPr>
          </a:p>
        </p:txBody>
      </p:sp>
      <p:sp>
        <p:nvSpPr>
          <p:cNvPr id="24" name="Content Placeholder 2">
            <a:extLst>
              <a:ext uri="{FF2B5EF4-FFF2-40B4-BE49-F238E27FC236}">
                <a16:creationId xmlns:a16="http://schemas.microsoft.com/office/drawing/2014/main" id="{05EA191B-21B6-A946-8FF4-3846B22FCED1}"/>
              </a:ext>
            </a:extLst>
          </p:cNvPr>
          <p:cNvSpPr txBox="1">
            <a:spLocks/>
          </p:cNvSpPr>
          <p:nvPr/>
        </p:nvSpPr>
        <p:spPr>
          <a:xfrm>
            <a:off x="4187686" y="5115762"/>
            <a:ext cx="7618831" cy="1006074"/>
          </a:xfrm>
          <a:prstGeom prst="rect">
            <a:avLst/>
          </a:prstGeom>
        </p:spPr>
        <p:txBody>
          <a:bodyPr vert="horz" lIns="45720" tIns="45720" rIns="4572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buFont typeface="Tw Cen MT" panose="020B0602020104020603" pitchFamily="34" charset="0"/>
              <a:buNone/>
            </a:pPr>
            <a:r>
              <a:rPr lang="en-US" sz="3200" dirty="0"/>
              <a:t>Create new columns with </a:t>
            </a:r>
            <a:r>
              <a:rPr lang="en-US" sz="2800" dirty="0">
                <a:latin typeface="Consolas" panose="020B0609020204030204" pitchFamily="49" charset="0"/>
              </a:rPr>
              <a:t>mutate()</a:t>
            </a:r>
            <a:endParaRPr lang="en-US" sz="3200" dirty="0">
              <a:latin typeface="Consolas" panose="020B0609020204030204" pitchFamily="49" charset="0"/>
            </a:endParaRPr>
          </a:p>
        </p:txBody>
      </p:sp>
    </p:spTree>
    <p:extLst>
      <p:ext uri="{BB962C8B-B14F-4D97-AF65-F5344CB8AC3E}">
        <p14:creationId xmlns:p14="http://schemas.microsoft.com/office/powerpoint/2010/main" val="2941336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3"/>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24"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10">
            <a:extLst>
              <a:ext uri="{FF2B5EF4-FFF2-40B4-BE49-F238E27FC236}">
                <a16:creationId xmlns:a16="http://schemas.microsoft.com/office/drawing/2014/main" id="{76AF4A87-DBFF-1B44-A044-1B865727C039}"/>
              </a:ext>
            </a:extLst>
          </p:cNvPr>
          <p:cNvSpPr txBox="1"/>
          <p:nvPr/>
        </p:nvSpPr>
        <p:spPr>
          <a:xfrm>
            <a:off x="1765568" y="576094"/>
            <a:ext cx="9018175" cy="689291"/>
          </a:xfrm>
          <a:prstGeom prst="rect">
            <a:avLst/>
          </a:prstGeom>
        </p:spPr>
        <p:txBody>
          <a:bodyPr vert="horz" wrap="square" lIns="0" tIns="12065" rIns="0" bIns="0" rtlCol="0">
            <a:spAutoFit/>
          </a:bodyPr>
          <a:lstStyle/>
          <a:p>
            <a:pPr marL="12700" algn="ctr">
              <a:lnSpc>
                <a:spcPct val="100000"/>
              </a:lnSpc>
              <a:spcBef>
                <a:spcPts val="95"/>
              </a:spcBef>
            </a:pPr>
            <a:r>
              <a:rPr lang="en-US" sz="4400" spc="-5" dirty="0">
                <a:latin typeface="Tw Cen MT" panose="020B0602020104020603" pitchFamily="34" charset="77"/>
                <a:cs typeface="Helvetica Neue"/>
              </a:rPr>
              <a:t>Recap</a:t>
            </a:r>
            <a:endParaRPr sz="4400" dirty="0">
              <a:latin typeface="Tw Cen MT" panose="020B0602020104020603" pitchFamily="34" charset="77"/>
              <a:cs typeface="Helvetica Neue"/>
            </a:endParaRPr>
          </a:p>
        </p:txBody>
      </p:sp>
      <p:grpSp>
        <p:nvGrpSpPr>
          <p:cNvPr id="9" name="Group 8">
            <a:extLst>
              <a:ext uri="{FF2B5EF4-FFF2-40B4-BE49-F238E27FC236}">
                <a16:creationId xmlns:a16="http://schemas.microsoft.com/office/drawing/2014/main" id="{580DBB72-7810-C2FD-4B2C-3918E34FD4E6}"/>
              </a:ext>
            </a:extLst>
          </p:cNvPr>
          <p:cNvGrpSpPr/>
          <p:nvPr/>
        </p:nvGrpSpPr>
        <p:grpSpPr>
          <a:xfrm>
            <a:off x="219420" y="1906047"/>
            <a:ext cx="11587096" cy="1006074"/>
            <a:chOff x="219420" y="1906047"/>
            <a:chExt cx="11587096" cy="1006074"/>
          </a:xfrm>
        </p:grpSpPr>
        <p:sp>
          <p:nvSpPr>
            <p:cNvPr id="22" name="Content Placeholder 2">
              <a:extLst>
                <a:ext uri="{FF2B5EF4-FFF2-40B4-BE49-F238E27FC236}">
                  <a16:creationId xmlns:a16="http://schemas.microsoft.com/office/drawing/2014/main" id="{7784CEEB-F171-2F4C-8DD8-1799B30BBA12}"/>
                </a:ext>
              </a:extLst>
            </p:cNvPr>
            <p:cNvSpPr txBox="1">
              <a:spLocks/>
            </p:cNvSpPr>
            <p:nvPr/>
          </p:nvSpPr>
          <p:spPr>
            <a:xfrm>
              <a:off x="4187685" y="1906047"/>
              <a:ext cx="7618831" cy="1006074"/>
            </a:xfrm>
            <a:prstGeom prst="rect">
              <a:avLst/>
            </a:prstGeom>
          </p:spPr>
          <p:txBody>
            <a:bodyPr vert="horz" lIns="45720" tIns="45720" rIns="45720" bIns="45720" rtlCol="0">
              <a:normAutofit/>
            </a:bodyPr>
            <a:lstStyle>
              <a:lvl1pPr marL="91440" indent="-91440" algn="l" defTabSz="914400" rtl="0" eaLnBrk="1" latinLnBrk="0" hangingPunct="1">
                <a:lnSpc>
                  <a:spcPct val="90000"/>
                </a:lnSpc>
                <a:spcBef>
                  <a:spcPts val="1200"/>
                </a:spcBef>
                <a:spcAft>
                  <a:spcPts val="200"/>
                </a:spcAft>
                <a:buClr>
                  <a:schemeClr val="accent1"/>
                </a:buClr>
                <a:buSzPct val="100000"/>
                <a:buFont typeface="Tw Cen MT" panose="020B0602020104020603" pitchFamily="34" charset="0"/>
                <a:buChar char=" "/>
                <a:defRPr sz="2200" kern="1200">
                  <a:solidFill>
                    <a:schemeClr val="tx1"/>
                  </a:solidFill>
                  <a:latin typeface="+mn-lt"/>
                  <a:ea typeface="+mn-ea"/>
                  <a:cs typeface="+mn-cs"/>
                </a:defRPr>
              </a:lvl1pPr>
              <a:lvl2pPr marL="26517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800" kern="1200">
                  <a:solidFill>
                    <a:schemeClr val="tx1"/>
                  </a:solidFill>
                  <a:latin typeface="+mn-lt"/>
                  <a:ea typeface="+mn-ea"/>
                  <a:cs typeface="+mn-cs"/>
                </a:defRPr>
              </a:lvl2pPr>
              <a:lvl3pPr marL="4480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3pPr>
              <a:lvl4pPr marL="59436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4pPr>
              <a:lvl5pPr marL="77724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5pPr>
              <a:lvl6pPr marL="914400"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6pPr>
              <a:lvl7pPr marL="1060704"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7pPr>
              <a:lvl8pPr marL="1216152"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8pPr>
              <a:lvl9pPr marL="1362456" indent="-137160" algn="l" defTabSz="914400" rtl="0" eaLnBrk="1" latinLnBrk="0" hangingPunct="1">
                <a:lnSpc>
                  <a:spcPct val="90000"/>
                </a:lnSpc>
                <a:spcBef>
                  <a:spcPts val="200"/>
                </a:spcBef>
                <a:spcAft>
                  <a:spcPts val="400"/>
                </a:spcAft>
                <a:buClr>
                  <a:schemeClr val="accent1"/>
                </a:buClr>
                <a:buFont typeface="Wingdings 3" pitchFamily="18" charset="2"/>
                <a:buChar char=""/>
                <a:defRPr sz="1400" kern="1200">
                  <a:solidFill>
                    <a:schemeClr val="tx1"/>
                  </a:solidFill>
                  <a:latin typeface="+mn-lt"/>
                  <a:ea typeface="+mn-ea"/>
                  <a:cs typeface="+mn-cs"/>
                </a:defRPr>
              </a:lvl9pPr>
            </a:lstStyle>
            <a:p>
              <a:pPr marL="0" indent="0">
                <a:buFont typeface="Tw Cen MT" panose="020B0602020104020603" pitchFamily="34" charset="0"/>
                <a:buNone/>
              </a:pPr>
              <a:r>
                <a:rPr lang="en-US" sz="3200" dirty="0"/>
                <a:t>Use the </a:t>
              </a:r>
              <a:r>
                <a:rPr lang="en-US" sz="3200" b="1" dirty="0"/>
                <a:t>pipe operator </a:t>
              </a:r>
              <a:r>
                <a:rPr lang="en-US" sz="2800" dirty="0">
                  <a:latin typeface="Consolas" panose="020B0609020204030204" pitchFamily="49" charset="0"/>
                </a:rPr>
                <a:t>%&gt;%</a:t>
              </a:r>
              <a:r>
                <a:rPr lang="en-US" sz="3200" dirty="0"/>
                <a:t> to combine data transformation steps into a pipeline</a:t>
              </a:r>
              <a:endParaRPr lang="en-US" sz="3200" dirty="0">
                <a:latin typeface="Consolas" panose="020B0609020204030204" pitchFamily="49" charset="0"/>
              </a:endParaRPr>
            </a:p>
          </p:txBody>
        </p:sp>
        <p:pic>
          <p:nvPicPr>
            <p:cNvPr id="7" name="Picture 6" descr="Icon&#10;&#10;Description automatically generated with medium confidence">
              <a:extLst>
                <a:ext uri="{FF2B5EF4-FFF2-40B4-BE49-F238E27FC236}">
                  <a16:creationId xmlns:a16="http://schemas.microsoft.com/office/drawing/2014/main" id="{16531B84-256A-9D76-846D-AA2CEE897EB0}"/>
                </a:ext>
              </a:extLst>
            </p:cNvPr>
            <p:cNvPicPr>
              <a:picLocks noChangeAspect="1"/>
            </p:cNvPicPr>
            <p:nvPr/>
          </p:nvPicPr>
          <p:blipFill>
            <a:blip r:embed="rId3"/>
            <a:stretch>
              <a:fillRect/>
            </a:stretch>
          </p:blipFill>
          <p:spPr>
            <a:xfrm>
              <a:off x="219420" y="1988752"/>
              <a:ext cx="3775347" cy="799656"/>
            </a:xfrm>
            <a:prstGeom prst="rect">
              <a:avLst/>
            </a:prstGeom>
          </p:spPr>
        </p:pic>
      </p:grpSp>
      <p:pic>
        <p:nvPicPr>
          <p:cNvPr id="2" name="Picture 1">
            <a:extLst>
              <a:ext uri="{FF2B5EF4-FFF2-40B4-BE49-F238E27FC236}">
                <a16:creationId xmlns:a16="http://schemas.microsoft.com/office/drawing/2014/main" id="{93038C7B-B718-2E4A-7A16-A82E70D9988C}"/>
              </a:ext>
            </a:extLst>
          </p:cNvPr>
          <p:cNvPicPr>
            <a:picLocks noChangeAspect="1"/>
          </p:cNvPicPr>
          <p:nvPr/>
        </p:nvPicPr>
        <p:blipFill rotWithShape="1">
          <a:blip r:embed="rId4"/>
          <a:srcRect r="54023"/>
          <a:stretch/>
        </p:blipFill>
        <p:spPr>
          <a:xfrm>
            <a:off x="162741" y="3428999"/>
            <a:ext cx="3742753" cy="2253343"/>
          </a:xfrm>
          <a:prstGeom prst="rect">
            <a:avLst/>
          </a:prstGeom>
        </p:spPr>
      </p:pic>
      <p:sp>
        <p:nvSpPr>
          <p:cNvPr id="5" name="Rectangle 4">
            <a:extLst>
              <a:ext uri="{FF2B5EF4-FFF2-40B4-BE49-F238E27FC236}">
                <a16:creationId xmlns:a16="http://schemas.microsoft.com/office/drawing/2014/main" id="{2E4279E2-0B52-4112-2C5E-50E646164D1C}"/>
              </a:ext>
            </a:extLst>
          </p:cNvPr>
          <p:cNvSpPr/>
          <p:nvPr/>
        </p:nvSpPr>
        <p:spPr>
          <a:xfrm>
            <a:off x="4187684" y="3945879"/>
            <a:ext cx="7124749" cy="1569660"/>
          </a:xfrm>
          <a:prstGeom prst="rect">
            <a:avLst/>
          </a:prstGeom>
        </p:spPr>
        <p:txBody>
          <a:bodyPr wrap="square">
            <a:spAutoFit/>
          </a:bodyPr>
          <a:lstStyle/>
          <a:p>
            <a:r>
              <a:rPr lang="en-US" sz="3200" dirty="0">
                <a:ea typeface="Courier New"/>
                <a:cs typeface="Consolas" panose="020B0609020204030204" pitchFamily="49" charset="0"/>
                <a:sym typeface="Courier New"/>
              </a:rPr>
              <a:t>Use </a:t>
            </a:r>
            <a:r>
              <a:rPr lang="en-US" sz="3200" b="1" dirty="0" err="1">
                <a:ea typeface="Courier New"/>
                <a:cs typeface="Consolas" panose="020B0609020204030204" pitchFamily="49" charset="0"/>
                <a:sym typeface="Courier New"/>
              </a:rPr>
              <a:t>group_by</a:t>
            </a:r>
            <a:r>
              <a:rPr lang="en-US" sz="3200" b="1" dirty="0">
                <a:ea typeface="Courier New"/>
                <a:cs typeface="Consolas" panose="020B0609020204030204" pitchFamily="49" charset="0"/>
                <a:sym typeface="Courier New"/>
              </a:rPr>
              <a:t> </a:t>
            </a:r>
            <a:r>
              <a:rPr lang="en-US" sz="3200" dirty="0">
                <a:ea typeface="Courier New"/>
                <a:cs typeface="Consolas" panose="020B0609020204030204" pitchFamily="49" charset="0"/>
                <a:sym typeface="Courier New"/>
              </a:rPr>
              <a:t>to create subgroups within your data set and </a:t>
            </a:r>
            <a:r>
              <a:rPr lang="en-US" sz="3200" b="1" dirty="0">
                <a:ea typeface="Courier New"/>
                <a:cs typeface="Consolas" panose="020B0609020204030204" pitchFamily="49" charset="0"/>
                <a:sym typeface="Courier New"/>
              </a:rPr>
              <a:t>summarize</a:t>
            </a:r>
            <a:r>
              <a:rPr lang="en-US" sz="3200" dirty="0">
                <a:ea typeface="Courier New"/>
                <a:cs typeface="Consolas" panose="020B0609020204030204" pitchFamily="49" charset="0"/>
                <a:sym typeface="Courier New"/>
              </a:rPr>
              <a:t> to calculate summary statistics for each group</a:t>
            </a:r>
            <a:endParaRPr lang="en-US" sz="3200" b="1" dirty="0">
              <a:ea typeface="Courier New"/>
              <a:cs typeface="Consolas" panose="020B0609020204030204" pitchFamily="49" charset="0"/>
              <a:sym typeface="Courier New"/>
            </a:endParaRPr>
          </a:p>
        </p:txBody>
      </p:sp>
      <p:sp>
        <p:nvSpPr>
          <p:cNvPr id="8" name="Rectangle 7">
            <a:extLst>
              <a:ext uri="{FF2B5EF4-FFF2-40B4-BE49-F238E27FC236}">
                <a16:creationId xmlns:a16="http://schemas.microsoft.com/office/drawing/2014/main" id="{3DE2C625-E0B7-6582-DB06-A7D88A62032A}"/>
              </a:ext>
            </a:extLst>
          </p:cNvPr>
          <p:cNvSpPr/>
          <p:nvPr/>
        </p:nvSpPr>
        <p:spPr>
          <a:xfrm>
            <a:off x="738730" y="5682342"/>
            <a:ext cx="2464136" cy="923330"/>
          </a:xfrm>
          <a:prstGeom prst="rect">
            <a:avLst/>
          </a:prstGeom>
        </p:spPr>
        <p:txBody>
          <a:bodyPr wrap="none">
            <a:spAutoFit/>
          </a:bodyPr>
          <a:lstStyle/>
          <a:p>
            <a:r>
              <a:rPr lang="en-US" dirty="0">
                <a:solidFill>
                  <a:srgbClr val="0365C0"/>
                </a:solidFill>
                <a:latin typeface="Consolas" panose="020B0609020204030204" pitchFamily="49" charset="0"/>
                <a:ea typeface="Courier New"/>
                <a:cs typeface="Consolas" panose="020B0609020204030204" pitchFamily="49" charset="0"/>
                <a:sym typeface="Courier New"/>
              </a:rPr>
              <a:t>data</a:t>
            </a:r>
            <a:r>
              <a:rPr lang="en-US" dirty="0">
                <a:latin typeface="Consolas" panose="020B0609020204030204" pitchFamily="49" charset="0"/>
                <a:ea typeface="Courier New"/>
                <a:cs typeface="Consolas" panose="020B0609020204030204" pitchFamily="49" charset="0"/>
                <a:sym typeface="Courier New"/>
              </a:rPr>
              <a:t> |&gt;</a:t>
            </a:r>
          </a:p>
          <a:p>
            <a:r>
              <a:rPr lang="en-US" dirty="0">
                <a:latin typeface="Consolas" panose="020B0609020204030204" pitchFamily="49" charset="0"/>
                <a:cs typeface="Consolas" panose="020B0609020204030204" pitchFamily="49" charset="0"/>
                <a:sym typeface="Courier New"/>
              </a:rPr>
              <a:t>  </a:t>
            </a:r>
            <a:r>
              <a:rPr lang="en-US" dirty="0" err="1">
                <a:latin typeface="Consolas" panose="020B0609020204030204" pitchFamily="49" charset="0"/>
                <a:cs typeface="Consolas" panose="020B0609020204030204" pitchFamily="49" charset="0"/>
                <a:sym typeface="Courier New"/>
              </a:rPr>
              <a:t>group_by</a:t>
            </a:r>
            <a:r>
              <a:rPr lang="en-US" dirty="0">
                <a:latin typeface="Consolas" panose="020B0609020204030204" pitchFamily="49" charset="0"/>
                <a:cs typeface="Consolas" panose="020B0609020204030204" pitchFamily="49" charset="0"/>
                <a:sym typeface="Courier New"/>
              </a:rPr>
              <a:t>(...) |&gt;</a:t>
            </a:r>
          </a:p>
          <a:p>
            <a:r>
              <a:rPr lang="en-US" dirty="0">
                <a:latin typeface="Consolas" panose="020B0609020204030204" pitchFamily="49" charset="0"/>
                <a:cs typeface="Consolas" panose="020B0609020204030204" pitchFamily="49" charset="0"/>
                <a:sym typeface="Courier New"/>
              </a:rPr>
              <a:t>  summarize(...)</a:t>
            </a:r>
            <a:endParaRPr lang="en-US" dirty="0"/>
          </a:p>
        </p:txBody>
      </p:sp>
    </p:spTree>
    <p:extLst>
      <p:ext uri="{BB962C8B-B14F-4D97-AF65-F5344CB8AC3E}">
        <p14:creationId xmlns:p14="http://schemas.microsoft.com/office/powerpoint/2010/main" val="27576994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8"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C3606C-BC3C-DA46-952C-6A430CD04159}"/>
              </a:ext>
            </a:extLst>
          </p:cNvPr>
          <p:cNvSpPr>
            <a:spLocks noGrp="1"/>
          </p:cNvSpPr>
          <p:nvPr>
            <p:ph type="title"/>
          </p:nvPr>
        </p:nvSpPr>
        <p:spPr>
          <a:xfrm>
            <a:off x="502443" y="2752468"/>
            <a:ext cx="11187112" cy="1463040"/>
          </a:xfrm>
        </p:spPr>
        <p:txBody>
          <a:bodyPr/>
          <a:lstStyle/>
          <a:p>
            <a:r>
              <a:rPr lang="en-US" dirty="0">
                <a:latin typeface="+mn-lt"/>
              </a:rPr>
              <a:t>What else?</a:t>
            </a:r>
          </a:p>
        </p:txBody>
      </p:sp>
    </p:spTree>
    <p:extLst>
      <p:ext uri="{BB962C8B-B14F-4D97-AF65-F5344CB8AC3E}">
        <p14:creationId xmlns:p14="http://schemas.microsoft.com/office/powerpoint/2010/main" val="32971113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55AE5-C055-6740-927D-18D532C9730D}"/>
              </a:ext>
            </a:extLst>
          </p:cNvPr>
          <p:cNvSpPr>
            <a:spLocks noGrp="1"/>
          </p:cNvSpPr>
          <p:nvPr>
            <p:ph type="title"/>
          </p:nvPr>
        </p:nvSpPr>
        <p:spPr/>
        <p:txBody>
          <a:bodyPr/>
          <a:lstStyle/>
          <a:p>
            <a:r>
              <a:rPr lang="en-US" dirty="0"/>
              <a:t>More </a:t>
            </a:r>
            <a:r>
              <a:rPr lang="en-US" dirty="0" err="1"/>
              <a:t>dplyr</a:t>
            </a:r>
            <a:r>
              <a:rPr lang="en-US" dirty="0"/>
              <a:t> functions</a:t>
            </a:r>
          </a:p>
        </p:txBody>
      </p:sp>
      <p:pic>
        <p:nvPicPr>
          <p:cNvPr id="4" name="Picture 3">
            <a:extLst>
              <a:ext uri="{FF2B5EF4-FFF2-40B4-BE49-F238E27FC236}">
                <a16:creationId xmlns:a16="http://schemas.microsoft.com/office/drawing/2014/main" id="{528ACD5A-F658-7849-8C41-93BE132AEE1E}"/>
              </a:ext>
            </a:extLst>
          </p:cNvPr>
          <p:cNvPicPr>
            <a:picLocks noChangeAspect="1"/>
          </p:cNvPicPr>
          <p:nvPr/>
        </p:nvPicPr>
        <p:blipFill>
          <a:blip r:embed="rId3"/>
          <a:stretch>
            <a:fillRect/>
          </a:stretch>
        </p:blipFill>
        <p:spPr>
          <a:xfrm>
            <a:off x="1024128" y="2045739"/>
            <a:ext cx="1397000" cy="1155700"/>
          </a:xfrm>
          <a:prstGeom prst="rect">
            <a:avLst/>
          </a:prstGeom>
        </p:spPr>
      </p:pic>
      <p:pic>
        <p:nvPicPr>
          <p:cNvPr id="5" name="Picture 4">
            <a:extLst>
              <a:ext uri="{FF2B5EF4-FFF2-40B4-BE49-F238E27FC236}">
                <a16:creationId xmlns:a16="http://schemas.microsoft.com/office/drawing/2014/main" id="{D12AE40E-9A4A-5840-8048-B1C3115E8DFF}"/>
              </a:ext>
            </a:extLst>
          </p:cNvPr>
          <p:cNvPicPr>
            <a:picLocks noChangeAspect="1"/>
          </p:cNvPicPr>
          <p:nvPr/>
        </p:nvPicPr>
        <p:blipFill>
          <a:blip r:embed="rId4"/>
          <a:stretch>
            <a:fillRect/>
          </a:stretch>
        </p:blipFill>
        <p:spPr>
          <a:xfrm>
            <a:off x="1036828" y="3674330"/>
            <a:ext cx="1371600" cy="990600"/>
          </a:xfrm>
          <a:prstGeom prst="rect">
            <a:avLst/>
          </a:prstGeom>
        </p:spPr>
      </p:pic>
      <p:pic>
        <p:nvPicPr>
          <p:cNvPr id="6" name="Picture 5">
            <a:extLst>
              <a:ext uri="{FF2B5EF4-FFF2-40B4-BE49-F238E27FC236}">
                <a16:creationId xmlns:a16="http://schemas.microsoft.com/office/drawing/2014/main" id="{2FA9DBEB-A864-6542-8C52-EE21B72264D6}"/>
              </a:ext>
            </a:extLst>
          </p:cNvPr>
          <p:cNvPicPr>
            <a:picLocks noChangeAspect="1"/>
          </p:cNvPicPr>
          <p:nvPr/>
        </p:nvPicPr>
        <p:blipFill>
          <a:blip r:embed="rId5"/>
          <a:stretch>
            <a:fillRect/>
          </a:stretch>
        </p:blipFill>
        <p:spPr>
          <a:xfrm>
            <a:off x="6238485" y="2045739"/>
            <a:ext cx="2971800" cy="1054100"/>
          </a:xfrm>
          <a:prstGeom prst="rect">
            <a:avLst/>
          </a:prstGeom>
        </p:spPr>
      </p:pic>
      <p:pic>
        <p:nvPicPr>
          <p:cNvPr id="7" name="Picture 6">
            <a:extLst>
              <a:ext uri="{FF2B5EF4-FFF2-40B4-BE49-F238E27FC236}">
                <a16:creationId xmlns:a16="http://schemas.microsoft.com/office/drawing/2014/main" id="{7D9CAD0F-1AE3-F747-A011-A1325107C914}"/>
              </a:ext>
            </a:extLst>
          </p:cNvPr>
          <p:cNvPicPr>
            <a:picLocks noChangeAspect="1"/>
          </p:cNvPicPr>
          <p:nvPr/>
        </p:nvPicPr>
        <p:blipFill>
          <a:blip r:embed="rId6"/>
          <a:stretch>
            <a:fillRect/>
          </a:stretch>
        </p:blipFill>
        <p:spPr>
          <a:xfrm>
            <a:off x="8041674" y="3519600"/>
            <a:ext cx="774700" cy="863600"/>
          </a:xfrm>
          <a:prstGeom prst="rect">
            <a:avLst/>
          </a:prstGeom>
        </p:spPr>
      </p:pic>
      <p:sp>
        <p:nvSpPr>
          <p:cNvPr id="9" name="Rectangle 8">
            <a:extLst>
              <a:ext uri="{FF2B5EF4-FFF2-40B4-BE49-F238E27FC236}">
                <a16:creationId xmlns:a16="http://schemas.microsoft.com/office/drawing/2014/main" id="{00258249-2A46-AC41-B2C6-031FF806911E}"/>
              </a:ext>
            </a:extLst>
          </p:cNvPr>
          <p:cNvSpPr/>
          <p:nvPr/>
        </p:nvSpPr>
        <p:spPr>
          <a:xfrm>
            <a:off x="2616001" y="2239423"/>
            <a:ext cx="2464136" cy="369332"/>
          </a:xfrm>
          <a:prstGeom prst="rect">
            <a:avLst/>
          </a:prstGeom>
        </p:spPr>
        <p:txBody>
          <a:bodyPr wrap="none">
            <a:spAutoFit/>
          </a:bodyPr>
          <a:lstStyle/>
          <a:p>
            <a:r>
              <a:rPr lang="en-US" dirty="0">
                <a:latin typeface="Consolas" panose="020B0609020204030204" pitchFamily="49" charset="0"/>
                <a:ea typeface="Courier New"/>
                <a:cs typeface="Consolas" panose="020B0609020204030204" pitchFamily="49" charset="0"/>
                <a:sym typeface="Courier New"/>
              </a:rPr>
              <a:t>arrange(</a:t>
            </a:r>
            <a:r>
              <a:rPr lang="en-US" dirty="0">
                <a:solidFill>
                  <a:srgbClr val="0365C0"/>
                </a:solidFill>
                <a:latin typeface="Consolas" panose="020B0609020204030204" pitchFamily="49" charset="0"/>
                <a:ea typeface="Courier New"/>
                <a:cs typeface="Consolas" panose="020B0609020204030204" pitchFamily="49" charset="0"/>
                <a:sym typeface="Courier New"/>
              </a:rPr>
              <a:t>data, </a:t>
            </a:r>
            <a:r>
              <a:rPr lang="en-US" dirty="0">
                <a:solidFill>
                  <a:srgbClr val="9BBB59"/>
                </a:solidFill>
                <a:latin typeface="Consolas" panose="020B0609020204030204" pitchFamily="49" charset="0"/>
                <a:ea typeface="Courier New"/>
                <a:cs typeface="Consolas" panose="020B0609020204030204" pitchFamily="49" charset="0"/>
                <a:sym typeface="Courier New"/>
              </a:rPr>
              <a:t>...</a:t>
            </a:r>
            <a:r>
              <a:rPr lang="en-US" dirty="0">
                <a:latin typeface="Consolas" panose="020B0609020204030204" pitchFamily="49" charset="0"/>
                <a:ea typeface="Courier New"/>
                <a:cs typeface="Consolas" panose="020B0609020204030204" pitchFamily="49" charset="0"/>
                <a:sym typeface="Courier New"/>
              </a:rPr>
              <a:t>)</a:t>
            </a:r>
            <a:endParaRPr lang="en-US" sz="1100" dirty="0"/>
          </a:p>
        </p:txBody>
      </p:sp>
      <p:sp>
        <p:nvSpPr>
          <p:cNvPr id="10" name="Rectangle 9">
            <a:extLst>
              <a:ext uri="{FF2B5EF4-FFF2-40B4-BE49-F238E27FC236}">
                <a16:creationId xmlns:a16="http://schemas.microsoft.com/office/drawing/2014/main" id="{B7D23C40-037E-DC43-A139-973B5FDE9101}"/>
              </a:ext>
            </a:extLst>
          </p:cNvPr>
          <p:cNvSpPr/>
          <p:nvPr/>
        </p:nvSpPr>
        <p:spPr>
          <a:xfrm>
            <a:off x="2616001" y="3691304"/>
            <a:ext cx="2464136" cy="369332"/>
          </a:xfrm>
          <a:prstGeom prst="rect">
            <a:avLst/>
          </a:prstGeom>
        </p:spPr>
        <p:txBody>
          <a:bodyPr wrap="none">
            <a:spAutoFit/>
          </a:bodyPr>
          <a:lstStyle/>
          <a:p>
            <a:r>
              <a:rPr lang="en-US" dirty="0" err="1">
                <a:latin typeface="Consolas" panose="020B0609020204030204" pitchFamily="49" charset="0"/>
                <a:ea typeface="Courier New"/>
                <a:cs typeface="Consolas" panose="020B0609020204030204" pitchFamily="49" charset="0"/>
                <a:sym typeface="Courier New"/>
              </a:rPr>
              <a:t>add_row</a:t>
            </a:r>
            <a:r>
              <a:rPr lang="en-US" dirty="0">
                <a:latin typeface="Consolas" panose="020B0609020204030204" pitchFamily="49" charset="0"/>
                <a:ea typeface="Courier New"/>
                <a:cs typeface="Consolas" panose="020B0609020204030204" pitchFamily="49" charset="0"/>
                <a:sym typeface="Courier New"/>
              </a:rPr>
              <a:t>(</a:t>
            </a:r>
            <a:r>
              <a:rPr lang="en-US" dirty="0">
                <a:solidFill>
                  <a:srgbClr val="0365C0"/>
                </a:solidFill>
                <a:latin typeface="Consolas" panose="020B0609020204030204" pitchFamily="49" charset="0"/>
                <a:ea typeface="Courier New"/>
                <a:cs typeface="Consolas" panose="020B0609020204030204" pitchFamily="49" charset="0"/>
                <a:sym typeface="Courier New"/>
              </a:rPr>
              <a:t>data, </a:t>
            </a:r>
            <a:r>
              <a:rPr lang="en-US" dirty="0">
                <a:solidFill>
                  <a:srgbClr val="9BBB59"/>
                </a:solidFill>
                <a:latin typeface="Consolas" panose="020B0609020204030204" pitchFamily="49" charset="0"/>
                <a:ea typeface="Courier New"/>
                <a:cs typeface="Consolas" panose="020B0609020204030204" pitchFamily="49" charset="0"/>
                <a:sym typeface="Courier New"/>
              </a:rPr>
              <a:t>...</a:t>
            </a:r>
            <a:r>
              <a:rPr lang="en-US" dirty="0">
                <a:latin typeface="Consolas" panose="020B0609020204030204" pitchFamily="49" charset="0"/>
                <a:ea typeface="Courier New"/>
                <a:cs typeface="Consolas" panose="020B0609020204030204" pitchFamily="49" charset="0"/>
                <a:sym typeface="Courier New"/>
              </a:rPr>
              <a:t>)</a:t>
            </a:r>
            <a:endParaRPr lang="en-US" sz="1100" dirty="0"/>
          </a:p>
        </p:txBody>
      </p:sp>
      <p:sp>
        <p:nvSpPr>
          <p:cNvPr id="12" name="Rectangle 11">
            <a:extLst>
              <a:ext uri="{FF2B5EF4-FFF2-40B4-BE49-F238E27FC236}">
                <a16:creationId xmlns:a16="http://schemas.microsoft.com/office/drawing/2014/main" id="{1F0D84D7-96D9-FA4F-B3AB-7B4DE9DC82BF}"/>
              </a:ext>
            </a:extLst>
          </p:cNvPr>
          <p:cNvSpPr/>
          <p:nvPr/>
        </p:nvSpPr>
        <p:spPr>
          <a:xfrm>
            <a:off x="9210285" y="2045739"/>
            <a:ext cx="1957587" cy="646331"/>
          </a:xfrm>
          <a:prstGeom prst="rect">
            <a:avLst/>
          </a:prstGeom>
        </p:spPr>
        <p:txBody>
          <a:bodyPr wrap="none">
            <a:spAutoFit/>
          </a:bodyPr>
          <a:lstStyle/>
          <a:p>
            <a:r>
              <a:rPr lang="en-US" dirty="0">
                <a:solidFill>
                  <a:srgbClr val="0365C0"/>
                </a:solidFill>
                <a:latin typeface="Consolas" panose="020B0609020204030204" pitchFamily="49" charset="0"/>
                <a:ea typeface="Courier New"/>
                <a:cs typeface="Consolas" panose="020B0609020204030204" pitchFamily="49" charset="0"/>
                <a:sym typeface="Courier New"/>
              </a:rPr>
              <a:t>x</a:t>
            </a:r>
            <a:r>
              <a:rPr lang="en-US" dirty="0">
                <a:latin typeface="Consolas" panose="020B0609020204030204" pitchFamily="49" charset="0"/>
                <a:ea typeface="Courier New"/>
                <a:cs typeface="Consolas" panose="020B0609020204030204" pitchFamily="49" charset="0"/>
                <a:sym typeface="Courier New"/>
              </a:rPr>
              <a:t> |&gt;</a:t>
            </a:r>
          </a:p>
          <a:p>
            <a:r>
              <a:rPr lang="en-US" dirty="0">
                <a:latin typeface="Consolas" panose="020B0609020204030204" pitchFamily="49" charset="0"/>
                <a:cs typeface="Consolas" panose="020B0609020204030204" pitchFamily="49" charset="0"/>
                <a:sym typeface="Courier New"/>
              </a:rPr>
              <a:t>  </a:t>
            </a:r>
            <a:r>
              <a:rPr lang="en-US" dirty="0" err="1">
                <a:latin typeface="Consolas" panose="020B0609020204030204" pitchFamily="49" charset="0"/>
                <a:cs typeface="Consolas" panose="020B0609020204030204" pitchFamily="49" charset="0"/>
                <a:sym typeface="Courier New"/>
              </a:rPr>
              <a:t>bind_cols</a:t>
            </a:r>
            <a:r>
              <a:rPr lang="en-US" dirty="0">
                <a:latin typeface="Consolas" panose="020B0609020204030204" pitchFamily="49" charset="0"/>
                <a:cs typeface="Consolas" panose="020B0609020204030204" pitchFamily="49" charset="0"/>
                <a:sym typeface="Courier New"/>
              </a:rPr>
              <a:t>(</a:t>
            </a:r>
            <a:r>
              <a:rPr lang="en-US" dirty="0">
                <a:solidFill>
                  <a:srgbClr val="0070C0"/>
                </a:solidFill>
                <a:latin typeface="Consolas" panose="020B0609020204030204" pitchFamily="49" charset="0"/>
                <a:cs typeface="Consolas" panose="020B0609020204030204" pitchFamily="49" charset="0"/>
                <a:sym typeface="Courier New"/>
              </a:rPr>
              <a:t>y</a:t>
            </a:r>
            <a:r>
              <a:rPr lang="en-US" dirty="0">
                <a:latin typeface="Consolas" panose="020B0609020204030204" pitchFamily="49" charset="0"/>
                <a:cs typeface="Consolas" panose="020B0609020204030204" pitchFamily="49" charset="0"/>
                <a:sym typeface="Courier New"/>
              </a:rPr>
              <a:t>)</a:t>
            </a:r>
            <a:endParaRPr lang="en-US" dirty="0"/>
          </a:p>
        </p:txBody>
      </p:sp>
      <p:sp>
        <p:nvSpPr>
          <p:cNvPr id="13" name="Rectangle 12">
            <a:extLst>
              <a:ext uri="{FF2B5EF4-FFF2-40B4-BE49-F238E27FC236}">
                <a16:creationId xmlns:a16="http://schemas.microsoft.com/office/drawing/2014/main" id="{61A0ED64-3928-EB47-84A0-4E7A2724EA39}"/>
              </a:ext>
            </a:extLst>
          </p:cNvPr>
          <p:cNvSpPr/>
          <p:nvPr/>
        </p:nvSpPr>
        <p:spPr>
          <a:xfrm>
            <a:off x="9210285" y="3519600"/>
            <a:ext cx="1957587" cy="646331"/>
          </a:xfrm>
          <a:prstGeom prst="rect">
            <a:avLst/>
          </a:prstGeom>
        </p:spPr>
        <p:txBody>
          <a:bodyPr wrap="none">
            <a:spAutoFit/>
          </a:bodyPr>
          <a:lstStyle/>
          <a:p>
            <a:r>
              <a:rPr lang="en-US" dirty="0">
                <a:solidFill>
                  <a:srgbClr val="0365C0"/>
                </a:solidFill>
                <a:latin typeface="Consolas" panose="020B0609020204030204" pitchFamily="49" charset="0"/>
                <a:ea typeface="Courier New"/>
                <a:cs typeface="Consolas" panose="020B0609020204030204" pitchFamily="49" charset="0"/>
                <a:sym typeface="Courier New"/>
              </a:rPr>
              <a:t>x</a:t>
            </a:r>
            <a:r>
              <a:rPr lang="en-US" dirty="0">
                <a:latin typeface="Consolas" panose="020B0609020204030204" pitchFamily="49" charset="0"/>
                <a:ea typeface="Courier New"/>
                <a:cs typeface="Consolas" panose="020B0609020204030204" pitchFamily="49" charset="0"/>
                <a:sym typeface="Courier New"/>
              </a:rPr>
              <a:t> |&gt;</a:t>
            </a:r>
          </a:p>
          <a:p>
            <a:r>
              <a:rPr lang="en-US" dirty="0">
                <a:latin typeface="Consolas" panose="020B0609020204030204" pitchFamily="49" charset="0"/>
                <a:cs typeface="Consolas" panose="020B0609020204030204" pitchFamily="49" charset="0"/>
                <a:sym typeface="Courier New"/>
              </a:rPr>
              <a:t>  </a:t>
            </a:r>
            <a:r>
              <a:rPr lang="en-US" dirty="0" err="1">
                <a:latin typeface="Consolas" panose="020B0609020204030204" pitchFamily="49" charset="0"/>
                <a:cs typeface="Consolas" panose="020B0609020204030204" pitchFamily="49" charset="0"/>
                <a:sym typeface="Courier New"/>
              </a:rPr>
              <a:t>left_join</a:t>
            </a:r>
            <a:r>
              <a:rPr lang="en-US" dirty="0">
                <a:latin typeface="Consolas" panose="020B0609020204030204" pitchFamily="49" charset="0"/>
                <a:cs typeface="Consolas" panose="020B0609020204030204" pitchFamily="49" charset="0"/>
                <a:sym typeface="Courier New"/>
              </a:rPr>
              <a:t>(</a:t>
            </a:r>
            <a:r>
              <a:rPr lang="en-US" dirty="0">
                <a:solidFill>
                  <a:srgbClr val="0070C0"/>
                </a:solidFill>
                <a:latin typeface="Consolas" panose="020B0609020204030204" pitchFamily="49" charset="0"/>
                <a:cs typeface="Consolas" panose="020B0609020204030204" pitchFamily="49" charset="0"/>
                <a:sym typeface="Courier New"/>
              </a:rPr>
              <a:t>y</a:t>
            </a:r>
            <a:r>
              <a:rPr lang="en-US" dirty="0">
                <a:latin typeface="Consolas" panose="020B0609020204030204" pitchFamily="49" charset="0"/>
                <a:cs typeface="Consolas" panose="020B0609020204030204" pitchFamily="49" charset="0"/>
                <a:sym typeface="Courier New"/>
              </a:rPr>
              <a:t>)</a:t>
            </a:r>
            <a:endParaRPr lang="en-US" dirty="0"/>
          </a:p>
        </p:txBody>
      </p:sp>
    </p:spTree>
    <p:extLst>
      <p:ext uri="{BB962C8B-B14F-4D97-AF65-F5344CB8AC3E}">
        <p14:creationId xmlns:p14="http://schemas.microsoft.com/office/powerpoint/2010/main" val="37123450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2" grpId="0"/>
      <p:bldP spid="13"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199226A-1113-674C-A787-6FC5B2ED2F0D}"/>
              </a:ext>
            </a:extLst>
          </p:cNvPr>
          <p:cNvPicPr>
            <a:picLocks noChangeAspect="1"/>
          </p:cNvPicPr>
          <p:nvPr/>
        </p:nvPicPr>
        <p:blipFill>
          <a:blip r:embed="rId3"/>
          <a:stretch>
            <a:fillRect/>
          </a:stretch>
        </p:blipFill>
        <p:spPr>
          <a:xfrm>
            <a:off x="1296650" y="1126273"/>
            <a:ext cx="9598699" cy="7105786"/>
          </a:xfrm>
          <a:prstGeom prst="rect">
            <a:avLst/>
          </a:prstGeom>
        </p:spPr>
      </p:pic>
      <p:sp>
        <p:nvSpPr>
          <p:cNvPr id="3" name="Rectangle 2"/>
          <p:cNvSpPr/>
          <p:nvPr/>
        </p:nvSpPr>
        <p:spPr>
          <a:xfrm>
            <a:off x="1296650" y="1126273"/>
            <a:ext cx="9598699" cy="7772400"/>
          </a:xfrm>
          <a:prstGeom prst="rect">
            <a:avLst/>
          </a:prstGeom>
          <a:noFill/>
          <a:ln>
            <a:solidFill>
              <a:schemeClr val="tx1">
                <a:lumMod val="65000"/>
                <a:lumOff val="3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3621663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91B11FDD-EFA9-6944-904E-E5C6FA8D89E8}"/>
              </a:ext>
            </a:extLst>
          </p:cNvPr>
          <p:cNvGrpSpPr/>
          <p:nvPr/>
        </p:nvGrpSpPr>
        <p:grpSpPr>
          <a:xfrm>
            <a:off x="2151353" y="801153"/>
            <a:ext cx="7889294" cy="5255693"/>
            <a:chOff x="2104549" y="830314"/>
            <a:chExt cx="7889294" cy="5255693"/>
          </a:xfrm>
        </p:grpSpPr>
        <p:grpSp>
          <p:nvGrpSpPr>
            <p:cNvPr id="11" name="Group 10">
              <a:extLst>
                <a:ext uri="{FF2B5EF4-FFF2-40B4-BE49-F238E27FC236}">
                  <a16:creationId xmlns:a16="http://schemas.microsoft.com/office/drawing/2014/main" id="{C8DCDED1-AAA1-8349-A8CD-800A703C32B3}"/>
                </a:ext>
              </a:extLst>
            </p:cNvPr>
            <p:cNvGrpSpPr/>
            <p:nvPr/>
          </p:nvGrpSpPr>
          <p:grpSpPr>
            <a:xfrm>
              <a:off x="2104549" y="830315"/>
              <a:ext cx="6582683" cy="5255692"/>
              <a:chOff x="-176095" y="3589988"/>
              <a:chExt cx="4589764" cy="3664522"/>
            </a:xfrm>
          </p:grpSpPr>
          <p:pic>
            <p:nvPicPr>
              <p:cNvPr id="3" name="Picture 2">
                <a:extLst>
                  <a:ext uri="{FF2B5EF4-FFF2-40B4-BE49-F238E27FC236}">
                    <a16:creationId xmlns:a16="http://schemas.microsoft.com/office/drawing/2014/main" id="{B716C1E9-5D77-2840-9A8A-A811A6548D29}"/>
                  </a:ext>
                </a:extLst>
              </p:cNvPr>
              <p:cNvPicPr>
                <a:picLocks noChangeAspect="1"/>
              </p:cNvPicPr>
              <p:nvPr/>
            </p:nvPicPr>
            <p:blipFill>
              <a:blip r:embed="rId3"/>
              <a:stretch>
                <a:fillRect/>
              </a:stretch>
            </p:blipFill>
            <p:spPr>
              <a:xfrm>
                <a:off x="-176095" y="3596338"/>
                <a:ext cx="1765300" cy="2032000"/>
              </a:xfrm>
              <a:prstGeom prst="rect">
                <a:avLst/>
              </a:prstGeom>
            </p:spPr>
          </p:pic>
          <p:pic>
            <p:nvPicPr>
              <p:cNvPr id="4" name="Picture 3">
                <a:extLst>
                  <a:ext uri="{FF2B5EF4-FFF2-40B4-BE49-F238E27FC236}">
                    <a16:creationId xmlns:a16="http://schemas.microsoft.com/office/drawing/2014/main" id="{F328C1AA-0C23-E048-B252-8E41D2EE6A41}"/>
                  </a:ext>
                </a:extLst>
              </p:cNvPr>
              <p:cNvPicPr>
                <a:picLocks noChangeAspect="1"/>
              </p:cNvPicPr>
              <p:nvPr/>
            </p:nvPicPr>
            <p:blipFill>
              <a:blip r:embed="rId4"/>
              <a:stretch>
                <a:fillRect/>
              </a:stretch>
            </p:blipFill>
            <p:spPr>
              <a:xfrm>
                <a:off x="759376" y="5209810"/>
                <a:ext cx="1765300" cy="2044700"/>
              </a:xfrm>
              <a:prstGeom prst="rect">
                <a:avLst/>
              </a:prstGeom>
            </p:spPr>
          </p:pic>
          <p:pic>
            <p:nvPicPr>
              <p:cNvPr id="5" name="Picture 4">
                <a:extLst>
                  <a:ext uri="{FF2B5EF4-FFF2-40B4-BE49-F238E27FC236}">
                    <a16:creationId xmlns:a16="http://schemas.microsoft.com/office/drawing/2014/main" id="{59A2579C-BC64-2D46-A734-E675DF6084C6}"/>
                  </a:ext>
                </a:extLst>
              </p:cNvPr>
              <p:cNvPicPr>
                <a:picLocks noChangeAspect="1"/>
              </p:cNvPicPr>
              <p:nvPr/>
            </p:nvPicPr>
            <p:blipFill>
              <a:blip r:embed="rId5"/>
              <a:stretch>
                <a:fillRect/>
              </a:stretch>
            </p:blipFill>
            <p:spPr>
              <a:xfrm>
                <a:off x="1691654" y="3589988"/>
                <a:ext cx="1765300" cy="2044700"/>
              </a:xfrm>
              <a:prstGeom prst="rect">
                <a:avLst/>
              </a:prstGeom>
            </p:spPr>
          </p:pic>
          <p:pic>
            <p:nvPicPr>
              <p:cNvPr id="6" name="Picture 5">
                <a:extLst>
                  <a:ext uri="{FF2B5EF4-FFF2-40B4-BE49-F238E27FC236}">
                    <a16:creationId xmlns:a16="http://schemas.microsoft.com/office/drawing/2014/main" id="{D328831E-2B01-F543-80FB-1D3F1D7A6244}"/>
                  </a:ext>
                </a:extLst>
              </p:cNvPr>
              <p:cNvPicPr>
                <a:picLocks noChangeAspect="1"/>
              </p:cNvPicPr>
              <p:nvPr/>
            </p:nvPicPr>
            <p:blipFill>
              <a:blip r:embed="rId6"/>
              <a:stretch>
                <a:fillRect/>
              </a:stretch>
            </p:blipFill>
            <p:spPr>
              <a:xfrm>
                <a:off x="2648369" y="5209810"/>
                <a:ext cx="1765300" cy="2032000"/>
              </a:xfrm>
              <a:prstGeom prst="rect">
                <a:avLst/>
              </a:prstGeom>
            </p:spPr>
          </p:pic>
        </p:grpSp>
        <p:pic>
          <p:nvPicPr>
            <p:cNvPr id="2" name="Picture 1">
              <a:extLst>
                <a:ext uri="{FF2B5EF4-FFF2-40B4-BE49-F238E27FC236}">
                  <a16:creationId xmlns:a16="http://schemas.microsoft.com/office/drawing/2014/main" id="{10439D8A-D781-5745-9C7C-A4CA1858EDC1}"/>
                </a:ext>
              </a:extLst>
            </p:cNvPr>
            <p:cNvPicPr>
              <a:picLocks noChangeAspect="1"/>
            </p:cNvPicPr>
            <p:nvPr/>
          </p:nvPicPr>
          <p:blipFill>
            <a:blip r:embed="rId7"/>
            <a:stretch>
              <a:fillRect/>
            </a:stretch>
          </p:blipFill>
          <p:spPr>
            <a:xfrm>
              <a:off x="7462034" y="830314"/>
              <a:ext cx="2531809" cy="2932527"/>
            </a:xfrm>
            <a:prstGeom prst="rect">
              <a:avLst/>
            </a:prstGeom>
          </p:spPr>
        </p:pic>
      </p:grpSp>
    </p:spTree>
    <p:extLst>
      <p:ext uri="{BB962C8B-B14F-4D97-AF65-F5344CB8AC3E}">
        <p14:creationId xmlns:p14="http://schemas.microsoft.com/office/powerpoint/2010/main" val="88721760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ntegral">
  <a:themeElements>
    <a:clrScheme name="Integral">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B9F25"/>
      </a:hlink>
      <a:folHlink>
        <a:srgbClr val="B26B02"/>
      </a:folHlink>
    </a:clrScheme>
    <a:fontScheme name="Integral">
      <a:majorFont>
        <a:latin typeface="Tw Cen MT Condensed" panose="020B06060201040202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w Cen MT" panose="020B0602020104020603"/>
        <a:ea typeface=""/>
        <a:cs typeface=""/>
        <a:font script="Grek" typeface="Calibri"/>
        <a:font script="Cyrl" typeface="Calibri"/>
        <a:font script="Jpan" typeface="メイリオ"/>
        <a:font script="Hang" typeface="HY얕은샘물M"/>
        <a:font script="Hans" typeface="华文仿宋"/>
        <a:font script="Hant" typeface="微軟正黑體"/>
        <a:font script="Arab" typeface="Arial"/>
        <a:font script="Hebr" typeface="Levenim MT"/>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Integral">
      <a:fillStyleLst>
        <a:solidFill>
          <a:schemeClr val="phClr"/>
        </a:solidFill>
        <a:gradFill rotWithShape="1">
          <a:gsLst>
            <a:gs pos="0">
              <a:schemeClr val="phClr">
                <a:tint val="83000"/>
                <a:satMod val="100000"/>
                <a:lumMod val="100000"/>
              </a:schemeClr>
            </a:gs>
            <a:gs pos="100000">
              <a:schemeClr val="phClr">
                <a:tint val="61000"/>
                <a:satMod val="150000"/>
                <a:lumMod val="100000"/>
              </a:schemeClr>
            </a:gs>
          </a:gsLst>
          <a:path path="circle">
            <a:fillToRect l="100000" t="100000" r="100000" b="100000"/>
          </a:path>
        </a:gradFill>
        <a:gradFill rotWithShape="1">
          <a:gsLst>
            <a:gs pos="0">
              <a:schemeClr val="phClr">
                <a:tint val="100000"/>
                <a:shade val="85000"/>
                <a:satMod val="100000"/>
                <a:lumMod val="100000"/>
              </a:schemeClr>
            </a:gs>
            <a:gs pos="100000">
              <a:schemeClr val="phClr">
                <a:tint val="90000"/>
                <a:shade val="100000"/>
                <a:satMod val="150000"/>
                <a:lumMod val="100000"/>
              </a:schemeClr>
            </a:gs>
          </a:gsLst>
          <a:path path="circle">
            <a:fillToRect l="100000" t="100000" r="100000" b="100000"/>
          </a:path>
        </a:gradFill>
      </a:fillStyleLst>
      <a:lnStyleLst>
        <a:ln w="9525" cap="flat" cmpd="sng" algn="ctr">
          <a:solidFill>
            <a:schemeClr val="phClr"/>
          </a:solidFill>
          <a:prstDash val="solid"/>
        </a:ln>
        <a:ln w="15875"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outerShdw blurRad="50800" dist="12700" dir="5400000" algn="ctr" rotWithShape="0">
              <a:srgbClr val="000000">
                <a:alpha val="50000"/>
              </a:srgbClr>
            </a:outerShdw>
          </a:effectLst>
        </a:effectStyle>
        <a:effectStyle>
          <a:effectLst>
            <a:outerShdw blurRad="76200" dist="25400" dir="5400000" algn="ctr" rotWithShape="0">
              <a:srgbClr val="000000">
                <a:alpha val="60000"/>
              </a:srgbClr>
            </a:outerShdw>
          </a:effectLst>
          <a:scene3d>
            <a:camera prst="orthographicFront">
              <a:rot lat="0" lon="0" rev="0"/>
            </a:camera>
            <a:lightRig rig="flat" dir="t">
              <a:rot lat="0" lon="0" rev="3600000"/>
            </a:lightRig>
          </a:scene3d>
          <a:sp3d contourW="12700" prstMaterial="flat">
            <a:bevelT w="38100" h="44450" prst="angle"/>
            <a:contourClr>
              <a:schemeClr val="phClr">
                <a:shade val="35000"/>
                <a:satMod val="160000"/>
              </a:schemeClr>
            </a:contourClr>
          </a:sp3d>
        </a:effectStyle>
      </a:effectStyleLst>
      <a:bgFillStyleLst>
        <a:solidFill>
          <a:schemeClr val="phClr"/>
        </a:solidFill>
        <a:solidFill>
          <a:schemeClr val="phClr">
            <a:tint val="95000"/>
            <a:shade val="85000"/>
            <a:satMod val="125000"/>
          </a:schemeClr>
        </a:solidFill>
        <a:blipFill rotWithShape="1">
          <a:blip xmlns:r="http://schemas.openxmlformats.org/officeDocument/2006/relationships" r:embed="rId1">
            <a:duotone>
              <a:schemeClr val="phClr">
                <a:tint val="95000"/>
                <a:shade val="74000"/>
                <a:satMod val="230000"/>
              </a:schemeClr>
              <a:schemeClr val="phClr">
                <a:tint val="92000"/>
                <a:shade val="69000"/>
                <a:satMod val="250000"/>
              </a:schemeClr>
            </a:duotone>
          </a:blip>
          <a:tile tx="0" ty="0" sx="40000" sy="40000" flip="none" algn="tl"/>
        </a:blipFill>
      </a:bgFillStyleLst>
    </a:fmtScheme>
  </a:themeElements>
  <a:objectDefaults/>
  <a:extraClrSchemeLst/>
  <a:extLst>
    <a:ext uri="{05A4C25C-085E-4340-85A3-A5531E510DB2}">
      <thm15:themeFamily xmlns:thm15="http://schemas.microsoft.com/office/thememl/2012/main" name="Integral" id="{3577F8C9-A904-41D8-97D2-FD898F53F20E}" vid="{682D6EBE-8D36-4FF2-9DB3-F3D8D7B6715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14309</TotalTime>
  <Words>4089</Words>
  <Application>Microsoft Macintosh PowerPoint</Application>
  <PresentationFormat>Widescreen</PresentationFormat>
  <Paragraphs>599</Paragraphs>
  <Slides>48</Slides>
  <Notes>47</Notes>
  <HiddenSlides>0</HiddenSlides>
  <MMClips>0</MMClips>
  <ScaleCrop>false</ScaleCrop>
  <HeadingPairs>
    <vt:vector size="6" baseType="variant">
      <vt:variant>
        <vt:lpstr>Fonts Used</vt:lpstr>
      </vt:variant>
      <vt:variant>
        <vt:i4>11</vt:i4>
      </vt:variant>
      <vt:variant>
        <vt:lpstr>Theme</vt:lpstr>
      </vt:variant>
      <vt:variant>
        <vt:i4>1</vt:i4>
      </vt:variant>
      <vt:variant>
        <vt:lpstr>Slide Titles</vt:lpstr>
      </vt:variant>
      <vt:variant>
        <vt:i4>48</vt:i4>
      </vt:variant>
    </vt:vector>
  </HeadingPairs>
  <TitlesOfParts>
    <vt:vector size="60" baseType="lpstr">
      <vt:lpstr>Tw Cen MT</vt:lpstr>
      <vt:lpstr>Tw Cen MT Condensed</vt:lpstr>
      <vt:lpstr>Times New Roman</vt:lpstr>
      <vt:lpstr>Trebuchet MS</vt:lpstr>
      <vt:lpstr>Wingdings</vt:lpstr>
      <vt:lpstr>Courier New</vt:lpstr>
      <vt:lpstr>Consolas</vt:lpstr>
      <vt:lpstr>Arial</vt:lpstr>
      <vt:lpstr>Verdana</vt:lpstr>
      <vt:lpstr>Calibri</vt:lpstr>
      <vt:lpstr>Wingdings 3</vt:lpstr>
      <vt:lpstr>Integral</vt:lpstr>
      <vt:lpstr>Transform</vt:lpstr>
      <vt:lpstr>PowerPoint Presentation</vt:lpstr>
      <vt:lpstr>PowerPoint Presentation</vt:lpstr>
      <vt:lpstr>PowerPoint Presentation</vt:lpstr>
      <vt:lpstr>Select existing columns</vt:lpstr>
      <vt:lpstr>select()</vt:lpstr>
      <vt:lpstr>select()</vt:lpstr>
      <vt:lpstr>select()</vt:lpstr>
      <vt:lpstr>Pop Quiz</vt:lpstr>
      <vt:lpstr>Filter rows by logical criteria</vt:lpstr>
      <vt:lpstr>filter()</vt:lpstr>
      <vt:lpstr>filter()</vt:lpstr>
      <vt:lpstr>filter()</vt:lpstr>
      <vt:lpstr>PowerPoint Presentation</vt:lpstr>
      <vt:lpstr>PowerPoint Presentation</vt:lpstr>
      <vt:lpstr>filter()</vt:lpstr>
      <vt:lpstr>Logical tests</vt:lpstr>
      <vt:lpstr>Pop Quiz</vt:lpstr>
      <vt:lpstr>The pipe operator %&gt;%</vt:lpstr>
      <vt:lpstr>The Pipe Operator %&gt;%</vt:lpstr>
      <vt:lpstr>PowerPoint Presentation</vt:lpstr>
      <vt:lpstr>PowerPoint Presentation</vt:lpstr>
      <vt:lpstr>Pop Quiz</vt:lpstr>
      <vt:lpstr>Create new columns</vt:lpstr>
      <vt:lpstr>mutate()</vt:lpstr>
      <vt:lpstr>mutate()</vt:lpstr>
      <vt:lpstr>mutate()</vt:lpstr>
      <vt:lpstr>Your Turn #1</vt:lpstr>
      <vt:lpstr>Grouping your data</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Your Turn #2</vt:lpstr>
      <vt:lpstr>PowerPoint Presentation</vt:lpstr>
      <vt:lpstr>PowerPoint Presentation</vt:lpstr>
      <vt:lpstr>What else?</vt:lpstr>
      <vt:lpstr>More dplyr functions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Medical Doctors  Reproducible Clinical Data Analysis</dc:title>
  <dc:creator>Kadauke, Stephan,M.D.</dc:creator>
  <cp:lastModifiedBy>Porter, Ezra J</cp:lastModifiedBy>
  <cp:revision>598</cp:revision>
  <cp:lastPrinted>2019-02-19T22:36:37Z</cp:lastPrinted>
  <dcterms:created xsi:type="dcterms:W3CDTF">2018-02-01T22:00:01Z</dcterms:created>
  <dcterms:modified xsi:type="dcterms:W3CDTF">2026-05-04T23:23:02Z</dcterms:modified>
</cp:coreProperties>
</file>